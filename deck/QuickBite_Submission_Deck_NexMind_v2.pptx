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104_0.xml" ContentType="application/vnd.ms-powerpoint.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modernComment_107_0.xml" ContentType="application/vnd.ms-powerpoint.comment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omments/modernComment_10D_0.xml" ContentType="application/vnd.ms-powerpoint.comments+xml"/>
  <Override PartName="/ppt/notesSlides/notesSlide1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8"/>
  </p:notesMasterIdLst>
  <p:sldIdLst>
    <p:sldId id="256" r:id="rId2"/>
    <p:sldId id="258" r:id="rId3"/>
    <p:sldId id="259" r:id="rId4"/>
    <p:sldId id="260" r:id="rId5"/>
    <p:sldId id="261" r:id="rId6"/>
    <p:sldId id="262" r:id="rId7"/>
    <p:sldId id="263" r:id="rId8"/>
    <p:sldId id="270" r:id="rId9"/>
    <p:sldId id="264" r:id="rId10"/>
    <p:sldId id="265" r:id="rId11"/>
    <p:sldId id="266" r:id="rId12"/>
    <p:sldId id="267" r:id="rId13"/>
    <p:sldId id="268" r:id="rId14"/>
    <p:sldId id="272" r:id="rId15"/>
    <p:sldId id="269" r:id="rId16"/>
    <p:sldId id="271" r:id="rId17"/>
  </p:sldIdLst>
  <p:sldSz cx="9144000" cy="5143500" type="screen16x9"/>
  <p:notesSz cx="6858000" cy="9144000"/>
  <p:embeddedFontLst>
    <p:embeddedFont>
      <p:font typeface="Google Sans Flex" panose="020B0604020202020204" charset="0"/>
      <p:regular r:id="rId19"/>
      <p:bold r:id="rId20"/>
    </p:embeddedFont>
    <p:embeddedFont>
      <p:font typeface="Google Sans Flex Medium" panose="020B0604020202020204" charset="0"/>
      <p:regular r:id="rId21"/>
      <p:bold r:id="rId22"/>
    </p:embeddedFont>
    <p:embeddedFont>
      <p:font typeface="Google Sans Flex SemiBold" panose="020B0604020202020204" charset="0"/>
      <p:regular r:id="rId23"/>
      <p:bold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ED078BD-FF22-03A6-6CBB-9FDE3E12E98E}" name="Jeevan V" initials="JV" userId="S::jeevan.v@experionglobal.com::40fa15b1-97ff-4188-b5c1-5e4d70f30278"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37" dt="2026-10-09T06:18:24.896"/>
    <p1510:client id="{EC8EE21E-838C-9E9C-088A-38F4846A1A9F}" v="4" dt="2026-10-08T06:01:10.5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theme" Target="theme/theme1.xml"/><Relationship Id="rId30" Type="http://schemas.microsoft.com/office/2018/10/relationships/authors" Target="author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_10B_0.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1"/>
        <c:ser>
          <c:idx val="0"/>
          <c:order val="0"/>
          <c:tx>
            <c:strRef>
              <c:f>Sheet1!$B$1</c:f>
              <c:strCache>
                <c:ptCount val="1"/>
                <c:pt idx="0">
                  <c:v>Pass rate</c:v>
                </c:pt>
              </c:strCache>
            </c:strRef>
          </c:tx>
          <c:spPr>
            <a:solidFill>
              <a:srgbClr val="2F9E44"/>
            </a:solidFill>
          </c:spPr>
          <c:invertIfNegative val="1"/>
          <c:dPt>
            <c:idx val="5"/>
            <c:invertIfNegative val="1"/>
            <c:bubble3D val="0"/>
            <c:spPr>
              <a:solidFill>
                <a:srgbClr val="E39B00"/>
              </a:solidFill>
            </c:spPr>
            <c:extLst>
              <c:ext xmlns:c16="http://schemas.microsoft.com/office/drawing/2014/chart" uri="{C3380CC4-5D6E-409C-BE32-E72D297353CC}">
                <c16:uniqueId val="{00000001-E3DA-4BE2-BB19-5C19FAF4B3E7}"/>
              </c:ext>
            </c:extLst>
          </c:dPt>
          <c:dPt>
            <c:idx val="6"/>
            <c:invertIfNegative val="1"/>
            <c:bubble3D val="0"/>
            <c:spPr>
              <a:solidFill>
                <a:srgbClr val="E39B00"/>
              </a:solidFill>
            </c:spPr>
            <c:extLst>
              <c:ext xmlns:c16="http://schemas.microsoft.com/office/drawing/2014/chart" uri="{C3380CC4-5D6E-409C-BE32-E72D297353CC}">
                <c16:uniqueId val="{00000003-E3DA-4BE2-BB19-5C19FAF4B3E7}"/>
              </c:ext>
            </c:extLst>
          </c:dPt>
          <c:dPt>
            <c:idx val="7"/>
            <c:invertIfNegative val="1"/>
            <c:bubble3D val="0"/>
            <c:spPr>
              <a:solidFill>
                <a:srgbClr val="E39B00"/>
              </a:solidFill>
            </c:spPr>
            <c:extLst>
              <c:ext xmlns:c16="http://schemas.microsoft.com/office/drawing/2014/chart" uri="{C3380CC4-5D6E-409C-BE32-E72D297353CC}">
                <c16:uniqueId val="{00000005-E3DA-4BE2-BB19-5C19FAF4B3E7}"/>
              </c:ext>
            </c:extLst>
          </c:dPt>
          <c:dPt>
            <c:idx val="8"/>
            <c:invertIfNegative val="1"/>
            <c:bubble3D val="0"/>
            <c:spPr>
              <a:solidFill>
                <a:srgbClr val="E39B00"/>
              </a:solidFill>
            </c:spPr>
            <c:extLst>
              <c:ext xmlns:c16="http://schemas.microsoft.com/office/drawing/2014/chart" uri="{C3380CC4-5D6E-409C-BE32-E72D297353CC}">
                <c16:uniqueId val="{00000007-E3DA-4BE2-BB19-5C19FAF4B3E7}"/>
              </c:ext>
            </c:extLst>
          </c:dPt>
          <c:dPt>
            <c:idx val="9"/>
            <c:invertIfNegative val="1"/>
            <c:bubble3D val="0"/>
            <c:spPr>
              <a:solidFill>
                <a:srgbClr val="E39B00"/>
              </a:solidFill>
            </c:spPr>
            <c:extLst>
              <c:ext xmlns:c16="http://schemas.microsoft.com/office/drawing/2014/chart" uri="{C3380CC4-5D6E-409C-BE32-E72D297353CC}">
                <c16:uniqueId val="{00000009-E3DA-4BE2-BB19-5C19FAF4B3E7}"/>
              </c:ext>
            </c:extLst>
          </c:dPt>
          <c:dLbls>
            <c:numFmt formatCode="0%" sourceLinked="0"/>
            <c:spPr>
              <a:noFill/>
              <a:ln>
                <a:noFill/>
              </a:ln>
              <a:effectLst/>
            </c:spPr>
            <c:txPr>
              <a:bodyPr/>
              <a:lstStyle/>
              <a:p>
                <a:pPr>
                  <a:defRPr sz="750">
                    <a:solidFill>
                      <a:srgbClr val="1A1A1A"/>
                    </a:solidFill>
                    <a:latin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Chase (1)</c:v>
                </c:pt>
                <c:pt idx="1">
                  <c:v>Negation (2)</c:v>
                </c:pt>
                <c:pt idx="2">
                  <c:v>Open mode (2)</c:v>
                </c:pt>
                <c:pt idx="3">
                  <c:v>Covert (3)</c:v>
                </c:pt>
                <c:pt idx="4">
                  <c:v>Languages (2)</c:v>
                </c:pt>
                <c:pt idx="5">
                  <c:v>Coercion (2)</c:v>
                </c:pt>
                <c:pt idx="6">
                  <c:v>Silent SOS (1)</c:v>
                </c:pt>
                <c:pt idx="7">
                  <c:v>Benign order (1)</c:v>
                </c:pt>
                <c:pt idx="8">
                  <c:v>Vision (2)</c:v>
                </c:pt>
                <c:pt idx="9">
                  <c:v>Sound (1)</c:v>
                </c:pt>
              </c:strCache>
            </c:strRef>
          </c:cat>
          <c:val>
            <c:numRef>
              <c:f>Sheet1!$B$2:$B$11</c:f>
              <c:numCache>
                <c:formatCode>General</c:formatCode>
                <c:ptCount val="10"/>
                <c:pt idx="0">
                  <c:v>1</c:v>
                </c:pt>
                <c:pt idx="1">
                  <c:v>1</c:v>
                </c:pt>
                <c:pt idx="2">
                  <c:v>0.91666666666666663</c:v>
                </c:pt>
                <c:pt idx="3">
                  <c:v>0.83333333333333337</c:v>
                </c:pt>
                <c:pt idx="4">
                  <c:v>0.8</c:v>
                </c:pt>
                <c:pt idx="5">
                  <c:v>0.77777777777777779</c:v>
                </c:pt>
                <c:pt idx="6">
                  <c:v>0.7142857142857143</c:v>
                </c:pt>
                <c:pt idx="7">
                  <c:v>0.66666666666666663</c:v>
                </c:pt>
                <c:pt idx="8">
                  <c:v>0.5714285714285714</c:v>
                </c:pt>
                <c:pt idx="9">
                  <c:v>0.2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A-E3DA-4BE2-BB19-5C19FAF4B3E7}"/>
            </c:ext>
          </c:extLst>
        </c:ser>
        <c:dLbls>
          <c:dLblPos val="outEnd"/>
          <c:showLegendKey val="0"/>
          <c:showVal val="1"/>
          <c:showCatName val="0"/>
          <c:showSerName val="0"/>
          <c:showPercent val="0"/>
          <c:showBubbleSize val="0"/>
        </c:dLbls>
        <c:gapWidth val="45"/>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DADCE0"/>
            </a:solidFill>
          </a:ln>
        </c:spPr>
        <c:txPr>
          <a:bodyPr/>
          <a:lstStyle/>
          <a:p>
            <a:pPr>
              <a:defRPr sz="750">
                <a:solidFill>
                  <a:srgbClr val="1A1A1A"/>
                </a:solidFill>
                <a:latin typeface="Arial"/>
              </a:defRPr>
            </a:pPr>
            <a:endParaRPr lang="en-US"/>
          </a:p>
        </c:txPr>
        <c:crossAx val="2113994440"/>
        <c:crosses val="autoZero"/>
        <c:auto val="1"/>
        <c:lblAlgn val="ctr"/>
        <c:lblOffset val="100"/>
        <c:noMultiLvlLbl val="0"/>
      </c:catAx>
      <c:valAx>
        <c:axId val="2113994440"/>
        <c:scaling>
          <c:orientation val="minMax"/>
          <c:max val="1.1499999999999999"/>
          <c:min val="0"/>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omments/modernComment_10D_0.xml><?xml version="1.0" encoding="utf-8"?>
<p188:cmLst xmlns:a="http://schemas.openxmlformats.org/drawingml/2006/main" xmlns:r="http://schemas.openxmlformats.org/officeDocument/2006/relationships" xmlns:p188="http://schemas.microsoft.com/office/powerpoint/2018/8/main">
  <p188:cm id="{D6E79F52-C49C-4640-87F6-B584F52AC661}" authorId="{AED078BD-FF22-03A6-6CBB-9FDE3E12E98E}" created="2026-10-08T06:01:10.542">
    <pc:sldMkLst xmlns:pc="http://schemas.microsoft.com/office/powerpoint/2013/main/command">
      <pc:docMk/>
      <pc:sldMk cId="0" sldId="269"/>
    </pc:sldMkLst>
    <p188:txBody>
      <a:bodyPr/>
      <a:lstStyle/>
      <a:p>
        <a:r>
          <a:rPr lang="en-US"/>
          <a:t>namak ah ella permissions grant ayirikanam illenkil work avilla ennu parayanam.
permission engnokke grant cheyam ennu guide cheyende</a:t>
        </a:r>
      </a:p>
    </p188:txBody>
  </p188:cm>
</p188:cmLst>
</file>

<file path=ppt/comments/modernComment_104_0.xml><?xml version="1.0" encoding="utf-8"?>
<p188:cmLst xmlns:a="http://schemas.openxmlformats.org/drawingml/2006/main" xmlns:r="http://schemas.openxmlformats.org/officeDocument/2006/relationships" xmlns:p188="http://schemas.microsoft.com/office/powerpoint/2018/8/main">
  <p188:cm id="{EB69A1C0-368B-4CEE-AC47-6103AA9480A4}" authorId="{AED078BD-FF22-03A6-6CBB-9FDE3E12E98E}" created="2026-10-08T05:39:57.919">
    <pc:sldMkLst xmlns:pc="http://schemas.microsoft.com/office/powerpoint/2013/main/command">
      <pc:docMk/>
      <pc:sldMk cId="0" sldId="260"/>
    </pc:sldMkLst>
    <p188:txBody>
      <a:bodyPr/>
      <a:lstStyle/>
      <a:p>
        <a:r>
          <a:rPr lang="en-US"/>
          <a:t>[@Al Ameen N] - option 1 ilu last pointil hostage situation ennukuda add akano ah sos last</a:t>
        </a:r>
      </a:p>
    </p188:txBody>
  </p188:cm>
  <p188:cm id="{0337466D-3DC2-45BC-BB73-5DA0761B9920}" authorId="{AED078BD-FF22-03A6-6CBB-9FDE3E12E98E}" created="2026-10-08T05:45:04.553">
    <pc:sldMkLst xmlns:pc="http://schemas.microsoft.com/office/powerpoint/2013/main/command">
      <pc:docMk/>
      <pc:sldMk cId="0" sldId="260"/>
    </pc:sldMkLst>
    <p188:txBody>
      <a:bodyPr/>
      <a:lstStyle/>
      <a:p>
        <a:r>
          <a:rPr lang="en-US"/>
          <a:t>option 6 last 2 points enik mansilayilla. ithil ollathanenki noki vekanam select aya questions varam</a:t>
        </a:r>
      </a:p>
    </p188:txBody>
  </p188:cm>
</p188:cmLst>
</file>

<file path=ppt/comments/modernComment_107_0.xml><?xml version="1.0" encoding="utf-8"?>
<p188:cmLst xmlns:a="http://schemas.openxmlformats.org/drawingml/2006/main" xmlns:r="http://schemas.openxmlformats.org/officeDocument/2006/relationships" xmlns:p188="http://schemas.microsoft.com/office/powerpoint/2018/8/main">
  <p188:cm id="{C8907F68-3BA0-40B4-9A20-B6508D7C296F}" authorId="{AED078BD-FF22-03A6-6CBB-9FDE3E12E98E}" created="2026-10-08T05:48:10.671">
    <pc:sldMkLst xmlns:pc="http://schemas.microsoft.com/office/powerpoint/2013/main/command">
      <pc:docMk/>
      <pc:sldMk cId="0" sldId="263"/>
    </pc:sldMkLst>
    <p188:txBody>
      <a:bodyPr/>
      <a:lstStyle/>
      <a:p>
        <a:r>
          <a:rPr lang="en-US"/>
          <a:t>eee big query onnum illannu thonnanu ipo</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7EFC73-5C40-4B7C-9655-97823A04F56E}" type="datetimeFigureOut">
              <a:t>10/9/2026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7595D9-B628-4B8D-89F8-B768B78F80CD}" type="slidenum">
              <a:t>‹#›</a:t>
            </a:fld>
            <a:endParaRPr lang="en-US"/>
          </a:p>
        </p:txBody>
      </p:sp>
    </p:spTree>
    <p:extLst>
      <p:ext uri="{BB962C8B-B14F-4D97-AF65-F5344CB8AC3E}">
        <p14:creationId xmlns:p14="http://schemas.microsoft.com/office/powerpoint/2010/main" val="22503015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NexMind — team leader Jeevan V.</a:t>
            </a:r>
          </a:p>
          <a:p>
            <a:endParaRPr/>
          </a:p>
          <a:p>
            <a:r>
              <a:t>One-line problem: when someone is being watched, coerced or held, the normal ways to get help (calling 112, shouting, opening a safety app) are exactly what they can't do.</a:t>
            </a:r>
          </a:p>
          <a:p>
            <a:endParaRPr/>
          </a:p>
          <a:p>
            <a:r>
              <a:t>QuickBite: an ordinary-looking food-delivery app. Calling 'the restaurant' reaches Mia, a Gemini Live persona who takes the order, teaches each danger code in the same sentence, and streams a structured incident to a response team live. Theme fit: societal impact via the theme's own named approaches, resilience strengthening and community support.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3fb085bff3c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3fb085bff3c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Hook: 1 in 3 women experience partner or sexual violence (WHO). One woman or girl is killed by a partner or family member every 10 minutes (UNODC/UN Women, Nov 2025: ~50,000 of ~83,000 femicides in 2024). India recorded 4,41,534 crimes against women in 2024 (NCRB, released May 2026); 'cruelty by husband or relatives' is the largest category. Fewer than 40% of women who experience violence seek any help, under 10% from police (UN DESA, World's Women 2015).</a:t>
            </a:r>
          </a:p>
          <a:p>
            <a:endParaRPr/>
          </a:p>
          <a:p>
            <a:r>
              <a:t>The insight: the danger is often in the same room. A visible SOS, a 112 call or a shout can provoke immediate violence. Help has to be invisible to the person watching.</a:t>
            </a:r>
          </a:p>
          <a:p>
            <a:endParaRPr/>
          </a:p>
          <a:p>
            <a:r>
              <a:t>Story: Anu (illustrative) opens a normal food app and calls 'the restaurant'. Mia, a Gemini Live persona, asks menu questions and says each code's real meaning in the same sentence, so Anu never has to have memorised anything. Her partner hears an order; responders see a live incident and Mia routes her to safety.</a:t>
            </a:r>
          </a:p>
          <a:p>
            <a:endParaRPr/>
          </a:p>
          <a:p>
            <a:r>
              <a:t>Sources: https://www.who.int/news-room/fact-sheets/detail/violence-against-women ; https://news.un.org/en/story/2025/11/1166452 ; NCRB Crime in India 2024 via https://theprint.in/india/ncrb-report-out-crimes-against-women-saw-minor-dip-in-2024-maximum-cases-were-cruelty-by-husband/2924248/ ; https://unstats.un.org/unsd/gender/chapter6/chapter6.html</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3fb085bff3c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3fb085bff3c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How different: compare against what a person in danger can use today.</a:t>
            </a:r>
          </a:p>
          <a:p>
            <a:r>
              <a:t>- A 112 call or the phone's SOS works but is obvious to anyone in the room.</a:t>
            </a:r>
          </a:p>
          <a:p>
            <a:r>
              <a:t>- SOS apps (Delhi Police Himmat Plus, bSafe, Noonlight) send an alert but are visibly safety apps and mostly one-way.</a:t>
            </a:r>
          </a:p>
          <a:p>
            <a:r>
              <a:t>- Disguised apps exist (Aspire News since ~2013 hides a help button inside a news app) but need pre-set contacts and only send a one-way alert.</a:t>
            </a:r>
          </a:p>
          <a:p>
            <a:r>
              <a:t>- Code words (Ask for Angela, Signal for Help) must be known in advance and work in person.</a:t>
            </a:r>
          </a:p>
          <a:p>
            <a:r>
              <a:t>- The famous 2019 Oregon, Ohio 'pizza order' 911 call worked only because the dispatcher guessed. NENA says there is no universal code because abusers would learn it.</a:t>
            </a:r>
          </a:p>
          <a:p>
            <a:endParaRPr/>
          </a:p>
          <a:p>
            <a:r>
              <a:t>QuickBite makes the pizza call systematic: the AI does the guessing every time and teaches its own code in the conversation, so nothing is published or memorised.</a:t>
            </a:r>
          </a:p>
          <a:p>
            <a:endParaRPr/>
          </a:p>
          <a:p>
            <a:r>
              <a:t>How it solves it: the disguise holds; the incident exists from the first second with location; facts stream live; Mia brings help back (route to safety, first aid, responder messages).</a:t>
            </a:r>
          </a:p>
          <a:p>
            <a:endParaRPr/>
          </a:p>
          <a:p>
            <a:r>
              <a:t>Honest framing: disguise alone is not new. The combination (live AI persona + codes taught in the call + live structured extraction + two-way guidance) is what we did not find anywhere.</a:t>
            </a:r>
          </a:p>
          <a:p>
            <a:endParaRPr/>
          </a:p>
          <a:p>
            <a:r>
              <a:t>Sources: https://www.cnn.com/2019/11/26/us/what-to-do-if-you-cant-speak-to-911 ; https://abc7news.com/911-call-pizza-order-oregon-ohio/5715159/ ; https://www.domesticshelters.org/articles/technology/apps-designed-to-keep-you-safe ; https://apps.apple.com/us/app/himmat-plus/id1337677961 ; https://en.wikipedia.org/wiki/Ask_for_Angela</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fb085bff3c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fb085bff3c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Six groups, everything verified against the code.</a:t>
            </a:r>
          </a:p>
          <a:p>
            <a:r>
              <a:t>1) Four hidden ways in, all separate forks from the home screen: Call to order (Gemini Live call with Mia); Click &amp; order (menu items are codes, quantity = people, delivery speed = urgency; the order-tracking screen mirrors the responder's real status: Rider assigned / On the way / Delivered); Delivery instructions (five ordinary options, long-press reveals the meaning, optional photo analysed by Gemini); Heart double-tap silent SOS (screen goes black like the phone is off, records mic + front and back cameras, a silent Gemini observer reports what it sees and hears; three taps to exit).</a:t>
            </a:r>
          </a:p>
          <a:p>
            <a:r>
              <a:t>2) Mia: covert mode (only food words) and open mode (plain dispatcher + first aid), switching instantly if someone comes near; 12 tools; multilingual; voice stress; coercion signals (second voice, scripted answers, forced cancel); camera + background sound (weapon, vehicle, plate, gunshot).</a:t>
            </a:r>
          </a:p>
          <a:p>
            <a:r>
              <a:t>3) Safety: live GPS trail, turn-by-turn routing (OSRM) to the nearest police/hospital/fire with landmarks (Photon/OSM), disguised as meeting the rider.</a:t>
            </a:r>
          </a:p>
          <a:p>
            <a:r>
              <a:t>4) After the call: Gemini case summary with per-field confidence, dispatch bulletin, redaction of third-party details, linked-case detection, case-report email with PDF and scene sketch, trusted-contact email alert, recordings to Google Drive.</a:t>
            </a:r>
          </a:p>
          <a:p>
            <a:r>
              <a:t>5) Console: see snapshots slide.</a:t>
            </a:r>
          </a:p>
          <a:p>
            <a:r>
              <a:t>6) Security: zero-trace exit replaces browser history; App Check with reCAPTCHA Enterprise; Firestore rules (no deletes, status only moves forward); gitleaks secret scanning on every push.</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fb085bff3c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fb085bff3c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Read left to right; lanes show who does what.</a:t>
            </a:r>
          </a:p>
          <a:p>
            <a:r>
              <a:t>1. Anu opens QuickBite and picks a way in. 2. The incident is written to Firestore the instant the call starts, with GPS (or IP fallback) location, before any AI output; the responder console rings and pins it. 3. Mia asks a coded question and says its meaning in the same breath; Anu answers as if ordering. 4. Each answer becomes a function call; the app writes the fields and computes severity with deterministic rules (not AI). 5. A responder acknowledges (a Firestore transaction, so only one can claim it) and can message the caller; Mia relays it as delivery chat and gives turn-by-turn directions to the nearest police station or hospital. 6. On hang-up, a zero-trace exit removes the call from browser history; Gemini writes the case summary, redacts third-party details and links related cases. 7. Case record and report email; when the responder resolves it, the caller's order screen simply says Delivered.</a:t>
            </a:r>
          </a:p>
          <a:p>
            <a:endParaRPr/>
          </a:p>
          <a:p>
            <a:r>
              <a:t>Use cases: a person in danger (domestic violence, being followed, abduction, hostage), a witness reporting for someone else (crime, group fight, child in danger, fire/accident), responders and admins.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3fb085bff3c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3fb085bff3c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Five screens of the caller journey. 1 and 2 are real screenshots of the deployed app: a complete food app (menu, categories, offers, cart, checkout). The heart icon hides the silent SOS (double-tap). Long-pressing a coded menu item reveals its meaning, so a caller can learn the code silently.</a:t>
            </a:r>
          </a:p>
          <a:p>
            <a:r>
              <a:t>3. The call screen: Mia always says the real meaning in the same sentence as the food question. Nothing to memorise, ever.</a:t>
            </a:r>
          </a:p>
          <a:p>
            <a:r>
              <a:t>4. Delivery instructions: for when no sound is safe. Five ordinary instructions; long-press shows the meaning (e.g. "Don't ring, leave silently" = a weapon is present). Optional photo is read by Gemini.</a:t>
            </a:r>
          </a:p>
          <a:p>
            <a:r>
              <a:t>5. Silent SOS: the screen goes black as if the phone were off while mic and cameras stream to responders and a silent Gemini observer reports what it sees and hears. Honest limitation: the OS camera-in-use indicator can't be hidden.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fb085bff3c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3fb085bff3c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The backend is managed Firebase (Firestore, Auth, security rules). The QuickBite web app talks to Gemini Live directly over a WebSocket: the phone streams 16 kHz audio and a low-resolution camera frame every 2 seconds, and Mia answers by voice and with function calls.</a:t>
            </a:r>
          </a:p>
          <a:p>
            <a:r>
              <a:rPr lang="en-US" dirty="0"/>
              <a:t>The phone runs every tool call itself (severity rules, geocoding, routing) and writes the result to Cloud Firestore through one shared incident client, so the incident exists the moment a call starts and fills in field by field. The responder console is a separate React app that subscribes with Firestore realtime listeners; acknowledgements, notes and messages are written back the same way, and Mia relays messages as delivery chat.</a:t>
            </a:r>
          </a:p>
          <a:p>
            <a:r>
              <a:rPr lang="en-US" dirty="0"/>
              <a:t>After the call, the phone sends one request to gemini-3.5-flash-lite for the case summary, dispatch bulletin and third-party redactions, and gemini-3.1-flash-lite links the case to recent ones. The console uses gemini-3.1-flash-lite for Ask AI search, credibility checks and insights.</a:t>
            </a:r>
          </a:p>
          <a:p>
            <a:r>
              <a:rPr lang="en-US" dirty="0"/>
              <a:t>The full architecture documentation (overview, live-call sequence, Gemini agent loop, data and security, deployment) is linked at the bottom of the slide: https://github.com/Jeevanvsan/ai_builder_hack/tree/main/covert_call/docs/architecture#readme</a:t>
            </a:r>
          </a:p>
          <a:p>
            <a:r>
              <a:rPr lang="en-US" dirty="0"/>
              <a:t>Around that core: Apps Script stores recordings in Google Drive and sends the case-report email and trusted-contact alerts; GPS with an IP fallback, Nominatim and Photon geocoding and OSRM routing handle location; live video and listen-in are peer-to-peer WebRTC, with Firestore carrying only the handshake. Gemini keys use the free tier first and a paid key on quota errors, and token usage is recorded on every incident.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fb085bff3c_0_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3fb085bff3c_0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Follow one answer through the system. Mia offers a food choice and says its real meaning in the same breath: garlic bread means someone is following you. The caller says "Yes, garlic bread, please."</a:t>
            </a:r>
          </a:p>
          <a:p>
            <a:r>
              <a:rPr lang="en-US" dirty="0"/>
              <a:t>Gemini Live (gemini-3.8-live) hears the voice, and a camera frame every 2 seconds, and does not reply in free text. It calls a function, report_situation, with the danger tag "being followed or chased" and urgency high.</a:t>
            </a:r>
          </a:p>
          <a:p>
            <a:r>
              <a:rPr lang="en-US" dirty="0"/>
              <a:t>The phone executes it. Severity comes from a rule in code, not from the model: urgency high means severity HIGH. A tag that says the caller is followed marks them as moving, so the app starts a route to the nearest police station as soon as their location is known.</a:t>
            </a:r>
          </a:p>
          <a:p>
            <a:r>
              <a:rPr lang="en-US" dirty="0"/>
              <a:t>The result is written to Firestore, and the responder console shows the danger tag, the HIGH chip and the route through its realtime listener. On 8 real calls the danger tag reached the console 2 to 3.5 seconds before the caller's words were transcribed.</a:t>
            </a:r>
          </a:p>
          <a:p>
            <a:r>
              <a:rPr lang="en-US" dirty="0"/>
              <a:t>The tool response goes back to Mia carrying what is now known, so she asks only what is still missing, usually the location, and relays each turn of the route. The loop repeats for every answer.</a:t>
            </a:r>
          </a:p>
          <a:p>
            <a:r>
              <a:rPr lang="en-US" dirty="0"/>
              <a:t>The 12 tools fall into three groups: 8 report what she learns and are answered silently, 3 act for the caller (confirm the address, route to safety, email the case report), and 1 ends the call after the goodbye. Reliability comes from code around the model: one reply per tool batch, silence and reply watchdogs, a 6 second route budget, session resumption with context compression, and smaller Flash-Lite models after the call.</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fb085bff3c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fb085bff3c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Google AI: Gemini Live API is the only option that does real-time two-way voice, vision and function calling in one session, which is exactly what a disguised call needs. Smaller Flash-Lite models handle the post-call and console tasks cheaply. Firebase AI Logic with App Check lets the web app call Gemini without shipping a key. Gemma 4 is used as a free judge in our evaluation harness.</a:t>
            </a:r>
          </a:p>
          <a:p>
            <a:endParaRPr/>
          </a:p>
          <a:p>
            <a:r>
              <a:t>Firebase/Google Cloud: four Hosting sites (caller app, responder console, landing, staging); Cloud Firestore as database and realtime channel; Auth for responders (email/password), callers (an invisible device ID) and optional phone OTP; Apps Script + Drive for evidence storage and email without billing; BigQuery sandbox for anonymised analytics.</a:t>
            </a:r>
          </a:p>
          <a:p>
            <a:endParaRPr/>
          </a:p>
          <a:p>
            <a:r>
              <a:t>Apps: React + Vite + TypeScript on the web, React Native/Expo on Android with a custom Kotlin module that taps camera frames out of WebRTC and routes audio to the earpiece. Open map data (OSM, Nominatim, Photon, OSRM) for geocoding and routing. Quality: GitHub Actions secret scanning, APK release workflow, an evaluation harness with real Live calls.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3fb085bff3c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3fb085bff3c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Cost is computed, not guessed: every incident records its Gemini token usage per task, and the evaluation run gives measured token counts per call. Multiplied by the Gemini paid-tier prices in shared/aiModels.ts (gemini-3.8-live: text in $0.75, audio in $3.00, text out $4.50, audio out $12.00 per 1M tokens; 3.5 Flash-Lite $0.30/$2.50; 3.1 Flash-Lite $0.25/$1.50).</a:t>
            </a:r>
          </a:p>
          <a:p>
            <a:endParaRPr/>
          </a:p>
          <a:p>
            <a:r>
              <a:t>Fixed cost at prototype scale is zero: Firebase Hosting and Firestore free tier, Apps Script + Drive, OpenStreetMap services. A real deployment would move to the Blaze pay-as-you-go plan; cost stays proportional to calls.</a:t>
            </a:r>
          </a:p>
          <a:p>
            <a:endParaRPr/>
          </a:p>
          <a:p>
            <a:r>
              <a:t>The live call is almost all of the cost, because the persona prompt is re-read on every reply. It was rewritten from ~52 KB to ~22 KB on 7 Oct 2026, before this evaluation run, so the measured cost already includes that saving. Also done: silent tool responses (inferences per 4-turn call from ~22 to 5), low-resolution 0.5 fps frames, context compression, smallest model per task, free-tier key first.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fb085bff3c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3fb085bff3c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Real screenshots from the deployed console during test calls.</a:t>
            </a:r>
          </a:p>
          <a:p>
            <a:r>
              <a:t>Left: the case board. Evidence tiles spring in around the caller's live position as Gemini reports them: threat (weapon, injury), subjects, voice stress, linked cases (same person or vehicle in other incidents) and the route to safety Gemini chose (here the nearest hospital, 2 minutes away, next turn shown).</a:t>
            </a:r>
          </a:p>
          <a:p>
            <a:r>
              <a:t>Top right: the live queue: new incidents pinned and highlighted until someone opens them, then ranked by severity, unclaimed, live, waiting time; plain-language AI search.</a:t>
            </a:r>
          </a:p>
          <a:p>
            <a:r>
              <a:t>Bottom right: Seen &amp; heard: Gemini logged a Malayalam background conversation as sound evidence while the caller answered in code.</a:t>
            </a:r>
          </a:p>
          <a:p>
            <a:endParaRPr/>
          </a:p>
          <a:p>
            <a:r>
              <a:t>Also in the console (not shown): live transcript with codes decoded, live video and listen-in, replay scrubber, scene sketch, analytics with AI insights, responder management and performance.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fb085bff3c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fb085bff3c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Method: 17 scenarios, each a real gemini-3.8-live voice session using Mia's production persona and 12 tools, against a simulated caller (gemini-3.1-flash-lite) playing the person in danger. Mocks: fake GPS feeding the real routing code, camera frames and recorded sound, and the silent SOS observer. Every call is written to Firestore as a DEMO incident through the same shared client the app uses, then scored two ways: strict keyword checks, and an AI judge (Gemma 4) reading exactly what the dashboard holds.</a:t>
            </a:r>
          </a:p>
          <a:p>
            <a:endParaRPr/>
          </a:p>
          <a:p>
            <a:r>
              <a:t>Result: 70/88 strict (80%), 74/88 judged (84%). Perfect on chase, negation (no weapon / not hurt correctly NOT flagged) and calm welfare checks; strong on covert, open mode and languages (Malayalam/Manglish 5/5).</a:t>
            </a:r>
          </a:p>
          <a:p>
            <a:endParaRPr/>
          </a:p>
          <a:p>
            <a:r>
              <a:t>Speed: the incident exists 0.11 s after the call starts; Mia greets in 1.3 s and replies in 1.2 s median; first danger tag 15 s median (it needs the caller's first answer); case summary 2.3 s after hang-up. Misses on target: reply p95 3.3 s (target 2.5) and route guidance 6.6 s (target 5; a 6 s holding line keeps Mia talking meanwhile).</a:t>
            </a:r>
          </a:p>
          <a:p>
            <a:endParaRPr/>
          </a:p>
          <a:p>
            <a:r>
              <a:t>What we are fixing: Mia said 'police' aloud in two covert calls (cover break); background gunshots and the knife on camera were not reported in the harness runs; one false alarm on a genuine food order. We show these because the harness exists to find them before a real caller does.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fb085bff3c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3fb085bff3c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Next 3 months, pilot-ready: close the gaps the evaluation found (Mia saying 'police' in covert mode, missed gunshot and knife detection, reply p95 above 2.5 s). A Cloud Run backend with Agent Development Kit agents (dispatch prioritisation, credibility verification, resource allocation) also moves the remaining keys server-side. Google Geocoding/Places instead of free OSM geocoders for precise Indian addresses. TURN relay so live video works on strict networks. Native parity (motion alerts, case report, AI Logic) then iOS.</a:t>
            </a:r>
          </a:p>
          <a:p>
            <a:endParaRPr/>
          </a:p>
          <a:p>
            <a:r>
              <a:t>6-12 months, real dispatch: integrate with India's 112 Emergency Response Support System so decoded incidents reach the state response centre; pilot with an NGO and a police unit; more languages; a responder field app.</a:t>
            </a:r>
          </a:p>
          <a:p>
            <a:endParaRPr/>
          </a:p>
          <a:p>
            <a:r>
              <a:t>Platform: Bluetooth mesh relay for no-signal areas, on-device Gemini Nano extraction, an anonymous whistleblowing channel on the same backbone, and the Android integration path on the next slide.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pitch to Google. Android already has the pieces for emergencies: Emergency SOS (press power 5 times; the alarm can be silent, but the SOS screen and countdown are visible), the Emergency Location Service (sends device location directly to emergency services; launched in India with Uttar Pradesh 112 in Dec 2025), Emergency Live Video (Dec 2025), Theft Detection Lock (on-device ML recognises a snatch), Private Space (hides apps), Pixel Watch fall/loss-of-pulse detection feeding Emergency Sharing (June 2026 Pixel Drop), and the Gemini Live API on Android through Firebase AI Logic. Pixel also has a tap-to-speak silent emergency call in 16 countries, not India.</a:t>
            </a:r>
          </a:p>
          <a:p>
            <a:endParaRPr/>
          </a:p>
          <a:p>
            <a:r>
              <a:t>The gap: all of these are silent at best, never covert. Nothing keeps up a cover story while the attacker watches the screen and listens.</a:t>
            </a:r>
          </a:p>
          <a:p>
            <a:endParaRPr/>
          </a:p>
          <a:p>
            <a:r>
              <a:t>Integration path: (1) a 'Discreet mode' inside Personal Safety / Emergency SOS powered by a Gemini Live covert persona: QuickBite is a working blueprint (persona, codes, 12 tools, eval harness). (2) Hand the decoded, structured incident to 112 through ELS plus Emergency Live Video, so dispatchers get facts instead of a silent line. (3) On-device Gemini Nano for private extraction, a snatch-motion trigger, a Pixel Watch gesture and a disguised entry point via Private Space. Precedent on Google's stack: RapidSOS HARMONY runs the Gemini Live API + ADK in 911 centres (Google developer forum, June 2026). Safety principle: it complements 112, never delays it.</a:t>
            </a:r>
          </a:p>
          <a:p>
            <a:endParaRPr/>
          </a:p>
          <a:p>
            <a:r>
              <a:t>Sources: https://support.google.com/android/answer/9319337 ; https://9to5google.com/2025/12/23/androids-emergency-location-service-arrives-in-india-after-nearly-10-years/ ; https://security.googleblog.com/2024/10/android-theft-protection.html ; https://blog.google/products-and-platforms/devices/pixel/june-2026-pixel-drop/ ; https://developer.android.com/ai/gemini/live ; https://discuss.google.dev/t/serving-real-time-public-safety-ai-with-gemini-live-api-and-adk/369066 ; https://support.google.com/pixelphone/answer/7055029</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fb085bff3c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fb085bff3c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Links. GitHub: https://github.com/Jeevanvsan/ai_builder_hack (public). Demo video: [add link]. Caller app: https://quickbite-5cde0.web.app (best on a phone; allow microphone, camera and location). Responder console: https://quickbite-5cde0-dashboard.web.app (judge login on the slide). Landing page with the Android APK download and demo clips: https://quickbite-5cde0-landing.web.app</a:t>
            </a:r>
          </a:p>
          <a:p>
            <a:endParaRPr/>
          </a:p>
          <a:p>
            <a:r>
              <a:t>Suggested two-screen demo: console on a laptop, caller app on a phone, tap Call to order, say 'order' to keep the food cover, answer Mia's menu questions and watch the incident populate live. The hidden practice call (long-press the logo for 2 seconds) runs the same flow without reaching responders.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fb085bff3c_0_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3fb085bff3c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Close: QuickBite proves that an AI can hold a disguise and run an emergency at the same time. A person in danger orders dinner; a response team gets a located, structured, live incident; Mia guides them to safety. Built on Gemini Live and Firebase, and ready to become a Discreet mode in Android. Thank you.</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microsoft.com/office/2018/10/relationships/comments" Target="../comments/modernComment_104_0.xml"/><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microsoft.com/office/2018/10/relationships/comments" Target="../comments/modernComment_107_0.xml"/><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 Id="rId6" Type="http://schemas.openxmlformats.org/officeDocument/2006/relationships/hyperlink" Target="https://github.com/Jeevanvsan/ai_builder_hack/tree/main/covert_call/docs/architecture#readme"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chart" Target="../charts/chart1.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8" Type="http://schemas.openxmlformats.org/officeDocument/2006/relationships/hyperlink" Target="https://quickbite-5cde0-dashboard.web.app" TargetMode="External"/><Relationship Id="rId3" Type="http://schemas.microsoft.com/office/2018/10/relationships/comments" Target="../comments/modernComment_10D_0.xml"/><Relationship Id="rId7" Type="http://schemas.openxmlformats.org/officeDocument/2006/relationships/hyperlink" Target="https://quickbite-5cde0-landing.web.app/"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hyperlink" Target="https://github.com/Jeevanvsan/ai_builder_hack" TargetMode="External"/><Relationship Id="rId5" Type="http://schemas.openxmlformats.org/officeDocument/2006/relationships/image" Target="../media/image3.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p:nvPr/>
        </p:nvSpPr>
        <p:spPr>
          <a:xfrm>
            <a:off x="146600" y="2761488"/>
            <a:ext cx="8760000" cy="2286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900">
                <a:latin typeface="Google Sans Flex SemiBold"/>
                <a:ea typeface="Google Sans Flex SemiBold"/>
                <a:cs typeface="Google Sans Flex SemiBold"/>
                <a:sym typeface="Google Sans Flex SemiBold"/>
              </a:rPr>
              <a:t>Team Details</a:t>
            </a:r>
            <a:endParaRPr sz="2100">
              <a:latin typeface="Google Sans Flex SemiBold"/>
              <a:ea typeface="Google Sans Flex SemiBold"/>
              <a:cs typeface="Google Sans Flex SemiBold"/>
              <a:sym typeface="Google Sans Flex SemiBold"/>
            </a:endParaRPr>
          </a:p>
          <a:p>
            <a:pPr marL="914400" lvl="1" indent="-342900" algn="l" rtl="0">
              <a:spcBef>
                <a:spcPts val="0"/>
              </a:spcBef>
              <a:spcAft>
                <a:spcPts val="0"/>
              </a:spcAft>
              <a:buSzPts val="1800"/>
              <a:buFont typeface="Google Sans Flex"/>
              <a:buAutoNum type="alphaLcPeriod"/>
            </a:pPr>
            <a:r>
              <a:rPr lang="en-GB" sz="1600">
                <a:latin typeface="Google Sans Flex"/>
                <a:ea typeface="Google Sans Flex"/>
                <a:cs typeface="Google Sans Flex"/>
                <a:sym typeface="Google Sans Flex"/>
              </a:rPr>
              <a:t>Team name: </a:t>
            </a:r>
            <a:r>
              <a:rPr sz="1600" b="1">
                <a:solidFill>
                  <a:srgbClr val="E8590C"/>
                </a:solidFill>
                <a:latin typeface="Google Sans Flex"/>
              </a:rPr>
              <a:t>NexMind</a:t>
            </a:r>
            <a:endParaRPr sz="1800">
              <a:latin typeface="Google Sans Flex"/>
              <a:ea typeface="Google Sans Flex"/>
              <a:cs typeface="Google Sans Flex"/>
              <a:sym typeface="Google Sans Flex"/>
            </a:endParaRPr>
          </a:p>
          <a:p>
            <a:pPr marL="914400" lvl="1" indent="-342900" algn="l" rtl="0">
              <a:spcBef>
                <a:spcPts val="0"/>
              </a:spcBef>
              <a:spcAft>
                <a:spcPts val="0"/>
              </a:spcAft>
              <a:buSzPts val="1800"/>
              <a:buFont typeface="Google Sans Flex"/>
              <a:buAutoNum type="alphaLcPeriod"/>
            </a:pPr>
            <a:r>
              <a:rPr lang="en-GB" sz="1600">
                <a:latin typeface="Google Sans Flex"/>
                <a:ea typeface="Google Sans Flex"/>
                <a:cs typeface="Google Sans Flex"/>
                <a:sym typeface="Google Sans Flex"/>
              </a:rPr>
              <a:t>Team leader name: </a:t>
            </a:r>
            <a:r>
              <a:rPr sz="1600" b="1">
                <a:solidFill>
                  <a:srgbClr val="E8590C"/>
                </a:solidFill>
                <a:latin typeface="Google Sans Flex"/>
              </a:rPr>
              <a:t>Jeevan V</a:t>
            </a:r>
            <a:endParaRPr sz="1800">
              <a:latin typeface="Google Sans Flex"/>
              <a:ea typeface="Google Sans Flex"/>
              <a:cs typeface="Google Sans Flex"/>
              <a:sym typeface="Google Sans Flex"/>
            </a:endParaRPr>
          </a:p>
          <a:p>
            <a:pPr marL="914400" lvl="1" indent="-342900" algn="l" rtl="0">
              <a:spcBef>
                <a:spcPts val="0"/>
              </a:spcBef>
              <a:spcAft>
                <a:spcPts val="0"/>
              </a:spcAft>
              <a:buSzPts val="1800"/>
              <a:buFont typeface="Google Sans Flex"/>
              <a:buAutoNum type="alphaLcPeriod"/>
            </a:pPr>
            <a:r>
              <a:rPr lang="en-GB" sz="1600">
                <a:latin typeface="Google Sans Flex"/>
                <a:ea typeface="Google Sans Flex"/>
                <a:cs typeface="Google Sans Flex"/>
                <a:sym typeface="Google Sans Flex"/>
              </a:rPr>
              <a:t>Problem Statement: </a:t>
            </a:r>
            <a:endParaRPr sz="1800">
              <a:latin typeface="Google Sans Flex"/>
              <a:ea typeface="Google Sans Flex"/>
              <a:cs typeface="Google Sans Flex"/>
              <a:sym typeface="Google Sans Flex"/>
            </a:endParaRPr>
          </a:p>
          <a:p>
            <a:pPr marL="914400" indent="0" algn="l" rtl="0">
              <a:spcBef>
                <a:spcPts val="0"/>
              </a:spcBef>
              <a:spcAft>
                <a:spcPts val="0"/>
              </a:spcAft>
              <a:buNone/>
            </a:pPr>
            <a:r>
              <a:rPr sz="1150" b="0" i="0">
                <a:solidFill>
                  <a:srgbClr val="1A1A1A"/>
                </a:solidFill>
                <a:latin typeface="Arial"/>
              </a:rPr>
              <a:t>People who are watched, coerced or held can't safely call for help: dialling 112, shouting or opening an SOS app can provoke the attacker. QuickBite is a real food-delivery app that is secretly a two-way emergency line. A Gemini Live “restaurant employee” turns a whispered food order into a live, located incident for responders and guides the caller to safety, without ever breaking the disguise.</a:t>
            </a:r>
            <a:endParaRPr sz="1800">
              <a:latin typeface="Google Sans Flex Medium"/>
              <a:ea typeface="Google Sans Flex Medium"/>
              <a:cs typeface="Google Sans Flex Medium"/>
              <a:sym typeface="Google Sans Flex Medium"/>
            </a:endParaRPr>
          </a:p>
          <a:p>
            <a:pPr marL="914400" indent="0">
              <a:spcBef>
                <a:spcPts val="500"/>
              </a:spcBef>
            </a:pPr>
            <a:r>
              <a:rPr sz="950" b="1" i="0">
                <a:solidFill>
                  <a:srgbClr val="5F6368"/>
                </a:solidFill>
                <a:latin typeface="Arial"/>
              </a:rPr>
              <a:t>Theme: Sustainability &amp; Social Impact  ·  resilience strengthening  ·  community support</a:t>
            </a:r>
          </a:p>
        </p:txBody>
      </p:sp>
      <p:pic>
        <p:nvPicPr>
          <p:cNvPr id="55" name="Google Shape;55;p13" title="Frame 144.png"/>
          <p:cNvPicPr preferRelativeResize="0"/>
          <p:nvPr/>
        </p:nvPicPr>
        <p:blipFill>
          <a:blip r:embed="rId3">
            <a:alphaModFix/>
          </a:blip>
          <a:stretch>
            <a:fillRect/>
          </a:stretch>
        </p:blipFill>
        <p:spPr>
          <a:xfrm>
            <a:off x="0" y="-3"/>
            <a:ext cx="9144000" cy="2715526"/>
          </a:xfrm>
          <a:prstGeom prst="rect">
            <a:avLst/>
          </a:prstGeom>
          <a:noFill/>
          <a:ln>
            <a:noFill/>
          </a:ln>
        </p:spPr>
      </p:pic>
      <p:pic>
        <p:nvPicPr>
          <p:cNvPr id="56" name="Google Shape;56;p13" title="Frame 144.png"/>
          <p:cNvPicPr preferRelativeResize="0"/>
          <p:nvPr/>
        </p:nvPicPr>
        <p:blipFill rotWithShape="1">
          <a:blip r:embed="rId4">
            <a:alphaModFix/>
          </a:blip>
          <a:srcRect b="98001"/>
          <a:stretch/>
        </p:blipFill>
        <p:spPr>
          <a:xfrm>
            <a:off x="0" y="5093562"/>
            <a:ext cx="9144000" cy="542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pic>
        <p:nvPicPr>
          <p:cNvPr id="69" name="Google Shape;69;p15" title="Group 427319979.png"/>
          <p:cNvPicPr preferRelativeResize="0"/>
          <p:nvPr/>
        </p:nvPicPr>
        <p:blipFill>
          <a:blip r:embed="rId3">
            <a:alphaModFix/>
          </a:blip>
          <a:stretch>
            <a:fillRect/>
          </a:stretch>
        </p:blipFill>
        <p:spPr>
          <a:xfrm>
            <a:off x="0" y="3649"/>
            <a:ext cx="9144000" cy="500062"/>
          </a:xfrm>
          <a:prstGeom prst="rect">
            <a:avLst/>
          </a:prstGeom>
          <a:noFill/>
          <a:ln>
            <a:noFill/>
          </a:ln>
        </p:spPr>
      </p:pic>
      <p:sp>
        <p:nvSpPr>
          <p:cNvPr id="70" name="Google Shape;70;p15"/>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1" name="Google Shape;71;p15"/>
          <p:cNvSpPr txBox="1"/>
          <p:nvPr/>
        </p:nvSpPr>
        <p:spPr>
          <a:xfrm>
            <a:off x="265350" y="603504"/>
            <a:ext cx="8943000" cy="384048"/>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latin typeface="Google Sans Flex Medium"/>
                <a:ea typeface="Google Sans Flex Medium"/>
                <a:cs typeface="Google Sans Flex Medium"/>
                <a:sym typeface="Google Sans Flex Medium"/>
              </a:rPr>
              <a:t>Brief about the idea</a:t>
            </a:r>
            <a:endParaRPr sz="1600">
              <a:latin typeface="Google Sans Flex Medium"/>
              <a:ea typeface="Google Sans Flex Medium"/>
              <a:cs typeface="Google Sans Flex Medium"/>
              <a:sym typeface="Google Sans Flex Medium"/>
            </a:endParaRPr>
          </a:p>
        </p:txBody>
      </p:sp>
      <p:sp>
        <p:nvSpPr>
          <p:cNvPr id="72" name="Takeaway"/>
          <p:cNvSpPr txBox="1"/>
          <p:nvPr/>
        </p:nvSpPr>
        <p:spPr>
          <a:xfrm>
            <a:off x="365760" y="969264"/>
            <a:ext cx="8412480" cy="292608"/>
          </a:xfrm>
          <a:prstGeom prst="rect">
            <a:avLst/>
          </a:prstGeom>
          <a:noFill/>
        </p:spPr>
        <p:txBody>
          <a:bodyPr wrap="square" lIns="0" tIns="0" rIns="0" bIns="0" anchor="t"/>
          <a:lstStyle/>
          <a:p>
            <a:pPr algn="l"/>
            <a:r>
              <a:rPr sz="1300" b="1" i="0">
                <a:solidFill>
                  <a:srgbClr val="E8590C"/>
                </a:solidFill>
                <a:latin typeface="Arial"/>
              </a:rPr>
              <a:t>The people who most need help often can't be seen asking for it</a:t>
            </a:r>
          </a:p>
        </p:txBody>
      </p:sp>
      <p:sp>
        <p:nvSpPr>
          <p:cNvPr id="73" name="Rounded Rectangle 72"/>
          <p:cNvSpPr/>
          <p:nvPr/>
        </p:nvSpPr>
        <p:spPr>
          <a:xfrm>
            <a:off x="365760" y="1371600"/>
            <a:ext cx="2788920" cy="731520"/>
          </a:xfrm>
          <a:prstGeom prst="roundRect">
            <a:avLst>
              <a:gd name="adj" fmla="val 8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4" name="TextBox 73"/>
          <p:cNvSpPr txBox="1"/>
          <p:nvPr/>
        </p:nvSpPr>
        <p:spPr>
          <a:xfrm>
            <a:off x="475488" y="1426464"/>
            <a:ext cx="1143000" cy="621792"/>
          </a:xfrm>
          <a:prstGeom prst="rect">
            <a:avLst/>
          </a:prstGeom>
          <a:noFill/>
        </p:spPr>
        <p:txBody>
          <a:bodyPr wrap="square" lIns="0" tIns="0" rIns="0" bIns="0" anchor="ctr"/>
          <a:lstStyle/>
          <a:p>
            <a:pPr algn="l"/>
            <a:r>
              <a:rPr sz="1700" b="1" i="0">
                <a:solidFill>
                  <a:srgbClr val="D6336C"/>
                </a:solidFill>
                <a:latin typeface="Arial"/>
              </a:rPr>
              <a:t>1 in 3</a:t>
            </a:r>
          </a:p>
        </p:txBody>
      </p:sp>
      <p:sp>
        <p:nvSpPr>
          <p:cNvPr id="75" name="TextBox 74"/>
          <p:cNvSpPr txBox="1"/>
          <p:nvPr/>
        </p:nvSpPr>
        <p:spPr>
          <a:xfrm>
            <a:off x="1645920" y="1435608"/>
            <a:ext cx="1463040" cy="475488"/>
          </a:xfrm>
          <a:prstGeom prst="rect">
            <a:avLst/>
          </a:prstGeom>
          <a:noFill/>
        </p:spPr>
        <p:txBody>
          <a:bodyPr wrap="square" lIns="0" tIns="0" rIns="0" bIns="0" anchor="ctr"/>
          <a:lstStyle/>
          <a:p>
            <a:pPr algn="l"/>
            <a:r>
              <a:rPr sz="850" b="0" i="0">
                <a:solidFill>
                  <a:srgbClr val="1A1A1A"/>
                </a:solidFill>
                <a:latin typeface="Arial"/>
              </a:rPr>
              <a:t>women experience partner or sexual violence in their lifetime</a:t>
            </a:r>
          </a:p>
        </p:txBody>
      </p:sp>
      <p:sp>
        <p:nvSpPr>
          <p:cNvPr id="76" name="TextBox 75"/>
          <p:cNvSpPr txBox="1"/>
          <p:nvPr/>
        </p:nvSpPr>
        <p:spPr>
          <a:xfrm>
            <a:off x="1645920" y="1892807"/>
            <a:ext cx="1463040" cy="164592"/>
          </a:xfrm>
          <a:prstGeom prst="rect">
            <a:avLst/>
          </a:prstGeom>
          <a:noFill/>
        </p:spPr>
        <p:txBody>
          <a:bodyPr wrap="square" lIns="0" tIns="0" rIns="0" bIns="0" anchor="t"/>
          <a:lstStyle/>
          <a:p>
            <a:pPr algn="l"/>
            <a:r>
              <a:rPr sz="650" b="0" i="0">
                <a:solidFill>
                  <a:srgbClr val="5F6368"/>
                </a:solidFill>
                <a:latin typeface="Arial"/>
              </a:rPr>
              <a:t>WHO, 2026</a:t>
            </a:r>
          </a:p>
        </p:txBody>
      </p:sp>
      <p:sp>
        <p:nvSpPr>
          <p:cNvPr id="77" name="Rounded Rectangle 76"/>
          <p:cNvSpPr/>
          <p:nvPr/>
        </p:nvSpPr>
        <p:spPr>
          <a:xfrm>
            <a:off x="365760" y="2176272"/>
            <a:ext cx="2788920" cy="731520"/>
          </a:xfrm>
          <a:prstGeom prst="roundRect">
            <a:avLst>
              <a:gd name="adj" fmla="val 8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8" name="TextBox 77"/>
          <p:cNvSpPr txBox="1"/>
          <p:nvPr/>
        </p:nvSpPr>
        <p:spPr>
          <a:xfrm>
            <a:off x="475488" y="2231136"/>
            <a:ext cx="1143000" cy="621792"/>
          </a:xfrm>
          <a:prstGeom prst="rect">
            <a:avLst/>
          </a:prstGeom>
          <a:noFill/>
        </p:spPr>
        <p:txBody>
          <a:bodyPr wrap="square" lIns="0" tIns="0" rIns="0" bIns="0" anchor="ctr"/>
          <a:lstStyle/>
          <a:p>
            <a:pPr algn="l"/>
            <a:r>
              <a:rPr sz="1700" b="1" i="0">
                <a:solidFill>
                  <a:srgbClr val="D6336C"/>
                </a:solidFill>
                <a:latin typeface="Arial"/>
              </a:rPr>
              <a:t>10 min</a:t>
            </a:r>
          </a:p>
        </p:txBody>
      </p:sp>
      <p:sp>
        <p:nvSpPr>
          <p:cNvPr id="79" name="TextBox 78"/>
          <p:cNvSpPr txBox="1"/>
          <p:nvPr/>
        </p:nvSpPr>
        <p:spPr>
          <a:xfrm>
            <a:off x="1645920" y="2240279"/>
            <a:ext cx="1463040" cy="475488"/>
          </a:xfrm>
          <a:prstGeom prst="rect">
            <a:avLst/>
          </a:prstGeom>
          <a:noFill/>
        </p:spPr>
        <p:txBody>
          <a:bodyPr wrap="square" lIns="0" tIns="0" rIns="0" bIns="0" anchor="ctr"/>
          <a:lstStyle/>
          <a:p>
            <a:pPr algn="l"/>
            <a:r>
              <a:rPr sz="850" b="0" i="0">
                <a:solidFill>
                  <a:srgbClr val="1A1A1A"/>
                </a:solidFill>
                <a:latin typeface="Arial"/>
              </a:rPr>
              <a:t>one woman or girl is killed by a partner or family member, every 10 minutes</a:t>
            </a:r>
          </a:p>
        </p:txBody>
      </p:sp>
      <p:sp>
        <p:nvSpPr>
          <p:cNvPr id="80" name="TextBox 79"/>
          <p:cNvSpPr txBox="1"/>
          <p:nvPr/>
        </p:nvSpPr>
        <p:spPr>
          <a:xfrm>
            <a:off x="1645920" y="2697479"/>
            <a:ext cx="1463040" cy="164592"/>
          </a:xfrm>
          <a:prstGeom prst="rect">
            <a:avLst/>
          </a:prstGeom>
          <a:noFill/>
        </p:spPr>
        <p:txBody>
          <a:bodyPr wrap="square" lIns="0" tIns="0" rIns="0" bIns="0" anchor="t"/>
          <a:lstStyle/>
          <a:p>
            <a:pPr algn="l"/>
            <a:r>
              <a:rPr sz="650" b="0" i="0">
                <a:solidFill>
                  <a:srgbClr val="5F6368"/>
                </a:solidFill>
                <a:latin typeface="Arial"/>
              </a:rPr>
              <a:t>UNODC / UN Women, 2025</a:t>
            </a:r>
          </a:p>
        </p:txBody>
      </p:sp>
      <p:sp>
        <p:nvSpPr>
          <p:cNvPr id="81" name="Rounded Rectangle 80"/>
          <p:cNvSpPr/>
          <p:nvPr/>
        </p:nvSpPr>
        <p:spPr>
          <a:xfrm>
            <a:off x="365760" y="2980944"/>
            <a:ext cx="2788920" cy="731520"/>
          </a:xfrm>
          <a:prstGeom prst="roundRect">
            <a:avLst>
              <a:gd name="adj" fmla="val 8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 name="TextBox 81"/>
          <p:cNvSpPr txBox="1"/>
          <p:nvPr/>
        </p:nvSpPr>
        <p:spPr>
          <a:xfrm>
            <a:off x="475488" y="3035808"/>
            <a:ext cx="1143000" cy="621792"/>
          </a:xfrm>
          <a:prstGeom prst="rect">
            <a:avLst/>
          </a:prstGeom>
          <a:noFill/>
        </p:spPr>
        <p:txBody>
          <a:bodyPr wrap="square" lIns="0" tIns="0" rIns="0" bIns="0" anchor="ctr"/>
          <a:lstStyle/>
          <a:p>
            <a:pPr algn="l"/>
            <a:r>
              <a:rPr sz="1700" b="1" i="0">
                <a:solidFill>
                  <a:srgbClr val="D6336C"/>
                </a:solidFill>
                <a:latin typeface="Arial"/>
              </a:rPr>
              <a:t>4.41 lakh</a:t>
            </a:r>
          </a:p>
        </p:txBody>
      </p:sp>
      <p:sp>
        <p:nvSpPr>
          <p:cNvPr id="83" name="TextBox 82"/>
          <p:cNvSpPr txBox="1"/>
          <p:nvPr/>
        </p:nvSpPr>
        <p:spPr>
          <a:xfrm>
            <a:off x="1645920" y="3044951"/>
            <a:ext cx="1463040" cy="475488"/>
          </a:xfrm>
          <a:prstGeom prst="rect">
            <a:avLst/>
          </a:prstGeom>
          <a:noFill/>
        </p:spPr>
        <p:txBody>
          <a:bodyPr wrap="square" lIns="0" tIns="0" rIns="0" bIns="0" anchor="ctr"/>
          <a:lstStyle/>
          <a:p>
            <a:pPr algn="l"/>
            <a:r>
              <a:rPr sz="850" b="0" i="0">
                <a:solidFill>
                  <a:srgbClr val="1A1A1A"/>
                </a:solidFill>
                <a:latin typeface="Arial"/>
              </a:rPr>
              <a:t>crimes against women recorded in India in 2024</a:t>
            </a:r>
          </a:p>
        </p:txBody>
      </p:sp>
      <p:sp>
        <p:nvSpPr>
          <p:cNvPr id="84" name="TextBox 83"/>
          <p:cNvSpPr txBox="1"/>
          <p:nvPr/>
        </p:nvSpPr>
        <p:spPr>
          <a:xfrm>
            <a:off x="1645920" y="3502151"/>
            <a:ext cx="1463040" cy="164592"/>
          </a:xfrm>
          <a:prstGeom prst="rect">
            <a:avLst/>
          </a:prstGeom>
          <a:noFill/>
        </p:spPr>
        <p:txBody>
          <a:bodyPr wrap="square" lIns="0" tIns="0" rIns="0" bIns="0" anchor="t"/>
          <a:lstStyle/>
          <a:p>
            <a:pPr algn="l"/>
            <a:r>
              <a:rPr sz="650" b="0" i="0">
                <a:solidFill>
                  <a:srgbClr val="5F6368"/>
                </a:solidFill>
                <a:latin typeface="Arial"/>
              </a:rPr>
              <a:t>NCRB, 2026</a:t>
            </a:r>
          </a:p>
        </p:txBody>
      </p:sp>
      <p:sp>
        <p:nvSpPr>
          <p:cNvPr id="85" name="Rounded Rectangle 84"/>
          <p:cNvSpPr/>
          <p:nvPr/>
        </p:nvSpPr>
        <p:spPr>
          <a:xfrm>
            <a:off x="365760" y="3785615"/>
            <a:ext cx="2788920" cy="731520"/>
          </a:xfrm>
          <a:prstGeom prst="roundRect">
            <a:avLst>
              <a:gd name="adj" fmla="val 8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6" name="TextBox 85"/>
          <p:cNvSpPr txBox="1"/>
          <p:nvPr/>
        </p:nvSpPr>
        <p:spPr>
          <a:xfrm>
            <a:off x="475488" y="3840479"/>
            <a:ext cx="1143000" cy="621792"/>
          </a:xfrm>
          <a:prstGeom prst="rect">
            <a:avLst/>
          </a:prstGeom>
          <a:noFill/>
        </p:spPr>
        <p:txBody>
          <a:bodyPr wrap="square" lIns="0" tIns="0" rIns="0" bIns="0" anchor="ctr"/>
          <a:lstStyle/>
          <a:p>
            <a:pPr algn="l"/>
            <a:r>
              <a:rPr sz="1700" b="1" i="0">
                <a:solidFill>
                  <a:srgbClr val="D6336C"/>
                </a:solidFill>
                <a:latin typeface="Arial"/>
              </a:rPr>
              <a:t>&lt; 40%</a:t>
            </a:r>
          </a:p>
        </p:txBody>
      </p:sp>
      <p:sp>
        <p:nvSpPr>
          <p:cNvPr id="87" name="TextBox 86"/>
          <p:cNvSpPr txBox="1"/>
          <p:nvPr/>
        </p:nvSpPr>
        <p:spPr>
          <a:xfrm>
            <a:off x="1645920" y="3849624"/>
            <a:ext cx="1463040" cy="475488"/>
          </a:xfrm>
          <a:prstGeom prst="rect">
            <a:avLst/>
          </a:prstGeom>
          <a:noFill/>
        </p:spPr>
        <p:txBody>
          <a:bodyPr wrap="square" lIns="0" tIns="0" rIns="0" bIns="0" anchor="ctr"/>
          <a:lstStyle/>
          <a:p>
            <a:pPr algn="l"/>
            <a:r>
              <a:rPr sz="850" b="0" i="0">
                <a:solidFill>
                  <a:srgbClr val="1A1A1A"/>
                </a:solidFill>
                <a:latin typeface="Arial"/>
              </a:rPr>
              <a:t>of women facing violence seek any help; under 10% go to police</a:t>
            </a:r>
          </a:p>
        </p:txBody>
      </p:sp>
      <p:sp>
        <p:nvSpPr>
          <p:cNvPr id="88" name="TextBox 87"/>
          <p:cNvSpPr txBox="1"/>
          <p:nvPr/>
        </p:nvSpPr>
        <p:spPr>
          <a:xfrm>
            <a:off x="1645920" y="4306824"/>
            <a:ext cx="1463040" cy="164592"/>
          </a:xfrm>
          <a:prstGeom prst="rect">
            <a:avLst/>
          </a:prstGeom>
          <a:noFill/>
        </p:spPr>
        <p:txBody>
          <a:bodyPr wrap="square" lIns="0" tIns="0" rIns="0" bIns="0" anchor="t"/>
          <a:lstStyle/>
          <a:p>
            <a:pPr algn="l"/>
            <a:r>
              <a:rPr sz="650" b="0" i="0">
                <a:solidFill>
                  <a:srgbClr val="5F6368"/>
                </a:solidFill>
                <a:latin typeface="Arial"/>
              </a:rPr>
              <a:t>UN DESA</a:t>
            </a:r>
          </a:p>
        </p:txBody>
      </p:sp>
      <p:sp>
        <p:nvSpPr>
          <p:cNvPr id="89" name="TextBox 88"/>
          <p:cNvSpPr txBox="1"/>
          <p:nvPr/>
        </p:nvSpPr>
        <p:spPr>
          <a:xfrm>
            <a:off x="3429000" y="1353312"/>
            <a:ext cx="5303520" cy="228600"/>
          </a:xfrm>
          <a:prstGeom prst="rect">
            <a:avLst/>
          </a:prstGeom>
          <a:noFill/>
        </p:spPr>
        <p:txBody>
          <a:bodyPr wrap="square" lIns="0" tIns="0" rIns="0" bIns="0" anchor="t"/>
          <a:lstStyle/>
          <a:p>
            <a:pPr algn="l"/>
            <a:r>
              <a:rPr sz="850" b="1" i="0">
                <a:solidFill>
                  <a:srgbClr val="5F6368"/>
                </a:solidFill>
                <a:latin typeface="Arial"/>
              </a:rPr>
              <a:t>ONE CALL, TWO CONVERSATIONS</a:t>
            </a:r>
          </a:p>
        </p:txBody>
      </p:sp>
      <p:sp>
        <p:nvSpPr>
          <p:cNvPr id="90" name="Oval 89"/>
          <p:cNvSpPr/>
          <p:nvPr/>
        </p:nvSpPr>
        <p:spPr>
          <a:xfrm>
            <a:off x="3429000" y="1645920"/>
            <a:ext cx="274320" cy="274320"/>
          </a:xfrm>
          <a:prstGeom prst="ellipse">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b="1" i="0">
                <a:solidFill>
                  <a:srgbClr val="FFFFFF"/>
                </a:solidFill>
                <a:latin typeface="Arial"/>
              </a:rPr>
              <a:t>1</a:t>
            </a:r>
          </a:p>
        </p:txBody>
      </p:sp>
      <p:sp>
        <p:nvSpPr>
          <p:cNvPr id="91" name="TextBox 90"/>
          <p:cNvSpPr txBox="1"/>
          <p:nvPr/>
        </p:nvSpPr>
        <p:spPr>
          <a:xfrm>
            <a:off x="3813048" y="1627632"/>
            <a:ext cx="4892040" cy="329184"/>
          </a:xfrm>
          <a:prstGeom prst="rect">
            <a:avLst/>
          </a:prstGeom>
          <a:noFill/>
        </p:spPr>
        <p:txBody>
          <a:bodyPr wrap="square" lIns="0" tIns="0" rIns="0" bIns="0" anchor="ctr"/>
          <a:lstStyle/>
          <a:p>
            <a:pPr algn="l"/>
            <a:r>
              <a:rPr sz="1050" b="0" i="0">
                <a:solidFill>
                  <a:srgbClr val="1A1A1A"/>
                </a:solidFill>
                <a:latin typeface="Arial"/>
              </a:rPr>
              <a:t>Anu's partner is in the room, watching her phone.</a:t>
            </a:r>
          </a:p>
        </p:txBody>
      </p:sp>
      <p:sp>
        <p:nvSpPr>
          <p:cNvPr id="92" name="Oval 91"/>
          <p:cNvSpPr/>
          <p:nvPr/>
        </p:nvSpPr>
        <p:spPr>
          <a:xfrm>
            <a:off x="3429000" y="2029968"/>
            <a:ext cx="274320" cy="274320"/>
          </a:xfrm>
          <a:prstGeom prst="ellipse">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b="1" i="0">
                <a:solidFill>
                  <a:srgbClr val="FFFFFF"/>
                </a:solidFill>
                <a:latin typeface="Arial"/>
              </a:rPr>
              <a:t>2</a:t>
            </a:r>
          </a:p>
        </p:txBody>
      </p:sp>
      <p:sp>
        <p:nvSpPr>
          <p:cNvPr id="93" name="TextBox 92"/>
          <p:cNvSpPr txBox="1"/>
          <p:nvPr/>
        </p:nvSpPr>
        <p:spPr>
          <a:xfrm>
            <a:off x="3813048" y="2011680"/>
            <a:ext cx="4892040" cy="329184"/>
          </a:xfrm>
          <a:prstGeom prst="rect">
            <a:avLst/>
          </a:prstGeom>
          <a:noFill/>
        </p:spPr>
        <p:txBody>
          <a:bodyPr wrap="square" lIns="0" tIns="0" rIns="0" bIns="0" anchor="ctr"/>
          <a:lstStyle/>
          <a:p>
            <a:pPr algn="l"/>
            <a:r>
              <a:rPr sz="1050" b="0" i="0">
                <a:solidFill>
                  <a:srgbClr val="1A1A1A"/>
                </a:solidFill>
                <a:latin typeface="Arial"/>
              </a:rPr>
              <a:t>She opens QuickBite (menu, cart, offers) and taps “Call to order”.</a:t>
            </a:r>
          </a:p>
        </p:txBody>
      </p:sp>
      <p:sp>
        <p:nvSpPr>
          <p:cNvPr id="94" name="Oval 93"/>
          <p:cNvSpPr/>
          <p:nvPr/>
        </p:nvSpPr>
        <p:spPr>
          <a:xfrm>
            <a:off x="3429000" y="2414016"/>
            <a:ext cx="274320" cy="274320"/>
          </a:xfrm>
          <a:prstGeom prst="ellipse">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000" b="1" i="0">
                <a:solidFill>
                  <a:srgbClr val="FFFFFF"/>
                </a:solidFill>
                <a:latin typeface="Arial"/>
              </a:rPr>
              <a:t>3</a:t>
            </a:r>
          </a:p>
        </p:txBody>
      </p:sp>
      <p:sp>
        <p:nvSpPr>
          <p:cNvPr id="95" name="TextBox 94"/>
          <p:cNvSpPr txBox="1"/>
          <p:nvPr/>
        </p:nvSpPr>
        <p:spPr>
          <a:xfrm>
            <a:off x="3813048" y="2395728"/>
            <a:ext cx="4892040" cy="329184"/>
          </a:xfrm>
          <a:prstGeom prst="rect">
            <a:avLst/>
          </a:prstGeom>
          <a:noFill/>
        </p:spPr>
        <p:txBody>
          <a:bodyPr wrap="square" lIns="0" tIns="0" rIns="0" bIns="0" anchor="ctr"/>
          <a:lstStyle/>
          <a:p>
            <a:pPr algn="l"/>
            <a:r>
              <a:rPr sz="1050" b="0" i="0">
                <a:solidFill>
                  <a:srgbClr val="1A1A1A"/>
                </a:solidFill>
                <a:latin typeface="Arial"/>
              </a:rPr>
              <a:t>Mia, the Gemini Live “restaurant”, answers and takes the order:</a:t>
            </a:r>
          </a:p>
        </p:txBody>
      </p:sp>
      <p:sp>
        <p:nvSpPr>
          <p:cNvPr id="96" name="Rounded Rectangle 95"/>
          <p:cNvSpPr/>
          <p:nvPr/>
        </p:nvSpPr>
        <p:spPr>
          <a:xfrm>
            <a:off x="3813048" y="2761488"/>
            <a:ext cx="4892040" cy="457200"/>
          </a:xfrm>
          <a:prstGeom prst="roundRect">
            <a:avLst>
              <a:gd name="adj" fmla="val 8000"/>
            </a:avLst>
          </a:prstGeom>
          <a:solidFill>
            <a:srgbClr val="FDEBDF"/>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l"/>
            <a:r>
              <a:rPr sz="1050" b="1" i="1">
                <a:solidFill>
                  <a:srgbClr val="1A1A1A"/>
                </a:solidFill>
                <a:latin typeface="Arial"/>
              </a:rPr>
              <a:t>"Garlic bread on the side? Garlic bread tells me someone is following you."</a:t>
            </a:r>
          </a:p>
        </p:txBody>
      </p:sp>
      <p:sp>
        <p:nvSpPr>
          <p:cNvPr id="97" name="TextBox 96"/>
          <p:cNvSpPr txBox="1"/>
          <p:nvPr/>
        </p:nvSpPr>
        <p:spPr>
          <a:xfrm>
            <a:off x="3813048" y="3282696"/>
            <a:ext cx="4892040" cy="457200"/>
          </a:xfrm>
          <a:prstGeom prst="rect">
            <a:avLst/>
          </a:prstGeom>
          <a:noFill/>
        </p:spPr>
        <p:txBody>
          <a:bodyPr wrap="square" lIns="0" tIns="0" rIns="0" bIns="0" anchor="t"/>
          <a:lstStyle/>
          <a:p>
            <a:pPr algn="l"/>
            <a:r>
              <a:rPr sz="950" b="1" i="0">
                <a:solidFill>
                  <a:srgbClr val="1A1A1A"/>
                </a:solidFill>
                <a:latin typeface="Arial"/>
              </a:rPr>
              <a:t>He hears dinner being ordered. </a:t>
            </a:r>
            <a:r>
              <a:rPr sz="950" b="0" i="0">
                <a:solidFill>
                  <a:srgbClr val="1A1A1A"/>
                </a:solidFill>
                <a:latin typeface="Arial"/>
              </a:rPr>
              <a:t>Responders see a located, high-severity incident fill in field by field, then Mia guides Anu to the nearest police station as “the rider’s pickup point”.</a:t>
            </a:r>
          </a:p>
        </p:txBody>
      </p:sp>
      <p:sp>
        <p:nvSpPr>
          <p:cNvPr id="98" name="Pentagon 97"/>
          <p:cNvSpPr/>
          <p:nvPr/>
        </p:nvSpPr>
        <p:spPr>
          <a:xfrm>
            <a:off x="3429000" y="4114800"/>
            <a:ext cx="1737360" cy="566928"/>
          </a:xfrm>
          <a:prstGeom prst="homePlate">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950" b="1" i="0">
                <a:solidFill>
                  <a:srgbClr val="FFFFFF"/>
                </a:solidFill>
                <a:latin typeface="Arial"/>
              </a:rPr>
              <a:t>Disguised request</a:t>
            </a:r>
          </a:p>
          <a:p>
            <a:pPr algn="ctr"/>
            <a:r>
              <a:rPr sz="750" b="0" i="0">
                <a:solidFill>
                  <a:srgbClr val="FFFFFF"/>
                </a:solidFill>
                <a:latin typeface="Arial"/>
              </a:rPr>
              <a:t>any of 4 hidden ways in</a:t>
            </a:r>
          </a:p>
        </p:txBody>
      </p:sp>
      <p:sp>
        <p:nvSpPr>
          <p:cNvPr id="99" name="Chevron 98"/>
          <p:cNvSpPr/>
          <p:nvPr/>
        </p:nvSpPr>
        <p:spPr>
          <a:xfrm>
            <a:off x="5212080" y="4114800"/>
            <a:ext cx="1737360" cy="566928"/>
          </a:xfrm>
          <a:prstGeom prst="chevron">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950" b="1" i="0">
                <a:solidFill>
                  <a:srgbClr val="FFFFFF"/>
                </a:solidFill>
                <a:latin typeface="Arial"/>
              </a:rPr>
              <a:t>Gemini decodes live</a:t>
            </a:r>
          </a:p>
          <a:p>
            <a:pPr algn="ctr"/>
            <a:r>
              <a:rPr sz="750" b="0" i="0">
                <a:solidFill>
                  <a:srgbClr val="FFFFFF"/>
                </a:solidFill>
                <a:latin typeface="Arial"/>
              </a:rPr>
              <a:t>codes → structured facts</a:t>
            </a:r>
          </a:p>
        </p:txBody>
      </p:sp>
      <p:sp>
        <p:nvSpPr>
          <p:cNvPr id="100" name="Chevron 99"/>
          <p:cNvSpPr/>
          <p:nvPr/>
        </p:nvSpPr>
        <p:spPr>
          <a:xfrm>
            <a:off x="6995160" y="4114800"/>
            <a:ext cx="1737360" cy="566928"/>
          </a:xfrm>
          <a:prstGeom prst="chevron">
            <a:avLst/>
          </a:prstGeom>
          <a:solidFill>
            <a:srgbClr val="2F9E44"/>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r>
              <a:rPr sz="950" b="1" i="0">
                <a:solidFill>
                  <a:srgbClr val="FFFFFF"/>
                </a:solidFill>
                <a:latin typeface="Arial"/>
              </a:rPr>
              <a:t>Responders act</a:t>
            </a:r>
          </a:p>
          <a:p>
            <a:pPr algn="ctr"/>
            <a:r>
              <a:rPr sz="750" b="0" i="0">
                <a:solidFill>
                  <a:srgbClr val="FFFFFF"/>
                </a:solidFill>
                <a:latin typeface="Arial"/>
              </a:rPr>
              <a:t>map, route, video, evidence</a:t>
            </a:r>
          </a:p>
        </p:txBody>
      </p:sp>
      <p:sp>
        <p:nvSpPr>
          <p:cNvPr id="101" name="Footnote"/>
          <p:cNvSpPr txBox="1"/>
          <p:nvPr/>
        </p:nvSpPr>
        <p:spPr>
          <a:xfrm>
            <a:off x="365760" y="4846320"/>
            <a:ext cx="8412480" cy="182880"/>
          </a:xfrm>
          <a:prstGeom prst="rect">
            <a:avLst/>
          </a:prstGeom>
          <a:noFill/>
        </p:spPr>
        <p:txBody>
          <a:bodyPr wrap="square" lIns="0" tIns="0" rIns="0" bIns="0" anchor="t"/>
          <a:lstStyle/>
          <a:p>
            <a:pPr algn="l"/>
            <a:r>
              <a:rPr sz="650" b="0" i="0">
                <a:solidFill>
                  <a:srgbClr val="5F6368"/>
                </a:solidFill>
                <a:latin typeface="Arial"/>
              </a:rPr>
              <a:t>Sources: WHO violence against women fact sheet (Jun 2026); UNODC/UN Women “Femicides in 2024” (Nov 2025); NCRB Crime in India 2024 (May 2026); UN DESA The World’s Women 2015. Anu is an illustrative caller.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pic>
        <p:nvPicPr>
          <p:cNvPr id="76" name="Google Shape;76;p16"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77" name="Google Shape;77;p16" title="Group 427319979.png"/>
          <p:cNvPicPr preferRelativeResize="0"/>
          <p:nvPr/>
        </p:nvPicPr>
        <p:blipFill>
          <a:blip r:embed="rId4">
            <a:alphaModFix/>
          </a:blip>
          <a:stretch>
            <a:fillRect/>
          </a:stretch>
        </p:blipFill>
        <p:spPr>
          <a:xfrm>
            <a:off x="0" y="3649"/>
            <a:ext cx="9144000" cy="500062"/>
          </a:xfrm>
          <a:prstGeom prst="rect">
            <a:avLst/>
          </a:prstGeom>
          <a:noFill/>
          <a:ln>
            <a:noFill/>
          </a:ln>
        </p:spPr>
      </p:pic>
      <p:sp>
        <p:nvSpPr>
          <p:cNvPr id="78" name="Google Shape;78;p16"/>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9" name="Google Shape;79;p16"/>
          <p:cNvSpPr txBox="1"/>
          <p:nvPr/>
        </p:nvSpPr>
        <p:spPr>
          <a:xfrm>
            <a:off x="265350" y="603504"/>
            <a:ext cx="8943000" cy="384048"/>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latin typeface="Google Sans Flex SemiBold"/>
                <a:ea typeface="Google Sans Flex SemiBold"/>
                <a:cs typeface="Google Sans Flex SemiBold"/>
                <a:sym typeface="Google Sans Flex SemiBold"/>
              </a:rPr>
              <a:t>Opportunities</a:t>
            </a:r>
            <a:endParaRPr sz="1600">
              <a:latin typeface="Google Sans Flex SemiBold"/>
              <a:ea typeface="Google Sans Flex SemiBold"/>
              <a:cs typeface="Google Sans Flex SemiBold"/>
              <a:sym typeface="Google Sans Flex SemiBold"/>
            </a:endParaRPr>
          </a:p>
        </p:txBody>
      </p:sp>
      <p:sp>
        <p:nvSpPr>
          <p:cNvPr id="80" name="Takeaway"/>
          <p:cNvSpPr txBox="1"/>
          <p:nvPr/>
        </p:nvSpPr>
        <p:spPr>
          <a:xfrm>
            <a:off x="365760" y="969264"/>
            <a:ext cx="8412480" cy="292608"/>
          </a:xfrm>
          <a:prstGeom prst="rect">
            <a:avLst/>
          </a:prstGeom>
          <a:noFill/>
        </p:spPr>
        <p:txBody>
          <a:bodyPr wrap="square" lIns="0" tIns="0" rIns="0" bIns="0" anchor="t"/>
          <a:lstStyle/>
          <a:p>
            <a:pPr algn="l"/>
            <a:r>
              <a:rPr sz="1300" b="1" i="0">
                <a:solidFill>
                  <a:srgbClr val="E8590C"/>
                </a:solidFill>
                <a:latin typeface="Arial"/>
              </a:rPr>
              <a:t>Every other option has a tell. QuickBite looks like dinner.</a:t>
            </a:r>
          </a:p>
        </p:txBody>
      </p:sp>
      <p:sp>
        <p:nvSpPr>
          <p:cNvPr id="81" name="TextBox 80"/>
          <p:cNvSpPr txBox="1"/>
          <p:nvPr/>
        </p:nvSpPr>
        <p:spPr>
          <a:xfrm>
            <a:off x="365760" y="1325880"/>
            <a:ext cx="4297680" cy="329184"/>
          </a:xfrm>
          <a:prstGeom prst="rect">
            <a:avLst/>
          </a:prstGeom>
          <a:noFill/>
        </p:spPr>
        <p:txBody>
          <a:bodyPr wrap="square" lIns="0" tIns="0" rIns="0" bIns="0" anchor="b"/>
          <a:lstStyle/>
          <a:p>
            <a:pPr algn="l"/>
            <a:r>
              <a:rPr sz="1000" b="1" i="0">
                <a:solidFill>
                  <a:srgbClr val="1A1A1A"/>
                </a:solidFill>
                <a:latin typeface="Arial"/>
              </a:rPr>
              <a:t>How different is it from any of the other existing ideas?</a:t>
            </a:r>
          </a:p>
        </p:txBody>
      </p:sp>
      <p:sp>
        <p:nvSpPr>
          <p:cNvPr id="82" name="TextBox 81"/>
          <p:cNvSpPr txBox="1"/>
          <p:nvPr/>
        </p:nvSpPr>
        <p:spPr>
          <a:xfrm>
            <a:off x="4846320" y="1325880"/>
            <a:ext cx="2011680" cy="329184"/>
          </a:xfrm>
          <a:prstGeom prst="rect">
            <a:avLst/>
          </a:prstGeom>
          <a:noFill/>
        </p:spPr>
        <p:txBody>
          <a:bodyPr wrap="square" lIns="0" tIns="0" rIns="0" bIns="0" anchor="b"/>
          <a:lstStyle/>
          <a:p>
            <a:pPr algn="l"/>
            <a:r>
              <a:rPr sz="1000" b="1" i="0">
                <a:solidFill>
                  <a:srgbClr val="1A1A1A"/>
                </a:solidFill>
                <a:latin typeface="Arial"/>
              </a:rPr>
              <a:t>How will it be able to solve the problem?</a:t>
            </a:r>
          </a:p>
        </p:txBody>
      </p:sp>
      <p:sp>
        <p:nvSpPr>
          <p:cNvPr id="83" name="TextBox 82"/>
          <p:cNvSpPr txBox="1"/>
          <p:nvPr/>
        </p:nvSpPr>
        <p:spPr>
          <a:xfrm>
            <a:off x="7040880" y="1325880"/>
            <a:ext cx="1737360" cy="329184"/>
          </a:xfrm>
          <a:prstGeom prst="rect">
            <a:avLst/>
          </a:prstGeom>
          <a:noFill/>
        </p:spPr>
        <p:txBody>
          <a:bodyPr wrap="square" lIns="0" tIns="0" rIns="0" bIns="0" anchor="b"/>
          <a:lstStyle/>
          <a:p>
            <a:pPr algn="l"/>
            <a:r>
              <a:rPr sz="1000" b="1" i="0">
                <a:solidFill>
                  <a:srgbClr val="1A1A1A"/>
                </a:solidFill>
                <a:latin typeface="Arial"/>
              </a:rPr>
              <a:t>USP of the proposed solution</a:t>
            </a:r>
          </a:p>
        </p:txBody>
      </p:sp>
      <p:graphicFrame>
        <p:nvGraphicFramePr>
          <p:cNvPr id="84" name="Table 83"/>
          <p:cNvGraphicFramePr>
            <a:graphicFrameLocks noGrp="1"/>
          </p:cNvGraphicFramePr>
          <p:nvPr/>
        </p:nvGraphicFramePr>
        <p:xfrm>
          <a:off x="365760" y="1737360"/>
          <a:ext cx="4297680" cy="2304288"/>
        </p:xfrm>
        <a:graphic>
          <a:graphicData uri="http://schemas.openxmlformats.org/drawingml/2006/table">
            <a:tbl>
              <a:tblPr firstRow="1" bandRow="1">
                <a:tableStyleId>{5C22544A-7EE6-4342-B048-85BDC9FD1C3A}</a:tableStyleId>
              </a:tblPr>
              <a:tblGrid>
                <a:gridCol w="1572768">
                  <a:extLst>
                    <a:ext uri="{9D8B030D-6E8A-4147-A177-3AD203B41FA5}">
                      <a16:colId xmlns:a16="http://schemas.microsoft.com/office/drawing/2014/main" val="20000"/>
                    </a:ext>
                  </a:extLst>
                </a:gridCol>
                <a:gridCol w="681228">
                  <a:extLst>
                    <a:ext uri="{9D8B030D-6E8A-4147-A177-3AD203B41FA5}">
                      <a16:colId xmlns:a16="http://schemas.microsoft.com/office/drawing/2014/main" val="20001"/>
                    </a:ext>
                  </a:extLst>
                </a:gridCol>
                <a:gridCol w="681228">
                  <a:extLst>
                    <a:ext uri="{9D8B030D-6E8A-4147-A177-3AD203B41FA5}">
                      <a16:colId xmlns:a16="http://schemas.microsoft.com/office/drawing/2014/main" val="20002"/>
                    </a:ext>
                  </a:extLst>
                </a:gridCol>
                <a:gridCol w="681228">
                  <a:extLst>
                    <a:ext uri="{9D8B030D-6E8A-4147-A177-3AD203B41FA5}">
                      <a16:colId xmlns:a16="http://schemas.microsoft.com/office/drawing/2014/main" val="20003"/>
                    </a:ext>
                  </a:extLst>
                </a:gridCol>
                <a:gridCol w="681228">
                  <a:extLst>
                    <a:ext uri="{9D8B030D-6E8A-4147-A177-3AD203B41FA5}">
                      <a16:colId xmlns:a16="http://schemas.microsoft.com/office/drawing/2014/main" val="20004"/>
                    </a:ext>
                  </a:extLst>
                </a:gridCol>
              </a:tblGrid>
              <a:tr h="324612">
                <a:tc>
                  <a:txBody>
                    <a:bodyPr/>
                    <a:lstStyle/>
                    <a:p>
                      <a:pPr algn="ctr"/>
                      <a:endParaRPr/>
                    </a:p>
                  </a:txBody>
                  <a:tcPr marL="36576" marR="36576" marT="18288" marB="18288" anchor="ctr">
                    <a:solidFill>
                      <a:srgbClr val="FFFFFF"/>
                    </a:solidFill>
                  </a:tcPr>
                </a:tc>
                <a:tc>
                  <a:txBody>
                    <a:bodyPr/>
                    <a:lstStyle/>
                    <a:p>
                      <a:pPr algn="ctr"/>
                      <a:r>
                        <a:rPr sz="700" b="1" i="0">
                          <a:solidFill>
                            <a:srgbClr val="5F6368"/>
                          </a:solidFill>
                          <a:latin typeface="Arial"/>
                        </a:rPr>
                        <a:t>Looks harmless</a:t>
                      </a:r>
                    </a:p>
                  </a:txBody>
                  <a:tcPr marL="36576" marR="36576" marT="18288" marB="18288" anchor="ctr">
                    <a:solidFill>
                      <a:srgbClr val="FFFFFF"/>
                    </a:solidFill>
                  </a:tcPr>
                </a:tc>
                <a:tc>
                  <a:txBody>
                    <a:bodyPr/>
                    <a:lstStyle/>
                    <a:p>
                      <a:pPr algn="ctr"/>
                      <a:r>
                        <a:rPr sz="700" b="1" i="0">
                          <a:solidFill>
                            <a:srgbClr val="5F6368"/>
                          </a:solidFill>
                          <a:latin typeface="Arial"/>
                        </a:rPr>
                        <a:t>Nothing to memorise</a:t>
                      </a:r>
                    </a:p>
                  </a:txBody>
                  <a:tcPr marL="36576" marR="36576" marT="18288" marB="18288" anchor="ctr">
                    <a:solidFill>
                      <a:srgbClr val="FFFFFF"/>
                    </a:solidFill>
                  </a:tcPr>
                </a:tc>
                <a:tc>
                  <a:txBody>
                    <a:bodyPr/>
                    <a:lstStyle/>
                    <a:p>
                      <a:pPr algn="ctr"/>
                      <a:r>
                        <a:rPr sz="700" b="1" i="0">
                          <a:solidFill>
                            <a:srgbClr val="5F6368"/>
                          </a:solidFill>
                          <a:latin typeface="Arial"/>
                        </a:rPr>
                        <a:t>Two-way guidance</a:t>
                      </a:r>
                    </a:p>
                  </a:txBody>
                  <a:tcPr marL="36576" marR="36576" marT="18288" marB="18288" anchor="ctr">
                    <a:solidFill>
                      <a:srgbClr val="FFFFFF"/>
                    </a:solidFill>
                  </a:tcPr>
                </a:tc>
                <a:tc>
                  <a:txBody>
                    <a:bodyPr/>
                    <a:lstStyle/>
                    <a:p>
                      <a:pPr algn="ctr"/>
                      <a:r>
                        <a:rPr sz="700" b="1" i="0">
                          <a:solidFill>
                            <a:srgbClr val="5F6368"/>
                          </a:solidFill>
                          <a:latin typeface="Arial"/>
                        </a:rPr>
                        <a:t>Live structured data</a:t>
                      </a:r>
                    </a:p>
                  </a:txBody>
                  <a:tcPr marL="36576" marR="36576" marT="18288" marB="18288" anchor="ctr">
                    <a:solidFill>
                      <a:srgbClr val="FFFFFF"/>
                    </a:solidFill>
                  </a:tcPr>
                </a:tc>
                <a:extLst>
                  <a:ext uri="{0D108BD9-81ED-4DB2-BD59-A6C34878D82A}">
                    <a16:rowId xmlns:a16="http://schemas.microsoft.com/office/drawing/2014/main" val="10000"/>
                  </a:ext>
                </a:extLst>
              </a:tr>
              <a:tr h="324612">
                <a:tc>
                  <a:txBody>
                    <a:bodyPr/>
                    <a:lstStyle/>
                    <a:p>
                      <a:pPr algn="l"/>
                      <a:r>
                        <a:rPr sz="800" b="0" i="0">
                          <a:solidFill>
                            <a:srgbClr val="1A1A1A"/>
                          </a:solidFill>
                          <a:latin typeface="Arial"/>
                        </a:rPr>
                        <a:t>112 call / phone SOS</a:t>
                      </a:r>
                    </a:p>
                  </a:txBody>
                  <a:tcPr marL="36576" marR="36576" marT="18288" marB="18288" anchor="ctr">
                    <a:solidFill>
                      <a:srgbClr val="F4F5F7"/>
                    </a:solidFill>
                  </a:tcPr>
                </a:tc>
                <a:tc>
                  <a:txBody>
                    <a:bodyPr/>
                    <a:lstStyle/>
                    <a:p>
                      <a:pPr algn="ctr"/>
                      <a:r>
                        <a:rPr sz="1200" b="0" i="0">
                          <a:solidFill>
                            <a:srgbClr val="B0B3B8"/>
                          </a:solidFill>
                          <a:latin typeface="Arial"/>
                        </a:rPr>
                        <a:t>○</a:t>
                      </a:r>
                    </a:p>
                  </a:txBody>
                  <a:tcPr marL="36576" marR="36576" marT="18288" marB="18288" anchor="ctr">
                    <a:solidFill>
                      <a:srgbClr val="F4F5F7"/>
                    </a:solidFill>
                  </a:tcPr>
                </a:tc>
                <a:tc>
                  <a:txBody>
                    <a:bodyPr/>
                    <a:lstStyle/>
                    <a:p>
                      <a:pPr algn="ctr"/>
                      <a:r>
                        <a:rPr sz="1200" b="0" i="0">
                          <a:solidFill>
                            <a:srgbClr val="2F9E44"/>
                          </a:solidFill>
                          <a:latin typeface="Arial"/>
                        </a:rPr>
                        <a:t>●</a:t>
                      </a:r>
                    </a:p>
                  </a:txBody>
                  <a:tcPr marL="36576" marR="36576" marT="18288" marB="18288" anchor="ctr">
                    <a:solidFill>
                      <a:srgbClr val="F4F5F7"/>
                    </a:solidFill>
                  </a:tcPr>
                </a:tc>
                <a:tc>
                  <a:txBody>
                    <a:bodyPr/>
                    <a:lstStyle/>
                    <a:p>
                      <a:pPr algn="ctr"/>
                      <a:r>
                        <a:rPr sz="1200" b="0" i="0">
                          <a:solidFill>
                            <a:srgbClr val="2F9E44"/>
                          </a:solidFill>
                          <a:latin typeface="Arial"/>
                        </a:rPr>
                        <a:t>●</a:t>
                      </a:r>
                    </a:p>
                  </a:txBody>
                  <a:tcPr marL="36576" marR="36576" marT="18288" marB="18288" anchor="ctr">
                    <a:solidFill>
                      <a:srgbClr val="F4F5F7"/>
                    </a:solidFill>
                  </a:tcPr>
                </a:tc>
                <a:tc>
                  <a:txBody>
                    <a:bodyPr/>
                    <a:lstStyle/>
                    <a:p>
                      <a:pPr algn="ctr"/>
                      <a:r>
                        <a:rPr sz="1200" b="0" i="0">
                          <a:solidFill>
                            <a:srgbClr val="E39B00"/>
                          </a:solidFill>
                          <a:latin typeface="Arial"/>
                        </a:rPr>
                        <a:t>●</a:t>
                      </a:r>
                    </a:p>
                  </a:txBody>
                  <a:tcPr marL="36576" marR="36576" marT="18288" marB="18288" anchor="ctr">
                    <a:solidFill>
                      <a:srgbClr val="F4F5F7"/>
                    </a:solidFill>
                  </a:tcPr>
                </a:tc>
                <a:extLst>
                  <a:ext uri="{0D108BD9-81ED-4DB2-BD59-A6C34878D82A}">
                    <a16:rowId xmlns:a16="http://schemas.microsoft.com/office/drawing/2014/main" val="10001"/>
                  </a:ext>
                </a:extLst>
              </a:tr>
              <a:tr h="324612">
                <a:tc>
                  <a:txBody>
                    <a:bodyPr/>
                    <a:lstStyle/>
                    <a:p>
                      <a:pPr algn="l"/>
                      <a:r>
                        <a:rPr sz="800" b="0" i="0">
                          <a:solidFill>
                            <a:srgbClr val="1A1A1A"/>
                          </a:solidFill>
                          <a:latin typeface="Arial"/>
                        </a:rPr>
                        <a:t>SOS apps (Himmat Plus, bSafe)</a:t>
                      </a:r>
                    </a:p>
                  </a:txBody>
                  <a:tcPr marL="36576" marR="36576" marT="18288" marB="18288" anchor="ctr">
                    <a:solidFill>
                      <a:srgbClr val="FFFFFF"/>
                    </a:solidFill>
                  </a:tcPr>
                </a:tc>
                <a:tc>
                  <a:txBody>
                    <a:bodyPr/>
                    <a:lstStyle/>
                    <a:p>
                      <a:pPr algn="ctr"/>
                      <a:r>
                        <a:rPr sz="1200" b="0" i="0">
                          <a:solidFill>
                            <a:srgbClr val="B0B3B8"/>
                          </a:solidFill>
                          <a:latin typeface="Arial"/>
                        </a:rPr>
                        <a:t>○</a:t>
                      </a:r>
                    </a:p>
                  </a:txBody>
                  <a:tcPr marL="36576" marR="36576" marT="18288" marB="18288" anchor="ctr">
                    <a:solidFill>
                      <a:srgbClr val="FFFFFF"/>
                    </a:solidFill>
                  </a:tcPr>
                </a:tc>
                <a:tc>
                  <a:txBody>
                    <a:bodyPr/>
                    <a:lstStyle/>
                    <a:p>
                      <a:pPr algn="ctr"/>
                      <a:r>
                        <a:rPr sz="1200" b="0" i="0">
                          <a:solidFill>
                            <a:srgbClr val="E39B00"/>
                          </a:solidFill>
                          <a:latin typeface="Arial"/>
                        </a:rPr>
                        <a:t>●</a:t>
                      </a:r>
                    </a:p>
                  </a:txBody>
                  <a:tcPr marL="36576" marR="36576" marT="18288" marB="18288" anchor="ctr">
                    <a:solidFill>
                      <a:srgbClr val="FFFFFF"/>
                    </a:solidFill>
                  </a:tcPr>
                </a:tc>
                <a:tc>
                  <a:txBody>
                    <a:bodyPr/>
                    <a:lstStyle/>
                    <a:p>
                      <a:pPr algn="ctr"/>
                      <a:r>
                        <a:rPr sz="1200" b="0" i="0">
                          <a:solidFill>
                            <a:srgbClr val="B0B3B8"/>
                          </a:solidFill>
                          <a:latin typeface="Arial"/>
                        </a:rPr>
                        <a:t>○</a:t>
                      </a:r>
                    </a:p>
                  </a:txBody>
                  <a:tcPr marL="36576" marR="36576" marT="18288" marB="18288" anchor="ctr">
                    <a:solidFill>
                      <a:srgbClr val="FFFFFF"/>
                    </a:solidFill>
                  </a:tcPr>
                </a:tc>
                <a:tc>
                  <a:txBody>
                    <a:bodyPr/>
                    <a:lstStyle/>
                    <a:p>
                      <a:pPr algn="ctr"/>
                      <a:r>
                        <a:rPr sz="1200" b="0" i="0">
                          <a:solidFill>
                            <a:srgbClr val="E39B00"/>
                          </a:solidFill>
                          <a:latin typeface="Arial"/>
                        </a:rPr>
                        <a:t>●</a:t>
                      </a:r>
                    </a:p>
                  </a:txBody>
                  <a:tcPr marL="36576" marR="36576" marT="18288" marB="18288" anchor="ctr">
                    <a:solidFill>
                      <a:srgbClr val="FFFFFF"/>
                    </a:solidFill>
                  </a:tcPr>
                </a:tc>
                <a:extLst>
                  <a:ext uri="{0D108BD9-81ED-4DB2-BD59-A6C34878D82A}">
                    <a16:rowId xmlns:a16="http://schemas.microsoft.com/office/drawing/2014/main" val="10002"/>
                  </a:ext>
                </a:extLst>
              </a:tr>
              <a:tr h="324612">
                <a:tc>
                  <a:txBody>
                    <a:bodyPr/>
                    <a:lstStyle/>
                    <a:p>
                      <a:pPr algn="l"/>
                      <a:r>
                        <a:rPr sz="800" b="0" i="0">
                          <a:solidFill>
                            <a:srgbClr val="1A1A1A"/>
                          </a:solidFill>
                          <a:latin typeface="Arial"/>
                        </a:rPr>
                        <a:t>Disguised apps (Aspire News)</a:t>
                      </a:r>
                    </a:p>
                  </a:txBody>
                  <a:tcPr marL="36576" marR="36576" marT="18288" marB="18288" anchor="ctr">
                    <a:solidFill>
                      <a:srgbClr val="F4F5F7"/>
                    </a:solidFill>
                  </a:tcPr>
                </a:tc>
                <a:tc>
                  <a:txBody>
                    <a:bodyPr/>
                    <a:lstStyle/>
                    <a:p>
                      <a:pPr algn="ctr"/>
                      <a:r>
                        <a:rPr sz="1200" b="0" i="0">
                          <a:solidFill>
                            <a:srgbClr val="2F9E44"/>
                          </a:solidFill>
                          <a:latin typeface="Arial"/>
                        </a:rPr>
                        <a:t>●</a:t>
                      </a:r>
                    </a:p>
                  </a:txBody>
                  <a:tcPr marL="36576" marR="36576" marT="18288" marB="18288" anchor="ctr">
                    <a:solidFill>
                      <a:srgbClr val="F4F5F7"/>
                    </a:solidFill>
                  </a:tcPr>
                </a:tc>
                <a:tc>
                  <a:txBody>
                    <a:bodyPr/>
                    <a:lstStyle/>
                    <a:p>
                      <a:pPr algn="ctr"/>
                      <a:r>
                        <a:rPr sz="1200" b="0" i="0">
                          <a:solidFill>
                            <a:srgbClr val="E39B00"/>
                          </a:solidFill>
                          <a:latin typeface="Arial"/>
                        </a:rPr>
                        <a:t>●</a:t>
                      </a:r>
                    </a:p>
                  </a:txBody>
                  <a:tcPr marL="36576" marR="36576" marT="18288" marB="18288" anchor="ctr">
                    <a:solidFill>
                      <a:srgbClr val="F4F5F7"/>
                    </a:solidFill>
                  </a:tcPr>
                </a:tc>
                <a:tc>
                  <a:txBody>
                    <a:bodyPr/>
                    <a:lstStyle/>
                    <a:p>
                      <a:pPr algn="ctr"/>
                      <a:r>
                        <a:rPr sz="1200" b="0" i="0">
                          <a:solidFill>
                            <a:srgbClr val="B0B3B8"/>
                          </a:solidFill>
                          <a:latin typeface="Arial"/>
                        </a:rPr>
                        <a:t>○</a:t>
                      </a:r>
                    </a:p>
                  </a:txBody>
                  <a:tcPr marL="36576" marR="36576" marT="18288" marB="18288" anchor="ctr">
                    <a:solidFill>
                      <a:srgbClr val="F4F5F7"/>
                    </a:solidFill>
                  </a:tcPr>
                </a:tc>
                <a:tc>
                  <a:txBody>
                    <a:bodyPr/>
                    <a:lstStyle/>
                    <a:p>
                      <a:pPr algn="ctr"/>
                      <a:r>
                        <a:rPr sz="1200" b="0" i="0">
                          <a:solidFill>
                            <a:srgbClr val="B0B3B8"/>
                          </a:solidFill>
                          <a:latin typeface="Arial"/>
                        </a:rPr>
                        <a:t>○</a:t>
                      </a:r>
                    </a:p>
                  </a:txBody>
                  <a:tcPr marL="36576" marR="36576" marT="18288" marB="18288" anchor="ctr">
                    <a:solidFill>
                      <a:srgbClr val="F4F5F7"/>
                    </a:solidFill>
                  </a:tcPr>
                </a:tc>
                <a:extLst>
                  <a:ext uri="{0D108BD9-81ED-4DB2-BD59-A6C34878D82A}">
                    <a16:rowId xmlns:a16="http://schemas.microsoft.com/office/drawing/2014/main" val="10003"/>
                  </a:ext>
                </a:extLst>
              </a:tr>
              <a:tr h="324612">
                <a:tc>
                  <a:txBody>
                    <a:bodyPr/>
                    <a:lstStyle/>
                    <a:p>
                      <a:pPr algn="l"/>
                      <a:r>
                        <a:rPr sz="800" b="0" i="0">
                          <a:solidFill>
                            <a:srgbClr val="1A1A1A"/>
                          </a:solidFill>
                          <a:latin typeface="Arial"/>
                        </a:rPr>
                        <a:t>Code words (Ask for Angela)</a:t>
                      </a:r>
                    </a:p>
                  </a:txBody>
                  <a:tcPr marL="36576" marR="36576" marT="18288" marB="18288" anchor="ctr">
                    <a:solidFill>
                      <a:srgbClr val="FFFFFF"/>
                    </a:solidFill>
                  </a:tcPr>
                </a:tc>
                <a:tc>
                  <a:txBody>
                    <a:bodyPr/>
                    <a:lstStyle/>
                    <a:p>
                      <a:pPr algn="ctr"/>
                      <a:r>
                        <a:rPr sz="1200" b="0" i="0">
                          <a:solidFill>
                            <a:srgbClr val="2F9E44"/>
                          </a:solidFill>
                          <a:latin typeface="Arial"/>
                        </a:rPr>
                        <a:t>●</a:t>
                      </a:r>
                    </a:p>
                  </a:txBody>
                  <a:tcPr marL="36576" marR="36576" marT="18288" marB="18288" anchor="ctr">
                    <a:solidFill>
                      <a:srgbClr val="FFFFFF"/>
                    </a:solidFill>
                  </a:tcPr>
                </a:tc>
                <a:tc>
                  <a:txBody>
                    <a:bodyPr/>
                    <a:lstStyle/>
                    <a:p>
                      <a:pPr algn="ctr"/>
                      <a:r>
                        <a:rPr sz="1200" b="0" i="0">
                          <a:solidFill>
                            <a:srgbClr val="B0B3B8"/>
                          </a:solidFill>
                          <a:latin typeface="Arial"/>
                        </a:rPr>
                        <a:t>○</a:t>
                      </a:r>
                    </a:p>
                  </a:txBody>
                  <a:tcPr marL="36576" marR="36576" marT="18288" marB="18288" anchor="ctr">
                    <a:solidFill>
                      <a:srgbClr val="FFFFFF"/>
                    </a:solidFill>
                  </a:tcPr>
                </a:tc>
                <a:tc>
                  <a:txBody>
                    <a:bodyPr/>
                    <a:lstStyle/>
                    <a:p>
                      <a:pPr algn="ctr"/>
                      <a:r>
                        <a:rPr sz="1200" b="0" i="0">
                          <a:solidFill>
                            <a:srgbClr val="E39B00"/>
                          </a:solidFill>
                          <a:latin typeface="Arial"/>
                        </a:rPr>
                        <a:t>●</a:t>
                      </a:r>
                    </a:p>
                  </a:txBody>
                  <a:tcPr marL="36576" marR="36576" marT="18288" marB="18288" anchor="ctr">
                    <a:solidFill>
                      <a:srgbClr val="FFFFFF"/>
                    </a:solidFill>
                  </a:tcPr>
                </a:tc>
                <a:tc>
                  <a:txBody>
                    <a:bodyPr/>
                    <a:lstStyle/>
                    <a:p>
                      <a:pPr algn="ctr"/>
                      <a:r>
                        <a:rPr sz="1200" b="0" i="0">
                          <a:solidFill>
                            <a:srgbClr val="B0B3B8"/>
                          </a:solidFill>
                          <a:latin typeface="Arial"/>
                        </a:rPr>
                        <a:t>○</a:t>
                      </a:r>
                    </a:p>
                  </a:txBody>
                  <a:tcPr marL="36576" marR="36576" marT="18288" marB="18288" anchor="ctr">
                    <a:solidFill>
                      <a:srgbClr val="FFFFFF"/>
                    </a:solidFill>
                  </a:tcPr>
                </a:tc>
                <a:extLst>
                  <a:ext uri="{0D108BD9-81ED-4DB2-BD59-A6C34878D82A}">
                    <a16:rowId xmlns:a16="http://schemas.microsoft.com/office/drawing/2014/main" val="10004"/>
                  </a:ext>
                </a:extLst>
              </a:tr>
              <a:tr h="324612">
                <a:tc>
                  <a:txBody>
                    <a:bodyPr/>
                    <a:lstStyle/>
                    <a:p>
                      <a:pPr algn="l"/>
                      <a:r>
                        <a:rPr sz="800" b="0" i="0">
                          <a:solidFill>
                            <a:srgbClr val="1A1A1A"/>
                          </a:solidFill>
                          <a:latin typeface="Arial"/>
                        </a:rPr>
                        <a:t>Improvised “pizza” 112 call</a:t>
                      </a:r>
                    </a:p>
                  </a:txBody>
                  <a:tcPr marL="36576" marR="36576" marT="18288" marB="18288" anchor="ctr">
                    <a:solidFill>
                      <a:srgbClr val="F4F5F7"/>
                    </a:solidFill>
                  </a:tcPr>
                </a:tc>
                <a:tc>
                  <a:txBody>
                    <a:bodyPr/>
                    <a:lstStyle/>
                    <a:p>
                      <a:pPr algn="ctr"/>
                      <a:r>
                        <a:rPr sz="1200" b="0" i="0">
                          <a:solidFill>
                            <a:srgbClr val="2F9E44"/>
                          </a:solidFill>
                          <a:latin typeface="Arial"/>
                        </a:rPr>
                        <a:t>●</a:t>
                      </a:r>
                    </a:p>
                  </a:txBody>
                  <a:tcPr marL="36576" marR="36576" marT="18288" marB="18288" anchor="ctr">
                    <a:solidFill>
                      <a:srgbClr val="F4F5F7"/>
                    </a:solidFill>
                  </a:tcPr>
                </a:tc>
                <a:tc>
                  <a:txBody>
                    <a:bodyPr/>
                    <a:lstStyle/>
                    <a:p>
                      <a:pPr algn="ctr"/>
                      <a:r>
                        <a:rPr sz="1200" b="0" i="0">
                          <a:solidFill>
                            <a:srgbClr val="E39B00"/>
                          </a:solidFill>
                          <a:latin typeface="Arial"/>
                        </a:rPr>
                        <a:t>●</a:t>
                      </a:r>
                    </a:p>
                  </a:txBody>
                  <a:tcPr marL="36576" marR="36576" marT="18288" marB="18288" anchor="ctr">
                    <a:solidFill>
                      <a:srgbClr val="F4F5F7"/>
                    </a:solidFill>
                  </a:tcPr>
                </a:tc>
                <a:tc>
                  <a:txBody>
                    <a:bodyPr/>
                    <a:lstStyle/>
                    <a:p>
                      <a:pPr algn="ctr"/>
                      <a:r>
                        <a:rPr sz="1200" b="0" i="0">
                          <a:solidFill>
                            <a:srgbClr val="E39B00"/>
                          </a:solidFill>
                          <a:latin typeface="Arial"/>
                        </a:rPr>
                        <a:t>●</a:t>
                      </a:r>
                    </a:p>
                  </a:txBody>
                  <a:tcPr marL="36576" marR="36576" marT="18288" marB="18288" anchor="ctr">
                    <a:solidFill>
                      <a:srgbClr val="F4F5F7"/>
                    </a:solidFill>
                  </a:tcPr>
                </a:tc>
                <a:tc>
                  <a:txBody>
                    <a:bodyPr/>
                    <a:lstStyle/>
                    <a:p>
                      <a:pPr algn="ctr"/>
                      <a:r>
                        <a:rPr sz="1200" b="0" i="0">
                          <a:solidFill>
                            <a:srgbClr val="B0B3B8"/>
                          </a:solidFill>
                          <a:latin typeface="Arial"/>
                        </a:rPr>
                        <a:t>○</a:t>
                      </a:r>
                    </a:p>
                  </a:txBody>
                  <a:tcPr marL="36576" marR="36576" marT="18288" marB="18288" anchor="ctr">
                    <a:solidFill>
                      <a:srgbClr val="F4F5F7"/>
                    </a:solidFill>
                  </a:tcPr>
                </a:tc>
                <a:extLst>
                  <a:ext uri="{0D108BD9-81ED-4DB2-BD59-A6C34878D82A}">
                    <a16:rowId xmlns:a16="http://schemas.microsoft.com/office/drawing/2014/main" val="10005"/>
                  </a:ext>
                </a:extLst>
              </a:tr>
              <a:tr h="324612">
                <a:tc>
                  <a:txBody>
                    <a:bodyPr/>
                    <a:lstStyle/>
                    <a:p>
                      <a:pPr algn="l"/>
                      <a:r>
                        <a:rPr sz="800" b="1" i="0">
                          <a:solidFill>
                            <a:srgbClr val="1A1A1A"/>
                          </a:solidFill>
                          <a:latin typeface="Arial"/>
                        </a:rPr>
                        <a:t>QuickBite</a:t>
                      </a:r>
                    </a:p>
                  </a:txBody>
                  <a:tcPr marL="36576" marR="36576" marT="18288" marB="18288" anchor="ctr">
                    <a:solidFill>
                      <a:srgbClr val="FDEBDF"/>
                    </a:solidFill>
                  </a:tcPr>
                </a:tc>
                <a:tc>
                  <a:txBody>
                    <a:bodyPr/>
                    <a:lstStyle/>
                    <a:p>
                      <a:pPr algn="ctr"/>
                      <a:r>
                        <a:rPr sz="1200" b="0" i="0">
                          <a:solidFill>
                            <a:srgbClr val="2F9E44"/>
                          </a:solidFill>
                          <a:latin typeface="Arial"/>
                        </a:rPr>
                        <a:t>●</a:t>
                      </a:r>
                    </a:p>
                  </a:txBody>
                  <a:tcPr marL="36576" marR="36576" marT="18288" marB="18288" anchor="ctr">
                    <a:solidFill>
                      <a:srgbClr val="FDEBDF"/>
                    </a:solidFill>
                  </a:tcPr>
                </a:tc>
                <a:tc>
                  <a:txBody>
                    <a:bodyPr/>
                    <a:lstStyle/>
                    <a:p>
                      <a:pPr algn="ctr"/>
                      <a:r>
                        <a:rPr sz="1200" b="0" i="0">
                          <a:solidFill>
                            <a:srgbClr val="2F9E44"/>
                          </a:solidFill>
                          <a:latin typeface="Arial"/>
                        </a:rPr>
                        <a:t>●</a:t>
                      </a:r>
                    </a:p>
                  </a:txBody>
                  <a:tcPr marL="36576" marR="36576" marT="18288" marB="18288" anchor="ctr">
                    <a:solidFill>
                      <a:srgbClr val="FDEBDF"/>
                    </a:solidFill>
                  </a:tcPr>
                </a:tc>
                <a:tc>
                  <a:txBody>
                    <a:bodyPr/>
                    <a:lstStyle/>
                    <a:p>
                      <a:pPr algn="ctr"/>
                      <a:r>
                        <a:rPr sz="1200" b="0" i="0">
                          <a:solidFill>
                            <a:srgbClr val="2F9E44"/>
                          </a:solidFill>
                          <a:latin typeface="Arial"/>
                        </a:rPr>
                        <a:t>●</a:t>
                      </a:r>
                    </a:p>
                  </a:txBody>
                  <a:tcPr marL="36576" marR="36576" marT="18288" marB="18288" anchor="ctr">
                    <a:solidFill>
                      <a:srgbClr val="FDEBDF"/>
                    </a:solidFill>
                  </a:tcPr>
                </a:tc>
                <a:tc>
                  <a:txBody>
                    <a:bodyPr/>
                    <a:lstStyle/>
                    <a:p>
                      <a:pPr algn="ctr"/>
                      <a:r>
                        <a:rPr sz="1200" b="0" i="0">
                          <a:solidFill>
                            <a:srgbClr val="2F9E44"/>
                          </a:solidFill>
                          <a:latin typeface="Arial"/>
                        </a:rPr>
                        <a:t>●</a:t>
                      </a:r>
                    </a:p>
                  </a:txBody>
                  <a:tcPr marL="36576" marR="36576" marT="18288" marB="18288" anchor="ctr">
                    <a:solidFill>
                      <a:srgbClr val="FDEBDF"/>
                    </a:solidFill>
                  </a:tcPr>
                </a:tc>
                <a:extLst>
                  <a:ext uri="{0D108BD9-81ED-4DB2-BD59-A6C34878D82A}">
                    <a16:rowId xmlns:a16="http://schemas.microsoft.com/office/drawing/2014/main" val="10006"/>
                  </a:ext>
                </a:extLst>
              </a:tr>
            </a:tbl>
          </a:graphicData>
        </a:graphic>
      </p:graphicFrame>
      <p:sp>
        <p:nvSpPr>
          <p:cNvPr id="85" name="TextBox 84"/>
          <p:cNvSpPr txBox="1"/>
          <p:nvPr/>
        </p:nvSpPr>
        <p:spPr>
          <a:xfrm>
            <a:off x="365760" y="4069080"/>
            <a:ext cx="4297680" cy="201168"/>
          </a:xfrm>
          <a:prstGeom prst="rect">
            <a:avLst/>
          </a:prstGeom>
          <a:noFill/>
        </p:spPr>
        <p:txBody>
          <a:bodyPr wrap="square" lIns="0" tIns="0" rIns="0" bIns="0" anchor="t"/>
          <a:lstStyle/>
          <a:p>
            <a:pPr algn="l"/>
            <a:r>
              <a:rPr sz="750" b="0" i="0">
                <a:solidFill>
                  <a:srgbClr val="2F9E44"/>
                </a:solidFill>
                <a:latin typeface="Arial"/>
              </a:rPr>
              <a:t>●</a:t>
            </a:r>
            <a:r>
              <a:rPr sz="750" b="0" i="0">
                <a:solidFill>
                  <a:srgbClr val="5F6368"/>
                </a:solidFill>
                <a:latin typeface="Arial"/>
              </a:rPr>
              <a:t> yes   </a:t>
            </a:r>
            <a:r>
              <a:rPr sz="750" b="0" i="0">
                <a:solidFill>
                  <a:srgbClr val="E39B00"/>
                </a:solidFill>
                <a:latin typeface="Arial"/>
              </a:rPr>
              <a:t>●</a:t>
            </a:r>
            <a:r>
              <a:rPr sz="750" b="0" i="0">
                <a:solidFill>
                  <a:srgbClr val="5F6368"/>
                </a:solidFill>
                <a:latin typeface="Arial"/>
              </a:rPr>
              <a:t> partly / needs setup or luck   </a:t>
            </a:r>
            <a:r>
              <a:rPr sz="750" b="0" i="0">
                <a:solidFill>
                  <a:srgbClr val="B0B3B8"/>
                </a:solidFill>
                <a:latin typeface="Arial"/>
              </a:rPr>
              <a:t>○</a:t>
            </a:r>
            <a:r>
              <a:rPr sz="750" b="0" i="0">
                <a:solidFill>
                  <a:srgbClr val="5F6368"/>
                </a:solidFill>
                <a:latin typeface="Arial"/>
              </a:rPr>
              <a:t> no</a:t>
            </a:r>
          </a:p>
        </p:txBody>
      </p:sp>
      <p:sp>
        <p:nvSpPr>
          <p:cNvPr id="86" name="Rounded Rectangle 85"/>
          <p:cNvSpPr/>
          <p:nvPr/>
        </p:nvSpPr>
        <p:spPr>
          <a:xfrm>
            <a:off x="365760" y="4297680"/>
            <a:ext cx="4297680" cy="475488"/>
          </a:xfrm>
          <a:prstGeom prst="roundRect">
            <a:avLst>
              <a:gd name="adj" fmla="val 8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l"/>
            <a:r>
              <a:rPr sz="800" b="1" i="0">
                <a:solidFill>
                  <a:srgbClr val="1A1A1A"/>
                </a:solidFill>
                <a:latin typeface="Arial"/>
              </a:rPr>
              <a:t>Why not just a code word? </a:t>
            </a:r>
            <a:r>
              <a:rPr sz="800" b="0" i="0">
                <a:solidFill>
                  <a:srgbClr val="1A1A1A"/>
                </a:solidFill>
                <a:latin typeface="Arial"/>
              </a:rPr>
              <a:t>911/112 bodies avoid published codes because abusers learn them too (NENA). Mia teaches the code inside the call, so it never has to be published.</a:t>
            </a:r>
          </a:p>
        </p:txBody>
      </p:sp>
      <p:sp>
        <p:nvSpPr>
          <p:cNvPr id="87" name="Oval 86"/>
          <p:cNvSpPr/>
          <p:nvPr/>
        </p:nvSpPr>
        <p:spPr>
          <a:xfrm>
            <a:off x="4846320" y="1764792"/>
            <a:ext cx="237744" cy="237744"/>
          </a:xfrm>
          <a:prstGeom prst="ellipse">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i="0">
                <a:solidFill>
                  <a:srgbClr val="FFFFFF"/>
                </a:solidFill>
                <a:latin typeface="Arial"/>
              </a:rPr>
              <a:t>1</a:t>
            </a:r>
          </a:p>
        </p:txBody>
      </p:sp>
      <p:sp>
        <p:nvSpPr>
          <p:cNvPr id="88" name="TextBox 87"/>
          <p:cNvSpPr txBox="1"/>
          <p:nvPr/>
        </p:nvSpPr>
        <p:spPr>
          <a:xfrm>
            <a:off x="5157216" y="1737360"/>
            <a:ext cx="1737360" cy="566928"/>
          </a:xfrm>
          <a:prstGeom prst="rect">
            <a:avLst/>
          </a:prstGeom>
          <a:noFill/>
        </p:spPr>
        <p:txBody>
          <a:bodyPr wrap="square" lIns="0" tIns="0" rIns="0" bIns="0" anchor="t"/>
          <a:lstStyle/>
          <a:p>
            <a:pPr algn="l"/>
            <a:r>
              <a:rPr sz="950" b="1" i="0">
                <a:solidFill>
                  <a:srgbClr val="1A1A1A"/>
                </a:solidFill>
                <a:latin typeface="Arial"/>
              </a:rPr>
              <a:t>Disguise holds</a:t>
            </a:r>
          </a:p>
          <a:p>
            <a:pPr algn="l"/>
            <a:r>
              <a:rPr sz="800" b="0" i="0">
                <a:solidFill>
                  <a:srgbClr val="5F6368"/>
                </a:solidFill>
                <a:latin typeface="Arial"/>
              </a:rPr>
              <a:t>real app + a persona that never breaks character</a:t>
            </a:r>
          </a:p>
        </p:txBody>
      </p:sp>
      <p:sp>
        <p:nvSpPr>
          <p:cNvPr id="89" name="Oval 88"/>
          <p:cNvSpPr/>
          <p:nvPr/>
        </p:nvSpPr>
        <p:spPr>
          <a:xfrm>
            <a:off x="4846320" y="2368296"/>
            <a:ext cx="237744" cy="237744"/>
          </a:xfrm>
          <a:prstGeom prst="ellipse">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i="0">
                <a:solidFill>
                  <a:srgbClr val="FFFFFF"/>
                </a:solidFill>
                <a:latin typeface="Arial"/>
              </a:rPr>
              <a:t>2</a:t>
            </a:r>
          </a:p>
        </p:txBody>
      </p:sp>
      <p:sp>
        <p:nvSpPr>
          <p:cNvPr id="90" name="TextBox 89"/>
          <p:cNvSpPr txBox="1"/>
          <p:nvPr/>
        </p:nvSpPr>
        <p:spPr>
          <a:xfrm>
            <a:off x="5157216" y="2340864"/>
            <a:ext cx="1737360" cy="566928"/>
          </a:xfrm>
          <a:prstGeom prst="rect">
            <a:avLst/>
          </a:prstGeom>
          <a:noFill/>
        </p:spPr>
        <p:txBody>
          <a:bodyPr wrap="square" lIns="0" tIns="0" rIns="0" bIns="0" anchor="t"/>
          <a:lstStyle/>
          <a:p>
            <a:pPr algn="l"/>
            <a:r>
              <a:rPr sz="950" b="1" i="0">
                <a:solidFill>
                  <a:srgbClr val="1A1A1A"/>
                </a:solidFill>
                <a:latin typeface="Arial"/>
              </a:rPr>
              <a:t>Zero memorising</a:t>
            </a:r>
          </a:p>
          <a:p>
            <a:pPr algn="l"/>
            <a:r>
              <a:rPr sz="800" b="0" i="0">
                <a:solidFill>
                  <a:srgbClr val="5F6368"/>
                </a:solidFill>
                <a:latin typeface="Arial"/>
              </a:rPr>
              <a:t>every code’s meaning is spoken with it</a:t>
            </a:r>
          </a:p>
        </p:txBody>
      </p:sp>
      <p:sp>
        <p:nvSpPr>
          <p:cNvPr id="91" name="Oval 90"/>
          <p:cNvSpPr/>
          <p:nvPr/>
        </p:nvSpPr>
        <p:spPr>
          <a:xfrm>
            <a:off x="4846320" y="2971800"/>
            <a:ext cx="237744" cy="237744"/>
          </a:xfrm>
          <a:prstGeom prst="ellipse">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i="0">
                <a:solidFill>
                  <a:srgbClr val="FFFFFF"/>
                </a:solidFill>
                <a:latin typeface="Arial"/>
              </a:rPr>
              <a:t>3</a:t>
            </a:r>
          </a:p>
        </p:txBody>
      </p:sp>
      <p:sp>
        <p:nvSpPr>
          <p:cNvPr id="92" name="TextBox 91"/>
          <p:cNvSpPr txBox="1"/>
          <p:nvPr/>
        </p:nvSpPr>
        <p:spPr>
          <a:xfrm>
            <a:off x="5157216" y="2944368"/>
            <a:ext cx="1737360" cy="566928"/>
          </a:xfrm>
          <a:prstGeom prst="rect">
            <a:avLst/>
          </a:prstGeom>
          <a:noFill/>
        </p:spPr>
        <p:txBody>
          <a:bodyPr wrap="square" lIns="0" tIns="0" rIns="0" bIns="0" anchor="t"/>
          <a:lstStyle/>
          <a:p>
            <a:pPr algn="l"/>
            <a:r>
              <a:rPr sz="950" b="1" i="0">
                <a:solidFill>
                  <a:srgbClr val="1A1A1A"/>
                </a:solidFill>
                <a:latin typeface="Arial"/>
              </a:rPr>
              <a:t>Instant incident</a:t>
            </a:r>
          </a:p>
          <a:p>
            <a:pPr algn="l"/>
            <a:r>
              <a:rPr sz="800" b="0" i="0">
                <a:solidFill>
                  <a:srgbClr val="5F6368"/>
                </a:solidFill>
                <a:latin typeface="Arial"/>
              </a:rPr>
              <a:t>created the moment the call starts, with location</a:t>
            </a:r>
          </a:p>
        </p:txBody>
      </p:sp>
      <p:sp>
        <p:nvSpPr>
          <p:cNvPr id="93" name="Oval 92"/>
          <p:cNvSpPr/>
          <p:nvPr/>
        </p:nvSpPr>
        <p:spPr>
          <a:xfrm>
            <a:off x="4846320" y="3575304"/>
            <a:ext cx="237744" cy="237744"/>
          </a:xfrm>
          <a:prstGeom prst="ellipse">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i="0">
                <a:solidFill>
                  <a:srgbClr val="FFFFFF"/>
                </a:solidFill>
                <a:latin typeface="Arial"/>
              </a:rPr>
              <a:t>4</a:t>
            </a:r>
          </a:p>
        </p:txBody>
      </p:sp>
      <p:sp>
        <p:nvSpPr>
          <p:cNvPr id="94" name="TextBox 93"/>
          <p:cNvSpPr txBox="1"/>
          <p:nvPr/>
        </p:nvSpPr>
        <p:spPr>
          <a:xfrm>
            <a:off x="5157216" y="3547872"/>
            <a:ext cx="1737360" cy="566928"/>
          </a:xfrm>
          <a:prstGeom prst="rect">
            <a:avLst/>
          </a:prstGeom>
          <a:noFill/>
        </p:spPr>
        <p:txBody>
          <a:bodyPr wrap="square" lIns="0" tIns="0" rIns="0" bIns="0" anchor="t"/>
          <a:lstStyle/>
          <a:p>
            <a:pPr algn="l"/>
            <a:r>
              <a:rPr sz="950" b="1" i="0">
                <a:solidFill>
                  <a:srgbClr val="1A1A1A"/>
                </a:solidFill>
                <a:latin typeface="Arial"/>
              </a:rPr>
              <a:t>Live, not after</a:t>
            </a:r>
          </a:p>
          <a:p>
            <a:pPr algn="l"/>
            <a:r>
              <a:rPr sz="800" b="0" i="0">
                <a:solidFill>
                  <a:srgbClr val="5F6368"/>
                </a:solidFill>
                <a:latin typeface="Arial"/>
              </a:rPr>
              <a:t>facts stream to responders field by field</a:t>
            </a:r>
          </a:p>
        </p:txBody>
      </p:sp>
      <p:sp>
        <p:nvSpPr>
          <p:cNvPr id="95" name="Oval 94"/>
          <p:cNvSpPr/>
          <p:nvPr/>
        </p:nvSpPr>
        <p:spPr>
          <a:xfrm>
            <a:off x="4846320" y="4178808"/>
            <a:ext cx="237744" cy="237744"/>
          </a:xfrm>
          <a:prstGeom prst="ellipse">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i="0">
                <a:solidFill>
                  <a:srgbClr val="FFFFFF"/>
                </a:solidFill>
                <a:latin typeface="Arial"/>
              </a:rPr>
              <a:t>5</a:t>
            </a:r>
          </a:p>
        </p:txBody>
      </p:sp>
      <p:sp>
        <p:nvSpPr>
          <p:cNvPr id="96" name="TextBox 95"/>
          <p:cNvSpPr txBox="1"/>
          <p:nvPr/>
        </p:nvSpPr>
        <p:spPr>
          <a:xfrm>
            <a:off x="5157216" y="4151376"/>
            <a:ext cx="1737360" cy="566928"/>
          </a:xfrm>
          <a:prstGeom prst="rect">
            <a:avLst/>
          </a:prstGeom>
          <a:noFill/>
        </p:spPr>
        <p:txBody>
          <a:bodyPr wrap="square" lIns="0" tIns="0" rIns="0" bIns="0" anchor="t"/>
          <a:lstStyle/>
          <a:p>
            <a:pPr algn="l"/>
            <a:r>
              <a:rPr sz="950" b="1" i="0">
                <a:solidFill>
                  <a:srgbClr val="1A1A1A"/>
                </a:solidFill>
                <a:latin typeface="Arial"/>
              </a:rPr>
              <a:t>Two-way</a:t>
            </a:r>
          </a:p>
          <a:p>
            <a:pPr algn="l"/>
            <a:r>
              <a:rPr sz="800" b="0" i="0">
                <a:solidFill>
                  <a:srgbClr val="5F6368"/>
                </a:solidFill>
                <a:latin typeface="Arial"/>
              </a:rPr>
              <a:t>route to safety, first aid, responder messages via Mia</a:t>
            </a:r>
          </a:p>
        </p:txBody>
      </p:sp>
      <p:sp>
        <p:nvSpPr>
          <p:cNvPr id="97" name="Rounded Rectangle 96"/>
          <p:cNvSpPr/>
          <p:nvPr/>
        </p:nvSpPr>
        <p:spPr>
          <a:xfrm>
            <a:off x="7040880" y="1737360"/>
            <a:ext cx="1737360" cy="2194560"/>
          </a:xfrm>
          <a:prstGeom prst="roundRect">
            <a:avLst>
              <a:gd name="adj" fmla="val 6000"/>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t"/>
          <a:lstStyle/>
          <a:p>
            <a:pPr algn="l"/>
            <a:r>
              <a:rPr sz="2600" b="1" i="0">
                <a:solidFill>
                  <a:srgbClr val="FFFFFF"/>
                </a:solidFill>
                <a:latin typeface="Arial"/>
              </a:rPr>
              <a:t>“</a:t>
            </a:r>
          </a:p>
          <a:p>
            <a:pPr algn="l"/>
            <a:r>
              <a:rPr sz="1250" b="1" i="0">
                <a:solidFill>
                  <a:srgbClr val="FFFFFF"/>
                </a:solidFill>
                <a:latin typeface="Arial"/>
              </a:rPr>
              <a:t>The only emergency line that looks like ordering dinner, and teaches its own code while you talk.</a:t>
            </a:r>
          </a:p>
        </p:txBody>
      </p:sp>
      <p:sp>
        <p:nvSpPr>
          <p:cNvPr id="98" name="Rounded Rectangle 97"/>
          <p:cNvSpPr/>
          <p:nvPr/>
        </p:nvSpPr>
        <p:spPr>
          <a:xfrm>
            <a:off x="7040880" y="4023360"/>
            <a:ext cx="1737360" cy="749808"/>
          </a:xfrm>
          <a:prstGeom prst="roundRect">
            <a:avLst>
              <a:gd name="adj" fmla="val 8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l"/>
            <a:r>
              <a:rPr sz="800" b="0" i="0">
                <a:solidFill>
                  <a:srgbClr val="1A1A1A"/>
                </a:solidFill>
                <a:latin typeface="Arial"/>
              </a:rPr>
              <a:t>No product we found combines </a:t>
            </a:r>
            <a:r>
              <a:rPr sz="800" b="1" i="0">
                <a:solidFill>
                  <a:srgbClr val="1A1A1A"/>
                </a:solidFill>
                <a:latin typeface="Arial"/>
              </a:rPr>
              <a:t>all four columns</a:t>
            </a:r>
            <a:r>
              <a:rPr sz="800" b="0" i="0">
                <a:solidFill>
                  <a:srgbClr val="1A1A1A"/>
                </a:solidFill>
                <a:latin typeface="Arial"/>
              </a:rPr>
              <a:t> (desk research, Oct 2026).</a:t>
            </a:r>
          </a:p>
        </p:txBody>
      </p:sp>
      <p:sp>
        <p:nvSpPr>
          <p:cNvPr id="99" name="Footnote"/>
          <p:cNvSpPr txBox="1"/>
          <p:nvPr/>
        </p:nvSpPr>
        <p:spPr>
          <a:xfrm>
            <a:off x="365760" y="4846320"/>
            <a:ext cx="8412480" cy="182880"/>
          </a:xfrm>
          <a:prstGeom prst="rect">
            <a:avLst/>
          </a:prstGeom>
          <a:noFill/>
        </p:spPr>
        <p:txBody>
          <a:bodyPr wrap="square" lIns="0" tIns="0" rIns="0" bIns="0" anchor="t"/>
          <a:lstStyle/>
          <a:p>
            <a:pPr algn="l"/>
            <a:r>
              <a:rPr sz="650" b="0" i="0">
                <a:solidFill>
                  <a:srgbClr val="5F6368"/>
                </a:solidFill>
                <a:latin typeface="Arial"/>
              </a:rPr>
              <a:t>Sources: NENA via CNN (Nov 2019); Oregon, Ohio “pizza” 911 call (ABC7/WTOL, Nov 2019); Aspire News, Himmat Plus, bSafe, Ask for Angela public pages.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7" title="Frame 144.png"/>
          <p:cNvPicPr preferRelativeResize="0"/>
          <p:nvPr/>
        </p:nvPicPr>
        <p:blipFill rotWithShape="1">
          <a:blip r:embed="rId4">
            <a:alphaModFix/>
          </a:blip>
          <a:srcRect b="98001"/>
          <a:stretch/>
        </p:blipFill>
        <p:spPr>
          <a:xfrm>
            <a:off x="0" y="5093562"/>
            <a:ext cx="9144000" cy="54275"/>
          </a:xfrm>
          <a:prstGeom prst="rect">
            <a:avLst/>
          </a:prstGeom>
          <a:noFill/>
          <a:ln>
            <a:noFill/>
          </a:ln>
        </p:spPr>
      </p:pic>
      <p:pic>
        <p:nvPicPr>
          <p:cNvPr id="85" name="Google Shape;85;p17" title="Group 427319979.png"/>
          <p:cNvPicPr preferRelativeResize="0"/>
          <p:nvPr/>
        </p:nvPicPr>
        <p:blipFill>
          <a:blip r:embed="rId5">
            <a:alphaModFix/>
          </a:blip>
          <a:stretch>
            <a:fillRect/>
          </a:stretch>
        </p:blipFill>
        <p:spPr>
          <a:xfrm>
            <a:off x="0" y="3649"/>
            <a:ext cx="9144000" cy="500062"/>
          </a:xfrm>
          <a:prstGeom prst="rect">
            <a:avLst/>
          </a:prstGeom>
          <a:noFill/>
          <a:ln>
            <a:noFill/>
          </a:ln>
        </p:spPr>
      </p:pic>
      <p:sp>
        <p:nvSpPr>
          <p:cNvPr id="86" name="Google Shape;86;p17"/>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7" name="Google Shape;87;p17"/>
          <p:cNvSpPr txBox="1"/>
          <p:nvPr/>
        </p:nvSpPr>
        <p:spPr>
          <a:xfrm>
            <a:off x="265350" y="603504"/>
            <a:ext cx="8943000" cy="384048"/>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latin typeface="Google Sans Flex Medium"/>
                <a:ea typeface="Google Sans Flex Medium"/>
                <a:cs typeface="Google Sans Flex Medium"/>
                <a:sym typeface="Google Sans Flex Medium"/>
              </a:rPr>
              <a:t>List of features offered by the solution</a:t>
            </a:r>
            <a:endParaRPr sz="1600">
              <a:latin typeface="Google Sans Flex Medium"/>
              <a:ea typeface="Google Sans Flex Medium"/>
              <a:cs typeface="Google Sans Flex Medium"/>
              <a:sym typeface="Google Sans Flex Medium"/>
            </a:endParaRPr>
          </a:p>
        </p:txBody>
      </p:sp>
      <p:sp>
        <p:nvSpPr>
          <p:cNvPr id="88" name="Takeaway"/>
          <p:cNvSpPr txBox="1"/>
          <p:nvPr/>
        </p:nvSpPr>
        <p:spPr>
          <a:xfrm>
            <a:off x="365760" y="969264"/>
            <a:ext cx="8412480" cy="292608"/>
          </a:xfrm>
          <a:prstGeom prst="rect">
            <a:avLst/>
          </a:prstGeom>
          <a:noFill/>
        </p:spPr>
        <p:txBody>
          <a:bodyPr wrap="square" lIns="0" tIns="0" rIns="0" bIns="0" anchor="t"/>
          <a:lstStyle/>
          <a:p>
            <a:pPr algn="l"/>
            <a:r>
              <a:rPr sz="1300" b="1" i="0">
                <a:solidFill>
                  <a:srgbClr val="E8590C"/>
                </a:solidFill>
                <a:latin typeface="Arial"/>
              </a:rPr>
              <a:t>A complete loop: four hidden ways in, one AI that listens, one console that acts</a:t>
            </a:r>
          </a:p>
        </p:txBody>
      </p:sp>
      <p:sp>
        <p:nvSpPr>
          <p:cNvPr id="89" name="Rounded Rectangle 88"/>
          <p:cNvSpPr/>
          <p:nvPr/>
        </p:nvSpPr>
        <p:spPr>
          <a:xfrm>
            <a:off x="365760" y="1353312"/>
            <a:ext cx="2724912" cy="1627632"/>
          </a:xfrm>
          <a:prstGeom prst="roundRect">
            <a:avLst>
              <a:gd name="adj" fmla="val 8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0" name="Oval 89"/>
          <p:cNvSpPr/>
          <p:nvPr/>
        </p:nvSpPr>
        <p:spPr>
          <a:xfrm>
            <a:off x="475488" y="1463040"/>
            <a:ext cx="256032" cy="256032"/>
          </a:xfrm>
          <a:prstGeom prst="ellipse">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900" b="1" i="0">
                <a:solidFill>
                  <a:srgbClr val="FFFFFF"/>
                </a:solidFill>
                <a:latin typeface="Arial"/>
              </a:rPr>
              <a:t>1</a:t>
            </a:r>
          </a:p>
        </p:txBody>
      </p:sp>
      <p:sp>
        <p:nvSpPr>
          <p:cNvPr id="91" name="TextBox 90"/>
          <p:cNvSpPr txBox="1"/>
          <p:nvPr/>
        </p:nvSpPr>
        <p:spPr>
          <a:xfrm>
            <a:off x="804672" y="1444752"/>
            <a:ext cx="2221991" cy="292608"/>
          </a:xfrm>
          <a:prstGeom prst="rect">
            <a:avLst/>
          </a:prstGeom>
          <a:noFill/>
        </p:spPr>
        <p:txBody>
          <a:bodyPr wrap="square" lIns="0" tIns="0" rIns="0" bIns="0" anchor="ctr"/>
          <a:lstStyle/>
          <a:p>
            <a:pPr algn="l"/>
            <a:r>
              <a:rPr sz="1100" b="1" i="0">
                <a:solidFill>
                  <a:srgbClr val="1A1A1A"/>
                </a:solidFill>
                <a:latin typeface="Arial"/>
              </a:rPr>
              <a:t>Four ways in</a:t>
            </a:r>
          </a:p>
        </p:txBody>
      </p:sp>
      <p:sp>
        <p:nvSpPr>
          <p:cNvPr id="92" name="TextBox 91"/>
          <p:cNvSpPr txBox="1"/>
          <p:nvPr/>
        </p:nvSpPr>
        <p:spPr>
          <a:xfrm>
            <a:off x="493776" y="1792224"/>
            <a:ext cx="2505456" cy="1152144"/>
          </a:xfrm>
          <a:prstGeom prst="rect">
            <a:avLst/>
          </a:prstGeom>
          <a:noFill/>
        </p:spPr>
        <p:txBody>
          <a:bodyPr wrap="square" lIns="0" tIns="0" rIns="0" bIns="0" anchor="t"/>
          <a:lstStyle/>
          <a:p>
            <a:pPr algn="l">
              <a:spcAft>
                <a:spcPts val="250"/>
              </a:spcAft>
            </a:pPr>
            <a:r>
              <a:rPr sz="900" b="1" i="0">
                <a:solidFill>
                  <a:srgbClr val="E8590C"/>
                </a:solidFill>
                <a:latin typeface="Arial"/>
              </a:rPr>
              <a:t>• </a:t>
            </a:r>
            <a:r>
              <a:rPr sz="900" b="0" i="0">
                <a:solidFill>
                  <a:srgbClr val="1A1A1A"/>
                </a:solidFill>
                <a:latin typeface="Arial"/>
              </a:rPr>
              <a:t>Call to order: live call with Mia</a:t>
            </a:r>
          </a:p>
          <a:p>
            <a:pPr algn="l">
              <a:spcAft>
                <a:spcPts val="250"/>
              </a:spcAft>
            </a:pPr>
            <a:r>
              <a:rPr sz="900" b="1" i="0">
                <a:solidFill>
                  <a:srgbClr val="E8590C"/>
                </a:solidFill>
                <a:latin typeface="Arial"/>
              </a:rPr>
              <a:t>• </a:t>
            </a:r>
            <a:r>
              <a:rPr sz="900" b="0" i="0">
                <a:solidFill>
                  <a:srgbClr val="1A1A1A"/>
                </a:solidFill>
                <a:latin typeface="Arial"/>
              </a:rPr>
              <a:t>Click &amp; order: coded cart, tracking mirrors the response</a:t>
            </a:r>
          </a:p>
          <a:p>
            <a:pPr algn="l">
              <a:spcAft>
                <a:spcPts val="250"/>
              </a:spcAft>
            </a:pPr>
            <a:r>
              <a:rPr sz="900" b="1" i="0">
                <a:solidFill>
                  <a:srgbClr val="E8590C"/>
                </a:solidFill>
                <a:latin typeface="Arial"/>
              </a:rPr>
              <a:t>• </a:t>
            </a:r>
            <a:r>
              <a:rPr sz="900" b="0" i="0">
                <a:solidFill>
                  <a:srgbClr val="1A1A1A"/>
                </a:solidFill>
                <a:latin typeface="Arial"/>
              </a:rPr>
              <a:t>Delivery instructions: silent taps + photo read by Gemini</a:t>
            </a:r>
          </a:p>
          <a:p>
            <a:pPr algn="l">
              <a:spcAft>
                <a:spcPts val="250"/>
              </a:spcAft>
            </a:pPr>
            <a:r>
              <a:rPr sz="900" b="1" i="0">
                <a:solidFill>
                  <a:srgbClr val="E8590C"/>
                </a:solidFill>
                <a:latin typeface="Arial"/>
              </a:rPr>
              <a:t>• </a:t>
            </a:r>
            <a:r>
              <a:rPr sz="900" b="0" i="0">
                <a:solidFill>
                  <a:srgbClr val="1A1A1A"/>
                </a:solidFill>
                <a:latin typeface="Arial"/>
              </a:rPr>
              <a:t>Heart double-tap SOS: “phone off” screen, both cameras, silent AI observer</a:t>
            </a:r>
          </a:p>
        </p:txBody>
      </p:sp>
      <p:sp>
        <p:nvSpPr>
          <p:cNvPr id="93" name="Rounded Rectangle 92"/>
          <p:cNvSpPr/>
          <p:nvPr/>
        </p:nvSpPr>
        <p:spPr>
          <a:xfrm>
            <a:off x="3209544" y="1353312"/>
            <a:ext cx="2724912" cy="1627632"/>
          </a:xfrm>
          <a:prstGeom prst="roundRect">
            <a:avLst>
              <a:gd name="adj" fmla="val 8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4" name="Oval 93"/>
          <p:cNvSpPr/>
          <p:nvPr/>
        </p:nvSpPr>
        <p:spPr>
          <a:xfrm>
            <a:off x="3319272" y="1463040"/>
            <a:ext cx="256032" cy="256032"/>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900" b="1" i="0">
                <a:solidFill>
                  <a:srgbClr val="FFFFFF"/>
                </a:solidFill>
                <a:latin typeface="Arial"/>
              </a:rPr>
              <a:t>2</a:t>
            </a:r>
          </a:p>
        </p:txBody>
      </p:sp>
      <p:sp>
        <p:nvSpPr>
          <p:cNvPr id="95" name="TextBox 94"/>
          <p:cNvSpPr txBox="1"/>
          <p:nvPr/>
        </p:nvSpPr>
        <p:spPr>
          <a:xfrm>
            <a:off x="3648456" y="1444752"/>
            <a:ext cx="2221991" cy="292608"/>
          </a:xfrm>
          <a:prstGeom prst="rect">
            <a:avLst/>
          </a:prstGeom>
          <a:noFill/>
        </p:spPr>
        <p:txBody>
          <a:bodyPr wrap="square" lIns="0" tIns="0" rIns="0" bIns="0" anchor="ctr"/>
          <a:lstStyle/>
          <a:p>
            <a:pPr algn="l"/>
            <a:r>
              <a:rPr sz="1100" b="1" i="0">
                <a:solidFill>
                  <a:srgbClr val="1A1A1A"/>
                </a:solidFill>
                <a:latin typeface="Arial"/>
              </a:rPr>
              <a:t>Mia, on Gemini Live</a:t>
            </a:r>
          </a:p>
        </p:txBody>
      </p:sp>
      <p:sp>
        <p:nvSpPr>
          <p:cNvPr id="96" name="TextBox 95"/>
          <p:cNvSpPr txBox="1"/>
          <p:nvPr/>
        </p:nvSpPr>
        <p:spPr>
          <a:xfrm>
            <a:off x="3337560" y="1792224"/>
            <a:ext cx="2505456" cy="1152144"/>
          </a:xfrm>
          <a:prstGeom prst="rect">
            <a:avLst/>
          </a:prstGeom>
          <a:noFill/>
        </p:spPr>
        <p:txBody>
          <a:bodyPr wrap="square" lIns="0" tIns="0" rIns="0" bIns="0" anchor="t"/>
          <a:lstStyle/>
          <a:p>
            <a:pPr algn="l">
              <a:spcAft>
                <a:spcPts val="250"/>
              </a:spcAft>
            </a:pPr>
            <a:r>
              <a:rPr sz="900" b="1" i="0">
                <a:solidFill>
                  <a:srgbClr val="1A73E8"/>
                </a:solidFill>
                <a:latin typeface="Arial"/>
              </a:rPr>
              <a:t>• </a:t>
            </a:r>
            <a:r>
              <a:rPr sz="900" b="0" i="0">
                <a:solidFill>
                  <a:srgbClr val="1A1A1A"/>
                </a:solidFill>
                <a:latin typeface="Arial"/>
              </a:rPr>
              <a:t>Meaning spoken with every code; covert and open modes</a:t>
            </a:r>
          </a:p>
          <a:p>
            <a:pPr algn="l">
              <a:spcAft>
                <a:spcPts val="250"/>
              </a:spcAft>
            </a:pPr>
            <a:r>
              <a:rPr sz="900" b="1" i="0">
                <a:solidFill>
                  <a:srgbClr val="1A73E8"/>
                </a:solidFill>
                <a:latin typeface="Arial"/>
              </a:rPr>
              <a:t>• </a:t>
            </a:r>
            <a:r>
              <a:rPr sz="900" b="0" i="0">
                <a:solidFill>
                  <a:srgbClr val="1A1A1A"/>
                </a:solidFill>
                <a:latin typeface="Arial"/>
              </a:rPr>
              <a:t>12 function-calling tools, live extraction</a:t>
            </a:r>
          </a:p>
          <a:p>
            <a:pPr algn="l">
              <a:spcAft>
                <a:spcPts val="250"/>
              </a:spcAft>
            </a:pPr>
            <a:r>
              <a:rPr sz="900" b="1" i="0">
                <a:solidFill>
                  <a:srgbClr val="1A73E8"/>
                </a:solidFill>
                <a:latin typeface="Arial"/>
              </a:rPr>
              <a:t>• </a:t>
            </a:r>
            <a:r>
              <a:rPr sz="900" b="0" i="0">
                <a:solidFill>
                  <a:srgbClr val="1A1A1A"/>
                </a:solidFill>
                <a:latin typeface="Arial"/>
              </a:rPr>
              <a:t>English, Malayalam, Hindi, Tamil, Manglish, Hinglish</a:t>
            </a:r>
          </a:p>
          <a:p>
            <a:pPr algn="l">
              <a:spcAft>
                <a:spcPts val="250"/>
              </a:spcAft>
            </a:pPr>
            <a:r>
              <a:rPr sz="900" b="1" i="0">
                <a:solidFill>
                  <a:srgbClr val="1A73E8"/>
                </a:solidFill>
                <a:latin typeface="Arial"/>
              </a:rPr>
              <a:t>• </a:t>
            </a:r>
            <a:r>
              <a:rPr sz="900" b="0" i="0">
                <a:solidFill>
                  <a:srgbClr val="1A1A1A"/>
                </a:solidFill>
                <a:latin typeface="Arial"/>
              </a:rPr>
              <a:t>Voice stress, coercion signals, camera + sound evidence</a:t>
            </a:r>
          </a:p>
        </p:txBody>
      </p:sp>
      <p:sp>
        <p:nvSpPr>
          <p:cNvPr id="97" name="Rounded Rectangle 96"/>
          <p:cNvSpPr/>
          <p:nvPr/>
        </p:nvSpPr>
        <p:spPr>
          <a:xfrm>
            <a:off x="6053328" y="1353312"/>
            <a:ext cx="2724912" cy="1627632"/>
          </a:xfrm>
          <a:prstGeom prst="roundRect">
            <a:avLst>
              <a:gd name="adj" fmla="val 8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8" name="Oval 97"/>
          <p:cNvSpPr/>
          <p:nvPr/>
        </p:nvSpPr>
        <p:spPr>
          <a:xfrm>
            <a:off x="6163056" y="1463040"/>
            <a:ext cx="256032" cy="256032"/>
          </a:xfrm>
          <a:prstGeom prst="ellipse">
            <a:avLst/>
          </a:prstGeom>
          <a:solidFill>
            <a:srgbClr val="2F9E4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900" b="1" i="0">
                <a:solidFill>
                  <a:srgbClr val="FFFFFF"/>
                </a:solidFill>
                <a:latin typeface="Arial"/>
              </a:rPr>
              <a:t>3</a:t>
            </a:r>
          </a:p>
        </p:txBody>
      </p:sp>
      <p:sp>
        <p:nvSpPr>
          <p:cNvPr id="99" name="TextBox 98"/>
          <p:cNvSpPr txBox="1"/>
          <p:nvPr/>
        </p:nvSpPr>
        <p:spPr>
          <a:xfrm>
            <a:off x="6492240" y="1444752"/>
            <a:ext cx="2221991" cy="292608"/>
          </a:xfrm>
          <a:prstGeom prst="rect">
            <a:avLst/>
          </a:prstGeom>
          <a:noFill/>
        </p:spPr>
        <p:txBody>
          <a:bodyPr wrap="square" lIns="0" tIns="0" rIns="0" bIns="0" anchor="ctr"/>
          <a:lstStyle/>
          <a:p>
            <a:pPr algn="l"/>
            <a:r>
              <a:rPr sz="1100" b="1" i="0">
                <a:solidFill>
                  <a:srgbClr val="1A1A1A"/>
                </a:solidFill>
                <a:latin typeface="Arial"/>
              </a:rPr>
              <a:t>Getting to safety</a:t>
            </a:r>
          </a:p>
        </p:txBody>
      </p:sp>
      <p:sp>
        <p:nvSpPr>
          <p:cNvPr id="100" name="TextBox 99"/>
          <p:cNvSpPr txBox="1"/>
          <p:nvPr/>
        </p:nvSpPr>
        <p:spPr>
          <a:xfrm>
            <a:off x="6181344" y="1792224"/>
            <a:ext cx="2505456" cy="1152144"/>
          </a:xfrm>
          <a:prstGeom prst="rect">
            <a:avLst/>
          </a:prstGeom>
          <a:noFill/>
        </p:spPr>
        <p:txBody>
          <a:bodyPr wrap="square" lIns="0" tIns="0" rIns="0" bIns="0" anchor="t"/>
          <a:lstStyle/>
          <a:p>
            <a:pPr algn="l">
              <a:spcAft>
                <a:spcPts val="250"/>
              </a:spcAft>
            </a:pPr>
            <a:r>
              <a:rPr sz="900" b="1" i="0">
                <a:solidFill>
                  <a:srgbClr val="2F9E44"/>
                </a:solidFill>
                <a:latin typeface="Arial"/>
              </a:rPr>
              <a:t>• </a:t>
            </a:r>
            <a:r>
              <a:rPr sz="900" b="0" i="0">
                <a:solidFill>
                  <a:srgbClr val="1A1A1A"/>
                </a:solidFill>
                <a:latin typeface="Arial"/>
              </a:rPr>
              <a:t>GPS with IP fallback; spoken address confirmed and geocoded</a:t>
            </a:r>
          </a:p>
          <a:p>
            <a:pPr algn="l">
              <a:spcAft>
                <a:spcPts val="250"/>
              </a:spcAft>
            </a:pPr>
            <a:r>
              <a:rPr sz="900" b="1" i="0">
                <a:solidFill>
                  <a:srgbClr val="2F9E44"/>
                </a:solidFill>
                <a:latin typeface="Arial"/>
              </a:rPr>
              <a:t>• </a:t>
            </a:r>
            <a:r>
              <a:rPr sz="900" b="0" i="0">
                <a:solidFill>
                  <a:srgbClr val="1A1A1A"/>
                </a:solidFill>
                <a:latin typeface="Arial"/>
              </a:rPr>
              <a:t>Turn-by-turn route to police, hospital or fire, with landmarks</a:t>
            </a:r>
          </a:p>
          <a:p>
            <a:pPr algn="l">
              <a:spcAft>
                <a:spcPts val="250"/>
              </a:spcAft>
            </a:pPr>
            <a:r>
              <a:rPr sz="900" b="1" i="0">
                <a:solidFill>
                  <a:srgbClr val="2F9E44"/>
                </a:solidFill>
                <a:latin typeface="Arial"/>
              </a:rPr>
              <a:t>• </a:t>
            </a:r>
            <a:r>
              <a:rPr sz="900" b="0" i="0">
                <a:solidFill>
                  <a:srgbClr val="1A1A1A"/>
                </a:solidFill>
                <a:latin typeface="Arial"/>
              </a:rPr>
              <a:t>Directions disguised as “meet the rider”</a:t>
            </a:r>
          </a:p>
          <a:p>
            <a:pPr algn="l">
              <a:spcAft>
                <a:spcPts val="250"/>
              </a:spcAft>
            </a:pPr>
            <a:r>
              <a:rPr sz="900" b="1" i="0">
                <a:solidFill>
                  <a:srgbClr val="2F9E44"/>
                </a:solidFill>
                <a:latin typeface="Arial"/>
              </a:rPr>
              <a:t>• </a:t>
            </a:r>
            <a:r>
              <a:rPr sz="900" b="0" i="0">
                <a:solidFill>
                  <a:srgbClr val="1A1A1A"/>
                </a:solidFill>
                <a:latin typeface="Arial"/>
              </a:rPr>
              <a:t>Open-mode first aid; responder messages relayed by Mia</a:t>
            </a:r>
          </a:p>
        </p:txBody>
      </p:sp>
      <p:sp>
        <p:nvSpPr>
          <p:cNvPr id="101" name="Rounded Rectangle 100"/>
          <p:cNvSpPr/>
          <p:nvPr/>
        </p:nvSpPr>
        <p:spPr>
          <a:xfrm>
            <a:off x="365760" y="3072384"/>
            <a:ext cx="2724912" cy="1627632"/>
          </a:xfrm>
          <a:prstGeom prst="roundRect">
            <a:avLst>
              <a:gd name="adj" fmla="val 8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2" name="Oval 101"/>
          <p:cNvSpPr/>
          <p:nvPr/>
        </p:nvSpPr>
        <p:spPr>
          <a:xfrm>
            <a:off x="475488" y="3182112"/>
            <a:ext cx="256032" cy="256032"/>
          </a:xfrm>
          <a:prstGeom prst="ellipse">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900" b="1" i="0">
                <a:solidFill>
                  <a:srgbClr val="FFFFFF"/>
                </a:solidFill>
                <a:latin typeface="Arial"/>
              </a:rPr>
              <a:t>4</a:t>
            </a:r>
          </a:p>
        </p:txBody>
      </p:sp>
      <p:sp>
        <p:nvSpPr>
          <p:cNvPr id="103" name="TextBox 102"/>
          <p:cNvSpPr txBox="1"/>
          <p:nvPr/>
        </p:nvSpPr>
        <p:spPr>
          <a:xfrm>
            <a:off x="804672" y="3163824"/>
            <a:ext cx="2221991" cy="292608"/>
          </a:xfrm>
          <a:prstGeom prst="rect">
            <a:avLst/>
          </a:prstGeom>
          <a:noFill/>
        </p:spPr>
        <p:txBody>
          <a:bodyPr wrap="square" lIns="0" tIns="0" rIns="0" bIns="0" anchor="ctr"/>
          <a:lstStyle/>
          <a:p>
            <a:pPr algn="l"/>
            <a:r>
              <a:rPr sz="1100" b="1" i="0">
                <a:solidFill>
                  <a:srgbClr val="1A1A1A"/>
                </a:solidFill>
                <a:latin typeface="Arial"/>
              </a:rPr>
              <a:t>After the call</a:t>
            </a:r>
          </a:p>
        </p:txBody>
      </p:sp>
      <p:sp>
        <p:nvSpPr>
          <p:cNvPr id="104" name="TextBox 103"/>
          <p:cNvSpPr txBox="1"/>
          <p:nvPr/>
        </p:nvSpPr>
        <p:spPr>
          <a:xfrm>
            <a:off x="493776" y="3511296"/>
            <a:ext cx="2505456" cy="1152144"/>
          </a:xfrm>
          <a:prstGeom prst="rect">
            <a:avLst/>
          </a:prstGeom>
          <a:noFill/>
        </p:spPr>
        <p:txBody>
          <a:bodyPr wrap="square" lIns="0" tIns="0" rIns="0" bIns="0" anchor="t"/>
          <a:lstStyle/>
          <a:p>
            <a:pPr algn="l">
              <a:spcAft>
                <a:spcPts val="250"/>
              </a:spcAft>
            </a:pPr>
            <a:r>
              <a:rPr sz="900" b="1" i="0">
                <a:solidFill>
                  <a:srgbClr val="E8590C"/>
                </a:solidFill>
                <a:latin typeface="Arial"/>
              </a:rPr>
              <a:t>• </a:t>
            </a:r>
            <a:r>
              <a:rPr sz="900" b="0" i="0">
                <a:solidFill>
                  <a:srgbClr val="1A1A1A"/>
                </a:solidFill>
                <a:latin typeface="Arial"/>
              </a:rPr>
              <a:t>Case summary with field confidence + dispatch bulletin</a:t>
            </a:r>
          </a:p>
          <a:p>
            <a:pPr algn="l">
              <a:spcAft>
                <a:spcPts val="250"/>
              </a:spcAft>
            </a:pPr>
            <a:r>
              <a:rPr sz="900" b="1" i="0">
                <a:solidFill>
                  <a:srgbClr val="E8590C"/>
                </a:solidFill>
                <a:latin typeface="Arial"/>
              </a:rPr>
              <a:t>• </a:t>
            </a:r>
            <a:r>
              <a:rPr sz="900" b="0" i="0">
                <a:solidFill>
                  <a:srgbClr val="1A1A1A"/>
                </a:solidFill>
                <a:latin typeface="Arial"/>
              </a:rPr>
              <a:t>Third-party details redacted; linked cases found</a:t>
            </a:r>
          </a:p>
          <a:p>
            <a:pPr algn="l">
              <a:spcAft>
                <a:spcPts val="250"/>
              </a:spcAft>
            </a:pPr>
            <a:r>
              <a:rPr sz="900" b="1" i="0">
                <a:solidFill>
                  <a:srgbClr val="E8590C"/>
                </a:solidFill>
                <a:latin typeface="Arial"/>
              </a:rPr>
              <a:t>• </a:t>
            </a:r>
            <a:r>
              <a:rPr sz="900" b="0" i="0">
                <a:solidFill>
                  <a:srgbClr val="1A1A1A"/>
                </a:solidFill>
                <a:latin typeface="Arial"/>
              </a:rPr>
              <a:t>Case-report email (PDF, scene sketch, map)</a:t>
            </a:r>
          </a:p>
          <a:p>
            <a:pPr algn="l">
              <a:spcAft>
                <a:spcPts val="250"/>
              </a:spcAft>
            </a:pPr>
            <a:r>
              <a:rPr sz="900" b="1" i="0">
                <a:solidFill>
                  <a:srgbClr val="E8590C"/>
                </a:solidFill>
                <a:latin typeface="Arial"/>
              </a:rPr>
              <a:t>• </a:t>
            </a:r>
            <a:r>
              <a:rPr sz="900" b="0" i="0">
                <a:solidFill>
                  <a:srgbClr val="1A1A1A"/>
                </a:solidFill>
                <a:latin typeface="Arial"/>
              </a:rPr>
              <a:t>Trusted-contact alert; recordings saved to Drive</a:t>
            </a:r>
          </a:p>
        </p:txBody>
      </p:sp>
      <p:sp>
        <p:nvSpPr>
          <p:cNvPr id="105" name="Rounded Rectangle 104"/>
          <p:cNvSpPr/>
          <p:nvPr/>
        </p:nvSpPr>
        <p:spPr>
          <a:xfrm>
            <a:off x="3209544" y="3072384"/>
            <a:ext cx="2724912" cy="1627632"/>
          </a:xfrm>
          <a:prstGeom prst="roundRect">
            <a:avLst>
              <a:gd name="adj" fmla="val 8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6" name="Oval 105"/>
          <p:cNvSpPr/>
          <p:nvPr/>
        </p:nvSpPr>
        <p:spPr>
          <a:xfrm>
            <a:off x="3319272" y="3182112"/>
            <a:ext cx="256032" cy="256032"/>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900" b="1" i="0">
                <a:solidFill>
                  <a:srgbClr val="FFFFFF"/>
                </a:solidFill>
                <a:latin typeface="Arial"/>
              </a:rPr>
              <a:t>5</a:t>
            </a:r>
          </a:p>
        </p:txBody>
      </p:sp>
      <p:sp>
        <p:nvSpPr>
          <p:cNvPr id="107" name="TextBox 106"/>
          <p:cNvSpPr txBox="1"/>
          <p:nvPr/>
        </p:nvSpPr>
        <p:spPr>
          <a:xfrm>
            <a:off x="3648456" y="3163824"/>
            <a:ext cx="2221991" cy="292608"/>
          </a:xfrm>
          <a:prstGeom prst="rect">
            <a:avLst/>
          </a:prstGeom>
          <a:noFill/>
        </p:spPr>
        <p:txBody>
          <a:bodyPr wrap="square" lIns="0" tIns="0" rIns="0" bIns="0" anchor="ctr"/>
          <a:lstStyle/>
          <a:p>
            <a:pPr algn="l"/>
            <a:r>
              <a:rPr sz="1100" b="1" i="0">
                <a:solidFill>
                  <a:srgbClr val="1A1A1A"/>
                </a:solidFill>
                <a:latin typeface="Arial"/>
              </a:rPr>
              <a:t>Responder console</a:t>
            </a:r>
          </a:p>
        </p:txBody>
      </p:sp>
      <p:sp>
        <p:nvSpPr>
          <p:cNvPr id="108" name="TextBox 107"/>
          <p:cNvSpPr txBox="1"/>
          <p:nvPr/>
        </p:nvSpPr>
        <p:spPr>
          <a:xfrm>
            <a:off x="3337560" y="3511296"/>
            <a:ext cx="2505456" cy="1152144"/>
          </a:xfrm>
          <a:prstGeom prst="rect">
            <a:avLst/>
          </a:prstGeom>
          <a:noFill/>
        </p:spPr>
        <p:txBody>
          <a:bodyPr wrap="square" lIns="0" tIns="0" rIns="0" bIns="0" anchor="t"/>
          <a:lstStyle/>
          <a:p>
            <a:pPr algn="l">
              <a:spcAft>
                <a:spcPts val="250"/>
              </a:spcAft>
            </a:pPr>
            <a:r>
              <a:rPr sz="900" b="1" i="0">
                <a:solidFill>
                  <a:srgbClr val="1A73E8"/>
                </a:solidFill>
                <a:latin typeface="Arial"/>
              </a:rPr>
              <a:t>• </a:t>
            </a:r>
            <a:r>
              <a:rPr sz="900" b="0" i="0">
                <a:solidFill>
                  <a:srgbClr val="1A1A1A"/>
                </a:solidFill>
                <a:latin typeface="Arial"/>
              </a:rPr>
              <a:t>Ranked live queue, critical alerts, “N” for next urgent</a:t>
            </a:r>
          </a:p>
          <a:p>
            <a:pPr algn="l">
              <a:spcAft>
                <a:spcPts val="250"/>
              </a:spcAft>
            </a:pPr>
            <a:r>
              <a:rPr sz="900" b="1" i="0">
                <a:solidFill>
                  <a:srgbClr val="1A73E8"/>
                </a:solidFill>
                <a:latin typeface="Arial"/>
              </a:rPr>
              <a:t>• </a:t>
            </a:r>
            <a:r>
              <a:rPr sz="900" b="0" i="0">
                <a:solidFill>
                  <a:srgbClr val="1A1A1A"/>
                </a:solidFill>
                <a:latin typeface="Arial"/>
              </a:rPr>
              <a:t>Map case board: 8 evidence tiles, scene sketch</a:t>
            </a:r>
          </a:p>
          <a:p>
            <a:pPr algn="l">
              <a:spcAft>
                <a:spcPts val="250"/>
              </a:spcAft>
            </a:pPr>
            <a:r>
              <a:rPr sz="900" b="1" i="0">
                <a:solidFill>
                  <a:srgbClr val="1A73E8"/>
                </a:solidFill>
                <a:latin typeface="Arial"/>
              </a:rPr>
              <a:t>• </a:t>
            </a:r>
            <a:r>
              <a:rPr sz="900" b="0" i="0">
                <a:solidFill>
                  <a:srgbClr val="1A1A1A"/>
                </a:solidFill>
                <a:latin typeface="Arial"/>
              </a:rPr>
              <a:t>Live transcript with codes decoded, live video, listen-in</a:t>
            </a:r>
          </a:p>
          <a:p>
            <a:pPr algn="l">
              <a:spcAft>
                <a:spcPts val="250"/>
              </a:spcAft>
            </a:pPr>
            <a:r>
              <a:rPr sz="900" b="1" i="0">
                <a:solidFill>
                  <a:srgbClr val="1A73E8"/>
                </a:solidFill>
                <a:latin typeface="Arial"/>
              </a:rPr>
              <a:t>• </a:t>
            </a:r>
            <a:r>
              <a:rPr sz="900" b="0" i="0">
                <a:solidFill>
                  <a:srgbClr val="1A1A1A"/>
                </a:solidFill>
                <a:latin typeface="Arial"/>
              </a:rPr>
              <a:t>Replay, claim/resolve, AI search, analytics, insights</a:t>
            </a:r>
          </a:p>
        </p:txBody>
      </p:sp>
      <p:sp>
        <p:nvSpPr>
          <p:cNvPr id="109" name="Rounded Rectangle 108"/>
          <p:cNvSpPr/>
          <p:nvPr/>
        </p:nvSpPr>
        <p:spPr>
          <a:xfrm>
            <a:off x="6053328" y="3072384"/>
            <a:ext cx="2724912" cy="1627632"/>
          </a:xfrm>
          <a:prstGeom prst="roundRect">
            <a:avLst>
              <a:gd name="adj" fmla="val 8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0" name="Oval 109"/>
          <p:cNvSpPr/>
          <p:nvPr/>
        </p:nvSpPr>
        <p:spPr>
          <a:xfrm>
            <a:off x="6163056" y="3182112"/>
            <a:ext cx="256032" cy="256032"/>
          </a:xfrm>
          <a:prstGeom prst="ellipse">
            <a:avLst/>
          </a:prstGeom>
          <a:solidFill>
            <a:srgbClr val="2F9E4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900" b="1" i="0">
                <a:solidFill>
                  <a:srgbClr val="FFFFFF"/>
                </a:solidFill>
                <a:latin typeface="Arial"/>
              </a:rPr>
              <a:t>6</a:t>
            </a:r>
          </a:p>
        </p:txBody>
      </p:sp>
      <p:sp>
        <p:nvSpPr>
          <p:cNvPr id="111" name="TextBox 110"/>
          <p:cNvSpPr txBox="1"/>
          <p:nvPr/>
        </p:nvSpPr>
        <p:spPr>
          <a:xfrm>
            <a:off x="6492240" y="3163824"/>
            <a:ext cx="2221991" cy="292608"/>
          </a:xfrm>
          <a:prstGeom prst="rect">
            <a:avLst/>
          </a:prstGeom>
          <a:noFill/>
        </p:spPr>
        <p:txBody>
          <a:bodyPr wrap="square" lIns="0" tIns="0" rIns="0" bIns="0" anchor="ctr"/>
          <a:lstStyle/>
          <a:p>
            <a:pPr algn="l"/>
            <a:r>
              <a:rPr sz="1100" b="1" i="0">
                <a:solidFill>
                  <a:srgbClr val="1A1A1A"/>
                </a:solidFill>
                <a:latin typeface="Arial"/>
              </a:rPr>
              <a:t>Disguise &amp; security</a:t>
            </a:r>
          </a:p>
        </p:txBody>
      </p:sp>
      <p:sp>
        <p:nvSpPr>
          <p:cNvPr id="112" name="TextBox 111"/>
          <p:cNvSpPr txBox="1"/>
          <p:nvPr/>
        </p:nvSpPr>
        <p:spPr>
          <a:xfrm>
            <a:off x="6181344" y="3511296"/>
            <a:ext cx="2505456" cy="1152144"/>
          </a:xfrm>
          <a:prstGeom prst="rect">
            <a:avLst/>
          </a:prstGeom>
          <a:noFill/>
        </p:spPr>
        <p:txBody>
          <a:bodyPr wrap="square" lIns="0" tIns="0" rIns="0" bIns="0" anchor="t"/>
          <a:lstStyle/>
          <a:p>
            <a:pPr algn="l">
              <a:spcAft>
                <a:spcPts val="250"/>
              </a:spcAft>
            </a:pPr>
            <a:r>
              <a:rPr sz="900" b="1" i="0">
                <a:solidFill>
                  <a:srgbClr val="2F9E44"/>
                </a:solidFill>
                <a:latin typeface="Arial"/>
              </a:rPr>
              <a:t>• </a:t>
            </a:r>
            <a:r>
              <a:rPr sz="900" b="0" i="0">
                <a:solidFill>
                  <a:srgbClr val="1A1A1A"/>
                </a:solidFill>
                <a:latin typeface="Arial"/>
              </a:rPr>
              <a:t>Zero-trace exit: no way back to the call</a:t>
            </a:r>
          </a:p>
          <a:p>
            <a:pPr algn="l">
              <a:spcAft>
                <a:spcPts val="250"/>
              </a:spcAft>
            </a:pPr>
            <a:r>
              <a:rPr sz="900" b="1" i="0">
                <a:solidFill>
                  <a:srgbClr val="2F9E44"/>
                </a:solidFill>
                <a:latin typeface="Arial"/>
              </a:rPr>
              <a:t>• </a:t>
            </a:r>
            <a:r>
              <a:rPr sz="900" b="0" i="0">
                <a:solidFill>
                  <a:srgbClr val="1A1A1A"/>
                </a:solidFill>
                <a:latin typeface="Arial"/>
              </a:rPr>
              <a:t>Food-app wording on every permission prompt</a:t>
            </a:r>
          </a:p>
          <a:p>
            <a:pPr algn="l">
              <a:spcAft>
                <a:spcPts val="250"/>
              </a:spcAft>
            </a:pPr>
            <a:r>
              <a:rPr sz="900" b="1" i="0">
                <a:solidFill>
                  <a:srgbClr val="2F9E44"/>
                </a:solidFill>
                <a:latin typeface="Arial"/>
              </a:rPr>
              <a:t>• </a:t>
            </a:r>
            <a:r>
              <a:rPr sz="900" b="0" i="0">
                <a:solidFill>
                  <a:srgbClr val="1A1A1A"/>
                </a:solidFill>
                <a:latin typeface="Arial"/>
              </a:rPr>
              <a:t>App Check (reCAPTCHA Enterprise), strict Firestore rules</a:t>
            </a:r>
          </a:p>
          <a:p>
            <a:pPr algn="l">
              <a:spcAft>
                <a:spcPts val="250"/>
              </a:spcAft>
            </a:pPr>
            <a:r>
              <a:rPr sz="900" b="1" i="0">
                <a:solidFill>
                  <a:srgbClr val="2F9E44"/>
                </a:solidFill>
                <a:latin typeface="Arial"/>
              </a:rPr>
              <a:t>• </a:t>
            </a:r>
            <a:r>
              <a:rPr sz="900" b="0" i="0">
                <a:solidFill>
                  <a:srgbClr val="1A1A1A"/>
                </a:solidFill>
                <a:latin typeface="Arial"/>
              </a:rPr>
              <a:t>Android: earpiece audio, disguise presets</a:t>
            </a:r>
          </a:p>
        </p:txBody>
      </p:sp>
      <p:sp>
        <p:nvSpPr>
          <p:cNvPr id="113" name="Footnote"/>
          <p:cNvSpPr txBox="1"/>
          <p:nvPr/>
        </p:nvSpPr>
        <p:spPr>
          <a:xfrm>
            <a:off x="365760" y="4846320"/>
            <a:ext cx="8412480" cy="182880"/>
          </a:xfrm>
          <a:prstGeom prst="rect">
            <a:avLst/>
          </a:prstGeom>
          <a:noFill/>
        </p:spPr>
        <p:txBody>
          <a:bodyPr wrap="square" lIns="0" tIns="0" rIns="0" bIns="0" anchor="t"/>
          <a:lstStyle/>
          <a:p>
            <a:pPr algn="l"/>
            <a:r>
              <a:rPr sz="650" b="0" i="0">
                <a:solidFill>
                  <a:srgbClr val="5F6368"/>
                </a:solidFill>
                <a:latin typeface="Arial"/>
              </a:rPr>
              <a:t>All features above are built and running in the deployed web app; the Android app ports the call, SOS, cart and silent-tap flows.</a:t>
            </a:r>
          </a:p>
        </p:txBody>
      </p:sp>
    </p:spTree>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pic>
        <p:nvPicPr>
          <p:cNvPr id="92" name="Google Shape;92;p18"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93" name="Google Shape;93;p18" title="Group 427319979.png"/>
          <p:cNvPicPr preferRelativeResize="0"/>
          <p:nvPr/>
        </p:nvPicPr>
        <p:blipFill>
          <a:blip r:embed="rId4">
            <a:alphaModFix/>
          </a:blip>
          <a:stretch>
            <a:fillRect/>
          </a:stretch>
        </p:blipFill>
        <p:spPr>
          <a:xfrm>
            <a:off x="0" y="3649"/>
            <a:ext cx="9144000" cy="500062"/>
          </a:xfrm>
          <a:prstGeom prst="rect">
            <a:avLst/>
          </a:prstGeom>
          <a:noFill/>
          <a:ln>
            <a:noFill/>
          </a:ln>
        </p:spPr>
      </p:pic>
      <p:sp>
        <p:nvSpPr>
          <p:cNvPr id="94" name="Google Shape;94;p18"/>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5" name="Google Shape;95;p18"/>
          <p:cNvSpPr txBox="1"/>
          <p:nvPr/>
        </p:nvSpPr>
        <p:spPr>
          <a:xfrm>
            <a:off x="265350" y="603504"/>
            <a:ext cx="8943000" cy="384048"/>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latin typeface="Google Sans Flex Medium"/>
                <a:ea typeface="Google Sans Flex Medium"/>
                <a:cs typeface="Google Sans Flex Medium"/>
                <a:sym typeface="Google Sans Flex Medium"/>
              </a:rPr>
              <a:t>Process flow diagram or Use-case diagram</a:t>
            </a:r>
            <a:endParaRPr sz="1600">
              <a:latin typeface="Google Sans Flex Medium"/>
              <a:ea typeface="Google Sans Flex Medium"/>
              <a:cs typeface="Google Sans Flex Medium"/>
              <a:sym typeface="Google Sans Flex Medium"/>
            </a:endParaRPr>
          </a:p>
        </p:txBody>
      </p:sp>
      <p:sp>
        <p:nvSpPr>
          <p:cNvPr id="96" name="Takeaway"/>
          <p:cNvSpPr txBox="1"/>
          <p:nvPr/>
        </p:nvSpPr>
        <p:spPr>
          <a:xfrm>
            <a:off x="365760" y="969264"/>
            <a:ext cx="8412480" cy="292608"/>
          </a:xfrm>
          <a:prstGeom prst="rect">
            <a:avLst/>
          </a:prstGeom>
          <a:noFill/>
        </p:spPr>
        <p:txBody>
          <a:bodyPr wrap="square" lIns="0" tIns="0" rIns="0" bIns="0" anchor="t"/>
          <a:lstStyle/>
          <a:p>
            <a:pPr algn="l"/>
            <a:r>
              <a:rPr sz="1300" b="1" i="0">
                <a:solidFill>
                  <a:srgbClr val="E8590C"/>
                </a:solidFill>
                <a:latin typeface="Arial"/>
              </a:rPr>
              <a:t>The incident exists before Anu finishes her first sentence</a:t>
            </a:r>
          </a:p>
        </p:txBody>
      </p:sp>
      <p:sp>
        <p:nvSpPr>
          <p:cNvPr id="97" name="Rounded Rectangle 96"/>
          <p:cNvSpPr/>
          <p:nvPr/>
        </p:nvSpPr>
        <p:spPr>
          <a:xfrm>
            <a:off x="365760" y="1335024"/>
            <a:ext cx="8412480" cy="795528"/>
          </a:xfrm>
          <a:prstGeom prst="roundRect">
            <a:avLst>
              <a:gd name="adj" fmla="val 4000"/>
            </a:avLst>
          </a:prstGeom>
          <a:solidFill>
            <a:srgbClr val="FDEB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8" name="TextBox 97"/>
          <p:cNvSpPr txBox="1"/>
          <p:nvPr/>
        </p:nvSpPr>
        <p:spPr>
          <a:xfrm>
            <a:off x="438912" y="1335024"/>
            <a:ext cx="868680" cy="795528"/>
          </a:xfrm>
          <a:prstGeom prst="rect">
            <a:avLst/>
          </a:prstGeom>
          <a:noFill/>
        </p:spPr>
        <p:txBody>
          <a:bodyPr wrap="square" lIns="0" tIns="0" rIns="0" bIns="0" anchor="ctr"/>
          <a:lstStyle/>
          <a:p>
            <a:pPr algn="l"/>
            <a:r>
              <a:rPr sz="850" b="1" i="0">
                <a:solidFill>
                  <a:srgbClr val="E8590C"/>
                </a:solidFill>
                <a:latin typeface="Arial"/>
              </a:rPr>
              <a:t>Caller
(QuickBite)</a:t>
            </a:r>
          </a:p>
        </p:txBody>
      </p:sp>
      <p:sp>
        <p:nvSpPr>
          <p:cNvPr id="99" name="Rounded Rectangle 98"/>
          <p:cNvSpPr/>
          <p:nvPr/>
        </p:nvSpPr>
        <p:spPr>
          <a:xfrm>
            <a:off x="365760" y="2167128"/>
            <a:ext cx="8412480" cy="795528"/>
          </a:xfrm>
          <a:prstGeom prst="roundRect">
            <a:avLst>
              <a:gd name="adj" fmla="val 4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0" name="TextBox 99"/>
          <p:cNvSpPr txBox="1"/>
          <p:nvPr/>
        </p:nvSpPr>
        <p:spPr>
          <a:xfrm>
            <a:off x="438912" y="2167128"/>
            <a:ext cx="868680" cy="795528"/>
          </a:xfrm>
          <a:prstGeom prst="rect">
            <a:avLst/>
          </a:prstGeom>
          <a:noFill/>
        </p:spPr>
        <p:txBody>
          <a:bodyPr wrap="square" lIns="0" tIns="0" rIns="0" bIns="0" anchor="ctr"/>
          <a:lstStyle/>
          <a:p>
            <a:pPr algn="l"/>
            <a:r>
              <a:rPr sz="850" b="1" i="0">
                <a:solidFill>
                  <a:srgbClr val="1A73E8"/>
                </a:solidFill>
                <a:latin typeface="Arial"/>
              </a:rPr>
              <a:t>Gemini</a:t>
            </a:r>
          </a:p>
        </p:txBody>
      </p:sp>
      <p:sp>
        <p:nvSpPr>
          <p:cNvPr id="101" name="Rounded Rectangle 100"/>
          <p:cNvSpPr/>
          <p:nvPr/>
        </p:nvSpPr>
        <p:spPr>
          <a:xfrm>
            <a:off x="365760" y="2999232"/>
            <a:ext cx="8412480" cy="795528"/>
          </a:xfrm>
          <a:prstGeom prst="roundRect">
            <a:avLst>
              <a:gd name="adj" fmla="val 4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2" name="TextBox 101"/>
          <p:cNvSpPr txBox="1"/>
          <p:nvPr/>
        </p:nvSpPr>
        <p:spPr>
          <a:xfrm>
            <a:off x="438912" y="2999232"/>
            <a:ext cx="868680" cy="795528"/>
          </a:xfrm>
          <a:prstGeom prst="rect">
            <a:avLst/>
          </a:prstGeom>
          <a:noFill/>
        </p:spPr>
        <p:txBody>
          <a:bodyPr wrap="square" lIns="0" tIns="0" rIns="0" bIns="0" anchor="ctr"/>
          <a:lstStyle/>
          <a:p>
            <a:pPr algn="l"/>
            <a:r>
              <a:rPr sz="850" b="1" i="0">
                <a:solidFill>
                  <a:srgbClr val="5F6368"/>
                </a:solidFill>
                <a:latin typeface="Arial"/>
              </a:rPr>
              <a:t>Firestore
(realtime)</a:t>
            </a:r>
          </a:p>
        </p:txBody>
      </p:sp>
      <p:sp>
        <p:nvSpPr>
          <p:cNvPr id="103" name="Rounded Rectangle 102"/>
          <p:cNvSpPr/>
          <p:nvPr/>
        </p:nvSpPr>
        <p:spPr>
          <a:xfrm>
            <a:off x="365760" y="3831335"/>
            <a:ext cx="8412480" cy="795528"/>
          </a:xfrm>
          <a:prstGeom prst="roundRect">
            <a:avLst>
              <a:gd name="adj" fmla="val 4000"/>
            </a:avLst>
          </a:prstGeom>
          <a:solidFill>
            <a:srgbClr val="E3F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4" name="TextBox 103"/>
          <p:cNvSpPr txBox="1"/>
          <p:nvPr/>
        </p:nvSpPr>
        <p:spPr>
          <a:xfrm>
            <a:off x="438912" y="3831335"/>
            <a:ext cx="868680" cy="795528"/>
          </a:xfrm>
          <a:prstGeom prst="rect">
            <a:avLst/>
          </a:prstGeom>
          <a:noFill/>
        </p:spPr>
        <p:txBody>
          <a:bodyPr wrap="square" lIns="0" tIns="0" rIns="0" bIns="0" anchor="ctr"/>
          <a:lstStyle/>
          <a:p>
            <a:pPr algn="l"/>
            <a:r>
              <a:rPr sz="850" b="1" i="0">
                <a:solidFill>
                  <a:srgbClr val="2F9E44"/>
                </a:solidFill>
                <a:latin typeface="Arial"/>
              </a:rPr>
              <a:t>Responder
console</a:t>
            </a:r>
          </a:p>
        </p:txBody>
      </p:sp>
      <p:sp>
        <p:nvSpPr>
          <p:cNvPr id="105" name="Rounded Rectangle 104"/>
          <p:cNvSpPr/>
          <p:nvPr/>
        </p:nvSpPr>
        <p:spPr>
          <a:xfrm>
            <a:off x="1325880" y="1449324"/>
            <a:ext cx="969264" cy="566928"/>
          </a:xfrm>
          <a:prstGeom prst="roundRect">
            <a:avLst>
              <a:gd name="adj" fmla="val 12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750" b="0" i="0">
                <a:solidFill>
                  <a:srgbClr val="1A1A1A"/>
                </a:solidFill>
                <a:latin typeface="Arial"/>
              </a:rPr>
              <a:t>Opens app, picks a way in: call · cart · silent tap · SOS</a:t>
            </a:r>
          </a:p>
        </p:txBody>
      </p:sp>
      <p:sp>
        <p:nvSpPr>
          <p:cNvPr id="106" name="Rounded Rectangle 105"/>
          <p:cNvSpPr/>
          <p:nvPr/>
        </p:nvSpPr>
        <p:spPr>
          <a:xfrm>
            <a:off x="2391156" y="3113532"/>
            <a:ext cx="969264" cy="566928"/>
          </a:xfrm>
          <a:prstGeom prst="roundRect">
            <a:avLst>
              <a:gd name="adj" fmla="val 12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750" b="0" i="0">
                <a:solidFill>
                  <a:srgbClr val="1A1A1A"/>
                </a:solidFill>
                <a:latin typeface="Arial"/>
              </a:rPr>
              <a:t>Incident created at the tap + GPS / IP location</a:t>
            </a:r>
          </a:p>
        </p:txBody>
      </p:sp>
      <p:sp>
        <p:nvSpPr>
          <p:cNvPr id="107" name="Rounded Rectangle 106"/>
          <p:cNvSpPr/>
          <p:nvPr/>
        </p:nvSpPr>
        <p:spPr>
          <a:xfrm>
            <a:off x="2391156" y="3945635"/>
            <a:ext cx="969264" cy="566928"/>
          </a:xfrm>
          <a:prstGeom prst="roundRect">
            <a:avLst>
              <a:gd name="adj" fmla="val 12000"/>
            </a:avLst>
          </a:prstGeom>
          <a:solidFill>
            <a:srgbClr val="FFFFFF"/>
          </a:solidFill>
          <a:ln w="9525">
            <a:solidFill>
              <a:srgbClr val="E8590C"/>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750" b="0" i="0">
                <a:solidFill>
                  <a:srgbClr val="1A1A1A"/>
                </a:solidFill>
                <a:latin typeface="Arial"/>
              </a:rPr>
              <a:t>Alert rings; pin appears on the map</a:t>
            </a:r>
          </a:p>
        </p:txBody>
      </p:sp>
      <p:sp>
        <p:nvSpPr>
          <p:cNvPr id="108" name="Rounded Rectangle 107"/>
          <p:cNvSpPr/>
          <p:nvPr/>
        </p:nvSpPr>
        <p:spPr>
          <a:xfrm>
            <a:off x="3456432" y="2281428"/>
            <a:ext cx="969264" cy="566928"/>
          </a:xfrm>
          <a:prstGeom prst="roundRect">
            <a:avLst>
              <a:gd name="adj" fmla="val 12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750" b="0" i="0">
                <a:solidFill>
                  <a:srgbClr val="1A1A1A"/>
                </a:solidFill>
                <a:latin typeface="Arial"/>
              </a:rPr>
              <a:t>Coded question, meaning in the same breath</a:t>
            </a:r>
          </a:p>
        </p:txBody>
      </p:sp>
      <p:sp>
        <p:nvSpPr>
          <p:cNvPr id="109" name="Rounded Rectangle 108"/>
          <p:cNvSpPr/>
          <p:nvPr/>
        </p:nvSpPr>
        <p:spPr>
          <a:xfrm>
            <a:off x="3456432" y="1449324"/>
            <a:ext cx="969264" cy="566928"/>
          </a:xfrm>
          <a:prstGeom prst="roundRect">
            <a:avLst>
              <a:gd name="adj" fmla="val 12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750" b="0" i="0">
                <a:solidFill>
                  <a:srgbClr val="1A1A1A"/>
                </a:solidFill>
                <a:latin typeface="Arial"/>
              </a:rPr>
              <a:t>Answers as if ordering food</a:t>
            </a:r>
          </a:p>
        </p:txBody>
      </p:sp>
      <p:sp>
        <p:nvSpPr>
          <p:cNvPr id="110" name="Rounded Rectangle 109"/>
          <p:cNvSpPr/>
          <p:nvPr/>
        </p:nvSpPr>
        <p:spPr>
          <a:xfrm>
            <a:off x="4521708" y="2281428"/>
            <a:ext cx="969264" cy="566928"/>
          </a:xfrm>
          <a:prstGeom prst="roundRect">
            <a:avLst>
              <a:gd name="adj" fmla="val 12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750" b="0" i="0">
                <a:solidFill>
                  <a:srgbClr val="1A1A1A"/>
                </a:solidFill>
                <a:latin typeface="Arial"/>
              </a:rPr>
              <a:t>Tool call → facts: danger, people, urgency, address</a:t>
            </a:r>
          </a:p>
        </p:txBody>
      </p:sp>
      <p:sp>
        <p:nvSpPr>
          <p:cNvPr id="111" name="Rounded Rectangle 110"/>
          <p:cNvSpPr/>
          <p:nvPr/>
        </p:nvSpPr>
        <p:spPr>
          <a:xfrm>
            <a:off x="4521708" y="3113532"/>
            <a:ext cx="969264" cy="566928"/>
          </a:xfrm>
          <a:prstGeom prst="roundRect">
            <a:avLst>
              <a:gd name="adj" fmla="val 12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750" b="0" i="0">
                <a:solidFill>
                  <a:srgbClr val="1A1A1A"/>
                </a:solidFill>
                <a:latin typeface="Arial"/>
              </a:rPr>
              <a:t>Live fields; severity by rules in code</a:t>
            </a:r>
          </a:p>
        </p:txBody>
      </p:sp>
      <p:sp>
        <p:nvSpPr>
          <p:cNvPr id="112" name="Rounded Rectangle 111"/>
          <p:cNvSpPr/>
          <p:nvPr/>
        </p:nvSpPr>
        <p:spPr>
          <a:xfrm>
            <a:off x="5586984" y="3945635"/>
            <a:ext cx="969264" cy="566928"/>
          </a:xfrm>
          <a:prstGeom prst="roundRect">
            <a:avLst>
              <a:gd name="adj" fmla="val 12000"/>
            </a:avLst>
          </a:prstGeom>
          <a:solidFill>
            <a:srgbClr val="FFFFFF"/>
          </a:solidFill>
          <a:ln w="9525">
            <a:solidFill>
              <a:srgbClr val="E8590C"/>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750" b="0" i="0">
                <a:solidFill>
                  <a:srgbClr val="1A1A1A"/>
                </a:solidFill>
                <a:latin typeface="Arial"/>
              </a:rPr>
              <a:t>Acknowledge · start response · message caller</a:t>
            </a:r>
          </a:p>
        </p:txBody>
      </p:sp>
      <p:sp>
        <p:nvSpPr>
          <p:cNvPr id="113" name="Rounded Rectangle 112"/>
          <p:cNvSpPr/>
          <p:nvPr/>
        </p:nvSpPr>
        <p:spPr>
          <a:xfrm>
            <a:off x="5586984" y="2281428"/>
            <a:ext cx="969264" cy="566928"/>
          </a:xfrm>
          <a:prstGeom prst="roundRect">
            <a:avLst>
              <a:gd name="adj" fmla="val 12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750" b="0" i="0">
                <a:solidFill>
                  <a:srgbClr val="1A1A1A"/>
                </a:solidFill>
                <a:latin typeface="Arial"/>
              </a:rPr>
              <a:t>Relays message as delivery chat; route to safety</a:t>
            </a:r>
          </a:p>
        </p:txBody>
      </p:sp>
      <p:sp>
        <p:nvSpPr>
          <p:cNvPr id="114" name="Rounded Rectangle 113"/>
          <p:cNvSpPr/>
          <p:nvPr/>
        </p:nvSpPr>
        <p:spPr>
          <a:xfrm>
            <a:off x="6652260" y="1449324"/>
            <a:ext cx="969264" cy="566928"/>
          </a:xfrm>
          <a:prstGeom prst="roundRect">
            <a:avLst>
              <a:gd name="adj" fmla="val 12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750" b="0" i="0">
                <a:solidFill>
                  <a:srgbClr val="1A1A1A"/>
                </a:solidFill>
                <a:latin typeface="Arial"/>
              </a:rPr>
              <a:t>Walks to police / hospital; zero-trace exit</a:t>
            </a:r>
          </a:p>
        </p:txBody>
      </p:sp>
      <p:sp>
        <p:nvSpPr>
          <p:cNvPr id="115" name="Rounded Rectangle 114"/>
          <p:cNvSpPr/>
          <p:nvPr/>
        </p:nvSpPr>
        <p:spPr>
          <a:xfrm>
            <a:off x="6652260" y="2281428"/>
            <a:ext cx="969264" cy="566928"/>
          </a:xfrm>
          <a:prstGeom prst="roundRect">
            <a:avLst>
              <a:gd name="adj" fmla="val 12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750" b="0" i="0">
                <a:solidFill>
                  <a:srgbClr val="1A1A1A"/>
                </a:solidFill>
                <a:latin typeface="Arial"/>
              </a:rPr>
              <a:t>Post-call: summary, redaction, case linking</a:t>
            </a:r>
          </a:p>
        </p:txBody>
      </p:sp>
      <p:sp>
        <p:nvSpPr>
          <p:cNvPr id="116" name="Rounded Rectangle 115"/>
          <p:cNvSpPr/>
          <p:nvPr/>
        </p:nvSpPr>
        <p:spPr>
          <a:xfrm>
            <a:off x="7717536" y="3113532"/>
            <a:ext cx="969264" cy="566928"/>
          </a:xfrm>
          <a:prstGeom prst="roundRect">
            <a:avLst>
              <a:gd name="adj" fmla="val 12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750" b="0" i="0">
                <a:solidFill>
                  <a:srgbClr val="1A1A1A"/>
                </a:solidFill>
                <a:latin typeface="Arial"/>
              </a:rPr>
              <a:t>Case record + report email</a:t>
            </a:r>
          </a:p>
        </p:txBody>
      </p:sp>
      <p:sp>
        <p:nvSpPr>
          <p:cNvPr id="117" name="Rounded Rectangle 116"/>
          <p:cNvSpPr/>
          <p:nvPr/>
        </p:nvSpPr>
        <p:spPr>
          <a:xfrm>
            <a:off x="7717536" y="3945635"/>
            <a:ext cx="969264" cy="566928"/>
          </a:xfrm>
          <a:prstGeom prst="roundRect">
            <a:avLst>
              <a:gd name="adj" fmla="val 12000"/>
            </a:avLst>
          </a:prstGeom>
          <a:solidFill>
            <a:srgbClr val="FFFFFF"/>
          </a:solidFill>
          <a:ln w="9525">
            <a:solidFill>
              <a:srgbClr val="E8590C"/>
            </a:solidFill>
          </a:ln>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750" b="0" i="0">
                <a:solidFill>
                  <a:srgbClr val="1A1A1A"/>
                </a:solidFill>
                <a:latin typeface="Arial"/>
              </a:rPr>
              <a:t>Resolve → caller’s app shows “Delivered”</a:t>
            </a:r>
          </a:p>
        </p:txBody>
      </p:sp>
      <p:cxnSp>
        <p:nvCxnSpPr>
          <p:cNvPr id="118" name="Connector 117"/>
          <p:cNvCxnSpPr/>
          <p:nvPr/>
        </p:nvCxnSpPr>
        <p:spPr>
          <a:xfrm>
            <a:off x="2295144" y="1732788"/>
            <a:ext cx="96012" cy="1664208"/>
          </a:xfrm>
          <a:prstGeom prst="bentConnector3">
            <a:avLst/>
          </a:prstGeom>
          <a:ln w="12700">
            <a:solidFill>
              <a:srgbClr val="5F63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2875788" y="3680460"/>
            <a:ext cx="0" cy="265175"/>
          </a:xfrm>
          <a:prstGeom prst="line">
            <a:avLst/>
          </a:prstGeom>
          <a:ln w="12700">
            <a:solidFill>
              <a:srgbClr val="5F63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360420" y="2564892"/>
            <a:ext cx="96012" cy="832104"/>
          </a:xfrm>
          <a:prstGeom prst="bentConnector3">
            <a:avLst/>
          </a:prstGeom>
          <a:ln w="12700">
            <a:solidFill>
              <a:srgbClr val="5F63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941064" y="2016252"/>
            <a:ext cx="0" cy="265176"/>
          </a:xfrm>
          <a:prstGeom prst="line">
            <a:avLst/>
          </a:prstGeom>
          <a:ln w="12700">
            <a:solidFill>
              <a:srgbClr val="5F63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4425696" y="1732788"/>
            <a:ext cx="96012" cy="832104"/>
          </a:xfrm>
          <a:prstGeom prst="bentConnector3">
            <a:avLst/>
          </a:prstGeom>
          <a:ln w="12700">
            <a:solidFill>
              <a:srgbClr val="5F63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5006340" y="2848356"/>
            <a:ext cx="0" cy="265176"/>
          </a:xfrm>
          <a:prstGeom prst="line">
            <a:avLst/>
          </a:prstGeom>
          <a:ln w="12700">
            <a:solidFill>
              <a:srgbClr val="5F63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5490972" y="3396996"/>
            <a:ext cx="96012" cy="832103"/>
          </a:xfrm>
          <a:prstGeom prst="bentConnector3">
            <a:avLst/>
          </a:prstGeom>
          <a:ln w="12700">
            <a:solidFill>
              <a:srgbClr val="5F63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6071616" y="2848356"/>
            <a:ext cx="0" cy="1097279"/>
          </a:xfrm>
          <a:prstGeom prst="line">
            <a:avLst/>
          </a:prstGeom>
          <a:ln w="12700">
            <a:solidFill>
              <a:srgbClr val="5F63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6556248" y="1732788"/>
            <a:ext cx="96012" cy="832104"/>
          </a:xfrm>
          <a:prstGeom prst="bentConnector3">
            <a:avLst/>
          </a:prstGeom>
          <a:ln w="12700">
            <a:solidFill>
              <a:srgbClr val="5F63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a:off x="7136892" y="2016252"/>
            <a:ext cx="0" cy="265176"/>
          </a:xfrm>
          <a:prstGeom prst="line">
            <a:avLst/>
          </a:prstGeom>
          <a:ln w="12700">
            <a:solidFill>
              <a:srgbClr val="5F63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a:off x="7621524" y="2564892"/>
            <a:ext cx="96012" cy="832104"/>
          </a:xfrm>
          <a:prstGeom prst="bentConnector3">
            <a:avLst/>
          </a:prstGeom>
          <a:ln w="12700">
            <a:solidFill>
              <a:srgbClr val="5F636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a:off x="8202167" y="3680460"/>
            <a:ext cx="0" cy="265175"/>
          </a:xfrm>
          <a:prstGeom prst="line">
            <a:avLst/>
          </a:prstGeom>
          <a:ln w="12700">
            <a:solidFill>
              <a:srgbClr val="5F636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0" name="TextBox 129"/>
          <p:cNvSpPr txBox="1"/>
          <p:nvPr/>
        </p:nvSpPr>
        <p:spPr>
          <a:xfrm>
            <a:off x="365760" y="4681728"/>
            <a:ext cx="8412480" cy="182880"/>
          </a:xfrm>
          <a:prstGeom prst="rect">
            <a:avLst/>
          </a:prstGeom>
          <a:noFill/>
        </p:spPr>
        <p:txBody>
          <a:bodyPr wrap="square" lIns="0" tIns="0" rIns="0" bIns="0" anchor="t"/>
          <a:lstStyle/>
          <a:p>
            <a:pPr algn="l"/>
            <a:r>
              <a:rPr sz="750" b="1" i="0">
                <a:solidFill>
                  <a:srgbClr val="1A1A1A"/>
                </a:solidFill>
                <a:latin typeface="Arial"/>
              </a:rPr>
              <a:t>Use cases: </a:t>
            </a:r>
            <a:r>
              <a:rPr sz="750" b="0" i="0">
                <a:solidFill>
                  <a:srgbClr val="5F6368"/>
                </a:solidFill>
                <a:latin typeface="Arial"/>
              </a:rPr>
              <a:t>caller in danger · witness (“for someone else” codes: crime seen, fight, child in danger, fire) · responder · admin.  </a:t>
            </a:r>
            <a:r>
              <a:rPr sz="750" b="1" i="0">
                <a:solidFill>
                  <a:srgbClr val="1A1A1A"/>
                </a:solidFill>
                <a:latin typeface="Arial"/>
              </a:rPr>
              <a:t>Measured: </a:t>
            </a:r>
            <a:r>
              <a:rPr sz="750" b="0" i="0">
                <a:solidFill>
                  <a:srgbClr val="5F6368"/>
                </a:solidFill>
                <a:latin typeface="Arial"/>
              </a:rPr>
              <a:t>incident created 0.11 s after the tap (eval median)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pic>
        <p:nvPicPr>
          <p:cNvPr id="100" name="Google Shape;100;p19"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01" name="Google Shape;101;p19" title="Group 427319979.png"/>
          <p:cNvPicPr preferRelativeResize="0"/>
          <p:nvPr/>
        </p:nvPicPr>
        <p:blipFill>
          <a:blip r:embed="rId4">
            <a:alphaModFix/>
          </a:blip>
          <a:stretch>
            <a:fillRect/>
          </a:stretch>
        </p:blipFill>
        <p:spPr>
          <a:xfrm>
            <a:off x="0" y="3649"/>
            <a:ext cx="9144000" cy="500062"/>
          </a:xfrm>
          <a:prstGeom prst="rect">
            <a:avLst/>
          </a:prstGeom>
          <a:noFill/>
          <a:ln>
            <a:noFill/>
          </a:ln>
        </p:spPr>
      </p:pic>
      <p:sp>
        <p:nvSpPr>
          <p:cNvPr id="102" name="Google Shape;102;p19"/>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3" name="Google Shape;103;p19"/>
          <p:cNvSpPr txBox="1"/>
          <p:nvPr/>
        </p:nvSpPr>
        <p:spPr>
          <a:xfrm>
            <a:off x="265350" y="603504"/>
            <a:ext cx="8943000" cy="384048"/>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latin typeface="Google Sans Flex Medium"/>
                <a:ea typeface="Google Sans Flex Medium"/>
                <a:cs typeface="Google Sans Flex Medium"/>
                <a:sym typeface="Google Sans Flex Medium"/>
              </a:rPr>
              <a:t>Wireframes/Mock diagrams of the proposed solution (optional)</a:t>
            </a:r>
            <a:endParaRPr sz="1600">
              <a:latin typeface="Google Sans Flex Medium"/>
              <a:ea typeface="Google Sans Flex Medium"/>
              <a:cs typeface="Google Sans Flex Medium"/>
              <a:sym typeface="Google Sans Flex Medium"/>
            </a:endParaRPr>
          </a:p>
        </p:txBody>
      </p:sp>
      <p:sp>
        <p:nvSpPr>
          <p:cNvPr id="104" name="Takeaway"/>
          <p:cNvSpPr txBox="1"/>
          <p:nvPr/>
        </p:nvSpPr>
        <p:spPr>
          <a:xfrm>
            <a:off x="365760" y="969264"/>
            <a:ext cx="8412480" cy="292608"/>
          </a:xfrm>
          <a:prstGeom prst="rect">
            <a:avLst/>
          </a:prstGeom>
          <a:noFill/>
        </p:spPr>
        <p:txBody>
          <a:bodyPr wrap="square" lIns="0" tIns="0" rIns="0" bIns="0" anchor="t"/>
          <a:lstStyle/>
          <a:p>
            <a:pPr algn="l"/>
            <a:r>
              <a:rPr sz="1300" b="1" i="0">
                <a:solidFill>
                  <a:srgbClr val="E8590C"/>
                </a:solidFill>
                <a:latin typeface="Arial"/>
              </a:rPr>
              <a:t>Every screen passes as a food app; every way to ask for help is an ordinary feature</a:t>
            </a:r>
          </a:p>
        </p:txBody>
      </p:sp>
      <p:sp>
        <p:nvSpPr>
          <p:cNvPr id="105" name="Rounded Rectangle 104"/>
          <p:cNvSpPr/>
          <p:nvPr/>
        </p:nvSpPr>
        <p:spPr>
          <a:xfrm>
            <a:off x="384048" y="1325880"/>
            <a:ext cx="1463040" cy="3035808"/>
          </a:xfrm>
          <a:prstGeom prst="roundRect">
            <a:avLst>
              <a:gd name="adj" fmla="val 12000"/>
            </a:avLst>
          </a:prstGeom>
          <a:solidFill>
            <a:srgbClr val="2021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6" name="Rounded Rectangle 105"/>
          <p:cNvSpPr/>
          <p:nvPr/>
        </p:nvSpPr>
        <p:spPr>
          <a:xfrm>
            <a:off x="434340" y="1376172"/>
            <a:ext cx="1362456" cy="2935224"/>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07" name="Picture 106" descr="qb-home.png"/>
          <p:cNvPicPr>
            <a:picLocks noChangeAspect="1"/>
          </p:cNvPicPr>
          <p:nvPr/>
        </p:nvPicPr>
        <p:blipFill>
          <a:blip r:embed="rId5"/>
          <a:srcRect b="303"/>
          <a:stretch>
            <a:fillRect/>
          </a:stretch>
        </p:blipFill>
        <p:spPr>
          <a:xfrm>
            <a:off x="434340" y="1376172"/>
            <a:ext cx="1362456" cy="2935224"/>
          </a:xfrm>
          <a:prstGeom prst="rect">
            <a:avLst/>
          </a:prstGeom>
        </p:spPr>
      </p:pic>
      <p:sp>
        <p:nvSpPr>
          <p:cNvPr id="108" name="Rounded Rectangle 107"/>
          <p:cNvSpPr/>
          <p:nvPr/>
        </p:nvSpPr>
        <p:spPr>
          <a:xfrm>
            <a:off x="2103120" y="1325880"/>
            <a:ext cx="1463040" cy="3035808"/>
          </a:xfrm>
          <a:prstGeom prst="roundRect">
            <a:avLst>
              <a:gd name="adj" fmla="val 12000"/>
            </a:avLst>
          </a:prstGeom>
          <a:solidFill>
            <a:srgbClr val="2021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9" name="Rounded Rectangle 108"/>
          <p:cNvSpPr/>
          <p:nvPr/>
        </p:nvSpPr>
        <p:spPr>
          <a:xfrm>
            <a:off x="2153412" y="1376172"/>
            <a:ext cx="1362456" cy="2935224"/>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10" name="Picture 109" descr="qb-item.png"/>
          <p:cNvPicPr>
            <a:picLocks noChangeAspect="1"/>
          </p:cNvPicPr>
          <p:nvPr/>
        </p:nvPicPr>
        <p:blipFill>
          <a:blip r:embed="rId6"/>
          <a:srcRect b="1554"/>
          <a:stretch>
            <a:fillRect/>
          </a:stretch>
        </p:blipFill>
        <p:spPr>
          <a:xfrm>
            <a:off x="2153412" y="1376172"/>
            <a:ext cx="1362456" cy="2935224"/>
          </a:xfrm>
          <a:prstGeom prst="rect">
            <a:avLst/>
          </a:prstGeom>
        </p:spPr>
      </p:pic>
      <p:sp>
        <p:nvSpPr>
          <p:cNvPr id="111" name="Rounded Rectangle 110"/>
          <p:cNvSpPr/>
          <p:nvPr/>
        </p:nvSpPr>
        <p:spPr>
          <a:xfrm>
            <a:off x="3822191" y="1325880"/>
            <a:ext cx="1463040" cy="3035808"/>
          </a:xfrm>
          <a:prstGeom prst="roundRect">
            <a:avLst>
              <a:gd name="adj" fmla="val 12000"/>
            </a:avLst>
          </a:prstGeom>
          <a:solidFill>
            <a:srgbClr val="2021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2" name="Rounded Rectangle 111"/>
          <p:cNvSpPr/>
          <p:nvPr/>
        </p:nvSpPr>
        <p:spPr>
          <a:xfrm>
            <a:off x="3872483" y="1376172"/>
            <a:ext cx="1362456" cy="2935224"/>
          </a:xfrm>
          <a:prstGeom prst="roundRect">
            <a:avLst>
              <a:gd name="adj" fmla="val 9000"/>
            </a:avLst>
          </a:prstGeom>
          <a:solidFill>
            <a:srgbClr val="FFF6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3" name="TextBox 112"/>
          <p:cNvSpPr txBox="1"/>
          <p:nvPr/>
        </p:nvSpPr>
        <p:spPr>
          <a:xfrm>
            <a:off x="3872483" y="1485900"/>
            <a:ext cx="1362456" cy="182880"/>
          </a:xfrm>
          <a:prstGeom prst="rect">
            <a:avLst/>
          </a:prstGeom>
          <a:noFill/>
        </p:spPr>
        <p:txBody>
          <a:bodyPr wrap="square" lIns="0" tIns="0" rIns="0" bIns="0" anchor="t"/>
          <a:lstStyle/>
          <a:p>
            <a:pPr algn="ctr"/>
            <a:r>
              <a:rPr sz="800" b="1" i="0">
                <a:solidFill>
                  <a:srgbClr val="1A1A1A"/>
                </a:solidFill>
                <a:latin typeface="Arial"/>
              </a:rPr>
              <a:t>QuickBite Kitchen</a:t>
            </a:r>
          </a:p>
        </p:txBody>
      </p:sp>
      <p:sp>
        <p:nvSpPr>
          <p:cNvPr id="114" name="TextBox 113"/>
          <p:cNvSpPr txBox="1"/>
          <p:nvPr/>
        </p:nvSpPr>
        <p:spPr>
          <a:xfrm>
            <a:off x="3872483" y="1650492"/>
            <a:ext cx="1362456" cy="164592"/>
          </a:xfrm>
          <a:prstGeom prst="rect">
            <a:avLst/>
          </a:prstGeom>
          <a:noFill/>
        </p:spPr>
        <p:txBody>
          <a:bodyPr wrap="square" lIns="0" tIns="0" rIns="0" bIns="0" anchor="t"/>
          <a:lstStyle/>
          <a:p>
            <a:pPr algn="ctr"/>
            <a:r>
              <a:rPr sz="650" b="0" i="0">
                <a:solidFill>
                  <a:srgbClr val="5F6368"/>
                </a:solidFill>
                <a:latin typeface="Arial"/>
              </a:rPr>
              <a:t>Order line · 01:24</a:t>
            </a:r>
          </a:p>
        </p:txBody>
      </p:sp>
      <p:sp>
        <p:nvSpPr>
          <p:cNvPr id="115" name="Oval 114"/>
          <p:cNvSpPr/>
          <p:nvPr/>
        </p:nvSpPr>
        <p:spPr>
          <a:xfrm>
            <a:off x="4352544" y="1851660"/>
            <a:ext cx="402336" cy="402336"/>
          </a:xfrm>
          <a:prstGeom prst="ellipse">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i="0">
                <a:solidFill>
                  <a:srgbClr val="FFFFFF"/>
                </a:solidFill>
                <a:latin typeface="Arial"/>
              </a:rPr>
              <a:t>Mia</a:t>
            </a:r>
          </a:p>
        </p:txBody>
      </p:sp>
      <p:sp>
        <p:nvSpPr>
          <p:cNvPr id="116" name="Rounded Rectangle 115"/>
          <p:cNvSpPr/>
          <p:nvPr/>
        </p:nvSpPr>
        <p:spPr>
          <a:xfrm>
            <a:off x="3936491" y="2345436"/>
            <a:ext cx="1024128" cy="457200"/>
          </a:xfrm>
          <a:prstGeom prst="roundRect">
            <a:avLst>
              <a:gd name="adj" fmla="val 15000"/>
            </a:avLst>
          </a:prstGeom>
          <a:solidFill>
            <a:srgbClr val="FDEBD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l"/>
            <a:r>
              <a:rPr sz="650" b="0" i="0">
                <a:solidFill>
                  <a:srgbClr val="1A1A1A"/>
                </a:solidFill>
                <a:latin typeface="Arial"/>
              </a:rPr>
              <a:t>Garlic bread on the side? Garlic bread tells me someone is following you.</a:t>
            </a:r>
          </a:p>
        </p:txBody>
      </p:sp>
      <p:sp>
        <p:nvSpPr>
          <p:cNvPr id="117" name="Rounded Rectangle 116"/>
          <p:cNvSpPr/>
          <p:nvPr/>
        </p:nvSpPr>
        <p:spPr>
          <a:xfrm>
            <a:off x="4146803" y="2866644"/>
            <a:ext cx="1024128" cy="274320"/>
          </a:xfrm>
          <a:prstGeom prst="roundRect">
            <a:avLst>
              <a:gd name="adj" fmla="val 15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l"/>
            <a:r>
              <a:rPr sz="650" b="0" i="0">
                <a:solidFill>
                  <a:srgbClr val="1A1A1A"/>
                </a:solidFill>
                <a:latin typeface="Arial"/>
              </a:rPr>
              <a:t>Yes, garlic bread please.</a:t>
            </a:r>
          </a:p>
        </p:txBody>
      </p:sp>
      <p:sp>
        <p:nvSpPr>
          <p:cNvPr id="118" name="Rounded Rectangle 117"/>
          <p:cNvSpPr/>
          <p:nvPr/>
        </p:nvSpPr>
        <p:spPr>
          <a:xfrm>
            <a:off x="3936491" y="3204972"/>
            <a:ext cx="1024128" cy="457200"/>
          </a:xfrm>
          <a:prstGeom prst="roundRect">
            <a:avLst>
              <a:gd name="adj" fmla="val 15000"/>
            </a:avLst>
          </a:prstGeom>
          <a:solidFill>
            <a:srgbClr val="FDEBDF"/>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l"/>
            <a:r>
              <a:rPr sz="650" b="0" i="0">
                <a:solidFill>
                  <a:srgbClr val="1A1A1A"/>
                </a:solidFill>
                <a:latin typeface="Arial"/>
              </a:rPr>
              <a:t>One pizza or two? Two means two people near you.</a:t>
            </a:r>
          </a:p>
        </p:txBody>
      </p:sp>
      <p:sp>
        <p:nvSpPr>
          <p:cNvPr id="119" name="Oval 118"/>
          <p:cNvSpPr/>
          <p:nvPr/>
        </p:nvSpPr>
        <p:spPr>
          <a:xfrm>
            <a:off x="4325112" y="3854196"/>
            <a:ext cx="457200" cy="329184"/>
          </a:xfrm>
          <a:prstGeom prst="ellipse">
            <a:avLst/>
          </a:prstGeom>
          <a:solidFill>
            <a:srgbClr val="D6336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700" b="1" i="0">
                <a:solidFill>
                  <a:srgbClr val="FFFFFF"/>
                </a:solidFill>
                <a:latin typeface="Arial"/>
              </a:rPr>
              <a:t>End</a:t>
            </a:r>
          </a:p>
        </p:txBody>
      </p:sp>
      <p:sp>
        <p:nvSpPr>
          <p:cNvPr id="120" name="Rounded Rectangle 119"/>
          <p:cNvSpPr/>
          <p:nvPr/>
        </p:nvSpPr>
        <p:spPr>
          <a:xfrm>
            <a:off x="5541264" y="1325880"/>
            <a:ext cx="1463040" cy="3035808"/>
          </a:xfrm>
          <a:prstGeom prst="roundRect">
            <a:avLst>
              <a:gd name="adj" fmla="val 12000"/>
            </a:avLst>
          </a:prstGeom>
          <a:solidFill>
            <a:srgbClr val="2021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1" name="Rounded Rectangle 120"/>
          <p:cNvSpPr/>
          <p:nvPr/>
        </p:nvSpPr>
        <p:spPr>
          <a:xfrm>
            <a:off x="5591555" y="1376172"/>
            <a:ext cx="1362456" cy="2935224"/>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2" name="TextBox 121"/>
          <p:cNvSpPr txBox="1"/>
          <p:nvPr/>
        </p:nvSpPr>
        <p:spPr>
          <a:xfrm>
            <a:off x="5664707" y="1485900"/>
            <a:ext cx="1216152" cy="201168"/>
          </a:xfrm>
          <a:prstGeom prst="rect">
            <a:avLst/>
          </a:prstGeom>
          <a:noFill/>
        </p:spPr>
        <p:txBody>
          <a:bodyPr wrap="square" lIns="0" tIns="0" rIns="0" bIns="0" anchor="t"/>
          <a:lstStyle/>
          <a:p>
            <a:pPr algn="l"/>
            <a:r>
              <a:rPr sz="800" b="1" i="0">
                <a:solidFill>
                  <a:srgbClr val="1A1A1A"/>
                </a:solidFill>
                <a:latin typeface="Arial"/>
              </a:rPr>
              <a:t>Delivery instructions</a:t>
            </a:r>
          </a:p>
        </p:txBody>
      </p:sp>
      <p:sp>
        <p:nvSpPr>
          <p:cNvPr id="123" name="Rounded Rectangle 122"/>
          <p:cNvSpPr/>
          <p:nvPr/>
        </p:nvSpPr>
        <p:spPr>
          <a:xfrm>
            <a:off x="5655564" y="1760219"/>
            <a:ext cx="1234440" cy="246888"/>
          </a:xfrm>
          <a:prstGeom prst="roundRect">
            <a:avLst>
              <a:gd name="adj" fmla="val 20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l"/>
            <a:r>
              <a:rPr sz="650" b="0" i="0">
                <a:solidFill>
                  <a:srgbClr val="1A1A1A"/>
                </a:solidFill>
                <a:latin typeface="Arial"/>
              </a:rPr>
              <a:t>Ring the bell</a:t>
            </a:r>
          </a:p>
        </p:txBody>
      </p:sp>
      <p:sp>
        <p:nvSpPr>
          <p:cNvPr id="124" name="Rounded Rectangle 123"/>
          <p:cNvSpPr/>
          <p:nvPr/>
        </p:nvSpPr>
        <p:spPr>
          <a:xfrm>
            <a:off x="5655564" y="2043684"/>
            <a:ext cx="1234440" cy="246888"/>
          </a:xfrm>
          <a:prstGeom prst="roundRect">
            <a:avLst>
              <a:gd name="adj" fmla="val 20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l"/>
            <a:r>
              <a:rPr sz="650" b="0" i="0">
                <a:solidFill>
                  <a:srgbClr val="1A1A1A"/>
                </a:solidFill>
                <a:latin typeface="Arial"/>
              </a:rPr>
              <a:t>Leave at the door</a:t>
            </a:r>
          </a:p>
        </p:txBody>
      </p:sp>
      <p:sp>
        <p:nvSpPr>
          <p:cNvPr id="125" name="Rounded Rectangle 124"/>
          <p:cNvSpPr/>
          <p:nvPr/>
        </p:nvSpPr>
        <p:spPr>
          <a:xfrm>
            <a:off x="5655564" y="2327148"/>
            <a:ext cx="1234440" cy="246888"/>
          </a:xfrm>
          <a:prstGeom prst="roundRect">
            <a:avLst>
              <a:gd name="adj" fmla="val 20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l"/>
            <a:r>
              <a:rPr sz="650" b="0" i="0">
                <a:solidFill>
                  <a:srgbClr val="1A1A1A"/>
                </a:solidFill>
                <a:latin typeface="Arial"/>
              </a:rPr>
              <a:t>Call on arrival</a:t>
            </a:r>
          </a:p>
        </p:txBody>
      </p:sp>
      <p:sp>
        <p:nvSpPr>
          <p:cNvPr id="126" name="Rounded Rectangle 125"/>
          <p:cNvSpPr/>
          <p:nvPr/>
        </p:nvSpPr>
        <p:spPr>
          <a:xfrm>
            <a:off x="5655564" y="2610612"/>
            <a:ext cx="1234440" cy="246888"/>
          </a:xfrm>
          <a:prstGeom prst="roundRect">
            <a:avLst>
              <a:gd name="adj" fmla="val 20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l"/>
            <a:r>
              <a:rPr sz="650" b="0" i="0">
                <a:solidFill>
                  <a:srgbClr val="1A1A1A"/>
                </a:solidFill>
                <a:latin typeface="Arial"/>
              </a:rPr>
              <a:t>Handle with care — fragile</a:t>
            </a:r>
          </a:p>
        </p:txBody>
      </p:sp>
      <p:sp>
        <p:nvSpPr>
          <p:cNvPr id="127" name="Rounded Rectangle 126"/>
          <p:cNvSpPr/>
          <p:nvPr/>
        </p:nvSpPr>
        <p:spPr>
          <a:xfrm>
            <a:off x="5655564" y="2894076"/>
            <a:ext cx="1234440" cy="512064"/>
          </a:xfrm>
          <a:prstGeom prst="roundRect">
            <a:avLst>
              <a:gd name="adj" fmla="val 12000"/>
            </a:avLst>
          </a:prstGeom>
          <a:solidFill>
            <a:srgbClr val="FDEBDF"/>
          </a:solidFill>
          <a:ln w="9525">
            <a:solidFill>
              <a:srgbClr val="E8590C"/>
            </a:solid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l"/>
            <a:r>
              <a:rPr sz="650" b="1" i="0">
                <a:solidFill>
                  <a:srgbClr val="1A1A1A"/>
                </a:solidFill>
                <a:latin typeface="Arial"/>
              </a:rPr>
              <a:t>Don't ring, leave silently</a:t>
            </a:r>
          </a:p>
          <a:p>
            <a:pPr algn="l"/>
            <a:r>
              <a:rPr sz="650" b="1" i="0">
                <a:solidFill>
                  <a:srgbClr val="E8590C"/>
                </a:solidFill>
                <a:latin typeface="Arial"/>
              </a:rPr>
              <a:t>A weapon is present: send help urgently</a:t>
            </a:r>
          </a:p>
        </p:txBody>
      </p:sp>
      <p:sp>
        <p:nvSpPr>
          <p:cNvPr id="128" name="Rounded Rectangle 127"/>
          <p:cNvSpPr/>
          <p:nvPr/>
        </p:nvSpPr>
        <p:spPr>
          <a:xfrm>
            <a:off x="5655564" y="3479292"/>
            <a:ext cx="1234440" cy="237744"/>
          </a:xfrm>
          <a:prstGeom prst="roundRect">
            <a:avLst>
              <a:gd name="adj" fmla="val 20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r>
              <a:rPr sz="650" b="0" i="0">
                <a:solidFill>
                  <a:srgbClr val="1A1A1A"/>
                </a:solidFill>
                <a:latin typeface="Arial"/>
              </a:rPr>
              <a:t>+ Add a photo</a:t>
            </a:r>
          </a:p>
        </p:txBody>
      </p:sp>
      <p:sp>
        <p:nvSpPr>
          <p:cNvPr id="129" name="Rounded Rectangle 128"/>
          <p:cNvSpPr/>
          <p:nvPr/>
        </p:nvSpPr>
        <p:spPr>
          <a:xfrm>
            <a:off x="5655564" y="3963924"/>
            <a:ext cx="1234440" cy="256032"/>
          </a:xfrm>
          <a:prstGeom prst="roundRect">
            <a:avLst>
              <a:gd name="adj" fmla="val 25000"/>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wrap="square" lIns="27432" tIns="27432" rIns="27432" bIns="27432" rtlCol="0" anchor="ctr"/>
          <a:lstStyle/>
          <a:p>
            <a:pPr algn="ctr"/>
            <a:r>
              <a:rPr sz="700" b="1" i="0">
                <a:solidFill>
                  <a:srgbClr val="FFFFFF"/>
                </a:solidFill>
                <a:latin typeface="Arial"/>
              </a:rPr>
              <a:t>Save instructions</a:t>
            </a:r>
          </a:p>
        </p:txBody>
      </p:sp>
      <p:sp>
        <p:nvSpPr>
          <p:cNvPr id="130" name="Rounded Rectangle 129"/>
          <p:cNvSpPr/>
          <p:nvPr/>
        </p:nvSpPr>
        <p:spPr>
          <a:xfrm>
            <a:off x="7260336" y="1325880"/>
            <a:ext cx="1463040" cy="3035808"/>
          </a:xfrm>
          <a:prstGeom prst="roundRect">
            <a:avLst>
              <a:gd name="adj" fmla="val 12000"/>
            </a:avLst>
          </a:prstGeom>
          <a:solidFill>
            <a:srgbClr val="2021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1" name="Rounded Rectangle 130"/>
          <p:cNvSpPr/>
          <p:nvPr/>
        </p:nvSpPr>
        <p:spPr>
          <a:xfrm>
            <a:off x="7310628" y="1376172"/>
            <a:ext cx="1362456" cy="2935224"/>
          </a:xfrm>
          <a:prstGeom prst="roundRect">
            <a:avLst>
              <a:gd name="adj" fmla="val 9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2" name="TextBox 131"/>
          <p:cNvSpPr txBox="1"/>
          <p:nvPr/>
        </p:nvSpPr>
        <p:spPr>
          <a:xfrm>
            <a:off x="7310628" y="3927348"/>
            <a:ext cx="1362456" cy="274320"/>
          </a:xfrm>
          <a:prstGeom prst="rect">
            <a:avLst/>
          </a:prstGeom>
          <a:noFill/>
        </p:spPr>
        <p:txBody>
          <a:bodyPr wrap="square" lIns="0" tIns="0" rIns="0" bIns="0" anchor="t"/>
          <a:lstStyle/>
          <a:p>
            <a:pPr algn="ctr"/>
            <a:r>
              <a:rPr sz="600" b="0" i="0">
                <a:solidFill>
                  <a:srgbClr val="3A3A3A"/>
                </a:solidFill>
                <a:latin typeface="Arial"/>
              </a:rPr>
              <a:t>(three quick taps anywhere to exit)</a:t>
            </a:r>
          </a:p>
        </p:txBody>
      </p:sp>
      <p:sp>
        <p:nvSpPr>
          <p:cNvPr id="133" name="TextBox 132"/>
          <p:cNvSpPr txBox="1"/>
          <p:nvPr/>
        </p:nvSpPr>
        <p:spPr>
          <a:xfrm>
            <a:off x="338328" y="4416551"/>
            <a:ext cx="1554480" cy="457200"/>
          </a:xfrm>
          <a:prstGeom prst="rect">
            <a:avLst/>
          </a:prstGeom>
          <a:noFill/>
        </p:spPr>
        <p:txBody>
          <a:bodyPr wrap="square" lIns="0" tIns="0" rIns="0" bIns="0" anchor="t"/>
          <a:lstStyle/>
          <a:p>
            <a:pPr algn="ctr"/>
            <a:r>
              <a:rPr sz="850" b="1" i="0">
                <a:solidFill>
                  <a:srgbClr val="1A1A1A"/>
                </a:solidFill>
                <a:latin typeface="Arial"/>
              </a:rPr>
              <a:t>Home</a:t>
            </a:r>
          </a:p>
          <a:p>
            <a:pPr algn="ctr"/>
            <a:r>
              <a:rPr sz="750" b="0" i="0">
                <a:solidFill>
                  <a:srgbClr val="5F6368"/>
                </a:solidFill>
                <a:latin typeface="Arial"/>
              </a:rPr>
              <a:t>Looks like any delivery app. The heart hides the SOS.</a:t>
            </a:r>
          </a:p>
        </p:txBody>
      </p:sp>
      <p:sp>
        <p:nvSpPr>
          <p:cNvPr id="134" name="TextBox 133"/>
          <p:cNvSpPr txBox="1"/>
          <p:nvPr/>
        </p:nvSpPr>
        <p:spPr>
          <a:xfrm>
            <a:off x="2057400" y="4416551"/>
            <a:ext cx="1554480" cy="457200"/>
          </a:xfrm>
          <a:prstGeom prst="rect">
            <a:avLst/>
          </a:prstGeom>
          <a:noFill/>
        </p:spPr>
        <p:txBody>
          <a:bodyPr wrap="square" lIns="0" tIns="0" rIns="0" bIns="0" anchor="t"/>
          <a:lstStyle/>
          <a:p>
            <a:pPr algn="ctr"/>
            <a:r>
              <a:rPr sz="850" b="1" i="0">
                <a:solidFill>
                  <a:srgbClr val="1A1A1A"/>
                </a:solidFill>
                <a:latin typeface="Arial"/>
              </a:rPr>
              <a:t>Item sheet</a:t>
            </a:r>
          </a:p>
          <a:p>
            <a:pPr algn="ctr"/>
            <a:r>
              <a:rPr sz="750" b="0" i="0">
                <a:solidFill>
                  <a:srgbClr val="5F6368"/>
                </a:solidFill>
                <a:latin typeface="Arial"/>
              </a:rPr>
              <a:t>Long-press a coded item to see what it really means.</a:t>
            </a:r>
          </a:p>
        </p:txBody>
      </p:sp>
      <p:sp>
        <p:nvSpPr>
          <p:cNvPr id="135" name="TextBox 134"/>
          <p:cNvSpPr txBox="1"/>
          <p:nvPr/>
        </p:nvSpPr>
        <p:spPr>
          <a:xfrm>
            <a:off x="3776472" y="4416551"/>
            <a:ext cx="1554480" cy="457200"/>
          </a:xfrm>
          <a:prstGeom prst="rect">
            <a:avLst/>
          </a:prstGeom>
          <a:noFill/>
        </p:spPr>
        <p:txBody>
          <a:bodyPr wrap="square" lIns="0" tIns="0" rIns="0" bIns="0" anchor="t"/>
          <a:lstStyle/>
          <a:p>
            <a:pPr algn="ctr"/>
            <a:r>
              <a:rPr sz="850" b="1" i="0">
                <a:solidFill>
                  <a:srgbClr val="1A1A1A"/>
                </a:solidFill>
                <a:latin typeface="Arial"/>
              </a:rPr>
              <a:t>Call to order (mock)</a:t>
            </a:r>
          </a:p>
          <a:p>
            <a:pPr algn="ctr"/>
            <a:r>
              <a:rPr sz="750" b="0" i="0">
                <a:solidFill>
                  <a:srgbClr val="5F6368"/>
                </a:solidFill>
                <a:latin typeface="Arial"/>
              </a:rPr>
              <a:t>Mia speaks every code’s meaning with it.</a:t>
            </a:r>
          </a:p>
        </p:txBody>
      </p:sp>
      <p:sp>
        <p:nvSpPr>
          <p:cNvPr id="136" name="TextBox 135"/>
          <p:cNvSpPr txBox="1"/>
          <p:nvPr/>
        </p:nvSpPr>
        <p:spPr>
          <a:xfrm>
            <a:off x="5495544" y="4416551"/>
            <a:ext cx="1554480" cy="457200"/>
          </a:xfrm>
          <a:prstGeom prst="rect">
            <a:avLst/>
          </a:prstGeom>
          <a:noFill/>
        </p:spPr>
        <p:txBody>
          <a:bodyPr wrap="square" lIns="0" tIns="0" rIns="0" bIns="0" anchor="t"/>
          <a:lstStyle/>
          <a:p>
            <a:pPr algn="ctr"/>
            <a:r>
              <a:rPr sz="850" b="1" i="0">
                <a:solidFill>
                  <a:srgbClr val="1A1A1A"/>
                </a:solidFill>
                <a:latin typeface="Arial"/>
              </a:rPr>
              <a:t>Delivery instructions (mock)</a:t>
            </a:r>
          </a:p>
          <a:p>
            <a:pPr algn="ctr"/>
            <a:r>
              <a:rPr sz="750" b="0" i="0">
                <a:solidFill>
                  <a:srgbClr val="5F6368"/>
                </a:solidFill>
                <a:latin typeface="Arial"/>
              </a:rPr>
              <a:t>No sound needed: long-press reveals meaning.</a:t>
            </a:r>
          </a:p>
        </p:txBody>
      </p:sp>
      <p:sp>
        <p:nvSpPr>
          <p:cNvPr id="137" name="TextBox 136"/>
          <p:cNvSpPr txBox="1"/>
          <p:nvPr/>
        </p:nvSpPr>
        <p:spPr>
          <a:xfrm>
            <a:off x="7214616" y="4416551"/>
            <a:ext cx="1554480" cy="457200"/>
          </a:xfrm>
          <a:prstGeom prst="rect">
            <a:avLst/>
          </a:prstGeom>
          <a:noFill/>
        </p:spPr>
        <p:txBody>
          <a:bodyPr wrap="square" lIns="0" tIns="0" rIns="0" bIns="0" anchor="t"/>
          <a:lstStyle/>
          <a:p>
            <a:pPr algn="ctr"/>
            <a:r>
              <a:rPr sz="850" b="1" i="0">
                <a:solidFill>
                  <a:srgbClr val="1A1A1A"/>
                </a:solidFill>
                <a:latin typeface="Arial"/>
              </a:rPr>
              <a:t>Silent SOS (mock)</a:t>
            </a:r>
          </a:p>
          <a:p>
            <a:pPr algn="ctr"/>
            <a:r>
              <a:rPr sz="750" b="0" i="0">
                <a:solidFill>
                  <a:srgbClr val="5F6368"/>
                </a:solidFill>
                <a:latin typeface="Arial"/>
              </a:rPr>
              <a:t>Screen looks off; cameras + AI observer run.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pic>
        <p:nvPicPr>
          <p:cNvPr id="108" name="Google Shape;108;p20" title="Frame 144.png"/>
          <p:cNvPicPr preferRelativeResize="0"/>
          <p:nvPr/>
        </p:nvPicPr>
        <p:blipFill rotWithShape="1">
          <a:blip r:embed="rId4">
            <a:alphaModFix/>
          </a:blip>
          <a:srcRect b="98001"/>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5">
            <a:alphaModFix/>
          </a:blip>
          <a:stretch>
            <a:fillRect/>
          </a:stretch>
        </p:blipFill>
        <p:spPr>
          <a:xfrm>
            <a:off x="0" y="3649"/>
            <a:ext cx="9144000" cy="500062"/>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1" name="Google Shape;111;p20"/>
          <p:cNvSpPr txBox="1"/>
          <p:nvPr/>
        </p:nvSpPr>
        <p:spPr>
          <a:xfrm>
            <a:off x="265350" y="603504"/>
            <a:ext cx="8943000" cy="384048"/>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latin typeface="Google Sans Flex Medium"/>
                <a:ea typeface="Google Sans Flex Medium"/>
                <a:cs typeface="Google Sans Flex Medium"/>
                <a:sym typeface="Google Sans Flex Medium"/>
              </a:rPr>
              <a:t>Architecture diagram of the proposed solution</a:t>
            </a:r>
            <a:endParaRPr sz="1600">
              <a:latin typeface="Google Sans Flex Medium"/>
              <a:ea typeface="Google Sans Flex Medium"/>
              <a:cs typeface="Google Sans Flex Medium"/>
              <a:sym typeface="Google Sans Flex Medium"/>
            </a:endParaRPr>
          </a:p>
        </p:txBody>
      </p:sp>
      <p:sp>
        <p:nvSpPr>
          <p:cNvPr id="112" name="Takeaway"/>
          <p:cNvSpPr txBox="1"/>
          <p:nvPr/>
        </p:nvSpPr>
        <p:spPr>
          <a:xfrm>
            <a:off x="365760" y="969264"/>
            <a:ext cx="8412480" cy="292608"/>
          </a:xfrm>
          <a:prstGeom prst="rect">
            <a:avLst/>
          </a:prstGeom>
          <a:noFill/>
        </p:spPr>
        <p:txBody>
          <a:bodyPr wrap="square" lIns="0" tIns="0" rIns="0" bIns="0" anchor="t"/>
          <a:lstStyle/>
          <a:p>
            <a:pPr algn="l"/>
            <a:r>
              <a:rPr sz="1300" b="1" i="0">
                <a:solidFill>
                  <a:srgbClr val="E8590C"/>
                </a:solidFill>
                <a:latin typeface="Arial"/>
              </a:rPr>
              <a:t>Firebase backend: the phone, Gemini and Firestore do all the work</a:t>
            </a:r>
          </a:p>
        </p:txBody>
      </p:sp>
      <p:sp>
        <p:nvSpPr>
          <p:cNvPr id="300" name="Header: caller"/>
          <p:cNvSpPr txBox="1"/>
          <p:nvPr/>
        </p:nvSpPr>
        <p:spPr>
          <a:xfrm>
            <a:off x="365760" y="1325880"/>
            <a:ext cx="1783080" cy="164592"/>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800" b="1" i="0" dirty="0" spc="60">
                <a:solidFill>
                  <a:srgbClr val="E8590C"/>
                </a:solidFill>
                <a:latin typeface="Arial"/>
                <a:cs typeface="Arial"/>
              </a:rPr>
              <a:t>CALLER'S PHONE</a:t>
            </a:r>
          </a:p>
        </p:txBody>
      </p:sp>
      <p:sp>
        <p:nvSpPr>
          <p:cNvPr id="301" name="Header: Gemini"/>
          <p:cNvSpPr txBox="1"/>
          <p:nvPr/>
        </p:nvSpPr>
        <p:spPr>
          <a:xfrm>
            <a:off x="2926080" y="1325880"/>
            <a:ext cx="1645920" cy="164592"/>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800" b="1" i="0" dirty="0" spc="60">
                <a:solidFill>
                  <a:srgbClr val="1A73E8"/>
                </a:solidFill>
                <a:latin typeface="Arial"/>
                <a:cs typeface="Arial"/>
              </a:rPr>
              <a:t>GEMINI API</a:t>
            </a:r>
          </a:p>
        </p:txBody>
      </p:sp>
      <p:sp>
        <p:nvSpPr>
          <p:cNvPr id="302" name="Header: Firebase"/>
          <p:cNvSpPr txBox="1"/>
          <p:nvPr/>
        </p:nvSpPr>
        <p:spPr>
          <a:xfrm>
            <a:off x="4846320" y="1325880"/>
            <a:ext cx="1645920" cy="164592"/>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800" b="1" i="0" dirty="0" spc="60">
                <a:solidFill>
                  <a:srgbClr val="5F6368"/>
                </a:solidFill>
                <a:latin typeface="Arial"/>
                <a:cs typeface="Arial"/>
              </a:rPr>
              <a:t>REALTIME DATA</a:t>
            </a:r>
          </a:p>
        </p:txBody>
      </p:sp>
      <p:sp>
        <p:nvSpPr>
          <p:cNvPr id="303" name="Header: responders"/>
          <p:cNvSpPr txBox="1"/>
          <p:nvPr/>
        </p:nvSpPr>
        <p:spPr>
          <a:xfrm>
            <a:off x="7132320" y="1325880"/>
            <a:ext cx="1645920" cy="164592"/>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800" b="1" i="0" dirty="0" spc="60">
                <a:solidFill>
                  <a:srgbClr val="2F9E44"/>
                </a:solidFill>
                <a:latin typeface="Arial"/>
                <a:cs typeface="Arial"/>
              </a:rPr>
              <a:t>RESPONDERS</a:t>
            </a:r>
          </a:p>
        </p:txBody>
      </p:sp>
      <p:sp>
        <p:nvSpPr>
          <p:cNvPr id="304" name="QuickBite web app"/>
          <p:cNvSpPr/>
          <p:nvPr/>
        </p:nvSpPr>
        <p:spPr>
          <a:xfrm>
            <a:off x="365760" y="1536192"/>
            <a:ext cx="1783080" cy="640080"/>
          </a:xfrm>
          <a:prstGeom prst="roundRect">
            <a:avLst>
              <a:gd name="adj" fmla="val 8571"/>
            </a:avLst>
          </a:prstGeom>
          <a:solidFill>
            <a:srgbClr val="FDEBDF"/>
          </a:solidFill>
          <a:ln>
            <a:noFill/>
          </a:ln>
        </p:spPr>
        <p:txBody>
          <a:bodyPr wrap="square" lIns="73152" tIns="54864" rIns="73152" bIns="36576" rtlCol="0" anchor="t">
            <a:noAutofit/>
          </a:bodyPr>
          <a:lstStyle/>
          <a:p>
            <a:pPr marL="0" indent="0" algn="l">
              <a:lnSpc>
                <a:spcPct val="100000"/>
              </a:lnSpc>
              <a:spcBef>
                <a:spcPts val="0"/>
              </a:spcBef>
              <a:spcAft>
                <a:spcPts val="0"/>
              </a:spcAft>
              <a:buNone/>
            </a:pPr>
            <a:r>
              <a:rPr lang="en-US" sz="950" b="1" i="0" dirty="0">
                <a:solidFill>
                  <a:srgbClr val="1A1A1A"/>
                </a:solidFill>
                <a:latin typeface="Arial"/>
                <a:cs typeface="Arial"/>
              </a:rPr>
              <a:t>QuickBite web app</a:t>
            </a:r>
          </a:p>
          <a:p>
            <a:pPr marL="0" indent="0" algn="l">
              <a:lnSpc>
                <a:spcPct val="100000"/>
              </a:lnSpc>
              <a:spcBef>
                <a:spcPts val="200"/>
              </a:spcBef>
              <a:spcAft>
                <a:spcPts val="0"/>
              </a:spcAft>
              <a:buNone/>
            </a:pPr>
            <a:r>
              <a:rPr lang="en-US" sz="750" b="0" i="0" dirty="0">
                <a:solidFill>
                  <a:srgbClr val="5F6368"/>
                </a:solidFill>
                <a:latin typeface="Arial"/>
                <a:cs typeface="Arial"/>
              </a:rPr>
              <a:t>React + Vite · Firebase Hosting</a:t>
            </a:r>
          </a:p>
          <a:p>
            <a:pPr marL="0" indent="0" algn="l">
              <a:lnSpc>
                <a:spcPct val="100000"/>
              </a:lnSpc>
              <a:spcBef>
                <a:spcPts val="0"/>
              </a:spcBef>
              <a:spcAft>
                <a:spcPts val="0"/>
              </a:spcAft>
              <a:buNone/>
            </a:pPr>
            <a:r>
              <a:rPr lang="en-US" sz="750" b="0" i="0" dirty="0">
                <a:solidFill>
                  <a:srgbClr val="5F6368"/>
                </a:solidFill>
                <a:latin typeface="Arial"/>
                <a:cs typeface="Arial"/>
              </a:rPr>
              <a:t>Opens in the phone browser,</a:t>
            </a:r>
          </a:p>
          <a:p>
            <a:pPr marL="0" indent="0" algn="l">
              <a:lnSpc>
                <a:spcPct val="100000"/>
              </a:lnSpc>
              <a:spcBef>
                <a:spcPts val="0"/>
              </a:spcBef>
              <a:spcAft>
                <a:spcPts val="0"/>
              </a:spcAft>
              <a:buNone/>
            </a:pPr>
            <a:r>
              <a:rPr lang="en-US" sz="750" b="0" i="0" dirty="0">
                <a:solidFill>
                  <a:srgbClr val="5F6368"/>
                </a:solidFill>
                <a:latin typeface="Arial"/>
                <a:cs typeface="Arial"/>
              </a:rPr>
              <a:t>nothing to install</a:t>
            </a:r>
          </a:p>
        </p:txBody>
      </p:sp>
      <p:sp>
        <p:nvSpPr>
          <p:cNvPr id="305" name="Four hidden ways in"/>
          <p:cNvSpPr/>
          <p:nvPr/>
        </p:nvSpPr>
        <p:spPr>
          <a:xfrm>
            <a:off x="365760" y="2231136"/>
            <a:ext cx="1783080" cy="512064"/>
          </a:xfrm>
          <a:prstGeom prst="roundRect">
            <a:avLst>
              <a:gd name="adj" fmla="val 10714"/>
            </a:avLst>
          </a:prstGeom>
          <a:solidFill>
            <a:srgbClr val="FDEBDF"/>
          </a:solidFill>
          <a:ln>
            <a:noFill/>
          </a:ln>
        </p:spPr>
        <p:txBody>
          <a:bodyPr wrap="square" lIns="73152" tIns="54864" rIns="73152" bIns="36576" rtlCol="0" anchor="t">
            <a:noAutofit/>
          </a:bodyPr>
          <a:lstStyle/>
          <a:p>
            <a:pPr marL="0" indent="0" algn="l">
              <a:lnSpc>
                <a:spcPct val="100000"/>
              </a:lnSpc>
              <a:spcBef>
                <a:spcPts val="0"/>
              </a:spcBef>
              <a:spcAft>
                <a:spcPts val="0"/>
              </a:spcAft>
              <a:buNone/>
            </a:pPr>
            <a:r>
              <a:rPr lang="en-US" sz="850" b="1" i="0" dirty="0">
                <a:solidFill>
                  <a:srgbClr val="1A1A1A"/>
                </a:solidFill>
                <a:latin typeface="Arial"/>
                <a:cs typeface="Arial"/>
              </a:rPr>
              <a:t>Four hidden ways in</a:t>
            </a:r>
          </a:p>
          <a:p>
            <a:pPr marL="0" indent="0" algn="l">
              <a:lnSpc>
                <a:spcPct val="100000"/>
              </a:lnSpc>
              <a:spcBef>
                <a:spcPts val="200"/>
              </a:spcBef>
              <a:spcAft>
                <a:spcPts val="0"/>
              </a:spcAft>
              <a:buNone/>
            </a:pPr>
            <a:r>
              <a:rPr lang="en-US" sz="750" b="0" i="0" dirty="0">
                <a:solidFill>
                  <a:srgbClr val="1A1A1A"/>
                </a:solidFill>
                <a:latin typeface="Arial"/>
                <a:cs typeface="Arial"/>
              </a:rPr>
              <a:t>Call to order · Click &amp; order</a:t>
            </a:r>
          </a:p>
          <a:p>
            <a:pPr marL="0" indent="0" algn="l">
              <a:lnSpc>
                <a:spcPct val="100000"/>
              </a:lnSpc>
              <a:spcBef>
                <a:spcPts val="0"/>
              </a:spcBef>
              <a:spcAft>
                <a:spcPts val="0"/>
              </a:spcAft>
              <a:buNone/>
            </a:pPr>
            <a:r>
              <a:rPr lang="en-US" sz="750" b="0" i="0" dirty="0">
                <a:solidFill>
                  <a:srgbClr val="1A1A1A"/>
                </a:solidFill>
                <a:latin typeface="Arial"/>
                <a:cs typeface="Arial"/>
              </a:rPr>
              <a:t>Delivery instructions · Heart SOS</a:t>
            </a:r>
          </a:p>
        </p:txBody>
      </p:sp>
      <p:sp>
        <p:nvSpPr>
          <p:cNvPr id="306" name="Phone runs every tool call"/>
          <p:cNvSpPr/>
          <p:nvPr/>
        </p:nvSpPr>
        <p:spPr>
          <a:xfrm>
            <a:off x="365760" y="2798064"/>
            <a:ext cx="1783080" cy="512064"/>
          </a:xfrm>
          <a:prstGeom prst="roundRect">
            <a:avLst>
              <a:gd name="adj" fmla="val 10714"/>
            </a:avLst>
          </a:prstGeom>
          <a:solidFill>
            <a:srgbClr val="FDEBDF"/>
          </a:solidFill>
          <a:ln>
            <a:noFill/>
          </a:ln>
        </p:spPr>
        <p:txBody>
          <a:bodyPr wrap="square" lIns="73152" tIns="54864" rIns="73152" bIns="36576" rtlCol="0" anchor="t">
            <a:noAutofit/>
          </a:bodyPr>
          <a:lstStyle/>
          <a:p>
            <a:pPr marL="0" indent="0" algn="l">
              <a:lnSpc>
                <a:spcPct val="100000"/>
              </a:lnSpc>
              <a:spcBef>
                <a:spcPts val="0"/>
              </a:spcBef>
              <a:spcAft>
                <a:spcPts val="0"/>
              </a:spcAft>
              <a:buNone/>
            </a:pPr>
            <a:r>
              <a:rPr lang="en-US" sz="850" b="1" i="0" dirty="0">
                <a:solidFill>
                  <a:srgbClr val="1A1A1A"/>
                </a:solidFill>
                <a:latin typeface="Arial"/>
                <a:cs typeface="Arial"/>
              </a:rPr>
              <a:t>Every tool call runs here</a:t>
            </a:r>
          </a:p>
          <a:p>
            <a:pPr marL="0" indent="0" algn="l">
              <a:lnSpc>
                <a:spcPct val="100000"/>
              </a:lnSpc>
              <a:spcBef>
                <a:spcPts val="200"/>
              </a:spcBef>
              <a:spcAft>
                <a:spcPts val="0"/>
              </a:spcAft>
              <a:buNone/>
            </a:pPr>
            <a:r>
              <a:rPr lang="en-US" sz="750" b="0" i="0" dirty="0">
                <a:solidFill>
                  <a:srgbClr val="5F6368"/>
                </a:solidFill>
                <a:latin typeface="Arial"/>
                <a:cs typeface="Arial"/>
              </a:rPr>
              <a:t>severity rules · geocode · route</a:t>
            </a:r>
          </a:p>
          <a:p>
            <a:pPr marL="0" indent="0" algn="l">
              <a:lnSpc>
                <a:spcPct val="100000"/>
              </a:lnSpc>
              <a:spcBef>
                <a:spcPts val="0"/>
              </a:spcBef>
              <a:spcAft>
                <a:spcPts val="0"/>
              </a:spcAft>
              <a:buNone/>
            </a:pPr>
            <a:r>
              <a:rPr lang="en-US" sz="750" b="0" i="0" dirty="0">
                <a:solidFill>
                  <a:srgbClr val="5F6368"/>
                </a:solidFill>
                <a:latin typeface="Arial"/>
                <a:cs typeface="Arial"/>
              </a:rPr>
              <a:t>WebRTC · recorders · key pool</a:t>
            </a:r>
          </a:p>
        </p:txBody>
      </p:sp>
      <p:sp>
        <p:nvSpPr>
          <p:cNvPr id="307" name="Gemini API container"/>
          <p:cNvSpPr/>
          <p:nvPr/>
        </p:nvSpPr>
        <p:spPr>
          <a:xfrm>
            <a:off x="2926080" y="1536192"/>
            <a:ext cx="1645920" cy="1773936"/>
          </a:xfrm>
          <a:prstGeom prst="roundRect">
            <a:avLst>
              <a:gd name="adj" fmla="val 4444"/>
            </a:avLst>
          </a:prstGeom>
          <a:solidFill>
            <a:srgbClr val="E8F0FE"/>
          </a:solidFill>
          <a:ln>
            <a:noFill/>
          </a:ln>
        </p:spPr>
        <p:txBody>
          <a:bodyPr wrap="square" lIns="73152" tIns="54864" rIns="73152" bIns="36576" rtlCol="0" anchor="t">
            <a:noAutofit/>
          </a:bodyPr>
          <a:lstStyle/>
          <a:p>
            <a:endParaRPr lang="en-US" sz="700" dirty="0"/>
          </a:p>
        </p:txBody>
      </p:sp>
      <p:sp>
        <p:nvSpPr>
          <p:cNvPr id="308" name="gemini-3.8-live"/>
          <p:cNvSpPr/>
          <p:nvPr/>
        </p:nvSpPr>
        <p:spPr>
          <a:xfrm>
            <a:off x="2990088" y="1600200"/>
            <a:ext cx="1517904" cy="713232"/>
          </a:xfrm>
          <a:prstGeom prst="roundRect">
            <a:avLst>
              <a:gd name="adj" fmla="val 7692"/>
            </a:avLst>
          </a:prstGeom>
          <a:solidFill>
            <a:srgbClr val="FFFFFF"/>
          </a:solidFill>
          <a:ln>
            <a:noFill/>
          </a:ln>
        </p:spPr>
        <p:txBody>
          <a:bodyPr wrap="square" lIns="73152" tIns="54864" rIns="73152" bIns="36576" rtlCol="0" anchor="t">
            <a:noAutofit/>
          </a:bodyPr>
          <a:lstStyle/>
          <a:p>
            <a:pPr marL="0" indent="0" algn="l">
              <a:lnSpc>
                <a:spcPct val="100000"/>
              </a:lnSpc>
              <a:spcBef>
                <a:spcPts val="0"/>
              </a:spcBef>
              <a:spcAft>
                <a:spcPts val="0"/>
              </a:spcAft>
              <a:buNone/>
            </a:pPr>
            <a:r>
              <a:rPr lang="en-US" sz="900" b="1" i="0" dirty="0">
                <a:solidFill>
                  <a:srgbClr val="1A73E8"/>
                </a:solidFill>
                <a:latin typeface="Arial"/>
                <a:cs typeface="Arial"/>
              </a:rPr>
              <a:t>gemini-3.8-live</a:t>
            </a:r>
          </a:p>
          <a:p>
            <a:pPr marL="0" indent="0" algn="l">
              <a:lnSpc>
                <a:spcPct val="100000"/>
              </a:lnSpc>
              <a:spcBef>
                <a:spcPts val="200"/>
              </a:spcBef>
              <a:spcAft>
                <a:spcPts val="0"/>
              </a:spcAft>
              <a:buNone/>
            </a:pPr>
            <a:r>
              <a:rPr lang="en-US" sz="750" b="0" i="0" dirty="0">
                <a:solidFill>
                  <a:srgbClr val="1A1A1A"/>
                </a:solidFill>
                <a:latin typeface="Arial"/>
                <a:cs typeface="Arial"/>
              </a:rPr>
              <a:t>Mia, the live voice agent:</a:t>
            </a:r>
          </a:p>
          <a:p>
            <a:pPr marL="0" indent="0" algn="l">
              <a:lnSpc>
                <a:spcPct val="100000"/>
              </a:lnSpc>
              <a:spcBef>
                <a:spcPts val="0"/>
              </a:spcBef>
              <a:spcAft>
                <a:spcPts val="0"/>
              </a:spcAft>
              <a:buNone/>
            </a:pPr>
            <a:r>
              <a:rPr lang="en-US" sz="750" b="0" i="0" dirty="0">
                <a:solidFill>
                  <a:srgbClr val="1A1A1A"/>
                </a:solidFill>
                <a:latin typeface="Arial"/>
                <a:cs typeface="Arial"/>
              </a:rPr>
              <a:t>hears, sees, calls 12 tools</a:t>
            </a:r>
          </a:p>
          <a:p>
            <a:pPr marL="0" indent="0" algn="l">
              <a:lnSpc>
                <a:spcPct val="100000"/>
              </a:lnSpc>
              <a:spcBef>
                <a:spcPts val="0"/>
              </a:spcBef>
              <a:spcAft>
                <a:spcPts val="0"/>
              </a:spcAft>
              <a:buNone/>
            </a:pPr>
            <a:r>
              <a:rPr lang="en-US" sz="750" b="0" i="0" dirty="0">
                <a:solidFill>
                  <a:srgbClr val="1A1A1A"/>
                </a:solidFill>
                <a:latin typeface="Arial"/>
                <a:cs typeface="Arial"/>
              </a:rPr>
              <a:t>+ the silent SOS observer</a:t>
            </a:r>
          </a:p>
        </p:txBody>
      </p:sp>
      <p:sp>
        <p:nvSpPr>
          <p:cNvPr id="309" name="gemini-3.5-flash-lite"/>
          <p:cNvSpPr/>
          <p:nvPr/>
        </p:nvSpPr>
        <p:spPr>
          <a:xfrm>
            <a:off x="2990088" y="2377440"/>
            <a:ext cx="1517904" cy="402336"/>
          </a:xfrm>
          <a:prstGeom prst="roundRect">
            <a:avLst>
              <a:gd name="adj" fmla="val 13636"/>
            </a:avLst>
          </a:prstGeom>
          <a:solidFill>
            <a:srgbClr val="FFFFFF"/>
          </a:solidFill>
          <a:ln>
            <a:noFill/>
          </a:ln>
        </p:spPr>
        <p:txBody>
          <a:bodyPr wrap="square" lIns="73152" tIns="54864" rIns="73152" bIns="36576" rtlCol="0" anchor="t">
            <a:noAutofit/>
          </a:bodyPr>
          <a:lstStyle/>
          <a:p>
            <a:pPr marL="0" indent="0" algn="l">
              <a:lnSpc>
                <a:spcPct val="100000"/>
              </a:lnSpc>
              <a:spcBef>
                <a:spcPts val="0"/>
              </a:spcBef>
              <a:spcAft>
                <a:spcPts val="0"/>
              </a:spcAft>
              <a:buNone/>
            </a:pPr>
            <a:r>
              <a:rPr lang="en-US" sz="850" b="1" i="0" dirty="0">
                <a:solidFill>
                  <a:srgbClr val="1A73E8"/>
                </a:solidFill>
                <a:latin typeface="Arial"/>
                <a:cs typeface="Arial"/>
              </a:rPr>
              <a:t>gemini-3.5-flash-lite</a:t>
            </a:r>
          </a:p>
          <a:p>
            <a:pPr marL="0" indent="0" algn="l">
              <a:lnSpc>
                <a:spcPct val="100000"/>
              </a:lnSpc>
              <a:spcBef>
                <a:spcPts val="200"/>
              </a:spcBef>
              <a:spcAft>
                <a:spcPts val="0"/>
              </a:spcAft>
              <a:buNone/>
            </a:pPr>
            <a:r>
              <a:rPr lang="en-US" sz="750" b="0" i="0" dirty="0">
                <a:solidFill>
                  <a:srgbClr val="1A1A1A"/>
                </a:solidFill>
                <a:latin typeface="Arial"/>
                <a:cs typeface="Arial"/>
              </a:rPr>
              <a:t>summary, bulletin, redaction</a:t>
            </a:r>
          </a:p>
        </p:txBody>
      </p:sp>
      <p:sp>
        <p:nvSpPr>
          <p:cNvPr id="310" name="gemini-3.1-flash-lite"/>
          <p:cNvSpPr/>
          <p:nvPr/>
        </p:nvSpPr>
        <p:spPr>
          <a:xfrm>
            <a:off x="2990088" y="2843784"/>
            <a:ext cx="1517904" cy="402336"/>
          </a:xfrm>
          <a:prstGeom prst="roundRect">
            <a:avLst>
              <a:gd name="adj" fmla="val 13636"/>
            </a:avLst>
          </a:prstGeom>
          <a:solidFill>
            <a:srgbClr val="FFFFFF"/>
          </a:solidFill>
          <a:ln>
            <a:noFill/>
          </a:ln>
        </p:spPr>
        <p:txBody>
          <a:bodyPr wrap="square" lIns="73152" tIns="54864" rIns="73152" bIns="36576" rtlCol="0" anchor="t">
            <a:noAutofit/>
          </a:bodyPr>
          <a:lstStyle/>
          <a:p>
            <a:pPr marL="0" indent="0" algn="l">
              <a:lnSpc>
                <a:spcPct val="100000"/>
              </a:lnSpc>
              <a:spcBef>
                <a:spcPts val="0"/>
              </a:spcBef>
              <a:spcAft>
                <a:spcPts val="0"/>
              </a:spcAft>
              <a:buNone/>
            </a:pPr>
            <a:r>
              <a:rPr lang="en-US" sz="850" b="1" i="0" dirty="0">
                <a:solidFill>
                  <a:srgbClr val="1A73E8"/>
                </a:solidFill>
                <a:latin typeface="Arial"/>
                <a:cs typeface="Arial"/>
              </a:rPr>
              <a:t>gemini-3.1-flash-lite</a:t>
            </a:r>
          </a:p>
          <a:p>
            <a:pPr marL="0" indent="0" algn="l">
              <a:lnSpc>
                <a:spcPct val="100000"/>
              </a:lnSpc>
              <a:spcBef>
                <a:spcPts val="200"/>
              </a:spcBef>
              <a:spcAft>
                <a:spcPts val="0"/>
              </a:spcAft>
              <a:buNone/>
            </a:pPr>
            <a:r>
              <a:rPr lang="en-US" sz="750" b="0" i="0" dirty="0">
                <a:solidFill>
                  <a:srgbClr val="1A1A1A"/>
                </a:solidFill>
                <a:latin typeface="Arial"/>
                <a:cs typeface="Arial"/>
              </a:rPr>
              <a:t>vision, case linking, console AI</a:t>
            </a:r>
          </a:p>
        </p:txBody>
      </p:sp>
      <p:sp>
        <p:nvSpPr>
          <p:cNvPr id="311" name="Cloud Firestore"/>
          <p:cNvSpPr/>
          <p:nvPr/>
        </p:nvSpPr>
        <p:spPr>
          <a:xfrm>
            <a:off x="4846320" y="1536192"/>
            <a:ext cx="1645920" cy="1773936"/>
          </a:xfrm>
          <a:prstGeom prst="roundRect">
            <a:avLst>
              <a:gd name="adj" fmla="val 4444"/>
            </a:avLst>
          </a:prstGeom>
          <a:solidFill>
            <a:srgbClr val="F4F5F7"/>
          </a:solidFill>
          <a:ln w="9525">
            <a:solidFill>
              <a:srgbClr val="DADCE0"/>
            </a:solidFill>
            <a:round/>
          </a:ln>
        </p:spPr>
        <p:txBody>
          <a:bodyPr wrap="square" lIns="73152" tIns="54864" rIns="73152" bIns="36576" rtlCol="0" anchor="t">
            <a:noAutofit/>
          </a:bodyPr>
          <a:lstStyle/>
          <a:p>
            <a:pPr marL="0" indent="0" algn="l">
              <a:lnSpc>
                <a:spcPct val="100000"/>
              </a:lnSpc>
              <a:spcBef>
                <a:spcPts val="0"/>
              </a:spcBef>
              <a:spcAft>
                <a:spcPts val="0"/>
              </a:spcAft>
              <a:buNone/>
            </a:pPr>
            <a:r>
              <a:rPr lang="en-US" sz="950" b="1" i="0" dirty="0">
                <a:solidFill>
                  <a:srgbClr val="1A1A1A"/>
                </a:solidFill>
                <a:latin typeface="Arial"/>
                <a:cs typeface="Arial"/>
              </a:rPr>
              <a:t>Cloud Firestore</a:t>
            </a:r>
          </a:p>
          <a:p>
            <a:pPr marL="0" indent="0" algn="l">
              <a:lnSpc>
                <a:spcPct val="100000"/>
              </a:lnSpc>
              <a:spcBef>
                <a:spcPts val="200"/>
              </a:spcBef>
              <a:spcAft>
                <a:spcPts val="0"/>
              </a:spcAft>
              <a:buNone/>
            </a:pPr>
            <a:r>
              <a:rPr lang="en-US" sz="750" b="0" i="0" dirty="0">
                <a:solidFill>
                  <a:srgbClr val="5F6368"/>
                </a:solidFill>
                <a:latin typeface="Arial"/>
                <a:cs typeface="Arial"/>
              </a:rPr>
              <a:t>asia-south1 · one doc per incident</a:t>
            </a:r>
          </a:p>
          <a:p>
            <a:pPr marL="0" indent="0" algn="l">
              <a:lnSpc>
                <a:spcPct val="100000"/>
              </a:lnSpc>
              <a:spcBef>
                <a:spcPts val="400"/>
              </a:spcBef>
              <a:spcAft>
                <a:spcPts val="0"/>
              </a:spcAft>
              <a:buNone/>
            </a:pPr>
            <a:r>
              <a:rPr lang="en-US" sz="750" b="0" i="0" dirty="0">
                <a:solidFill>
                  <a:srgbClr val="1A1A1A"/>
                </a:solidFill>
                <a:latin typeface="Arial"/>
                <a:cs typeface="Arial"/>
              </a:rPr>
              <a:t>live fields · GPS trail · transcript</a:t>
            </a:r>
          </a:p>
          <a:p>
            <a:pPr marL="0" indent="0" algn="l">
              <a:lnSpc>
                <a:spcPct val="100000"/>
              </a:lnSpc>
              <a:spcBef>
                <a:spcPts val="0"/>
              </a:spcBef>
              <a:spcAft>
                <a:spcPts val="0"/>
              </a:spcAft>
              <a:buNone/>
            </a:pPr>
            <a:r>
              <a:rPr lang="en-US" sz="750" b="0" i="0" dirty="0">
                <a:solidFill>
                  <a:srgbClr val="1A1A1A"/>
                </a:solidFill>
                <a:latin typeface="Arial"/>
                <a:cs typeface="Arial"/>
              </a:rPr>
              <a:t>responder messages · snaps</a:t>
            </a:r>
          </a:p>
          <a:p>
            <a:pPr marL="0" indent="0" algn="l">
              <a:lnSpc>
                <a:spcPct val="100000"/>
              </a:lnSpc>
              <a:spcBef>
                <a:spcPts val="0"/>
              </a:spcBef>
              <a:spcAft>
                <a:spcPts val="0"/>
              </a:spcAft>
              <a:buNone/>
            </a:pPr>
            <a:r>
              <a:rPr lang="en-US" sz="750" b="0" i="0" dirty="0">
                <a:solidFill>
                  <a:srgbClr val="1A1A1A"/>
                </a:solidFill>
                <a:latin typeface="Arial"/>
                <a:cs typeface="Arial"/>
              </a:rPr>
              <a:t>WebRTC handshake</a:t>
            </a:r>
          </a:p>
          <a:p>
            <a:pPr marL="0" indent="0" algn="l">
              <a:lnSpc>
                <a:spcPct val="100000"/>
              </a:lnSpc>
              <a:spcBef>
                <a:spcPts val="400"/>
              </a:spcBef>
              <a:spcAft>
                <a:spcPts val="0"/>
              </a:spcAft>
              <a:buNone/>
            </a:pPr>
            <a:r>
              <a:rPr lang="en-US" sz="750" b="1" i="0" dirty="0">
                <a:solidFill>
                  <a:srgbClr val="2F9E44"/>
                </a:solidFill>
                <a:latin typeface="Arial"/>
                <a:cs typeface="Arial"/>
              </a:rPr>
              <a:t>Listeners sync data live</a:t>
            </a:r>
          </a:p>
        </p:txBody>
      </p:sp>
      <p:sp>
        <p:nvSpPr>
          <p:cNvPr id="312" name="Auth and security rules"/>
          <p:cNvSpPr/>
          <p:nvPr/>
        </p:nvSpPr>
        <p:spPr>
          <a:xfrm>
            <a:off x="4910328" y="2615184"/>
            <a:ext cx="1517904" cy="630936"/>
          </a:xfrm>
          <a:prstGeom prst="roundRect">
            <a:avLst>
              <a:gd name="adj" fmla="val 8696"/>
            </a:avLst>
          </a:prstGeom>
          <a:solidFill>
            <a:srgbClr val="FFFFFF"/>
          </a:solidFill>
          <a:ln w="9525">
            <a:solidFill>
              <a:srgbClr val="DADCE0"/>
            </a:solidFill>
            <a:round/>
          </a:ln>
        </p:spPr>
        <p:txBody>
          <a:bodyPr wrap="square" lIns="73152" tIns="54864" rIns="73152" bIns="36576" rtlCol="0" anchor="t">
            <a:noAutofit/>
          </a:bodyPr>
          <a:lstStyle/>
          <a:p>
            <a:pPr marL="0" indent="0" algn="l">
              <a:lnSpc>
                <a:spcPct val="100000"/>
              </a:lnSpc>
              <a:spcBef>
                <a:spcPts val="0"/>
              </a:spcBef>
              <a:spcAft>
                <a:spcPts val="0"/>
              </a:spcAft>
              <a:buNone/>
            </a:pPr>
            <a:r>
              <a:rPr lang="en-US" sz="850" b="1" i="0" dirty="0">
                <a:solidFill>
                  <a:srgbClr val="1A1A1A"/>
                </a:solidFill>
                <a:latin typeface="Arial"/>
                <a:cs typeface="Arial"/>
              </a:rPr>
              <a:t>Auth · security rules</a:t>
            </a:r>
          </a:p>
          <a:p>
            <a:pPr marL="0" indent="0" algn="l">
              <a:lnSpc>
                <a:spcPct val="100000"/>
              </a:lnSpc>
              <a:spcBef>
                <a:spcPts val="200"/>
              </a:spcBef>
              <a:spcAft>
                <a:spcPts val="0"/>
              </a:spcAft>
              <a:buNone/>
            </a:pPr>
            <a:r>
              <a:rPr lang="en-US" sz="750" b="0" i="0" dirty="0">
                <a:solidFill>
                  <a:srgbClr val="5F6368"/>
                </a:solidFill>
                <a:latin typeface="Arial"/>
                <a:cs typeface="Arial"/>
              </a:rPr>
              <a:t>callers: anonymous sign-in</a:t>
            </a:r>
          </a:p>
          <a:p>
            <a:pPr marL="0" indent="0" algn="l">
              <a:lnSpc>
                <a:spcPct val="100000"/>
              </a:lnSpc>
              <a:spcBef>
                <a:spcPts val="0"/>
              </a:spcBef>
              <a:spcAft>
                <a:spcPts val="0"/>
              </a:spcAft>
              <a:buNone/>
            </a:pPr>
            <a:r>
              <a:rPr lang="en-US" sz="750" b="0" i="0" dirty="0">
                <a:solidFill>
                  <a:srgbClr val="5F6368"/>
                </a:solidFill>
                <a:latin typeface="Arial"/>
                <a:cs typeface="Arial"/>
              </a:rPr>
              <a:t>responders: email + roles</a:t>
            </a:r>
          </a:p>
          <a:p>
            <a:pPr marL="0" indent="0" algn="l">
              <a:lnSpc>
                <a:spcPct val="100000"/>
              </a:lnSpc>
              <a:spcBef>
                <a:spcPts val="0"/>
              </a:spcBef>
              <a:spcAft>
                <a:spcPts val="0"/>
              </a:spcAft>
              <a:buNone/>
            </a:pPr>
            <a:r>
              <a:rPr lang="en-US" sz="750" b="0" i="0" dirty="0">
                <a:solidFill>
                  <a:srgbClr val="5F6368"/>
                </a:solidFill>
                <a:latin typeface="Arial"/>
                <a:cs typeface="Arial"/>
              </a:rPr>
              <a:t>every write schema-checked</a:t>
            </a:r>
          </a:p>
        </p:txBody>
      </p:sp>
      <p:sp>
        <p:nvSpPr>
          <p:cNvPr id="313" name="Responder console"/>
          <p:cNvSpPr/>
          <p:nvPr/>
        </p:nvSpPr>
        <p:spPr>
          <a:xfrm>
            <a:off x="7132320" y="1536192"/>
            <a:ext cx="1645920" cy="1773936"/>
          </a:xfrm>
          <a:prstGeom prst="roundRect">
            <a:avLst>
              <a:gd name="adj" fmla="val 4444"/>
            </a:avLst>
          </a:prstGeom>
          <a:solidFill>
            <a:srgbClr val="E3F4E6"/>
          </a:solidFill>
          <a:ln>
            <a:noFill/>
          </a:ln>
        </p:spPr>
        <p:txBody>
          <a:bodyPr wrap="square" lIns="73152" tIns="54864" rIns="73152" bIns="36576" rtlCol="0" anchor="t">
            <a:noAutofit/>
          </a:bodyPr>
          <a:lstStyle/>
          <a:p>
            <a:pPr marL="0" indent="0" algn="l">
              <a:lnSpc>
                <a:spcPct val="100000"/>
              </a:lnSpc>
              <a:spcBef>
                <a:spcPts val="0"/>
              </a:spcBef>
              <a:spcAft>
                <a:spcPts val="0"/>
              </a:spcAft>
              <a:buNone/>
            </a:pPr>
            <a:r>
              <a:rPr lang="en-US" sz="950" b="1" i="0" dirty="0">
                <a:solidFill>
                  <a:srgbClr val="1A1A1A"/>
                </a:solidFill>
                <a:latin typeface="Arial"/>
                <a:cs typeface="Arial"/>
              </a:rPr>
              <a:t>Responder console</a:t>
            </a:r>
          </a:p>
          <a:p>
            <a:pPr marL="0" indent="0" algn="l">
              <a:lnSpc>
                <a:spcPct val="100000"/>
              </a:lnSpc>
              <a:spcBef>
                <a:spcPts val="200"/>
              </a:spcBef>
              <a:spcAft>
                <a:spcPts val="0"/>
              </a:spcAft>
              <a:buNone/>
            </a:pPr>
            <a:r>
              <a:rPr lang="en-US" sz="750" b="0" i="0" dirty="0">
                <a:solidFill>
                  <a:srgbClr val="5F6368"/>
                </a:solidFill>
                <a:latin typeface="Arial"/>
                <a:cs typeface="Arial"/>
              </a:rPr>
              <a:t>React + Vite · sign-in only</a:t>
            </a:r>
          </a:p>
          <a:p>
            <a:pPr marL="0" indent="0" algn="l">
              <a:lnSpc>
                <a:spcPct val="100000"/>
              </a:lnSpc>
              <a:spcBef>
                <a:spcPts val="400"/>
              </a:spcBef>
              <a:spcAft>
                <a:spcPts val="0"/>
              </a:spcAft>
              <a:buNone/>
            </a:pPr>
            <a:r>
              <a:rPr lang="en-US" sz="750" b="0" i="0" dirty="0">
                <a:solidFill>
                  <a:srgbClr val="1A1A1A"/>
                </a:solidFill>
                <a:latin typeface="Arial"/>
                <a:cs typeface="Arial"/>
              </a:rPr>
              <a:t>Live queue + siren alerts</a:t>
            </a:r>
          </a:p>
          <a:p>
            <a:pPr marL="0" indent="0" algn="l">
              <a:lnSpc>
                <a:spcPct val="100000"/>
              </a:lnSpc>
              <a:spcBef>
                <a:spcPts val="0"/>
              </a:spcBef>
              <a:spcAft>
                <a:spcPts val="0"/>
              </a:spcAft>
              <a:buNone/>
            </a:pPr>
            <a:r>
              <a:rPr lang="en-US" sz="750" b="0" i="0" dirty="0">
                <a:solidFill>
                  <a:srgbClr val="1A1A1A"/>
                </a:solidFill>
                <a:latin typeface="Arial"/>
                <a:cs typeface="Arial"/>
              </a:rPr>
              <a:t>Case board: map, evidence</a:t>
            </a:r>
          </a:p>
          <a:p>
            <a:pPr marL="0" indent="0" algn="l">
              <a:lnSpc>
                <a:spcPct val="100000"/>
              </a:lnSpc>
              <a:spcBef>
                <a:spcPts val="0"/>
              </a:spcBef>
              <a:spcAft>
                <a:spcPts val="0"/>
              </a:spcAft>
              <a:buNone/>
            </a:pPr>
            <a:r>
              <a:rPr lang="en-US" sz="750" b="0" i="0" dirty="0">
                <a:solidFill>
                  <a:srgbClr val="1A1A1A"/>
                </a:solidFill>
                <a:latin typeface="Arial"/>
                <a:cs typeface="Arial"/>
              </a:rPr>
              <a:t>Live video + listen-in</a:t>
            </a:r>
          </a:p>
          <a:p>
            <a:pPr marL="0" indent="0" algn="l">
              <a:lnSpc>
                <a:spcPct val="100000"/>
              </a:lnSpc>
              <a:spcBef>
                <a:spcPts val="0"/>
              </a:spcBef>
              <a:spcAft>
                <a:spcPts val="0"/>
              </a:spcAft>
              <a:buNone/>
            </a:pPr>
            <a:r>
              <a:rPr lang="en-US" sz="750" b="0" i="0" dirty="0">
                <a:solidFill>
                  <a:srgbClr val="1A1A1A"/>
                </a:solidFill>
                <a:latin typeface="Arial"/>
                <a:cs typeface="Arial"/>
              </a:rPr>
              <a:t>Acknowledge · message caller</a:t>
            </a:r>
          </a:p>
          <a:p>
            <a:pPr marL="0" indent="0" algn="l">
              <a:lnSpc>
                <a:spcPct val="100000"/>
              </a:lnSpc>
              <a:spcBef>
                <a:spcPts val="0"/>
              </a:spcBef>
              <a:spcAft>
                <a:spcPts val="0"/>
              </a:spcAft>
              <a:buNone/>
            </a:pPr>
            <a:r>
              <a:rPr lang="en-US" sz="750" b="0" i="0" dirty="0">
                <a:solidFill>
                  <a:srgbClr val="1A1A1A"/>
                </a:solidFill>
                <a:latin typeface="Arial"/>
                <a:cs typeface="Arial"/>
              </a:rPr>
              <a:t>History · analytics · admin</a:t>
            </a:r>
          </a:p>
        </p:txBody>
      </p:sp>
      <p:sp>
        <p:nvSpPr>
          <p:cNvPr id="314" name="Console AI"/>
          <p:cNvSpPr/>
          <p:nvPr/>
        </p:nvSpPr>
        <p:spPr>
          <a:xfrm>
            <a:off x="7196328" y="2770632"/>
            <a:ext cx="1517904" cy="475488"/>
          </a:xfrm>
          <a:prstGeom prst="roundRect">
            <a:avLst>
              <a:gd name="adj" fmla="val 11538"/>
            </a:avLst>
          </a:prstGeom>
          <a:solidFill>
            <a:srgbClr val="FFFFFF"/>
          </a:solidFill>
          <a:ln w="12700">
            <a:solidFill>
              <a:srgbClr val="1A73E8"/>
            </a:solidFill>
            <a:round/>
          </a:ln>
        </p:spPr>
        <p:txBody>
          <a:bodyPr wrap="square" lIns="73152" tIns="54864" rIns="73152" bIns="36576" rtlCol="0" anchor="t">
            <a:noAutofit/>
          </a:bodyPr>
          <a:lstStyle/>
          <a:p>
            <a:pPr marL="0" indent="0" algn="l">
              <a:lnSpc>
                <a:spcPct val="100000"/>
              </a:lnSpc>
              <a:spcBef>
                <a:spcPts val="0"/>
              </a:spcBef>
              <a:spcAft>
                <a:spcPts val="0"/>
              </a:spcAft>
              <a:buNone/>
            </a:pPr>
            <a:r>
              <a:rPr lang="en-US" sz="750" b="1" i="0" dirty="0">
                <a:solidFill>
                  <a:srgbClr val="1A73E8"/>
                </a:solidFill>
                <a:latin typeface="Arial"/>
                <a:cs typeface="Arial"/>
              </a:rPr>
              <a:t>Ask AI · credibility · insights</a:t>
            </a:r>
          </a:p>
          <a:p>
            <a:pPr marL="0" indent="0" algn="l">
              <a:lnSpc>
                <a:spcPct val="100000"/>
              </a:lnSpc>
              <a:spcBef>
                <a:spcPts val="100"/>
              </a:spcBef>
              <a:spcAft>
                <a:spcPts val="0"/>
              </a:spcAft>
              <a:buNone/>
            </a:pPr>
            <a:r>
              <a:rPr lang="en-US" sz="750" b="0" i="0" dirty="0">
                <a:solidFill>
                  <a:srgbClr val="5F6368"/>
                </a:solidFill>
                <a:latin typeface="Arial"/>
                <a:cs typeface="Arial"/>
              </a:rPr>
              <a:t>via gemini-3.1-flash-lite</a:t>
            </a:r>
          </a:p>
        </p:txBody>
      </p:sp>
      <p:sp>
        <p:nvSpPr>
          <p:cNvPr id="315" name="Location and routing"/>
          <p:cNvSpPr/>
          <p:nvPr/>
        </p:nvSpPr>
        <p:spPr>
          <a:xfrm>
            <a:off x="365760" y="3822192"/>
            <a:ext cx="2000250" cy="731520"/>
          </a:xfrm>
          <a:prstGeom prst="roundRect">
            <a:avLst>
              <a:gd name="adj" fmla="val 7500"/>
            </a:avLst>
          </a:prstGeom>
          <a:solidFill>
            <a:srgbClr val="FFFFFF"/>
          </a:solidFill>
          <a:ln w="9525">
            <a:solidFill>
              <a:srgbClr val="DADCE0"/>
            </a:solidFill>
            <a:round/>
          </a:ln>
        </p:spPr>
        <p:txBody>
          <a:bodyPr wrap="square" lIns="73152" tIns="54864" rIns="73152" bIns="36576" rtlCol="0" anchor="t">
            <a:noAutofit/>
          </a:bodyPr>
          <a:lstStyle/>
          <a:p>
            <a:pPr marL="0" indent="0" algn="l">
              <a:lnSpc>
                <a:spcPct val="100000"/>
              </a:lnSpc>
              <a:spcBef>
                <a:spcPts val="0"/>
              </a:spcBef>
              <a:spcAft>
                <a:spcPts val="0"/>
              </a:spcAft>
              <a:buNone/>
            </a:pPr>
            <a:r>
              <a:rPr lang="en-US" sz="850" b="1" i="0" dirty="0">
                <a:solidFill>
                  <a:srgbClr val="1A1A1A"/>
                </a:solidFill>
                <a:latin typeface="Arial"/>
                <a:cs typeface="Arial"/>
              </a:rPr>
              <a:t>Location &amp; routing</a:t>
            </a:r>
          </a:p>
          <a:p>
            <a:pPr marL="0" indent="0" algn="l">
              <a:lnSpc>
                <a:spcPct val="100000"/>
              </a:lnSpc>
              <a:spcBef>
                <a:spcPts val="200"/>
              </a:spcBef>
              <a:spcAft>
                <a:spcPts val="0"/>
              </a:spcAft>
              <a:buNone/>
            </a:pPr>
            <a:r>
              <a:rPr lang="en-US" sz="750" b="0" i="0" dirty="0">
                <a:solidFill>
                  <a:srgbClr val="1A1A1A"/>
                </a:solidFill>
                <a:latin typeface="Arial"/>
                <a:cs typeface="Arial"/>
              </a:rPr>
              <a:t>GPS, else IP lookup</a:t>
            </a:r>
          </a:p>
          <a:p>
            <a:pPr marL="0" indent="0" algn="l">
              <a:lnSpc>
                <a:spcPct val="100000"/>
              </a:lnSpc>
              <a:spcBef>
                <a:spcPts val="0"/>
              </a:spcBef>
              <a:spcAft>
                <a:spcPts val="0"/>
              </a:spcAft>
              <a:buNone/>
            </a:pPr>
            <a:r>
              <a:rPr lang="en-US" sz="750" b="0" i="0" dirty="0">
                <a:solidFill>
                  <a:srgbClr val="1A1A1A"/>
                </a:solidFill>
                <a:latin typeface="Arial"/>
                <a:cs typeface="Arial"/>
              </a:rPr>
              <a:t>Nominatim + Photon: address, help</a:t>
            </a:r>
          </a:p>
          <a:p>
            <a:pPr marL="0" indent="0" algn="l">
              <a:lnSpc>
                <a:spcPct val="100000"/>
              </a:lnSpc>
              <a:spcBef>
                <a:spcPts val="0"/>
              </a:spcBef>
              <a:spcAft>
                <a:spcPts val="0"/>
              </a:spcAft>
              <a:buNone/>
            </a:pPr>
            <a:r>
              <a:rPr lang="en-US" sz="750" b="0" i="0" dirty="0">
                <a:solidFill>
                  <a:srgbClr val="1A1A1A"/>
                </a:solidFill>
                <a:latin typeface="Arial"/>
                <a:cs typeface="Arial"/>
              </a:rPr>
              <a:t>OSRM: route to police / hospital</a:t>
            </a:r>
          </a:p>
        </p:txBody>
      </p:sp>
      <p:sp>
        <p:nvSpPr>
          <p:cNvPr id="316" name="Evidence recordings"/>
          <p:cNvSpPr/>
          <p:nvPr/>
        </p:nvSpPr>
        <p:spPr>
          <a:xfrm>
            <a:off x="2503170" y="3822192"/>
            <a:ext cx="2000250" cy="731520"/>
          </a:xfrm>
          <a:prstGeom prst="roundRect">
            <a:avLst>
              <a:gd name="adj" fmla="val 7500"/>
            </a:avLst>
          </a:prstGeom>
          <a:solidFill>
            <a:srgbClr val="FFFFFF"/>
          </a:solidFill>
          <a:ln w="9525">
            <a:solidFill>
              <a:srgbClr val="DADCE0"/>
            </a:solidFill>
            <a:round/>
          </a:ln>
        </p:spPr>
        <p:txBody>
          <a:bodyPr wrap="square" lIns="73152" tIns="54864" rIns="73152" bIns="36576" rtlCol="0" anchor="t">
            <a:noAutofit/>
          </a:bodyPr>
          <a:lstStyle/>
          <a:p>
            <a:pPr marL="0" indent="0" algn="l">
              <a:lnSpc>
                <a:spcPct val="100000"/>
              </a:lnSpc>
              <a:spcBef>
                <a:spcPts val="0"/>
              </a:spcBef>
              <a:spcAft>
                <a:spcPts val="0"/>
              </a:spcAft>
              <a:buNone/>
            </a:pPr>
            <a:r>
              <a:rPr lang="en-US" sz="850" b="1" i="0" dirty="0">
                <a:solidFill>
                  <a:srgbClr val="1A1A1A"/>
                </a:solidFill>
                <a:latin typeface="Arial"/>
                <a:cs typeface="Arial"/>
              </a:rPr>
              <a:t>Evidence recordings</a:t>
            </a:r>
          </a:p>
          <a:p>
            <a:pPr marL="0" indent="0" algn="l">
              <a:lnSpc>
                <a:spcPct val="100000"/>
              </a:lnSpc>
              <a:spcBef>
                <a:spcPts val="200"/>
              </a:spcBef>
              <a:spcAft>
                <a:spcPts val="0"/>
              </a:spcAft>
              <a:buNone/>
            </a:pPr>
            <a:r>
              <a:rPr lang="en-US" sz="750" b="0" i="0" dirty="0">
                <a:solidFill>
                  <a:srgbClr val="1A1A1A"/>
                </a:solidFill>
                <a:latin typeface="Arial"/>
                <a:cs typeface="Arial"/>
              </a:rPr>
              <a:t>Apps Script → Google Drive</a:t>
            </a:r>
          </a:p>
          <a:p>
            <a:pPr marL="0" indent="0" algn="l">
              <a:lnSpc>
                <a:spcPct val="100000"/>
              </a:lnSpc>
              <a:spcBef>
                <a:spcPts val="0"/>
              </a:spcBef>
              <a:spcAft>
                <a:spcPts val="0"/>
              </a:spcAft>
              <a:buNone/>
            </a:pPr>
            <a:r>
              <a:rPr lang="en-US" sz="750" b="0" i="0" dirty="0">
                <a:solidFill>
                  <a:srgbClr val="1A1A1A"/>
                </a:solidFill>
                <a:latin typeface="Arial"/>
                <a:cs typeface="Arial"/>
              </a:rPr>
              <a:t>camera video every 20 s + at end</a:t>
            </a:r>
          </a:p>
          <a:p>
            <a:pPr marL="0" indent="0" algn="l">
              <a:lnSpc>
                <a:spcPct val="100000"/>
              </a:lnSpc>
              <a:spcBef>
                <a:spcPts val="0"/>
              </a:spcBef>
              <a:spcAft>
                <a:spcPts val="0"/>
              </a:spcAft>
              <a:buNone/>
            </a:pPr>
            <a:r>
              <a:rPr lang="en-US" sz="750" b="0" i="0" dirty="0">
                <a:solidFill>
                  <a:srgbClr val="1A1A1A"/>
                </a:solidFill>
                <a:latin typeface="Arial"/>
                <a:cs typeface="Arial"/>
              </a:rPr>
              <a:t>call audio once, at the end</a:t>
            </a:r>
          </a:p>
        </p:txBody>
      </p:sp>
      <p:sp>
        <p:nvSpPr>
          <p:cNvPr id="317" name="Case report and alerts"/>
          <p:cNvSpPr/>
          <p:nvPr/>
        </p:nvSpPr>
        <p:spPr>
          <a:xfrm>
            <a:off x="4640580" y="3822192"/>
            <a:ext cx="2000250" cy="731520"/>
          </a:xfrm>
          <a:prstGeom prst="roundRect">
            <a:avLst>
              <a:gd name="adj" fmla="val 7500"/>
            </a:avLst>
          </a:prstGeom>
          <a:solidFill>
            <a:srgbClr val="FFFFFF"/>
          </a:solidFill>
          <a:ln w="9525">
            <a:solidFill>
              <a:srgbClr val="DADCE0"/>
            </a:solidFill>
            <a:round/>
          </a:ln>
        </p:spPr>
        <p:txBody>
          <a:bodyPr wrap="square" lIns="73152" tIns="54864" rIns="73152" bIns="36576" rtlCol="0" anchor="t">
            <a:noAutofit/>
          </a:bodyPr>
          <a:lstStyle/>
          <a:p>
            <a:pPr marL="0" indent="0" algn="l">
              <a:lnSpc>
                <a:spcPct val="100000"/>
              </a:lnSpc>
              <a:spcBef>
                <a:spcPts val="0"/>
              </a:spcBef>
              <a:spcAft>
                <a:spcPts val="0"/>
              </a:spcAft>
              <a:buNone/>
            </a:pPr>
            <a:r>
              <a:rPr lang="en-US" sz="850" b="1" i="0" dirty="0">
                <a:solidFill>
                  <a:srgbClr val="1A1A1A"/>
                </a:solidFill>
                <a:latin typeface="Arial"/>
                <a:cs typeface="Arial"/>
              </a:rPr>
              <a:t>Case report + alerts</a:t>
            </a:r>
          </a:p>
          <a:p>
            <a:pPr marL="0" indent="0" algn="l">
              <a:lnSpc>
                <a:spcPct val="100000"/>
              </a:lnSpc>
              <a:spcBef>
                <a:spcPts val="200"/>
              </a:spcBef>
              <a:spcAft>
                <a:spcPts val="0"/>
              </a:spcAft>
              <a:buNone/>
            </a:pPr>
            <a:r>
              <a:rPr lang="en-US" sz="750" b="0" i="0" dirty="0">
                <a:solidFill>
                  <a:srgbClr val="1A1A1A"/>
                </a:solidFill>
                <a:latin typeface="Arial"/>
                <a:cs typeface="Arial"/>
              </a:rPr>
              <a:t>Apps Script mail: report + PDF</a:t>
            </a:r>
          </a:p>
          <a:p>
            <a:pPr marL="0" indent="0" algn="l">
              <a:lnSpc>
                <a:spcPct val="100000"/>
              </a:lnSpc>
              <a:spcBef>
                <a:spcPts val="0"/>
              </a:spcBef>
              <a:spcAft>
                <a:spcPts val="0"/>
              </a:spcAft>
              <a:buNone/>
            </a:pPr>
            <a:r>
              <a:rPr lang="en-US" sz="750" b="0" i="0" dirty="0">
                <a:solidFill>
                  <a:srgbClr val="1A1A1A"/>
                </a:solidFill>
                <a:latin typeface="Arial"/>
                <a:cs typeface="Arial"/>
              </a:rPr>
              <a:t>trusted contacts at high severity</a:t>
            </a:r>
          </a:p>
          <a:p>
            <a:pPr marL="0" indent="0" algn="l">
              <a:lnSpc>
                <a:spcPct val="100000"/>
              </a:lnSpc>
              <a:spcBef>
                <a:spcPts val="0"/>
              </a:spcBef>
              <a:spcAft>
                <a:spcPts val="0"/>
              </a:spcAft>
              <a:buNone/>
            </a:pPr>
            <a:r>
              <a:rPr lang="en-US" sz="750" b="0" i="0" dirty="0">
                <a:solidFill>
                  <a:srgbClr val="1A1A1A"/>
                </a:solidFill>
                <a:latin typeface="Arial"/>
                <a:cs typeface="Arial"/>
              </a:rPr>
              <a:t>reads the incident via Firestore REST</a:t>
            </a:r>
          </a:p>
        </p:txBody>
      </p:sp>
      <p:sp>
        <p:nvSpPr>
          <p:cNvPr id="318" name="Live video and listen-in"/>
          <p:cNvSpPr/>
          <p:nvPr/>
        </p:nvSpPr>
        <p:spPr>
          <a:xfrm>
            <a:off x="6777990" y="3822192"/>
            <a:ext cx="2000250" cy="731520"/>
          </a:xfrm>
          <a:prstGeom prst="roundRect">
            <a:avLst>
              <a:gd name="adj" fmla="val 7500"/>
            </a:avLst>
          </a:prstGeom>
          <a:solidFill>
            <a:srgbClr val="FFFFFF"/>
          </a:solidFill>
          <a:ln w="9525">
            <a:solidFill>
              <a:srgbClr val="DADCE0"/>
            </a:solidFill>
            <a:round/>
          </a:ln>
        </p:spPr>
        <p:txBody>
          <a:bodyPr wrap="square" lIns="73152" tIns="54864" rIns="73152" bIns="36576" rtlCol="0" anchor="t">
            <a:noAutofit/>
          </a:bodyPr>
          <a:lstStyle/>
          <a:p>
            <a:pPr marL="0" indent="0" algn="l">
              <a:lnSpc>
                <a:spcPct val="100000"/>
              </a:lnSpc>
              <a:spcBef>
                <a:spcPts val="0"/>
              </a:spcBef>
              <a:spcAft>
                <a:spcPts val="0"/>
              </a:spcAft>
              <a:buNone/>
            </a:pPr>
            <a:r>
              <a:rPr lang="en-US" sz="850" b="1" i="0" dirty="0">
                <a:solidFill>
                  <a:srgbClr val="1A1A1A"/>
                </a:solidFill>
                <a:latin typeface="Arial"/>
                <a:cs typeface="Arial"/>
              </a:rPr>
              <a:t>Live video + listen-in</a:t>
            </a:r>
          </a:p>
          <a:p>
            <a:pPr marL="0" indent="0" algn="l">
              <a:lnSpc>
                <a:spcPct val="100000"/>
              </a:lnSpc>
              <a:spcBef>
                <a:spcPts val="200"/>
              </a:spcBef>
              <a:spcAft>
                <a:spcPts val="0"/>
              </a:spcAft>
              <a:buNone/>
            </a:pPr>
            <a:r>
              <a:rPr lang="en-US" sz="750" b="0" i="0" dirty="0">
                <a:solidFill>
                  <a:srgbClr val="1A1A1A"/>
                </a:solidFill>
                <a:latin typeface="Arial"/>
                <a:cs typeface="Arial"/>
              </a:rPr>
              <a:t>P2P WebRTC · Google STUN</a:t>
            </a:r>
          </a:p>
          <a:p>
            <a:pPr marL="0" indent="0" algn="l">
              <a:lnSpc>
                <a:spcPct val="100000"/>
              </a:lnSpc>
              <a:spcBef>
                <a:spcPts val="0"/>
              </a:spcBef>
              <a:spcAft>
                <a:spcPts val="0"/>
              </a:spcAft>
              <a:buNone/>
            </a:pPr>
            <a:r>
              <a:rPr lang="en-US" sz="750" b="0" i="0" dirty="0">
                <a:solidFill>
                  <a:srgbClr val="1A1A1A"/>
                </a:solidFill>
                <a:latin typeface="Arial"/>
                <a:cs typeface="Arial"/>
              </a:rPr>
              <a:t>media one way: phone → console</a:t>
            </a:r>
          </a:p>
          <a:p>
            <a:pPr marL="0" indent="0" algn="l">
              <a:lnSpc>
                <a:spcPct val="100000"/>
              </a:lnSpc>
              <a:spcBef>
                <a:spcPts val="0"/>
              </a:spcBef>
              <a:spcAft>
                <a:spcPts val="0"/>
              </a:spcAft>
              <a:buNone/>
            </a:pPr>
            <a:r>
              <a:rPr lang="en-US" sz="750" b="0" i="0" dirty="0">
                <a:solidFill>
                  <a:srgbClr val="1A1A1A"/>
                </a:solidFill>
                <a:latin typeface="Arial"/>
                <a:cs typeface="Arial"/>
              </a:rPr>
              <a:t>Firestore carries only the handshake</a:t>
            </a:r>
          </a:p>
        </p:txBody>
      </p:sp>
      <p:cxnSp>
        <p:nvCxnSpPr>
          <p:cNvPr id="319" name="Phone to Gemini Live"/>
          <p:cNvCxnSpPr/>
          <p:nvPr/>
        </p:nvCxnSpPr>
        <p:spPr>
          <a:xfrm>
            <a:off x="2148840" y="1773936"/>
            <a:ext cx="841248" cy="0"/>
          </a:xfrm>
          <a:prstGeom prst="straightConnector1">
            <a:avLst/>
          </a:prstGeom>
          <a:ln w="22225">
            <a:solidFill>
              <a:srgbClr val="1A73E8"/>
            </a:solidFill>
            <a:round/>
            <a:tailEnd type="triangle" w="med" len="med"/>
          </a:ln>
        </p:spPr>
      </p:cxnSp>
      <p:sp>
        <p:nvSpPr>
          <p:cNvPr id="320" name="Label: audio + frames"/>
          <p:cNvSpPr txBox="1"/>
          <p:nvPr/>
        </p:nvSpPr>
        <p:spPr>
          <a:xfrm>
            <a:off x="2148840" y="1627632"/>
            <a:ext cx="841248" cy="128016"/>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en-US" sz="700" b="0" i="0" dirty="0">
                <a:solidFill>
                  <a:srgbClr val="1A73E8"/>
                </a:solidFill>
                <a:latin typeface="Arial"/>
                <a:cs typeface="Arial"/>
              </a:rPr>
              <a:t>audio + frames</a:t>
            </a:r>
          </a:p>
        </p:txBody>
      </p:sp>
      <p:cxnSp>
        <p:nvCxnSpPr>
          <p:cNvPr id="321" name="Gemini Live to phone"/>
          <p:cNvCxnSpPr/>
          <p:nvPr/>
        </p:nvCxnSpPr>
        <p:spPr>
          <a:xfrm flipH="1">
            <a:off x="2148840" y="2011680"/>
            <a:ext cx="841248" cy="0"/>
          </a:xfrm>
          <a:prstGeom prst="straightConnector1">
            <a:avLst/>
          </a:prstGeom>
          <a:ln w="22225">
            <a:solidFill>
              <a:srgbClr val="1A73E8"/>
            </a:solidFill>
            <a:round/>
            <a:tailEnd type="triangle" w="med" len="med"/>
          </a:ln>
        </p:spPr>
      </p:cxnSp>
      <p:sp>
        <p:nvSpPr>
          <p:cNvPr id="322" name="Label: voice, tool calls"/>
          <p:cNvSpPr txBox="1"/>
          <p:nvPr/>
        </p:nvSpPr>
        <p:spPr>
          <a:xfrm>
            <a:off x="2148840" y="2048256"/>
            <a:ext cx="841248" cy="128016"/>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en-US" sz="700" b="0" i="0" dirty="0">
                <a:solidFill>
                  <a:srgbClr val="1A73E8"/>
                </a:solidFill>
                <a:latin typeface="Arial"/>
                <a:cs typeface="Arial"/>
              </a:rPr>
              <a:t>voice, tool calls</a:t>
            </a:r>
          </a:p>
        </p:txBody>
      </p:sp>
      <p:cxnSp>
        <p:nvCxnSpPr>
          <p:cNvPr id="323" name="Phone to Flash-Lite after the call"/>
          <p:cNvCxnSpPr/>
          <p:nvPr/>
        </p:nvCxnSpPr>
        <p:spPr>
          <a:xfrm>
            <a:off x="2148840" y="2578608"/>
            <a:ext cx="841248" cy="0"/>
          </a:xfrm>
          <a:prstGeom prst="straightConnector1">
            <a:avLst/>
          </a:prstGeom>
          <a:ln w="19050">
            <a:solidFill>
              <a:srgbClr val="1A73E8"/>
            </a:solidFill>
            <a:prstDash val="dash"/>
            <a:round/>
            <a:tailEnd type="triangle" w="med" len="med"/>
          </a:ln>
        </p:spPr>
      </p:cxnSp>
      <p:sp>
        <p:nvSpPr>
          <p:cNvPr id="324" name="Label: after the call"/>
          <p:cNvSpPr txBox="1"/>
          <p:nvPr/>
        </p:nvSpPr>
        <p:spPr>
          <a:xfrm>
            <a:off x="2148840" y="2423160"/>
            <a:ext cx="841248" cy="128016"/>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en-US" sz="700" b="0" i="0" dirty="0">
                <a:solidFill>
                  <a:srgbClr val="1A73E8"/>
                </a:solidFill>
                <a:latin typeface="Arial"/>
                <a:cs typeface="Arial"/>
              </a:rPr>
              <a:t>after the call</a:t>
            </a:r>
          </a:p>
        </p:txBody>
      </p:sp>
      <p:cxnSp>
        <p:nvCxnSpPr>
          <p:cNvPr id="325" name="Firestore to console"/>
          <p:cNvCxnSpPr/>
          <p:nvPr/>
        </p:nvCxnSpPr>
        <p:spPr>
          <a:xfrm>
            <a:off x="6492240" y="1883664"/>
            <a:ext cx="640080" cy="0"/>
          </a:xfrm>
          <a:prstGeom prst="straightConnector1">
            <a:avLst/>
          </a:prstGeom>
          <a:ln w="22225">
            <a:solidFill>
              <a:srgbClr val="2F9E44"/>
            </a:solidFill>
            <a:round/>
            <a:tailEnd type="triangle" w="med" len="med"/>
          </a:ln>
        </p:spPr>
      </p:cxnSp>
      <p:sp>
        <p:nvSpPr>
          <p:cNvPr id="326" name="Label: live sync"/>
          <p:cNvSpPr txBox="1"/>
          <p:nvPr/>
        </p:nvSpPr>
        <p:spPr>
          <a:xfrm>
            <a:off x="6492240" y="1737360"/>
            <a:ext cx="640080" cy="128016"/>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en-US" sz="700" b="0" i="0" dirty="0">
                <a:solidFill>
                  <a:srgbClr val="2F9E44"/>
                </a:solidFill>
                <a:latin typeface="Arial"/>
                <a:cs typeface="Arial"/>
              </a:rPr>
              <a:t>live sync</a:t>
            </a:r>
          </a:p>
        </p:txBody>
      </p:sp>
      <p:cxnSp>
        <p:nvCxnSpPr>
          <p:cNvPr id="327" name="Console to Firestore"/>
          <p:cNvCxnSpPr/>
          <p:nvPr/>
        </p:nvCxnSpPr>
        <p:spPr>
          <a:xfrm flipH="1">
            <a:off x="6492240" y="2249424"/>
            <a:ext cx="640080" cy="0"/>
          </a:xfrm>
          <a:prstGeom prst="straightConnector1">
            <a:avLst/>
          </a:prstGeom>
          <a:ln w="22225">
            <a:solidFill>
              <a:srgbClr val="2F9E44"/>
            </a:solidFill>
            <a:round/>
            <a:tailEnd type="triangle" w="med" len="med"/>
          </a:ln>
        </p:spPr>
      </p:cxnSp>
      <p:sp>
        <p:nvSpPr>
          <p:cNvPr id="328" name="Label: actions"/>
          <p:cNvSpPr txBox="1"/>
          <p:nvPr/>
        </p:nvSpPr>
        <p:spPr>
          <a:xfrm>
            <a:off x="6492240" y="2286000"/>
            <a:ext cx="640080" cy="128016"/>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en-US" sz="700" b="0" i="0" dirty="0">
                <a:solidFill>
                  <a:srgbClr val="2F9E44"/>
                </a:solidFill>
                <a:latin typeface="Arial"/>
                <a:cs typeface="Arial"/>
              </a:rPr>
              <a:t>actions</a:t>
            </a:r>
          </a:p>
        </p:txBody>
      </p:sp>
      <p:sp>
        <p:nvSpPr>
          <p:cNvPr id="329" name="Phone to Firestore: live fields"/>
          <p:cNvSpPr/>
          <p:nvPr/>
        </p:nvSpPr>
        <p:spPr>
          <a:xfrm>
            <a:off x="1965960" y="3310128"/>
            <a:ext cx="3154680" cy="164592"/>
          </a:xfrm>
          <a:custGeom>
            <a:avLst/>
            <a:gdLst/>
            <a:ahLst/>
            <a:cxnLst/>
            <a:rect l="l" t="t" r="r" b="b"/>
            <a:pathLst>
              <a:path w="3154680" h="164592" fill="none">
                <a:moveTo>
                  <a:pt x="0" y="0"/>
                </a:moveTo>
                <a:lnTo>
                  <a:pt x="0" y="164592"/>
                </a:lnTo>
                <a:lnTo>
                  <a:pt x="3154680" y="164592"/>
                </a:lnTo>
                <a:lnTo>
                  <a:pt x="3154680" y="0"/>
                </a:lnTo>
              </a:path>
            </a:pathLst>
          </a:custGeom>
          <a:noFill/>
          <a:ln w="22225">
            <a:solidFill>
              <a:srgbClr val="5F6368"/>
            </a:solidFill>
            <a:round/>
            <a:headEnd type="triangle" w="med" len="med"/>
            <a:tailEnd type="triangle" w="med" len="med"/>
          </a:ln>
        </p:spPr>
      </p:sp>
      <p:sp>
        <p:nvSpPr>
          <p:cNvPr id="330" name="Label: live fields"/>
          <p:cNvSpPr txBox="1"/>
          <p:nvPr/>
        </p:nvSpPr>
        <p:spPr>
          <a:xfrm>
            <a:off x="1965960" y="3502152"/>
            <a:ext cx="3154680" cy="128016"/>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en-US" sz="700" b="0" i="0" dirty="0">
                <a:solidFill>
                  <a:srgbClr val="5F6368"/>
                </a:solidFill>
                <a:latin typeface="Arial"/>
                <a:cs typeface="Arial"/>
              </a:rPr>
              <a:t>tool results → live fields · messages + route back</a:t>
            </a:r>
          </a:p>
        </p:txBody>
      </p:sp>
      <p:sp>
        <p:nvSpPr>
          <p:cNvPr id="331" name="Phone to services bus"/>
          <p:cNvSpPr/>
          <p:nvPr/>
        </p:nvSpPr>
        <p:spPr>
          <a:xfrm>
            <a:off x="502920" y="3310128"/>
            <a:ext cx="6549390" cy="402336"/>
          </a:xfrm>
          <a:custGeom>
            <a:avLst/>
            <a:gdLst/>
            <a:ahLst/>
            <a:cxnLst/>
            <a:rect l="l" t="t" r="r" b="b"/>
            <a:pathLst>
              <a:path w="6549390" h="402336" fill="none">
                <a:moveTo>
                  <a:pt x="0" y="0"/>
                </a:moveTo>
                <a:lnTo>
                  <a:pt x="0" y="402336"/>
                </a:lnTo>
                <a:lnTo>
                  <a:pt x="6549390" y="402336"/>
                </a:lnTo>
              </a:path>
            </a:pathLst>
          </a:custGeom>
          <a:noFill/>
          <a:ln w="19050">
            <a:solidFill>
              <a:srgbClr val="5F6368"/>
            </a:solidFill>
            <a:round/>
          </a:ln>
        </p:spPr>
      </p:sp>
      <p:cxnSp>
        <p:nvCxnSpPr>
          <p:cNvPr id="332" name="Bus stub 1"/>
          <p:cNvCxnSpPr/>
          <p:nvPr/>
        </p:nvCxnSpPr>
        <p:spPr>
          <a:xfrm>
            <a:off x="640080" y="3712464"/>
            <a:ext cx="0" cy="109728"/>
          </a:xfrm>
          <a:prstGeom prst="straightConnector1">
            <a:avLst/>
          </a:prstGeom>
          <a:ln w="19050">
            <a:solidFill>
              <a:srgbClr val="5F6368"/>
            </a:solidFill>
            <a:round/>
            <a:tailEnd type="triangle" w="med" len="med"/>
          </a:ln>
        </p:spPr>
      </p:cxnSp>
      <p:cxnSp>
        <p:nvCxnSpPr>
          <p:cNvPr id="333" name="Bus stub 2"/>
          <p:cNvCxnSpPr/>
          <p:nvPr/>
        </p:nvCxnSpPr>
        <p:spPr>
          <a:xfrm>
            <a:off x="2777490" y="3712464"/>
            <a:ext cx="0" cy="109728"/>
          </a:xfrm>
          <a:prstGeom prst="straightConnector1">
            <a:avLst/>
          </a:prstGeom>
          <a:ln w="19050">
            <a:solidFill>
              <a:srgbClr val="5F6368"/>
            </a:solidFill>
            <a:round/>
            <a:tailEnd type="triangle" w="med" len="med"/>
          </a:ln>
        </p:spPr>
      </p:cxnSp>
      <p:cxnSp>
        <p:nvCxnSpPr>
          <p:cNvPr id="334" name="Bus stub 3"/>
          <p:cNvCxnSpPr/>
          <p:nvPr/>
        </p:nvCxnSpPr>
        <p:spPr>
          <a:xfrm>
            <a:off x="4914900" y="3712464"/>
            <a:ext cx="0" cy="109728"/>
          </a:xfrm>
          <a:prstGeom prst="straightConnector1">
            <a:avLst/>
          </a:prstGeom>
          <a:ln w="19050">
            <a:solidFill>
              <a:srgbClr val="5F6368"/>
            </a:solidFill>
            <a:round/>
            <a:tailEnd type="triangle" w="med" len="med"/>
          </a:ln>
        </p:spPr>
      </p:cxnSp>
      <p:cxnSp>
        <p:nvCxnSpPr>
          <p:cNvPr id="335" name="Bus stub 4"/>
          <p:cNvCxnSpPr/>
          <p:nvPr/>
        </p:nvCxnSpPr>
        <p:spPr>
          <a:xfrm>
            <a:off x="7052310" y="3712464"/>
            <a:ext cx="0" cy="109728"/>
          </a:xfrm>
          <a:prstGeom prst="straightConnector1">
            <a:avLst/>
          </a:prstGeom>
          <a:ln w="19050">
            <a:solidFill>
              <a:srgbClr val="5F6368"/>
            </a:solidFill>
            <a:round/>
            <a:tailEnd type="triangle" w="med" len="med"/>
          </a:ln>
        </p:spPr>
      </p:cxnSp>
      <p:cxnSp>
        <p:nvCxnSpPr>
          <p:cNvPr id="336" name="Live media to console"/>
          <p:cNvCxnSpPr/>
          <p:nvPr/>
        </p:nvCxnSpPr>
        <p:spPr>
          <a:xfrm flipV="1">
            <a:off x="8458200" y="3310128"/>
            <a:ext cx="0" cy="512064"/>
          </a:xfrm>
          <a:prstGeom prst="straightConnector1">
            <a:avLst/>
          </a:prstGeom>
          <a:ln w="22225">
            <a:solidFill>
              <a:srgbClr val="2F9E44"/>
            </a:solidFill>
            <a:prstDash val="dash"/>
            <a:round/>
            <a:tailEnd type="triangle" w="med" len="med"/>
          </a:ln>
        </p:spPr>
      </p:cxnSp>
      <p:sp>
        <p:nvSpPr>
          <p:cNvPr id="337" name="Label: video, audio"/>
          <p:cNvSpPr txBox="1"/>
          <p:nvPr/>
        </p:nvSpPr>
        <p:spPr>
          <a:xfrm>
            <a:off x="7589520" y="3493008"/>
            <a:ext cx="804672" cy="128016"/>
          </a:xfrm>
          <a:prstGeom prst="rect">
            <a:avLst/>
          </a:prstGeom>
          <a:noFill/>
          <a:ln>
            <a:noFill/>
          </a:ln>
        </p:spPr>
        <p:txBody>
          <a:bodyPr wrap="square" lIns="0" tIns="0" rIns="0" bIns="0" rtlCol="0" anchor="t">
            <a:noAutofit/>
          </a:bodyPr>
          <a:lstStyle/>
          <a:p>
            <a:pPr marL="0" indent="0" algn="r">
              <a:lnSpc>
                <a:spcPct val="100000"/>
              </a:lnSpc>
              <a:spcBef>
                <a:spcPts val="0"/>
              </a:spcBef>
              <a:spcAft>
                <a:spcPts val="0"/>
              </a:spcAft>
              <a:buNone/>
            </a:pPr>
            <a:r>
              <a:rPr lang="en-US" sz="700" b="0" i="0" dirty="0">
                <a:solidFill>
                  <a:srgbClr val="2F9E44"/>
                </a:solidFill>
                <a:latin typeface="Arial"/>
                <a:cs typeface="Arial"/>
              </a:rPr>
              <a:t>video, audio</a:t>
            </a:r>
          </a:p>
        </p:txBody>
      </p:sp>
      <p:sp>
        <p:nvSpPr>
          <p:cNvPr id="338" name="Footer"/>
          <p:cNvSpPr txBox="1"/>
          <p:nvPr/>
        </p:nvSpPr>
        <p:spPr>
          <a:xfrm>
            <a:off x="365760" y="4645152"/>
            <a:ext cx="8412480" cy="146304"/>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en-US" sz="700" b="0" i="0" dirty="0">
                <a:solidFill>
                  <a:srgbClr val="5F6368"/>
                </a:solidFill>
                <a:latin typeface="Arial"/>
                <a:cs typeface="Arial"/>
              </a:rPr>
              <a:t>Managed Firebase backend · Gemini API keys: free tier first, paid fallback · AI usage metered per call · gitleaks secret scan · 4 Firebase Hosting sites</a:t>
            </a:r>
          </a:p>
        </p:txBody>
      </p:sp>
      <p:sp>
        <p:nvSpPr>
          <p:cNvPr id="339" name="Link: full architecture docs"/>
          <p:cNvSpPr txBox="1"/>
          <p:nvPr/>
        </p:nvSpPr>
        <p:spPr>
          <a:xfrm>
            <a:off x="365760" y="4818888"/>
            <a:ext cx="8412480" cy="182880"/>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en-US" sz="800" b="1" i="0" u="sng" dirty="0">
                <a:solidFill>
                  <a:srgbClr val="1A73E8"/>
                </a:solidFill>
                <a:latin typeface="Arial"/>
                <a:cs typeface="Arial"/>
                <a:hlinkClick r:id="rId6"/>
              </a:rPr>
              <a:t>Full architecture docs on GitHub →</a:t>
            </a:r>
          </a:p>
        </p:txBody>
      </p:sp>
    </p:spTree>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pic>
        <p:nvPicPr>
          <p:cNvPr id="164" name="Google Shape;164;p27"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65" name="Google Shape;165;p27" title="Group 427319979.png"/>
          <p:cNvPicPr preferRelativeResize="0"/>
          <p:nvPr/>
        </p:nvPicPr>
        <p:blipFill>
          <a:blip r:embed="rId4">
            <a:alphaModFix/>
          </a:blip>
          <a:stretch>
            <a:fillRect/>
          </a:stretch>
        </p:blipFill>
        <p:spPr>
          <a:xfrm>
            <a:off x="0" y="3649"/>
            <a:ext cx="9144000" cy="500062"/>
          </a:xfrm>
          <a:prstGeom prst="rect">
            <a:avLst/>
          </a:prstGeom>
          <a:noFill/>
          <a:ln>
            <a:noFill/>
          </a:ln>
        </p:spPr>
      </p:pic>
      <p:sp>
        <p:nvSpPr>
          <p:cNvPr id="166" name="Google Shape;166;p27"/>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1" name="Google Shape;71;p15"/>
          <p:cNvSpPr txBox="1"/>
          <p:nvPr/>
        </p:nvSpPr>
        <p:spPr>
          <a:xfrm>
            <a:off x="265350" y="603504"/>
            <a:ext cx="8943000" cy="384048"/>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latin typeface="Google Sans Flex Medium"/>
                <a:ea typeface="Google Sans Flex Medium"/>
                <a:cs typeface="Google Sans Flex Medium"/>
                <a:sym typeface="Google Sans Flex Medium"/>
              </a:rPr>
              <a:t>How Gemini powers QuickBite</a:t>
            </a:r>
            <a:endParaRPr sz="1600">
              <a:latin typeface="Google Sans Flex Medium"/>
              <a:ea typeface="Google Sans Flex Medium"/>
              <a:cs typeface="Google Sans Flex Medium"/>
              <a:sym typeface="Google Sans Flex Medium"/>
            </a:endParaRPr>
          </a:p>
        </p:txBody>
      </p:sp>
      <p:sp>
        <p:nvSpPr>
          <p:cNvPr id="167" name="Takeaway"/>
          <p:cNvSpPr txBox="1"/>
          <p:nvPr/>
        </p:nvSpPr>
        <p:spPr>
          <a:xfrm>
            <a:off x="365760" y="969264"/>
            <a:ext cx="8412480" cy="292608"/>
          </a:xfrm>
          <a:prstGeom prst="rect">
            <a:avLst/>
          </a:prstGeom>
          <a:noFill/>
        </p:spPr>
        <p:txBody>
          <a:bodyPr wrap="square" lIns="0" tIns="0" rIns="0" bIns="0" anchor="t"/>
          <a:lstStyle/>
          <a:p>
            <a:pPr algn="l"/>
            <a:r>
              <a:rPr sz="1300" b="1" i="0">
                <a:solidFill>
                  <a:srgbClr val="E8590C"/>
                </a:solidFill>
                <a:latin typeface="Arial"/>
              </a:rPr>
              <a:t>Not a chatbot: every answer becomes a function call that the app turns into live data</a:t>
            </a:r>
          </a:p>
        </p:txBody>
      </p:sp>
      <p:sp>
        <p:nvSpPr>
          <p:cNvPr id="300" name="Header: one answer"/>
          <p:cNvSpPr txBox="1"/>
          <p:nvPr/>
        </p:nvSpPr>
        <p:spPr>
          <a:xfrm>
            <a:off x="365760" y="1325880"/>
            <a:ext cx="3657600" cy="164592"/>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800" b="1" i="0" dirty="0" spc="60">
                <a:solidFill>
                  <a:srgbClr val="1A73E8"/>
                </a:solidFill>
                <a:latin typeface="Arial"/>
                <a:cs typeface="Arial"/>
              </a:rPr>
              <a:t>ONE ANSWER, END TO END</a:t>
            </a:r>
          </a:p>
        </p:txBody>
      </p:sp>
      <p:sp>
        <p:nvSpPr>
          <p:cNvPr id="301" name="Step 1: caller"/>
          <p:cNvSpPr/>
          <p:nvPr/>
        </p:nvSpPr>
        <p:spPr>
          <a:xfrm>
            <a:off x="365760" y="1536192"/>
            <a:ext cx="1536192" cy="1024128"/>
          </a:xfrm>
          <a:prstGeom prst="roundRect">
            <a:avLst>
              <a:gd name="adj" fmla="val 5357"/>
            </a:avLst>
          </a:prstGeom>
          <a:solidFill>
            <a:srgbClr val="FDEBDF"/>
          </a:solidFill>
          <a:ln>
            <a:noFill/>
          </a:ln>
        </p:spPr>
        <p:txBody>
          <a:bodyPr wrap="square" lIns="73152" tIns="54864" rIns="73152" bIns="36576" rtlCol="0" anchor="t">
            <a:noAutofit/>
          </a:bodyPr>
          <a:lstStyle/>
          <a:p>
            <a:pPr marL="0" indent="0" algn="l">
              <a:lnSpc>
                <a:spcPct val="100000"/>
              </a:lnSpc>
              <a:spcBef>
                <a:spcPts val="0"/>
              </a:spcBef>
              <a:spcAft>
                <a:spcPts val="0"/>
              </a:spcAft>
              <a:buNone/>
            </a:pPr>
            <a:r>
              <a:rPr lang="en-US" sz="700" b="1" i="0" dirty="0" spc="30">
                <a:solidFill>
                  <a:srgbClr val="E8590C"/>
                </a:solidFill>
                <a:latin typeface="Arial"/>
                <a:cs typeface="Arial"/>
              </a:rPr>
              <a:t>1 · THE CALLER SAYS</a:t>
            </a:r>
          </a:p>
          <a:p>
            <a:pPr marL="0" indent="0" algn="l">
              <a:lnSpc>
                <a:spcPct val="100000"/>
              </a:lnSpc>
              <a:spcBef>
                <a:spcPts val="300"/>
              </a:spcBef>
              <a:spcAft>
                <a:spcPts val="0"/>
              </a:spcAft>
              <a:buNone/>
            </a:pPr>
            <a:r>
              <a:rPr lang="en-US" sz="900" b="1" i="0" dirty="0">
                <a:solidFill>
                  <a:srgbClr val="1A1A1A"/>
                </a:solidFill>
                <a:latin typeface="Arial"/>
                <a:cs typeface="Arial"/>
              </a:rPr>
              <a:t>“Yes, garlic bread, please.”</a:t>
            </a:r>
          </a:p>
          <a:p>
            <a:pPr marL="0" indent="0" algn="l">
              <a:lnSpc>
                <a:spcPct val="100000"/>
              </a:lnSpc>
              <a:spcBef>
                <a:spcPts val="300"/>
              </a:spcBef>
              <a:spcAft>
                <a:spcPts val="0"/>
              </a:spcAft>
              <a:buNone/>
            </a:pPr>
            <a:r>
              <a:rPr lang="en-US" sz="700" b="0" i="0" dirty="0">
                <a:solidFill>
                  <a:srgbClr val="5F6368"/>
                </a:solidFill>
                <a:latin typeface="Arial"/>
                <a:cs typeface="Arial"/>
              </a:rPr>
              <a:t>Mia offered it in the same breath: garlic bread means someone is following you.</a:t>
            </a:r>
          </a:p>
        </p:txBody>
      </p:sp>
      <p:sp>
        <p:nvSpPr>
          <p:cNvPr id="302" name="Step 2: Gemini Live"/>
          <p:cNvSpPr/>
          <p:nvPr/>
        </p:nvSpPr>
        <p:spPr>
          <a:xfrm>
            <a:off x="2084832" y="1536192"/>
            <a:ext cx="1536192" cy="1024128"/>
          </a:xfrm>
          <a:prstGeom prst="roundRect">
            <a:avLst>
              <a:gd name="adj" fmla="val 5357"/>
            </a:avLst>
          </a:prstGeom>
          <a:solidFill>
            <a:srgbClr val="E8F0FE"/>
          </a:solidFill>
          <a:ln>
            <a:noFill/>
          </a:ln>
        </p:spPr>
        <p:txBody>
          <a:bodyPr wrap="square" lIns="73152" tIns="54864" rIns="73152" bIns="36576" rtlCol="0" anchor="t">
            <a:noAutofit/>
          </a:bodyPr>
          <a:lstStyle/>
          <a:p>
            <a:pPr marL="0" indent="0" algn="l">
              <a:lnSpc>
                <a:spcPct val="100000"/>
              </a:lnSpc>
              <a:spcBef>
                <a:spcPts val="0"/>
              </a:spcBef>
              <a:spcAft>
                <a:spcPts val="0"/>
              </a:spcAft>
              <a:buNone/>
            </a:pPr>
            <a:r>
              <a:rPr lang="en-US" sz="700" b="1" i="0" dirty="0" spc="30">
                <a:solidFill>
                  <a:srgbClr val="1A73E8"/>
                </a:solidFill>
                <a:latin typeface="Arial"/>
                <a:cs typeface="Arial"/>
              </a:rPr>
              <a:t>2 · GEMINI LIVE DECIDES</a:t>
            </a:r>
          </a:p>
          <a:p>
            <a:pPr marL="0" indent="0" algn="l">
              <a:lnSpc>
                <a:spcPct val="100000"/>
              </a:lnSpc>
              <a:spcBef>
                <a:spcPts val="300"/>
              </a:spcBef>
              <a:spcAft>
                <a:spcPts val="0"/>
              </a:spcAft>
              <a:buNone/>
            </a:pPr>
            <a:r>
              <a:rPr lang="en-US" sz="700" b="0" i="0" dirty="0">
                <a:solidFill>
                  <a:srgbClr val="1A1A1A"/>
                </a:solidFill>
                <a:latin typeface="Arial"/>
                <a:cs typeface="Arial"/>
              </a:rPr>
              <a:t>Hears the voice and a camera frame every 2 s, then calls</a:t>
            </a:r>
          </a:p>
          <a:p>
            <a:pPr marL="0" indent="0" algn="l">
              <a:lnSpc>
                <a:spcPct val="100000"/>
              </a:lnSpc>
              <a:spcBef>
                <a:spcPts val="200"/>
              </a:spcBef>
              <a:spcAft>
                <a:spcPts val="0"/>
              </a:spcAft>
              <a:buNone/>
            </a:pPr>
            <a:r>
              <a:rPr lang="en-US" sz="750" b="1" i="0" dirty="0">
                <a:solidFill>
                  <a:srgbClr val="1A73E8"/>
                </a:solidFill>
                <a:latin typeface="Courier New"/>
                <a:cs typeface="Courier New"/>
              </a:rPr>
              <a:t>report_situation</a:t>
            </a:r>
          </a:p>
          <a:p>
            <a:pPr marL="0" indent="0" algn="l">
              <a:lnSpc>
                <a:spcPct val="100000"/>
              </a:lnSpc>
              <a:spcBef>
                <a:spcPts val="0"/>
              </a:spcBef>
              <a:spcAft>
                <a:spcPts val="0"/>
              </a:spcAft>
              <a:buNone/>
            </a:pPr>
            <a:r>
              <a:rPr lang="en-US" sz="700" b="0" i="0" dirty="0">
                <a:solidFill>
                  <a:srgbClr val="1A1A1A"/>
                </a:solidFill>
                <a:latin typeface="Arial"/>
                <a:cs typeface="Arial"/>
              </a:rPr>
              <a:t>danger: being followed or chased</a:t>
            </a:r>
          </a:p>
          <a:p>
            <a:pPr marL="0" indent="0" algn="l">
              <a:lnSpc>
                <a:spcPct val="100000"/>
              </a:lnSpc>
              <a:spcBef>
                <a:spcPts val="0"/>
              </a:spcBef>
              <a:spcAft>
                <a:spcPts val="0"/>
              </a:spcAft>
              <a:buNone/>
            </a:pPr>
            <a:r>
              <a:rPr lang="en-US" sz="700" b="0" i="0" dirty="0">
                <a:solidFill>
                  <a:srgbClr val="1A1A1A"/>
                </a:solidFill>
                <a:latin typeface="Arial"/>
                <a:cs typeface="Arial"/>
              </a:rPr>
              <a:t>urgency: high</a:t>
            </a:r>
          </a:p>
        </p:txBody>
      </p:sp>
      <p:cxnSp>
        <p:nvCxnSpPr>
          <p:cNvPr id="303" name="Step arrow 1"/>
          <p:cNvCxnSpPr/>
          <p:nvPr/>
        </p:nvCxnSpPr>
        <p:spPr>
          <a:xfrm>
            <a:off x="1920240" y="2048256"/>
            <a:ext cx="146304" cy="0"/>
          </a:xfrm>
          <a:prstGeom prst="straightConnector1">
            <a:avLst/>
          </a:prstGeom>
          <a:ln w="19050">
            <a:solidFill>
              <a:srgbClr val="5F6368"/>
            </a:solidFill>
            <a:round/>
            <a:tailEnd type="triangle" w="med" len="med"/>
          </a:ln>
        </p:spPr>
      </p:cxnSp>
      <p:sp>
        <p:nvSpPr>
          <p:cNvPr id="304" name="Step 3: the phone"/>
          <p:cNvSpPr/>
          <p:nvPr/>
        </p:nvSpPr>
        <p:spPr>
          <a:xfrm>
            <a:off x="3803904" y="1536192"/>
            <a:ext cx="1536192" cy="1024128"/>
          </a:xfrm>
          <a:prstGeom prst="roundRect">
            <a:avLst>
              <a:gd name="adj" fmla="val 5357"/>
            </a:avLst>
          </a:prstGeom>
          <a:solidFill>
            <a:srgbClr val="FDEBDF"/>
          </a:solidFill>
          <a:ln>
            <a:noFill/>
          </a:ln>
        </p:spPr>
        <p:txBody>
          <a:bodyPr wrap="square" lIns="73152" tIns="54864" rIns="73152" bIns="36576" rtlCol="0" anchor="t">
            <a:noAutofit/>
          </a:bodyPr>
          <a:lstStyle/>
          <a:p>
            <a:pPr marL="0" indent="0" algn="l">
              <a:lnSpc>
                <a:spcPct val="100000"/>
              </a:lnSpc>
              <a:spcBef>
                <a:spcPts val="0"/>
              </a:spcBef>
              <a:spcAft>
                <a:spcPts val="0"/>
              </a:spcAft>
              <a:buNone/>
            </a:pPr>
            <a:r>
              <a:rPr lang="en-US" sz="700" b="1" i="0" dirty="0" spc="30">
                <a:solidFill>
                  <a:srgbClr val="E8590C"/>
                </a:solidFill>
                <a:latin typeface="Arial"/>
                <a:cs typeface="Arial"/>
              </a:rPr>
              <a:t>3 · THE PHONE ACTS</a:t>
            </a:r>
          </a:p>
          <a:p>
            <a:pPr marL="0" indent="0" algn="l">
              <a:lnSpc>
                <a:spcPct val="100000"/>
              </a:lnSpc>
              <a:spcBef>
                <a:spcPts val="300"/>
              </a:spcBef>
              <a:spcAft>
                <a:spcPts val="0"/>
              </a:spcAft>
              <a:buNone/>
            </a:pPr>
            <a:r>
              <a:rPr lang="en-US" sz="700" b="0" i="0" dirty="0">
                <a:solidFill>
                  <a:srgbClr val="1A1A1A"/>
                </a:solidFill>
                <a:latin typeface="Arial"/>
                <a:cs typeface="Arial"/>
              </a:rPr>
              <a:t>A rule in code, not AI: urgency high → severity HIGH</a:t>
            </a:r>
          </a:p>
          <a:p>
            <a:pPr marL="0" indent="0" algn="l">
              <a:lnSpc>
                <a:spcPct val="100000"/>
              </a:lnSpc>
              <a:spcBef>
                <a:spcPts val="300"/>
              </a:spcBef>
              <a:spcAft>
                <a:spcPts val="0"/>
              </a:spcAft>
              <a:buNone/>
            </a:pPr>
            <a:r>
              <a:rPr lang="en-US" sz="700" b="0" i="0" dirty="0">
                <a:solidFill>
                  <a:srgbClr val="1A1A1A"/>
                </a:solidFill>
                <a:latin typeface="Arial"/>
                <a:cs typeface="Arial"/>
              </a:rPr>
              <a:t>“Followed” means moving: a route to the nearest police station starts once the location is known</a:t>
            </a:r>
          </a:p>
        </p:txBody>
      </p:sp>
      <p:cxnSp>
        <p:nvCxnSpPr>
          <p:cNvPr id="305" name="Step arrow 2"/>
          <p:cNvCxnSpPr/>
          <p:nvPr/>
        </p:nvCxnSpPr>
        <p:spPr>
          <a:xfrm>
            <a:off x="3639312" y="2048256"/>
            <a:ext cx="146304" cy="0"/>
          </a:xfrm>
          <a:prstGeom prst="straightConnector1">
            <a:avLst/>
          </a:prstGeom>
          <a:ln w="19050">
            <a:solidFill>
              <a:srgbClr val="5F6368"/>
            </a:solidFill>
            <a:round/>
            <a:tailEnd type="triangle" w="med" len="med"/>
          </a:ln>
        </p:spPr>
      </p:cxnSp>
      <p:sp>
        <p:nvSpPr>
          <p:cNvPr id="306" name="Step 4: console"/>
          <p:cNvSpPr/>
          <p:nvPr/>
        </p:nvSpPr>
        <p:spPr>
          <a:xfrm>
            <a:off x="5522976" y="1536192"/>
            <a:ext cx="1536192" cy="1024128"/>
          </a:xfrm>
          <a:prstGeom prst="roundRect">
            <a:avLst>
              <a:gd name="adj" fmla="val 5357"/>
            </a:avLst>
          </a:prstGeom>
          <a:solidFill>
            <a:srgbClr val="E3F4E6"/>
          </a:solidFill>
          <a:ln>
            <a:noFill/>
          </a:ln>
        </p:spPr>
        <p:txBody>
          <a:bodyPr wrap="square" lIns="73152" tIns="54864" rIns="73152" bIns="36576" rtlCol="0" anchor="t">
            <a:noAutofit/>
          </a:bodyPr>
          <a:lstStyle/>
          <a:p>
            <a:pPr marL="0" indent="0" algn="l">
              <a:lnSpc>
                <a:spcPct val="100000"/>
              </a:lnSpc>
              <a:spcBef>
                <a:spcPts val="0"/>
              </a:spcBef>
              <a:spcAft>
                <a:spcPts val="0"/>
              </a:spcAft>
              <a:buNone/>
            </a:pPr>
            <a:r>
              <a:rPr lang="en-US" sz="700" b="1" i="0" dirty="0" spc="30">
                <a:solidFill>
                  <a:srgbClr val="2F9E44"/>
                </a:solidFill>
                <a:latin typeface="Arial"/>
                <a:cs typeface="Arial"/>
              </a:rPr>
              <a:t>4 · RESPONDERS SEE IT</a:t>
            </a:r>
          </a:p>
          <a:p>
            <a:pPr marL="0" indent="0" algn="l">
              <a:lnSpc>
                <a:spcPct val="100000"/>
              </a:lnSpc>
              <a:spcBef>
                <a:spcPts val="300"/>
              </a:spcBef>
              <a:spcAft>
                <a:spcPts val="0"/>
              </a:spcAft>
              <a:buNone/>
            </a:pPr>
            <a:r>
              <a:rPr lang="en-US" sz="700" b="0" i="0" dirty="0">
                <a:solidFill>
                  <a:srgbClr val="1A1A1A"/>
                </a:solidFill>
                <a:latin typeface="Arial"/>
                <a:cs typeface="Arial"/>
              </a:rPr>
              <a:t>Firestore listener: the danger tag, a HIGH chip and the route appear</a:t>
            </a:r>
          </a:p>
          <a:p>
            <a:pPr marL="0" indent="0" algn="l">
              <a:lnSpc>
                <a:spcPct val="100000"/>
              </a:lnSpc>
              <a:spcBef>
                <a:spcPts val="300"/>
              </a:spcBef>
              <a:spcAft>
                <a:spcPts val="0"/>
              </a:spcAft>
              <a:buNone/>
            </a:pPr>
            <a:r>
              <a:rPr lang="en-US" sz="700" b="1" i="0" dirty="0">
                <a:solidFill>
                  <a:srgbClr val="1A1A1A"/>
                </a:solidFill>
                <a:latin typeface="Arial"/>
                <a:cs typeface="Arial"/>
              </a:rPr>
              <a:t>2–3.5 s before the caller’s words are transcribed (8 real calls)</a:t>
            </a:r>
          </a:p>
        </p:txBody>
      </p:sp>
      <p:cxnSp>
        <p:nvCxnSpPr>
          <p:cNvPr id="307" name="Step arrow 3"/>
          <p:cNvCxnSpPr/>
          <p:nvPr/>
        </p:nvCxnSpPr>
        <p:spPr>
          <a:xfrm>
            <a:off x="5358384" y="2048256"/>
            <a:ext cx="146304" cy="0"/>
          </a:xfrm>
          <a:prstGeom prst="straightConnector1">
            <a:avLst/>
          </a:prstGeom>
          <a:ln w="19050">
            <a:solidFill>
              <a:srgbClr val="5F6368"/>
            </a:solidFill>
            <a:round/>
            <a:tailEnd type="triangle" w="med" len="med"/>
          </a:ln>
        </p:spPr>
      </p:cxnSp>
      <p:sp>
        <p:nvSpPr>
          <p:cNvPr id="308" name="Step 5: back to Mia"/>
          <p:cNvSpPr/>
          <p:nvPr/>
        </p:nvSpPr>
        <p:spPr>
          <a:xfrm>
            <a:off x="7242048" y="1536192"/>
            <a:ext cx="1536192" cy="1024128"/>
          </a:xfrm>
          <a:prstGeom prst="roundRect">
            <a:avLst>
              <a:gd name="adj" fmla="val 5357"/>
            </a:avLst>
          </a:prstGeom>
          <a:solidFill>
            <a:srgbClr val="E8F0FE"/>
          </a:solidFill>
          <a:ln>
            <a:noFill/>
          </a:ln>
        </p:spPr>
        <p:txBody>
          <a:bodyPr wrap="square" lIns="73152" tIns="54864" rIns="73152" bIns="36576" rtlCol="0" anchor="t">
            <a:noAutofit/>
          </a:bodyPr>
          <a:lstStyle/>
          <a:p>
            <a:pPr marL="0" indent="0" algn="l">
              <a:lnSpc>
                <a:spcPct val="100000"/>
              </a:lnSpc>
              <a:spcBef>
                <a:spcPts val="0"/>
              </a:spcBef>
              <a:spcAft>
                <a:spcPts val="0"/>
              </a:spcAft>
              <a:buNone/>
            </a:pPr>
            <a:r>
              <a:rPr lang="en-US" sz="700" b="1" i="0" dirty="0" spc="30">
                <a:solidFill>
                  <a:srgbClr val="1A73E8"/>
                </a:solidFill>
                <a:latin typeface="Arial"/>
                <a:cs typeface="Arial"/>
              </a:rPr>
              <a:t>5 · BACK TO MIA</a:t>
            </a:r>
          </a:p>
          <a:p>
            <a:pPr marL="0" indent="0" algn="l">
              <a:lnSpc>
                <a:spcPct val="100000"/>
              </a:lnSpc>
              <a:spcBef>
                <a:spcPts val="300"/>
              </a:spcBef>
              <a:spcAft>
                <a:spcPts val="0"/>
              </a:spcAft>
              <a:buNone/>
            </a:pPr>
            <a:r>
              <a:rPr lang="en-US" sz="700" b="0" i="0" dirty="0">
                <a:solidFill>
                  <a:srgbClr val="1A1A1A"/>
                </a:solidFill>
                <a:latin typeface="Arial"/>
                <a:cs typeface="Arial"/>
              </a:rPr>
              <a:t>The tool response carries what is now known</a:t>
            </a:r>
          </a:p>
          <a:p>
            <a:pPr marL="0" indent="0" algn="l">
              <a:lnSpc>
                <a:spcPct val="100000"/>
              </a:lnSpc>
              <a:spcBef>
                <a:spcPts val="300"/>
              </a:spcBef>
              <a:spcAft>
                <a:spcPts val="0"/>
              </a:spcAft>
              <a:buNone/>
            </a:pPr>
            <a:r>
              <a:rPr lang="en-US" sz="700" b="0" i="0" dirty="0">
                <a:solidFill>
                  <a:srgbClr val="1A1A1A"/>
                </a:solidFill>
                <a:latin typeface="Arial"/>
                <a:cs typeface="Arial"/>
              </a:rPr>
              <a:t>so Mia asks only what is still missing (where are you?) and relays each turn</a:t>
            </a:r>
          </a:p>
        </p:txBody>
      </p:sp>
      <p:cxnSp>
        <p:nvCxnSpPr>
          <p:cNvPr id="309" name="Step arrow 4"/>
          <p:cNvCxnSpPr/>
          <p:nvPr/>
        </p:nvCxnSpPr>
        <p:spPr>
          <a:xfrm>
            <a:off x="7077456" y="2048256"/>
            <a:ext cx="146304" cy="0"/>
          </a:xfrm>
          <a:prstGeom prst="straightConnector1">
            <a:avLst/>
          </a:prstGeom>
          <a:ln w="19050">
            <a:solidFill>
              <a:srgbClr val="5F6368"/>
            </a:solidFill>
            <a:round/>
            <a:tailEnd type="triangle" w="med" len="med"/>
          </a:ln>
        </p:spPr>
      </p:cxnSp>
      <p:sp>
        <p:nvSpPr>
          <p:cNvPr id="310" name="Loop back to Gemini"/>
          <p:cNvSpPr/>
          <p:nvPr/>
        </p:nvSpPr>
        <p:spPr>
          <a:xfrm>
            <a:off x="2852928" y="2560320"/>
            <a:ext cx="5157216" cy="128016"/>
          </a:xfrm>
          <a:custGeom>
            <a:avLst/>
            <a:gdLst/>
            <a:ahLst/>
            <a:cxnLst/>
            <a:rect l="l" t="t" r="r" b="b"/>
            <a:pathLst>
              <a:path w="5157216" h="128016" fill="none">
                <a:moveTo>
                  <a:pt x="5157216" y="0"/>
                </a:moveTo>
                <a:lnTo>
                  <a:pt x="5157216" y="128016"/>
                </a:lnTo>
                <a:lnTo>
                  <a:pt x="0" y="128016"/>
                </a:lnTo>
                <a:lnTo>
                  <a:pt x="0" y="0"/>
                </a:lnTo>
              </a:path>
            </a:pathLst>
          </a:custGeom>
          <a:noFill/>
          <a:ln w="19050">
            <a:solidFill>
              <a:srgbClr val="1A73E8"/>
            </a:solidFill>
            <a:round/>
            <a:tailEnd type="triangle" w="med" len="med"/>
          </a:ln>
        </p:spPr>
      </p:sp>
      <p:sp>
        <p:nvSpPr>
          <p:cNvPr id="311" name="Label: loop"/>
          <p:cNvSpPr txBox="1"/>
          <p:nvPr/>
        </p:nvSpPr>
        <p:spPr>
          <a:xfrm>
            <a:off x="2990088" y="2715768"/>
            <a:ext cx="4882896" cy="128016"/>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en-US" sz="700" b="0" i="0" dirty="0">
                <a:solidFill>
                  <a:srgbClr val="1A73E8"/>
                </a:solidFill>
                <a:latin typeface="Arial"/>
                <a:cs typeface="Arial"/>
              </a:rPr>
              <a:t>the loop repeats for every answer, one function call at a time</a:t>
            </a:r>
          </a:p>
        </p:txBody>
      </p:sp>
      <p:sp>
        <p:nvSpPr>
          <p:cNvPr id="312" name="Header: tools"/>
          <p:cNvSpPr txBox="1"/>
          <p:nvPr/>
        </p:nvSpPr>
        <p:spPr>
          <a:xfrm>
            <a:off x="365760" y="2944368"/>
            <a:ext cx="4023360" cy="164592"/>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800" b="1" i="0" dirty="0" spc="60">
                <a:solidFill>
                  <a:srgbClr val="1A73E8"/>
                </a:solidFill>
                <a:latin typeface="Arial"/>
                <a:cs typeface="Arial"/>
              </a:rPr>
              <a:t>THE 12 TOOLS, BY WHAT THEY DO</a:t>
            </a:r>
          </a:p>
        </p:txBody>
      </p:sp>
      <p:sp>
        <p:nvSpPr>
          <p:cNvPr id="313" name="Tools: report"/>
          <p:cNvSpPr/>
          <p:nvPr/>
        </p:nvSpPr>
        <p:spPr>
          <a:xfrm>
            <a:off x="365760" y="3154680"/>
            <a:ext cx="4069080" cy="512064"/>
          </a:xfrm>
          <a:prstGeom prst="roundRect">
            <a:avLst>
              <a:gd name="adj" fmla="val 10714"/>
            </a:avLst>
          </a:prstGeom>
          <a:solidFill>
            <a:srgbClr val="F4F5F7"/>
          </a:solidFill>
          <a:ln>
            <a:noFill/>
          </a:ln>
        </p:spPr>
        <p:txBody>
          <a:bodyPr wrap="square" lIns="73152" tIns="54864" rIns="73152" bIns="36576" rtlCol="0" anchor="t">
            <a:noAutofit/>
          </a:bodyPr>
          <a:lstStyle/>
          <a:p>
            <a:pPr marL="0" indent="0" algn="l">
              <a:lnSpc>
                <a:spcPct val="100000"/>
              </a:lnSpc>
              <a:spcBef>
                <a:spcPts val="0"/>
              </a:spcBef>
              <a:spcAft>
                <a:spcPts val="0"/>
              </a:spcAft>
              <a:buNone/>
            </a:pPr>
            <a:r>
              <a:rPr lang="en-US" sz="800" b="1" i="0" dirty="0">
                <a:solidFill>
                  <a:srgbClr val="1A1A1A"/>
                </a:solidFill>
                <a:latin typeface="Arial"/>
                <a:cs typeface="Arial"/>
              </a:rPr>
              <a:t>Report what she learns · 8 tools, answered silently</a:t>
            </a:r>
          </a:p>
          <a:p>
            <a:pPr marL="0" indent="0" algn="l">
              <a:lnSpc>
                <a:spcPct val="100000"/>
              </a:lnSpc>
              <a:spcBef>
                <a:spcPts val="200"/>
              </a:spcBef>
              <a:spcAft>
                <a:spcPts val="0"/>
              </a:spcAft>
              <a:buNone/>
            </a:pPr>
            <a:r>
              <a:rPr lang="en-US" sz="700" b="0" i="0" dirty="0">
                <a:solidFill>
                  <a:srgbClr val="5F6368"/>
                </a:solidFill>
                <a:latin typeface="Arial"/>
                <a:cs typeface="Arial"/>
              </a:rPr>
              <a:t>danger, people and urgency · voice stress · what the camera sees and the room sounds like · number plates · signs of coercion · caller’s apparent age · advice given · message delivered</a:t>
            </a:r>
          </a:p>
        </p:txBody>
      </p:sp>
      <p:sp>
        <p:nvSpPr>
          <p:cNvPr id="314" name="Tools: act"/>
          <p:cNvSpPr/>
          <p:nvPr/>
        </p:nvSpPr>
        <p:spPr>
          <a:xfrm>
            <a:off x="365760" y="3712464"/>
            <a:ext cx="4069080" cy="448056"/>
          </a:xfrm>
          <a:prstGeom prst="roundRect">
            <a:avLst>
              <a:gd name="adj" fmla="val 12245"/>
            </a:avLst>
          </a:prstGeom>
          <a:solidFill>
            <a:srgbClr val="F4F5F7"/>
          </a:solidFill>
          <a:ln>
            <a:noFill/>
          </a:ln>
        </p:spPr>
        <p:txBody>
          <a:bodyPr wrap="square" lIns="73152" tIns="54864" rIns="73152" bIns="36576" rtlCol="0" anchor="t">
            <a:noAutofit/>
          </a:bodyPr>
          <a:lstStyle/>
          <a:p>
            <a:pPr marL="0" indent="0" algn="l">
              <a:lnSpc>
                <a:spcPct val="100000"/>
              </a:lnSpc>
              <a:spcBef>
                <a:spcPts val="0"/>
              </a:spcBef>
              <a:spcAft>
                <a:spcPts val="0"/>
              </a:spcAft>
              <a:buNone/>
            </a:pPr>
            <a:r>
              <a:rPr lang="en-US" sz="800" b="1" i="0" dirty="0">
                <a:solidFill>
                  <a:srgbClr val="1A1A1A"/>
                </a:solidFill>
                <a:latin typeface="Arial"/>
                <a:cs typeface="Arial"/>
              </a:rPr>
              <a:t>Act for the caller · 3 tools, answered so Mia can use the result</a:t>
            </a:r>
          </a:p>
          <a:p>
            <a:pPr marL="0" indent="0" algn="l">
              <a:lnSpc>
                <a:spcPct val="100000"/>
              </a:lnSpc>
              <a:spcBef>
                <a:spcPts val="200"/>
              </a:spcBef>
              <a:spcAft>
                <a:spcPts val="0"/>
              </a:spcAft>
              <a:buNone/>
            </a:pPr>
            <a:r>
              <a:rPr lang="en-US" sz="700" b="0" i="0" dirty="0">
                <a:solidFill>
                  <a:srgbClr val="5F6368"/>
                </a:solidFill>
                <a:latin typeface="Arial"/>
                <a:cs typeface="Arial"/>
              </a:rPr>
              <a:t>confirm the address on a map · route to safety (nearby police, OSRM) · email the case report</a:t>
            </a:r>
          </a:p>
        </p:txBody>
      </p:sp>
      <p:sp>
        <p:nvSpPr>
          <p:cNvPr id="315" name="Tools: end"/>
          <p:cNvSpPr/>
          <p:nvPr/>
        </p:nvSpPr>
        <p:spPr>
          <a:xfrm>
            <a:off x="365760" y="4206240"/>
            <a:ext cx="4069080" cy="274320"/>
          </a:xfrm>
          <a:prstGeom prst="roundRect">
            <a:avLst>
              <a:gd name="adj" fmla="val 20000"/>
            </a:avLst>
          </a:prstGeom>
          <a:solidFill>
            <a:srgbClr val="F4F5F7"/>
          </a:solidFill>
          <a:ln>
            <a:noFill/>
          </a:ln>
        </p:spPr>
        <p:txBody>
          <a:bodyPr wrap="square" lIns="73152" tIns="54864" rIns="73152" bIns="36576" rtlCol="0" anchor="t">
            <a:noAutofit/>
          </a:bodyPr>
          <a:lstStyle/>
          <a:p>
            <a:pPr marL="0" indent="0" algn="l">
              <a:lnSpc>
                <a:spcPct val="100000"/>
              </a:lnSpc>
              <a:spcBef>
                <a:spcPts val="0"/>
              </a:spcBef>
              <a:spcAft>
                <a:spcPts val="0"/>
              </a:spcAft>
              <a:buNone/>
            </a:pPr>
            <a:r>
              <a:rPr lang="en-US" sz="800" b="1" i="0" dirty="0">
                <a:solidFill>
                  <a:srgbClr val="1A1A1A"/>
                </a:solidFill>
                <a:latin typeface="Arial"/>
                <a:cs typeface="Arial"/>
              </a:rPr>
              <a:t>End the call · 1 tool: </a:t>
            </a:r>
            <a:r>
              <a:rPr lang="en-US" sz="700" b="0" i="0" dirty="0">
                <a:solidFill>
                  <a:srgbClr val="5F6368"/>
                </a:solidFill>
                <a:latin typeface="Arial"/>
                <a:cs typeface="Arial"/>
              </a:rPr>
              <a:t>hangs up only after the goodbye has finished playing</a:t>
            </a:r>
          </a:p>
        </p:txBody>
      </p:sp>
      <p:sp>
        <p:nvSpPr>
          <p:cNvPr id="316" name="Header: reliability"/>
          <p:cNvSpPr txBox="1"/>
          <p:nvPr/>
        </p:nvSpPr>
        <p:spPr>
          <a:xfrm>
            <a:off x="4617720" y="2944368"/>
            <a:ext cx="4160520" cy="164592"/>
          </a:xfrm>
          <a:prstGeom prst="rect">
            <a:avLst/>
          </a:prstGeom>
          <a:noFill/>
          <a:ln>
            <a:noFill/>
          </a:ln>
        </p:spPr>
        <p:txBody>
          <a:bodyPr wrap="square" lIns="0" tIns="0" rIns="0" bIns="0" rtlCol="0" anchor="t">
            <a:noAutofit/>
          </a:bodyPr>
          <a:lstStyle/>
          <a:p>
            <a:pPr marL="0" indent="0" algn="l">
              <a:lnSpc>
                <a:spcPct val="100000"/>
              </a:lnSpc>
              <a:spcBef>
                <a:spcPts val="0"/>
              </a:spcBef>
              <a:spcAft>
                <a:spcPts val="0"/>
              </a:spcAft>
              <a:buNone/>
            </a:pPr>
            <a:r>
              <a:rPr lang="en-US" sz="800" b="1" i="0" dirty="0" spc="60">
                <a:solidFill>
                  <a:srgbClr val="1A73E8"/>
                </a:solidFill>
                <a:latin typeface="Arial"/>
                <a:cs typeface="Arial"/>
              </a:rPr>
              <a:t>WHAT MAKES IT HOLD UP ON A REAL CALL</a:t>
            </a:r>
          </a:p>
        </p:txBody>
      </p:sp>
      <p:sp>
        <p:nvSpPr>
          <p:cNvPr id="317" name="Reliability: One reply per batch"/>
          <p:cNvSpPr/>
          <p:nvPr/>
        </p:nvSpPr>
        <p:spPr>
          <a:xfrm>
            <a:off x="4617720" y="3154680"/>
            <a:ext cx="4160520" cy="320040"/>
          </a:xfrm>
          <a:prstGeom prst="roundRect">
            <a:avLst>
              <a:gd name="adj" fmla="val 17143"/>
            </a:avLst>
          </a:prstGeom>
          <a:solidFill>
            <a:srgbClr val="FFFFFF"/>
          </a:solidFill>
          <a:ln w="9525">
            <a:solidFill>
              <a:srgbClr val="DADCE0"/>
            </a:solidFill>
            <a:round/>
          </a:ln>
        </p:spPr>
        <p:txBody>
          <a:bodyPr wrap="square" lIns="73152" tIns="36576" rIns="73152" bIns="36576" rtlCol="0" anchor="ctr">
            <a:noAutofit/>
          </a:bodyPr>
          <a:lstStyle/>
          <a:p>
            <a:pPr marL="0" indent="0" algn="l">
              <a:lnSpc>
                <a:spcPct val="100000"/>
              </a:lnSpc>
              <a:spcBef>
                <a:spcPts val="0"/>
              </a:spcBef>
              <a:spcAft>
                <a:spcPts val="0"/>
              </a:spcAft>
              <a:buNone/>
            </a:pPr>
            <a:r>
              <a:rPr lang="en-US" sz="750" b="1" i="0" dirty="0">
                <a:solidFill>
                  <a:srgbClr val="1A1A1A"/>
                </a:solidFill>
                <a:latin typeface="Arial"/>
                <a:cs typeface="Arial"/>
              </a:rPr>
              <a:t>One reply per batch: </a:t>
            </a:r>
            <a:r>
              <a:rPr lang="en-US" sz="700" b="0" i="0" dirty="0">
                <a:solidFill>
                  <a:srgbClr val="5F6368"/>
                </a:solidFill>
                <a:latin typeface="Arial"/>
                <a:cs typeface="Arial"/>
              </a:rPr>
              <a:t>report tools answer silently, so Mia never talks over herself</a:t>
            </a:r>
          </a:p>
        </p:txBody>
      </p:sp>
      <p:sp>
        <p:nvSpPr>
          <p:cNvPr id="318" name="Reliability: Never goes quiet"/>
          <p:cNvSpPr/>
          <p:nvPr/>
        </p:nvSpPr>
        <p:spPr>
          <a:xfrm>
            <a:off x="4617720" y="3511296"/>
            <a:ext cx="4160520" cy="320040"/>
          </a:xfrm>
          <a:prstGeom prst="roundRect">
            <a:avLst>
              <a:gd name="adj" fmla="val 17143"/>
            </a:avLst>
          </a:prstGeom>
          <a:solidFill>
            <a:srgbClr val="FFFFFF"/>
          </a:solidFill>
          <a:ln w="9525">
            <a:solidFill>
              <a:srgbClr val="DADCE0"/>
            </a:solidFill>
            <a:round/>
          </a:ln>
        </p:spPr>
        <p:txBody>
          <a:bodyPr wrap="square" lIns="73152" tIns="36576" rIns="73152" bIns="36576" rtlCol="0" anchor="ctr">
            <a:noAutofit/>
          </a:bodyPr>
          <a:lstStyle/>
          <a:p>
            <a:pPr marL="0" indent="0" algn="l">
              <a:lnSpc>
                <a:spcPct val="100000"/>
              </a:lnSpc>
              <a:spcBef>
                <a:spcPts val="0"/>
              </a:spcBef>
              <a:spcAft>
                <a:spcPts val="0"/>
              </a:spcAft>
              <a:buNone/>
            </a:pPr>
            <a:r>
              <a:rPr lang="en-US" sz="750" b="1" i="0" dirty="0">
                <a:solidFill>
                  <a:srgbClr val="1A1A1A"/>
                </a:solidFill>
                <a:latin typeface="Arial"/>
                <a:cs typeface="Arial"/>
              </a:rPr>
              <a:t>Never goes quiet: </a:t>
            </a:r>
            <a:r>
              <a:rPr lang="en-US" sz="700" b="0" i="0" dirty="0">
                <a:solidFill>
                  <a:srgbClr val="5F6368"/>
                </a:solidFill>
                <a:latin typeface="Arial"/>
                <a:cs typeface="Arial"/>
              </a:rPr>
              <a:t>20 s silence and 8 s reply watchdogs; a 6 s route budget with a holding line</a:t>
            </a:r>
          </a:p>
        </p:txBody>
      </p:sp>
      <p:sp>
        <p:nvSpPr>
          <p:cNvPr id="319" name="Reliability: Long calls survive"/>
          <p:cNvSpPr/>
          <p:nvPr/>
        </p:nvSpPr>
        <p:spPr>
          <a:xfrm>
            <a:off x="4617720" y="3867912"/>
            <a:ext cx="4160520" cy="320040"/>
          </a:xfrm>
          <a:prstGeom prst="roundRect">
            <a:avLst>
              <a:gd name="adj" fmla="val 17143"/>
            </a:avLst>
          </a:prstGeom>
          <a:solidFill>
            <a:srgbClr val="FFFFFF"/>
          </a:solidFill>
          <a:ln w="9525">
            <a:solidFill>
              <a:srgbClr val="DADCE0"/>
            </a:solidFill>
            <a:round/>
          </a:ln>
        </p:spPr>
        <p:txBody>
          <a:bodyPr wrap="square" lIns="73152" tIns="36576" rIns="73152" bIns="36576" rtlCol="0" anchor="ctr">
            <a:noAutofit/>
          </a:bodyPr>
          <a:lstStyle/>
          <a:p>
            <a:pPr marL="0" indent="0" algn="l">
              <a:lnSpc>
                <a:spcPct val="100000"/>
              </a:lnSpc>
              <a:spcBef>
                <a:spcPts val="0"/>
              </a:spcBef>
              <a:spcAft>
                <a:spcPts val="0"/>
              </a:spcAft>
              <a:buNone/>
            </a:pPr>
            <a:r>
              <a:rPr lang="en-US" sz="750" b="1" i="0" dirty="0">
                <a:solidFill>
                  <a:srgbClr val="1A1A1A"/>
                </a:solidFill>
                <a:latin typeface="Arial"/>
                <a:cs typeface="Arial"/>
              </a:rPr>
              <a:t>Long calls survive: </a:t>
            </a:r>
            <a:r>
              <a:rPr lang="en-US" sz="700" b="0" i="0" dirty="0">
                <a:solidFill>
                  <a:srgbClr val="5F6368"/>
                </a:solidFill>
                <a:latin typeface="Arial"/>
                <a:cs typeface="Arial"/>
              </a:rPr>
              <a:t>session resumption, context compressed 48K → 28K tokens, capped reconnects</a:t>
            </a:r>
          </a:p>
        </p:txBody>
      </p:sp>
      <p:sp>
        <p:nvSpPr>
          <p:cNvPr id="320" name="Reliability: After the call"/>
          <p:cNvSpPr/>
          <p:nvPr/>
        </p:nvSpPr>
        <p:spPr>
          <a:xfrm>
            <a:off x="4617720" y="4224528"/>
            <a:ext cx="4160520" cy="320040"/>
          </a:xfrm>
          <a:prstGeom prst="roundRect">
            <a:avLst>
              <a:gd name="adj" fmla="val 17143"/>
            </a:avLst>
          </a:prstGeom>
          <a:solidFill>
            <a:srgbClr val="FFFFFF"/>
          </a:solidFill>
          <a:ln w="9525">
            <a:solidFill>
              <a:srgbClr val="DADCE0"/>
            </a:solidFill>
            <a:round/>
          </a:ln>
        </p:spPr>
        <p:txBody>
          <a:bodyPr wrap="square" lIns="73152" tIns="36576" rIns="73152" bIns="36576" rtlCol="0" anchor="ctr">
            <a:noAutofit/>
          </a:bodyPr>
          <a:lstStyle/>
          <a:p>
            <a:pPr marL="0" indent="0" algn="l">
              <a:lnSpc>
                <a:spcPct val="100000"/>
              </a:lnSpc>
              <a:spcBef>
                <a:spcPts val="0"/>
              </a:spcBef>
              <a:spcAft>
                <a:spcPts val="0"/>
              </a:spcAft>
              <a:buNone/>
            </a:pPr>
            <a:r>
              <a:rPr lang="en-US" sz="750" b="1" i="0" dirty="0">
                <a:solidFill>
                  <a:srgbClr val="1A1A1A"/>
                </a:solidFill>
                <a:latin typeface="Arial"/>
                <a:cs typeface="Arial"/>
              </a:rPr>
              <a:t>After the call: </a:t>
            </a:r>
            <a:r>
              <a:rPr lang="en-US" sz="700" b="0" i="0" dirty="0">
                <a:solidFill>
                  <a:srgbClr val="5F6368"/>
                </a:solidFill>
                <a:latin typeface="Arial"/>
                <a:cs typeface="Arial"/>
              </a:rPr>
              <a:t>3.5 Flash-Lite writes the summary, bulletin and redactions in one request; 3.1 Flash-Lite links related cases</a:t>
            </a:r>
          </a:p>
        </p:txBody>
      </p:sp>
      <p:sp>
        <p:nvSpPr>
          <p:cNvPr id="321" name="Footer: models"/>
          <p:cNvSpPr txBox="1"/>
          <p:nvPr/>
        </p:nvSpPr>
        <p:spPr>
          <a:xfrm>
            <a:off x="365760" y="4663440"/>
            <a:ext cx="8412480" cy="146304"/>
          </a:xfrm>
          <a:prstGeom prst="rect">
            <a:avLst/>
          </a:prstGeom>
          <a:noFill/>
          <a:ln>
            <a:noFill/>
          </a:ln>
        </p:spPr>
        <p:txBody>
          <a:bodyPr wrap="square" lIns="0" tIns="0" rIns="0" bIns="0" rtlCol="0" anchor="t">
            <a:noAutofit/>
          </a:bodyPr>
          <a:lstStyle/>
          <a:p>
            <a:pPr marL="0" indent="0" algn="ctr">
              <a:lnSpc>
                <a:spcPct val="100000"/>
              </a:lnSpc>
              <a:spcBef>
                <a:spcPts val="0"/>
              </a:spcBef>
              <a:spcAft>
                <a:spcPts val="0"/>
              </a:spcAft>
              <a:buNone/>
            </a:pPr>
            <a:r>
              <a:rPr lang="en-US" sz="700" b="0" i="0" dirty="0">
                <a:solidFill>
                  <a:srgbClr val="5F6368"/>
                </a:solidFill>
                <a:latin typeface="Arial"/>
                <a:cs typeface="Arial"/>
              </a:rPr>
              <a:t>Models per task: gemini-3.8-live on the call · 3.5 Flash-Lite after it · 3.1 Flash-Lite for vision, linking and console AI · free-tier key first, paid fallback · tokens recorded on every incident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21"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17" name="Google Shape;117;p21" title="Group 427319979.png"/>
          <p:cNvPicPr preferRelativeResize="0"/>
          <p:nvPr/>
        </p:nvPicPr>
        <p:blipFill>
          <a:blip r:embed="rId4">
            <a:alphaModFix/>
          </a:blip>
          <a:stretch>
            <a:fillRect/>
          </a:stretch>
        </p:blipFill>
        <p:spPr>
          <a:xfrm>
            <a:off x="0" y="3649"/>
            <a:ext cx="9144000" cy="500062"/>
          </a:xfrm>
          <a:prstGeom prst="rect">
            <a:avLst/>
          </a:prstGeom>
          <a:noFill/>
          <a:ln>
            <a:noFill/>
          </a:ln>
        </p:spPr>
      </p:pic>
      <p:sp>
        <p:nvSpPr>
          <p:cNvPr id="118" name="Google Shape;118;p21"/>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9" name="Google Shape;119;p21"/>
          <p:cNvSpPr txBox="1"/>
          <p:nvPr/>
        </p:nvSpPr>
        <p:spPr>
          <a:xfrm>
            <a:off x="265350" y="603504"/>
            <a:ext cx="8943000" cy="384048"/>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latin typeface="Google Sans Flex Medium"/>
                <a:ea typeface="Google Sans Flex Medium"/>
                <a:cs typeface="Google Sans Flex Medium"/>
                <a:sym typeface="Google Sans Flex Medium"/>
              </a:rPr>
              <a:t>Technologies to be used in the solution</a:t>
            </a:r>
            <a:endParaRPr sz="1600">
              <a:latin typeface="Google Sans Flex Medium"/>
              <a:ea typeface="Google Sans Flex Medium"/>
              <a:cs typeface="Google Sans Flex Medium"/>
              <a:sym typeface="Google Sans Flex Medium"/>
            </a:endParaRPr>
          </a:p>
        </p:txBody>
      </p:sp>
      <p:sp>
        <p:nvSpPr>
          <p:cNvPr id="120" name="Takeaway"/>
          <p:cNvSpPr txBox="1"/>
          <p:nvPr/>
        </p:nvSpPr>
        <p:spPr>
          <a:xfrm>
            <a:off x="365760" y="969264"/>
            <a:ext cx="8412480" cy="292608"/>
          </a:xfrm>
          <a:prstGeom prst="rect">
            <a:avLst/>
          </a:prstGeom>
          <a:noFill/>
        </p:spPr>
        <p:txBody>
          <a:bodyPr wrap="square" lIns="0" tIns="0" rIns="0" bIns="0" anchor="t"/>
          <a:lstStyle/>
          <a:p>
            <a:pPr algn="l"/>
            <a:r>
              <a:rPr sz="1300" b="1" i="0">
                <a:solidFill>
                  <a:srgbClr val="E8590C"/>
                </a:solidFill>
                <a:latin typeface="Arial"/>
              </a:rPr>
              <a:t>Built on Google: Gemini for intelligence, Firebase for realtime, Android for reach</a:t>
            </a:r>
          </a:p>
        </p:txBody>
      </p:sp>
      <p:sp>
        <p:nvSpPr>
          <p:cNvPr id="121" name="Rounded Rectangle 120"/>
          <p:cNvSpPr/>
          <p:nvPr/>
        </p:nvSpPr>
        <p:spPr>
          <a:xfrm>
            <a:off x="365760" y="1353312"/>
            <a:ext cx="1600200" cy="676656"/>
          </a:xfrm>
          <a:prstGeom prst="roundRect">
            <a:avLst>
              <a:gd name="adj" fmla="val 10000"/>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l"/>
            <a:r>
              <a:rPr sz="950" b="1" i="0">
                <a:solidFill>
                  <a:srgbClr val="FFFFFF"/>
                </a:solidFill>
                <a:latin typeface="Arial"/>
              </a:rPr>
              <a:t>Google AI</a:t>
            </a:r>
          </a:p>
        </p:txBody>
      </p:sp>
      <p:sp>
        <p:nvSpPr>
          <p:cNvPr id="122" name="Rounded Rectangle 121"/>
          <p:cNvSpPr/>
          <p:nvPr/>
        </p:nvSpPr>
        <p:spPr>
          <a:xfrm>
            <a:off x="2057400" y="1353312"/>
            <a:ext cx="6720840" cy="676656"/>
          </a:xfrm>
          <a:prstGeom prst="roundRect">
            <a:avLst>
              <a:gd name="adj" fmla="val 6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3" name="TextBox 122"/>
          <p:cNvSpPr txBox="1"/>
          <p:nvPr/>
        </p:nvSpPr>
        <p:spPr>
          <a:xfrm>
            <a:off x="2176272" y="1417320"/>
            <a:ext cx="3246120" cy="274320"/>
          </a:xfrm>
          <a:prstGeom prst="rect">
            <a:avLst/>
          </a:prstGeom>
          <a:noFill/>
        </p:spPr>
        <p:txBody>
          <a:bodyPr wrap="square" lIns="0" tIns="0" rIns="0" bIns="0" anchor="t"/>
          <a:lstStyle/>
          <a:p>
            <a:pPr algn="l"/>
            <a:r>
              <a:rPr sz="850" b="1" i="0">
                <a:solidFill>
                  <a:srgbClr val="1A1A1A"/>
                </a:solidFill>
                <a:latin typeface="Arial"/>
              </a:rPr>
              <a:t>Gemini Live API (gemini-3.8-live)</a:t>
            </a:r>
            <a:r>
              <a:rPr sz="750" b="0" i="0">
                <a:solidFill>
                  <a:srgbClr val="5F6368"/>
                </a:solidFill>
                <a:latin typeface="Arial"/>
              </a:rPr>
              <a:t>  the only model doing realtime voice + vision + tools</a:t>
            </a:r>
          </a:p>
        </p:txBody>
      </p:sp>
      <p:sp>
        <p:nvSpPr>
          <p:cNvPr id="124" name="TextBox 123"/>
          <p:cNvSpPr txBox="1"/>
          <p:nvPr/>
        </p:nvSpPr>
        <p:spPr>
          <a:xfrm>
            <a:off x="2176272" y="1709928"/>
            <a:ext cx="3246120" cy="274320"/>
          </a:xfrm>
          <a:prstGeom prst="rect">
            <a:avLst/>
          </a:prstGeom>
          <a:noFill/>
        </p:spPr>
        <p:txBody>
          <a:bodyPr wrap="square" lIns="0" tIns="0" rIns="0" bIns="0" anchor="t"/>
          <a:lstStyle/>
          <a:p>
            <a:pPr algn="l"/>
            <a:r>
              <a:rPr sz="850" b="1" i="0">
                <a:solidFill>
                  <a:srgbClr val="1A1A1A"/>
                </a:solidFill>
                <a:latin typeface="Arial"/>
              </a:rPr>
              <a:t>Gemini 3.5 / 3.1 Flash-Lite</a:t>
            </a:r>
            <a:r>
              <a:rPr sz="750" b="0" i="0">
                <a:solidFill>
                  <a:srgbClr val="5F6368"/>
                </a:solidFill>
                <a:latin typeface="Arial"/>
              </a:rPr>
              <a:t>  summaries, vision, linking, search, insights</a:t>
            </a:r>
          </a:p>
        </p:txBody>
      </p:sp>
      <p:sp>
        <p:nvSpPr>
          <p:cNvPr id="125" name="TextBox 124"/>
          <p:cNvSpPr txBox="1"/>
          <p:nvPr/>
        </p:nvSpPr>
        <p:spPr>
          <a:xfrm>
            <a:off x="5513831" y="1417320"/>
            <a:ext cx="3246120" cy="274320"/>
          </a:xfrm>
          <a:prstGeom prst="rect">
            <a:avLst/>
          </a:prstGeom>
          <a:noFill/>
        </p:spPr>
        <p:txBody>
          <a:bodyPr wrap="square" lIns="0" tIns="0" rIns="0" bIns="0" anchor="t"/>
          <a:lstStyle/>
          <a:p>
            <a:pPr algn="l"/>
            <a:r>
              <a:rPr sz="850" b="1" i="0">
                <a:solidFill>
                  <a:srgbClr val="1A1A1A"/>
                </a:solidFill>
                <a:latin typeface="Arial"/>
              </a:rPr>
              <a:t>Firebase AI Logic</a:t>
            </a:r>
            <a:r>
              <a:rPr sz="750" b="0" i="0">
                <a:solidFill>
                  <a:srgbClr val="5F6368"/>
                </a:solidFill>
                <a:latin typeface="Arial"/>
              </a:rPr>
              <a:t>  no key in the client</a:t>
            </a:r>
          </a:p>
        </p:txBody>
      </p:sp>
      <p:sp>
        <p:nvSpPr>
          <p:cNvPr id="126" name="TextBox 125"/>
          <p:cNvSpPr txBox="1"/>
          <p:nvPr/>
        </p:nvSpPr>
        <p:spPr>
          <a:xfrm>
            <a:off x="5513831" y="1709928"/>
            <a:ext cx="3246120" cy="274320"/>
          </a:xfrm>
          <a:prstGeom prst="rect">
            <a:avLst/>
          </a:prstGeom>
          <a:noFill/>
        </p:spPr>
        <p:txBody>
          <a:bodyPr wrap="square" lIns="0" tIns="0" rIns="0" bIns="0" anchor="t"/>
          <a:lstStyle/>
          <a:p>
            <a:pPr algn="l"/>
            <a:r>
              <a:rPr sz="850" b="1" i="0">
                <a:solidFill>
                  <a:srgbClr val="1A1A1A"/>
                </a:solidFill>
                <a:latin typeface="Arial"/>
              </a:rPr>
              <a:t>Gemma 4 31B</a:t>
            </a:r>
            <a:r>
              <a:rPr sz="750" b="0" i="0">
                <a:solidFill>
                  <a:srgbClr val="5F6368"/>
                </a:solidFill>
                <a:latin typeface="Arial"/>
              </a:rPr>
              <a:t>  free judge in the eval harness</a:t>
            </a:r>
          </a:p>
        </p:txBody>
      </p:sp>
      <p:sp>
        <p:nvSpPr>
          <p:cNvPr id="127" name="Rounded Rectangle 126"/>
          <p:cNvSpPr/>
          <p:nvPr/>
        </p:nvSpPr>
        <p:spPr>
          <a:xfrm>
            <a:off x="365760" y="2103120"/>
            <a:ext cx="1600200" cy="676656"/>
          </a:xfrm>
          <a:prstGeom prst="roundRect">
            <a:avLst>
              <a:gd name="adj" fmla="val 10000"/>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l"/>
            <a:r>
              <a:rPr sz="950" b="1" i="0">
                <a:solidFill>
                  <a:srgbClr val="FFFFFF"/>
                </a:solidFill>
                <a:latin typeface="Arial"/>
              </a:rPr>
              <a:t>Firebase &amp; Google Cloud</a:t>
            </a:r>
          </a:p>
        </p:txBody>
      </p:sp>
      <p:sp>
        <p:nvSpPr>
          <p:cNvPr id="128" name="Rounded Rectangle 127"/>
          <p:cNvSpPr/>
          <p:nvPr/>
        </p:nvSpPr>
        <p:spPr>
          <a:xfrm>
            <a:off x="2057400" y="2103120"/>
            <a:ext cx="6720840" cy="676656"/>
          </a:xfrm>
          <a:prstGeom prst="roundRect">
            <a:avLst>
              <a:gd name="adj" fmla="val 6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9" name="TextBox 128"/>
          <p:cNvSpPr txBox="1"/>
          <p:nvPr/>
        </p:nvSpPr>
        <p:spPr>
          <a:xfrm>
            <a:off x="2176272" y="2167127"/>
            <a:ext cx="3246120" cy="274320"/>
          </a:xfrm>
          <a:prstGeom prst="rect">
            <a:avLst/>
          </a:prstGeom>
          <a:noFill/>
        </p:spPr>
        <p:txBody>
          <a:bodyPr wrap="square" lIns="0" tIns="0" rIns="0" bIns="0" anchor="t"/>
          <a:lstStyle/>
          <a:p>
            <a:pPr algn="l"/>
            <a:r>
              <a:rPr sz="850" b="1" i="0">
                <a:solidFill>
                  <a:srgbClr val="1A1A1A"/>
                </a:solidFill>
                <a:latin typeface="Arial"/>
              </a:rPr>
              <a:t>Hosting (4 sites), Cloud Firestore, Auth</a:t>
            </a:r>
            <a:r>
              <a:rPr sz="750" b="0" i="0">
                <a:solidFill>
                  <a:srgbClr val="5F6368"/>
                </a:solidFill>
                <a:latin typeface="Arial"/>
              </a:rPr>
              <a:t>  email, device ID, phone OTP</a:t>
            </a:r>
          </a:p>
        </p:txBody>
      </p:sp>
      <p:sp>
        <p:nvSpPr>
          <p:cNvPr id="130" name="TextBox 129"/>
          <p:cNvSpPr txBox="1"/>
          <p:nvPr/>
        </p:nvSpPr>
        <p:spPr>
          <a:xfrm>
            <a:off x="2176272" y="2459735"/>
            <a:ext cx="3246120" cy="274320"/>
          </a:xfrm>
          <a:prstGeom prst="rect">
            <a:avLst/>
          </a:prstGeom>
          <a:noFill/>
        </p:spPr>
        <p:txBody>
          <a:bodyPr wrap="square" lIns="0" tIns="0" rIns="0" bIns="0" anchor="t"/>
          <a:lstStyle/>
          <a:p>
            <a:pPr algn="l"/>
            <a:r>
              <a:rPr sz="850" b="1" i="0">
                <a:solidFill>
                  <a:srgbClr val="1A1A1A"/>
                </a:solidFill>
                <a:latin typeface="Arial"/>
              </a:rPr>
              <a:t>App Check</a:t>
            </a:r>
            <a:r>
              <a:rPr sz="750" b="0" i="0">
                <a:solidFill>
                  <a:srgbClr val="5F6368"/>
                </a:solidFill>
                <a:latin typeface="Arial"/>
              </a:rPr>
              <a:t>  reCAPTCHA Enterprise</a:t>
            </a:r>
          </a:p>
        </p:txBody>
      </p:sp>
      <p:sp>
        <p:nvSpPr>
          <p:cNvPr id="131" name="TextBox 130"/>
          <p:cNvSpPr txBox="1"/>
          <p:nvPr/>
        </p:nvSpPr>
        <p:spPr>
          <a:xfrm>
            <a:off x="5513831" y="2167127"/>
            <a:ext cx="3246120" cy="274320"/>
          </a:xfrm>
          <a:prstGeom prst="rect">
            <a:avLst/>
          </a:prstGeom>
          <a:noFill/>
        </p:spPr>
        <p:txBody>
          <a:bodyPr wrap="square" lIns="0" tIns="0" rIns="0" bIns="0" anchor="t"/>
          <a:lstStyle/>
          <a:p>
            <a:pPr algn="l"/>
            <a:r>
              <a:rPr sz="850" b="1" i="0">
                <a:solidFill>
                  <a:srgbClr val="1A1A1A"/>
                </a:solidFill>
                <a:latin typeface="Arial"/>
              </a:rPr>
              <a:t>Apps Script + Drive</a:t>
            </a:r>
            <a:r>
              <a:rPr sz="750" b="0" i="0">
                <a:solidFill>
                  <a:srgbClr val="5F6368"/>
                </a:solidFill>
                <a:latin typeface="Arial"/>
              </a:rPr>
              <a:t>  evidence and mail, no billing</a:t>
            </a:r>
          </a:p>
        </p:txBody>
      </p:sp>
      <p:sp>
        <p:nvSpPr>
          <p:cNvPr id="132" name="TextBox 131"/>
          <p:cNvSpPr txBox="1"/>
          <p:nvPr/>
        </p:nvSpPr>
        <p:spPr>
          <a:xfrm>
            <a:off x="5513831" y="2459735"/>
            <a:ext cx="3246120" cy="274320"/>
          </a:xfrm>
          <a:prstGeom prst="rect">
            <a:avLst/>
          </a:prstGeom>
          <a:noFill/>
        </p:spPr>
        <p:txBody>
          <a:bodyPr wrap="square" lIns="0" tIns="0" rIns="0" bIns="0" anchor="t"/>
          <a:lstStyle/>
          <a:p>
            <a:pPr algn="l"/>
            <a:r>
              <a:rPr sz="850" b="1" i="0">
                <a:solidFill>
                  <a:srgbClr val="1A1A1A"/>
                </a:solidFill>
                <a:latin typeface="Arial"/>
              </a:rPr>
              <a:t>BigQuery, Maps JS, STUN</a:t>
            </a:r>
            <a:r>
              <a:rPr sz="750" b="0" i="0">
                <a:solidFill>
                  <a:srgbClr val="5F6368"/>
                </a:solidFill>
                <a:latin typeface="Arial"/>
              </a:rPr>
              <a:t>  analytics, maps, WebRTC</a:t>
            </a:r>
          </a:p>
        </p:txBody>
      </p:sp>
      <p:sp>
        <p:nvSpPr>
          <p:cNvPr id="133" name="Rounded Rectangle 132"/>
          <p:cNvSpPr/>
          <p:nvPr/>
        </p:nvSpPr>
        <p:spPr>
          <a:xfrm>
            <a:off x="365760" y="2852927"/>
            <a:ext cx="1600200" cy="676656"/>
          </a:xfrm>
          <a:prstGeom prst="roundRect">
            <a:avLst>
              <a:gd name="adj" fmla="val 10000"/>
            </a:avLst>
          </a:prstGeom>
          <a:solidFill>
            <a:srgbClr val="2F9E44"/>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l"/>
            <a:r>
              <a:rPr sz="950" b="1" i="0">
                <a:solidFill>
                  <a:srgbClr val="FFFFFF"/>
                </a:solidFill>
                <a:latin typeface="Arial"/>
              </a:rPr>
              <a:t>Apps</a:t>
            </a:r>
          </a:p>
        </p:txBody>
      </p:sp>
      <p:sp>
        <p:nvSpPr>
          <p:cNvPr id="134" name="Rounded Rectangle 133"/>
          <p:cNvSpPr/>
          <p:nvPr/>
        </p:nvSpPr>
        <p:spPr>
          <a:xfrm>
            <a:off x="2057400" y="2852927"/>
            <a:ext cx="6720840" cy="676656"/>
          </a:xfrm>
          <a:prstGeom prst="roundRect">
            <a:avLst>
              <a:gd name="adj" fmla="val 6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5" name="TextBox 134"/>
          <p:cNvSpPr txBox="1"/>
          <p:nvPr/>
        </p:nvSpPr>
        <p:spPr>
          <a:xfrm>
            <a:off x="2176272" y="2916935"/>
            <a:ext cx="3246120" cy="274320"/>
          </a:xfrm>
          <a:prstGeom prst="rect">
            <a:avLst/>
          </a:prstGeom>
          <a:noFill/>
        </p:spPr>
        <p:txBody>
          <a:bodyPr wrap="square" lIns="0" tIns="0" rIns="0" bIns="0" anchor="t"/>
          <a:lstStyle/>
          <a:p>
            <a:pPr algn="l"/>
            <a:r>
              <a:rPr sz="850" b="1" i="0">
                <a:solidFill>
                  <a:srgbClr val="1A1A1A"/>
                </a:solidFill>
                <a:latin typeface="Arial"/>
              </a:rPr>
              <a:t>React + Vite + TypeScript</a:t>
            </a:r>
            <a:r>
              <a:rPr sz="750" b="0" i="0">
                <a:solidFill>
                  <a:srgbClr val="5F6368"/>
                </a:solidFill>
                <a:latin typeface="Arial"/>
              </a:rPr>
              <a:t>  caller app, console, landing</a:t>
            </a:r>
          </a:p>
        </p:txBody>
      </p:sp>
      <p:sp>
        <p:nvSpPr>
          <p:cNvPr id="136" name="TextBox 135"/>
          <p:cNvSpPr txBox="1"/>
          <p:nvPr/>
        </p:nvSpPr>
        <p:spPr>
          <a:xfrm>
            <a:off x="2176272" y="3209543"/>
            <a:ext cx="3246120" cy="274320"/>
          </a:xfrm>
          <a:prstGeom prst="rect">
            <a:avLst/>
          </a:prstGeom>
          <a:noFill/>
        </p:spPr>
        <p:txBody>
          <a:bodyPr wrap="square" lIns="0" tIns="0" rIns="0" bIns="0" anchor="t"/>
          <a:lstStyle/>
          <a:p>
            <a:pPr algn="l"/>
            <a:r>
              <a:rPr sz="850" b="1" i="0">
                <a:solidFill>
                  <a:srgbClr val="1A1A1A"/>
                </a:solidFill>
                <a:latin typeface="Arial"/>
              </a:rPr>
              <a:t>React Native 0.79 / Expo 53</a:t>
            </a:r>
            <a:r>
              <a:rPr sz="750" b="0" i="0">
                <a:solidFill>
                  <a:srgbClr val="5F6368"/>
                </a:solidFill>
                <a:latin typeface="Arial"/>
              </a:rPr>
              <a:t>  Android app, EAS builds</a:t>
            </a:r>
          </a:p>
        </p:txBody>
      </p:sp>
      <p:sp>
        <p:nvSpPr>
          <p:cNvPr id="137" name="TextBox 136"/>
          <p:cNvSpPr txBox="1"/>
          <p:nvPr/>
        </p:nvSpPr>
        <p:spPr>
          <a:xfrm>
            <a:off x="5513831" y="2916935"/>
            <a:ext cx="3246120" cy="274320"/>
          </a:xfrm>
          <a:prstGeom prst="rect">
            <a:avLst/>
          </a:prstGeom>
          <a:noFill/>
        </p:spPr>
        <p:txBody>
          <a:bodyPr wrap="square" lIns="0" tIns="0" rIns="0" bIns="0" anchor="t"/>
          <a:lstStyle/>
          <a:p>
            <a:pPr algn="l"/>
            <a:r>
              <a:rPr sz="850" b="1" i="0">
                <a:solidFill>
                  <a:srgbClr val="1A1A1A"/>
                </a:solidFill>
                <a:latin typeface="Arial"/>
              </a:rPr>
              <a:t>react-native-webrtc + Kotlin Expo module</a:t>
            </a:r>
            <a:r>
              <a:rPr sz="750" b="0" i="0">
                <a:solidFill>
                  <a:srgbClr val="5F6368"/>
                </a:solidFill>
                <a:latin typeface="Arial"/>
              </a:rPr>
              <a:t>  frames and earpiece audio</a:t>
            </a:r>
          </a:p>
        </p:txBody>
      </p:sp>
      <p:sp>
        <p:nvSpPr>
          <p:cNvPr id="138" name="TextBox 137"/>
          <p:cNvSpPr txBox="1"/>
          <p:nvPr/>
        </p:nvSpPr>
        <p:spPr>
          <a:xfrm>
            <a:off x="5513831" y="3209543"/>
            <a:ext cx="3246120" cy="274320"/>
          </a:xfrm>
          <a:prstGeom prst="rect">
            <a:avLst/>
          </a:prstGeom>
          <a:noFill/>
        </p:spPr>
        <p:txBody>
          <a:bodyPr wrap="square" lIns="0" tIns="0" rIns="0" bIns="0" anchor="t"/>
          <a:lstStyle/>
          <a:p>
            <a:pPr algn="l"/>
            <a:r>
              <a:rPr sz="850" b="1" i="0">
                <a:solidFill>
                  <a:srgbClr val="1A1A1A"/>
                </a:solidFill>
                <a:latin typeface="Arial"/>
              </a:rPr>
              <a:t>ECharts, Leaflet</a:t>
            </a:r>
            <a:r>
              <a:rPr sz="750" b="0" i="0">
                <a:solidFill>
                  <a:srgbClr val="5F6368"/>
                </a:solidFill>
                <a:latin typeface="Arial"/>
              </a:rPr>
              <a:t>  analytics</a:t>
            </a:r>
          </a:p>
        </p:txBody>
      </p:sp>
      <p:sp>
        <p:nvSpPr>
          <p:cNvPr id="139" name="Rounded Rectangle 138"/>
          <p:cNvSpPr/>
          <p:nvPr/>
        </p:nvSpPr>
        <p:spPr>
          <a:xfrm>
            <a:off x="365760" y="3602735"/>
            <a:ext cx="1600200" cy="457200"/>
          </a:xfrm>
          <a:prstGeom prst="roundRect">
            <a:avLst>
              <a:gd name="adj" fmla="val 10000"/>
            </a:avLst>
          </a:prstGeom>
          <a:solidFill>
            <a:srgbClr val="5F6368"/>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l"/>
            <a:r>
              <a:rPr sz="950" b="1" i="0">
                <a:solidFill>
                  <a:srgbClr val="FFFFFF"/>
                </a:solidFill>
                <a:latin typeface="Arial"/>
              </a:rPr>
              <a:t>Open map data</a:t>
            </a:r>
          </a:p>
        </p:txBody>
      </p:sp>
      <p:sp>
        <p:nvSpPr>
          <p:cNvPr id="140" name="Rounded Rectangle 139"/>
          <p:cNvSpPr/>
          <p:nvPr/>
        </p:nvSpPr>
        <p:spPr>
          <a:xfrm>
            <a:off x="2057400" y="3602735"/>
            <a:ext cx="6720840" cy="457200"/>
          </a:xfrm>
          <a:prstGeom prst="roundRect">
            <a:avLst>
              <a:gd name="adj" fmla="val 6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1" name="TextBox 140"/>
          <p:cNvSpPr txBox="1"/>
          <p:nvPr/>
        </p:nvSpPr>
        <p:spPr>
          <a:xfrm>
            <a:off x="2176272" y="3712463"/>
            <a:ext cx="3246120" cy="274320"/>
          </a:xfrm>
          <a:prstGeom prst="rect">
            <a:avLst/>
          </a:prstGeom>
          <a:noFill/>
        </p:spPr>
        <p:txBody>
          <a:bodyPr wrap="square" lIns="0" tIns="0" rIns="0" bIns="0" anchor="t"/>
          <a:lstStyle/>
          <a:p>
            <a:pPr algn="l"/>
            <a:r>
              <a:rPr sz="850" b="1" i="0">
                <a:solidFill>
                  <a:srgbClr val="1A1A1A"/>
                </a:solidFill>
                <a:latin typeface="Arial"/>
              </a:rPr>
              <a:t>OpenStreetMap, Nominatim, Photon</a:t>
            </a:r>
            <a:r>
              <a:rPr sz="750" b="0" i="0">
                <a:solidFill>
                  <a:srgbClr val="5F6368"/>
                </a:solidFill>
                <a:latin typeface="Arial"/>
              </a:rPr>
              <a:t>  geocoding, landmarks, nearby help</a:t>
            </a:r>
          </a:p>
        </p:txBody>
      </p:sp>
      <p:sp>
        <p:nvSpPr>
          <p:cNvPr id="142" name="TextBox 141"/>
          <p:cNvSpPr txBox="1"/>
          <p:nvPr/>
        </p:nvSpPr>
        <p:spPr>
          <a:xfrm>
            <a:off x="5513831" y="3712463"/>
            <a:ext cx="3246120" cy="274320"/>
          </a:xfrm>
          <a:prstGeom prst="rect">
            <a:avLst/>
          </a:prstGeom>
          <a:noFill/>
        </p:spPr>
        <p:txBody>
          <a:bodyPr wrap="square" lIns="0" tIns="0" rIns="0" bIns="0" anchor="t"/>
          <a:lstStyle/>
          <a:p>
            <a:pPr algn="l"/>
            <a:r>
              <a:rPr sz="850" b="1" i="0">
                <a:solidFill>
                  <a:srgbClr val="1A1A1A"/>
                </a:solidFill>
                <a:latin typeface="Arial"/>
              </a:rPr>
              <a:t>OSRM</a:t>
            </a:r>
            <a:r>
              <a:rPr sz="750" b="0" i="0">
                <a:solidFill>
                  <a:srgbClr val="5F6368"/>
                </a:solidFill>
                <a:latin typeface="Arial"/>
              </a:rPr>
              <a:t>  turn-by-turn routing</a:t>
            </a:r>
          </a:p>
        </p:txBody>
      </p:sp>
      <p:sp>
        <p:nvSpPr>
          <p:cNvPr id="143" name="Rounded Rectangle 142"/>
          <p:cNvSpPr/>
          <p:nvPr/>
        </p:nvSpPr>
        <p:spPr>
          <a:xfrm>
            <a:off x="365760" y="4133087"/>
            <a:ext cx="1600200" cy="676656"/>
          </a:xfrm>
          <a:prstGeom prst="roundRect">
            <a:avLst>
              <a:gd name="adj" fmla="val 10000"/>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l"/>
            <a:r>
              <a:rPr sz="950" b="1" i="0">
                <a:solidFill>
                  <a:srgbClr val="FFFFFF"/>
                </a:solidFill>
                <a:latin typeface="Arial"/>
              </a:rPr>
              <a:t>Quality &amp; DevOps</a:t>
            </a:r>
          </a:p>
        </p:txBody>
      </p:sp>
      <p:sp>
        <p:nvSpPr>
          <p:cNvPr id="144" name="Rounded Rectangle 143"/>
          <p:cNvSpPr/>
          <p:nvPr/>
        </p:nvSpPr>
        <p:spPr>
          <a:xfrm>
            <a:off x="2057400" y="4133087"/>
            <a:ext cx="6720840" cy="676656"/>
          </a:xfrm>
          <a:prstGeom prst="roundRect">
            <a:avLst>
              <a:gd name="adj" fmla="val 6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5" name="TextBox 144"/>
          <p:cNvSpPr txBox="1"/>
          <p:nvPr/>
        </p:nvSpPr>
        <p:spPr>
          <a:xfrm>
            <a:off x="2176272" y="4197096"/>
            <a:ext cx="3246120" cy="274320"/>
          </a:xfrm>
          <a:prstGeom prst="rect">
            <a:avLst/>
          </a:prstGeom>
          <a:noFill/>
        </p:spPr>
        <p:txBody>
          <a:bodyPr wrap="square" lIns="0" tIns="0" rIns="0" bIns="0" anchor="t"/>
          <a:lstStyle/>
          <a:p>
            <a:pPr algn="l"/>
            <a:r>
              <a:rPr sz="850" b="1" i="0">
                <a:solidFill>
                  <a:srgbClr val="1A1A1A"/>
                </a:solidFill>
                <a:latin typeface="Arial"/>
              </a:rPr>
              <a:t>GitHub Actions</a:t>
            </a:r>
            <a:r>
              <a:rPr sz="750" b="0" i="0">
                <a:solidFill>
                  <a:srgbClr val="5F6368"/>
                </a:solidFill>
                <a:latin typeface="Arial"/>
              </a:rPr>
              <a:t>  gitleaks secret scan, APK release</a:t>
            </a:r>
          </a:p>
        </p:txBody>
      </p:sp>
      <p:sp>
        <p:nvSpPr>
          <p:cNvPr id="146" name="TextBox 145"/>
          <p:cNvSpPr txBox="1"/>
          <p:nvPr/>
        </p:nvSpPr>
        <p:spPr>
          <a:xfrm>
            <a:off x="2176272" y="4489704"/>
            <a:ext cx="3246120" cy="274320"/>
          </a:xfrm>
          <a:prstGeom prst="rect">
            <a:avLst/>
          </a:prstGeom>
          <a:noFill/>
        </p:spPr>
        <p:txBody>
          <a:bodyPr wrap="square" lIns="0" tIns="0" rIns="0" bIns="0" anchor="t"/>
          <a:lstStyle/>
          <a:p>
            <a:pPr algn="l"/>
            <a:r>
              <a:rPr sz="850" b="1" i="0">
                <a:solidFill>
                  <a:srgbClr val="1A1A1A"/>
                </a:solidFill>
                <a:latin typeface="Arial"/>
              </a:rPr>
              <a:t>Eval harness (Node + Python)</a:t>
            </a:r>
            <a:r>
              <a:rPr sz="750" b="0" i="0">
                <a:solidFill>
                  <a:srgbClr val="5F6368"/>
                </a:solidFill>
                <a:latin typeface="Arial"/>
              </a:rPr>
              <a:t>  17 real Live-call scenarios, Excel report</a:t>
            </a:r>
          </a:p>
        </p:txBody>
      </p:sp>
      <p:sp>
        <p:nvSpPr>
          <p:cNvPr id="147" name="TextBox 146"/>
          <p:cNvSpPr txBox="1"/>
          <p:nvPr/>
        </p:nvSpPr>
        <p:spPr>
          <a:xfrm>
            <a:off x="5513831" y="4197096"/>
            <a:ext cx="3246120" cy="274320"/>
          </a:xfrm>
          <a:prstGeom prst="rect">
            <a:avLst/>
          </a:prstGeom>
          <a:noFill/>
        </p:spPr>
        <p:txBody>
          <a:bodyPr wrap="square" lIns="0" tIns="0" rIns="0" bIns="0" anchor="t"/>
          <a:lstStyle/>
          <a:p>
            <a:pPr algn="l"/>
            <a:r>
              <a:rPr sz="850" b="1" i="0">
                <a:solidFill>
                  <a:srgbClr val="1A1A1A"/>
                </a:solidFill>
                <a:latin typeface="Arial"/>
              </a:rPr>
              <a:t>Staging site + preview channels</a:t>
            </a:r>
            <a:r>
              <a:rPr sz="750" b="0" i="0">
                <a:solidFill>
                  <a:srgbClr val="5F6368"/>
                </a:solidFill>
                <a:latin typeface="Arial"/>
              </a:rPr>
              <a:t>  safe testing before production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pic>
        <p:nvPicPr>
          <p:cNvPr id="124" name="Google Shape;124;p22"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25" name="Google Shape;125;p22" title="Group 427319979.png"/>
          <p:cNvPicPr preferRelativeResize="0"/>
          <p:nvPr/>
        </p:nvPicPr>
        <p:blipFill>
          <a:blip r:embed="rId4">
            <a:alphaModFix/>
          </a:blip>
          <a:stretch>
            <a:fillRect/>
          </a:stretch>
        </p:blipFill>
        <p:spPr>
          <a:xfrm>
            <a:off x="0" y="3649"/>
            <a:ext cx="9144000" cy="500062"/>
          </a:xfrm>
          <a:prstGeom prst="rect">
            <a:avLst/>
          </a:prstGeom>
          <a:noFill/>
          <a:ln>
            <a:noFill/>
          </a:ln>
        </p:spPr>
      </p:pic>
      <p:sp>
        <p:nvSpPr>
          <p:cNvPr id="126" name="Google Shape;126;p22"/>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27" name="Google Shape;127;p22"/>
          <p:cNvSpPr txBox="1"/>
          <p:nvPr/>
        </p:nvSpPr>
        <p:spPr>
          <a:xfrm>
            <a:off x="265350" y="603504"/>
            <a:ext cx="8943000" cy="384048"/>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latin typeface="Google Sans Flex Medium"/>
                <a:ea typeface="Google Sans Flex Medium"/>
                <a:cs typeface="Google Sans Flex Medium"/>
                <a:sym typeface="Google Sans Flex Medium"/>
              </a:rPr>
              <a:t>Estimated implementation cost (optional)</a:t>
            </a:r>
            <a:endParaRPr sz="1600">
              <a:latin typeface="Google Sans Flex Medium"/>
              <a:ea typeface="Google Sans Flex Medium"/>
              <a:cs typeface="Google Sans Flex Medium"/>
              <a:sym typeface="Google Sans Flex Medium"/>
            </a:endParaRPr>
          </a:p>
        </p:txBody>
      </p:sp>
      <p:sp>
        <p:nvSpPr>
          <p:cNvPr id="128" name="Takeaway"/>
          <p:cNvSpPr txBox="1"/>
          <p:nvPr/>
        </p:nvSpPr>
        <p:spPr>
          <a:xfrm>
            <a:off x="365760" y="969264"/>
            <a:ext cx="8412480" cy="292608"/>
          </a:xfrm>
          <a:prstGeom prst="rect">
            <a:avLst/>
          </a:prstGeom>
          <a:noFill/>
        </p:spPr>
        <p:txBody>
          <a:bodyPr wrap="square" lIns="0" tIns="0" rIns="0" bIns="0" anchor="t"/>
          <a:lstStyle/>
          <a:p>
            <a:pPr algn="l"/>
            <a:r>
              <a:rPr sz="1300" b="1" i="0">
                <a:solidFill>
                  <a:srgbClr val="E8590C"/>
                </a:solidFill>
                <a:latin typeface="Arial"/>
              </a:rPr>
              <a:t>Under ₹8 of AI per emergency call, and zero fixed cost</a:t>
            </a:r>
          </a:p>
        </p:txBody>
      </p:sp>
      <p:sp>
        <p:nvSpPr>
          <p:cNvPr id="129" name="Rounded Rectangle 128"/>
          <p:cNvSpPr/>
          <p:nvPr/>
        </p:nvSpPr>
        <p:spPr>
          <a:xfrm>
            <a:off x="365760" y="1353312"/>
            <a:ext cx="2651760" cy="2148840"/>
          </a:xfrm>
          <a:prstGeom prst="roundRect">
            <a:avLst>
              <a:gd name="adj" fmla="val 6000"/>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0" name="TextBox 129"/>
          <p:cNvSpPr txBox="1"/>
          <p:nvPr/>
        </p:nvSpPr>
        <p:spPr>
          <a:xfrm>
            <a:off x="502920" y="1463040"/>
            <a:ext cx="2377440" cy="228600"/>
          </a:xfrm>
          <a:prstGeom prst="rect">
            <a:avLst/>
          </a:prstGeom>
          <a:noFill/>
        </p:spPr>
        <p:txBody>
          <a:bodyPr wrap="square" lIns="0" tIns="0" rIns="0" bIns="0" anchor="t"/>
          <a:lstStyle/>
          <a:p>
            <a:pPr algn="l"/>
            <a:r>
              <a:rPr sz="800" b="1" i="0">
                <a:solidFill>
                  <a:srgbClr val="FFFFFF"/>
                </a:solidFill>
                <a:latin typeface="Arial"/>
              </a:rPr>
              <a:t>AI COST PER CALL (MEASURED)</a:t>
            </a:r>
          </a:p>
        </p:txBody>
      </p:sp>
      <p:sp>
        <p:nvSpPr>
          <p:cNvPr id="131" name="TextBox 130"/>
          <p:cNvSpPr txBox="1"/>
          <p:nvPr/>
        </p:nvSpPr>
        <p:spPr>
          <a:xfrm>
            <a:off x="502920" y="1737360"/>
            <a:ext cx="2377440" cy="640080"/>
          </a:xfrm>
          <a:prstGeom prst="rect">
            <a:avLst/>
          </a:prstGeom>
          <a:noFill/>
        </p:spPr>
        <p:txBody>
          <a:bodyPr wrap="square" lIns="0" tIns="0" rIns="0" bIns="0" anchor="t"/>
          <a:lstStyle/>
          <a:p>
            <a:pPr algn="l"/>
            <a:r>
              <a:rPr sz="3400" b="1" i="0">
                <a:solidFill>
                  <a:srgbClr val="FFFFFF"/>
                </a:solidFill>
                <a:latin typeface="Arial"/>
              </a:rPr>
              <a:t>₹7.54</a:t>
            </a:r>
          </a:p>
        </p:txBody>
      </p:sp>
      <p:sp>
        <p:nvSpPr>
          <p:cNvPr id="132" name="TextBox 131"/>
          <p:cNvSpPr txBox="1"/>
          <p:nvPr/>
        </p:nvSpPr>
        <p:spPr>
          <a:xfrm>
            <a:off x="502920" y="2377440"/>
            <a:ext cx="2377440" cy="274320"/>
          </a:xfrm>
          <a:prstGeom prst="rect">
            <a:avLst/>
          </a:prstGeom>
          <a:noFill/>
        </p:spPr>
        <p:txBody>
          <a:bodyPr wrap="square" lIns="0" tIns="0" rIns="0" bIns="0" anchor="t"/>
          <a:lstStyle/>
          <a:p>
            <a:pPr algn="l"/>
            <a:r>
              <a:rPr sz="1200" b="1" i="0">
                <a:solidFill>
                  <a:srgbClr val="FFFFFF"/>
                </a:solidFill>
                <a:latin typeface="Arial"/>
              </a:rPr>
              <a:t>≈ $0.086 per call</a:t>
            </a:r>
          </a:p>
        </p:txBody>
      </p:sp>
      <p:sp>
        <p:nvSpPr>
          <p:cNvPr id="133" name="TextBox 132"/>
          <p:cNvSpPr txBox="1"/>
          <p:nvPr/>
        </p:nvSpPr>
        <p:spPr>
          <a:xfrm>
            <a:off x="502920" y="2697480"/>
            <a:ext cx="2377440" cy="731520"/>
          </a:xfrm>
          <a:prstGeom prst="rect">
            <a:avLst/>
          </a:prstGeom>
          <a:noFill/>
        </p:spPr>
        <p:txBody>
          <a:bodyPr wrap="square" lIns="0" tIns="0" rIns="0" bIns="0" anchor="t"/>
          <a:lstStyle/>
          <a:p>
            <a:pPr algn="l"/>
            <a:r>
              <a:rPr sz="750" b="0" i="0">
                <a:solidFill>
                  <a:srgbClr val="FFFFFF"/>
                </a:solidFill>
                <a:latin typeface="Arial"/>
              </a:rPr>
              <a:t>Average of 14 evaluation calls (3–8 turns, 43–167 s): live call + case summary + case linking, at Gemini paid-tier prices. Range $0.04–$0.17.</a:t>
            </a:r>
          </a:p>
        </p:txBody>
      </p:sp>
      <p:sp>
        <p:nvSpPr>
          <p:cNvPr id="134" name="TextBox 133"/>
          <p:cNvSpPr txBox="1"/>
          <p:nvPr/>
        </p:nvSpPr>
        <p:spPr>
          <a:xfrm>
            <a:off x="3200400" y="1325880"/>
            <a:ext cx="2743200" cy="201168"/>
          </a:xfrm>
          <a:prstGeom prst="rect">
            <a:avLst/>
          </a:prstGeom>
          <a:noFill/>
        </p:spPr>
        <p:txBody>
          <a:bodyPr wrap="square" lIns="0" tIns="0" rIns="0" bIns="0" anchor="t"/>
          <a:lstStyle/>
          <a:p>
            <a:pPr algn="l"/>
            <a:r>
              <a:rPr sz="800" b="1" i="0">
                <a:solidFill>
                  <a:srgbClr val="5F6368"/>
                </a:solidFill>
                <a:latin typeface="Arial"/>
              </a:rPr>
              <a:t>WHERE THE MONEY GOES</a:t>
            </a:r>
          </a:p>
        </p:txBody>
      </p:sp>
      <p:sp>
        <p:nvSpPr>
          <p:cNvPr id="135" name="TextBox 134"/>
          <p:cNvSpPr txBox="1"/>
          <p:nvPr/>
        </p:nvSpPr>
        <p:spPr>
          <a:xfrm>
            <a:off x="3200400" y="1572768"/>
            <a:ext cx="2103120" cy="201168"/>
          </a:xfrm>
          <a:prstGeom prst="rect">
            <a:avLst/>
          </a:prstGeom>
          <a:noFill/>
        </p:spPr>
        <p:txBody>
          <a:bodyPr wrap="square" lIns="0" tIns="0" rIns="0" bIns="0" anchor="t"/>
          <a:lstStyle/>
          <a:p>
            <a:pPr algn="l"/>
            <a:r>
              <a:rPr sz="850" b="0" i="0">
                <a:solidFill>
                  <a:srgbClr val="1A1A1A"/>
                </a:solidFill>
                <a:latin typeface="Arial"/>
              </a:rPr>
              <a:t>Live call (gemini-3.8-live)</a:t>
            </a:r>
          </a:p>
        </p:txBody>
      </p:sp>
      <p:sp>
        <p:nvSpPr>
          <p:cNvPr id="136" name="Rounded Rectangle 135"/>
          <p:cNvSpPr/>
          <p:nvPr/>
        </p:nvSpPr>
        <p:spPr>
          <a:xfrm>
            <a:off x="3200400" y="1792224"/>
            <a:ext cx="2377440" cy="118872"/>
          </a:xfrm>
          <a:prstGeom prst="roundRect">
            <a:avLst>
              <a:gd name="adj" fmla="val 50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7" name="Rounded Rectangle 136"/>
          <p:cNvSpPr/>
          <p:nvPr/>
        </p:nvSpPr>
        <p:spPr>
          <a:xfrm>
            <a:off x="3200400" y="1792224"/>
            <a:ext cx="2346533" cy="118872"/>
          </a:xfrm>
          <a:prstGeom prst="roundRect">
            <a:avLst>
              <a:gd name="adj" fmla="val 50000"/>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8" name="TextBox 137"/>
          <p:cNvSpPr txBox="1"/>
          <p:nvPr/>
        </p:nvSpPr>
        <p:spPr>
          <a:xfrm>
            <a:off x="5623560" y="1709928"/>
            <a:ext cx="548640" cy="228600"/>
          </a:xfrm>
          <a:prstGeom prst="rect">
            <a:avLst/>
          </a:prstGeom>
          <a:noFill/>
        </p:spPr>
        <p:txBody>
          <a:bodyPr wrap="square" lIns="0" tIns="0" rIns="0" bIns="0" anchor="t"/>
          <a:lstStyle/>
          <a:p>
            <a:pPr algn="l"/>
            <a:r>
              <a:rPr sz="850" b="1" i="0">
                <a:solidFill>
                  <a:srgbClr val="1A1A1A"/>
                </a:solidFill>
                <a:latin typeface="Arial"/>
              </a:rPr>
              <a:t>99%</a:t>
            </a:r>
          </a:p>
        </p:txBody>
      </p:sp>
      <p:sp>
        <p:nvSpPr>
          <p:cNvPr id="139" name="TextBox 138"/>
          <p:cNvSpPr txBox="1"/>
          <p:nvPr/>
        </p:nvSpPr>
        <p:spPr>
          <a:xfrm>
            <a:off x="3200400" y="2075688"/>
            <a:ext cx="2103120" cy="201168"/>
          </a:xfrm>
          <a:prstGeom prst="rect">
            <a:avLst/>
          </a:prstGeom>
          <a:noFill/>
        </p:spPr>
        <p:txBody>
          <a:bodyPr wrap="square" lIns="0" tIns="0" rIns="0" bIns="0" anchor="t"/>
          <a:lstStyle/>
          <a:p>
            <a:pPr algn="l"/>
            <a:r>
              <a:rPr sz="850" b="0" i="0">
                <a:solidFill>
                  <a:srgbClr val="1A1A1A"/>
                </a:solidFill>
                <a:latin typeface="Arial"/>
              </a:rPr>
              <a:t>Case summary (3.5 Flash-Lite)</a:t>
            </a:r>
          </a:p>
        </p:txBody>
      </p:sp>
      <p:sp>
        <p:nvSpPr>
          <p:cNvPr id="140" name="Rounded Rectangle 139"/>
          <p:cNvSpPr/>
          <p:nvPr/>
        </p:nvSpPr>
        <p:spPr>
          <a:xfrm>
            <a:off x="3200400" y="2295144"/>
            <a:ext cx="2377440" cy="118872"/>
          </a:xfrm>
          <a:prstGeom prst="roundRect">
            <a:avLst>
              <a:gd name="adj" fmla="val 50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1" name="Rounded Rectangle 140"/>
          <p:cNvSpPr/>
          <p:nvPr/>
        </p:nvSpPr>
        <p:spPr>
          <a:xfrm>
            <a:off x="3200400" y="2295144"/>
            <a:ext cx="36576" cy="118872"/>
          </a:xfrm>
          <a:prstGeom prst="roundRect">
            <a:avLst>
              <a:gd name="adj" fmla="val 50000"/>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2" name="TextBox 141"/>
          <p:cNvSpPr txBox="1"/>
          <p:nvPr/>
        </p:nvSpPr>
        <p:spPr>
          <a:xfrm>
            <a:off x="5623560" y="2212848"/>
            <a:ext cx="548640" cy="228600"/>
          </a:xfrm>
          <a:prstGeom prst="rect">
            <a:avLst/>
          </a:prstGeom>
          <a:noFill/>
        </p:spPr>
        <p:txBody>
          <a:bodyPr wrap="square" lIns="0" tIns="0" rIns="0" bIns="0" anchor="t"/>
          <a:lstStyle/>
          <a:p>
            <a:pPr algn="l"/>
            <a:r>
              <a:rPr sz="850" b="1" i="0">
                <a:solidFill>
                  <a:srgbClr val="1A1A1A"/>
                </a:solidFill>
                <a:latin typeface="Arial"/>
              </a:rPr>
              <a:t>1%</a:t>
            </a:r>
          </a:p>
        </p:txBody>
      </p:sp>
      <p:sp>
        <p:nvSpPr>
          <p:cNvPr id="143" name="TextBox 142"/>
          <p:cNvSpPr txBox="1"/>
          <p:nvPr/>
        </p:nvSpPr>
        <p:spPr>
          <a:xfrm>
            <a:off x="3200400" y="2578608"/>
            <a:ext cx="2103120" cy="201168"/>
          </a:xfrm>
          <a:prstGeom prst="rect">
            <a:avLst/>
          </a:prstGeom>
          <a:noFill/>
        </p:spPr>
        <p:txBody>
          <a:bodyPr wrap="square" lIns="0" tIns="0" rIns="0" bIns="0" anchor="t"/>
          <a:lstStyle/>
          <a:p>
            <a:pPr algn="l"/>
            <a:r>
              <a:rPr sz="850" b="0" i="0">
                <a:solidFill>
                  <a:srgbClr val="1A1A1A"/>
                </a:solidFill>
                <a:latin typeface="Arial"/>
              </a:rPr>
              <a:t>Case linking (3.1 Flash-Lite)</a:t>
            </a:r>
          </a:p>
        </p:txBody>
      </p:sp>
      <p:sp>
        <p:nvSpPr>
          <p:cNvPr id="144" name="Rounded Rectangle 143"/>
          <p:cNvSpPr/>
          <p:nvPr/>
        </p:nvSpPr>
        <p:spPr>
          <a:xfrm>
            <a:off x="3200400" y="2798064"/>
            <a:ext cx="2377440" cy="118872"/>
          </a:xfrm>
          <a:prstGeom prst="roundRect">
            <a:avLst>
              <a:gd name="adj" fmla="val 50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5" name="Rounded Rectangle 144"/>
          <p:cNvSpPr/>
          <p:nvPr/>
        </p:nvSpPr>
        <p:spPr>
          <a:xfrm>
            <a:off x="3200400" y="2798064"/>
            <a:ext cx="36576" cy="118872"/>
          </a:xfrm>
          <a:prstGeom prst="roundRect">
            <a:avLst>
              <a:gd name="adj" fmla="val 50000"/>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6" name="TextBox 145"/>
          <p:cNvSpPr txBox="1"/>
          <p:nvPr/>
        </p:nvSpPr>
        <p:spPr>
          <a:xfrm>
            <a:off x="5623560" y="2715768"/>
            <a:ext cx="548640" cy="228600"/>
          </a:xfrm>
          <a:prstGeom prst="rect">
            <a:avLst/>
          </a:prstGeom>
          <a:noFill/>
        </p:spPr>
        <p:txBody>
          <a:bodyPr wrap="square" lIns="0" tIns="0" rIns="0" bIns="0" anchor="t"/>
          <a:lstStyle/>
          <a:p>
            <a:pPr algn="l"/>
            <a:r>
              <a:rPr sz="850" b="1" i="0">
                <a:solidFill>
                  <a:srgbClr val="1A1A1A"/>
                </a:solidFill>
                <a:latin typeface="Arial"/>
              </a:rPr>
              <a:t>&lt;1%</a:t>
            </a:r>
          </a:p>
        </p:txBody>
      </p:sp>
      <p:sp>
        <p:nvSpPr>
          <p:cNvPr id="147" name="TextBox 146"/>
          <p:cNvSpPr txBox="1"/>
          <p:nvPr/>
        </p:nvSpPr>
        <p:spPr>
          <a:xfrm>
            <a:off x="6400800" y="1325880"/>
            <a:ext cx="2377440" cy="201168"/>
          </a:xfrm>
          <a:prstGeom prst="rect">
            <a:avLst/>
          </a:prstGeom>
          <a:noFill/>
        </p:spPr>
        <p:txBody>
          <a:bodyPr wrap="square" lIns="0" tIns="0" rIns="0" bIns="0" anchor="t"/>
          <a:lstStyle/>
          <a:p>
            <a:pPr algn="l"/>
            <a:r>
              <a:rPr sz="800" b="1" i="0">
                <a:solidFill>
                  <a:srgbClr val="5F6368"/>
                </a:solidFill>
                <a:latin typeface="Arial"/>
              </a:rPr>
              <a:t>AT SCALE</a:t>
            </a:r>
          </a:p>
        </p:txBody>
      </p:sp>
      <p:sp>
        <p:nvSpPr>
          <p:cNvPr id="148" name="Rounded Rectangle 147"/>
          <p:cNvSpPr/>
          <p:nvPr/>
        </p:nvSpPr>
        <p:spPr>
          <a:xfrm>
            <a:off x="6400800" y="1572768"/>
            <a:ext cx="2377440" cy="566928"/>
          </a:xfrm>
          <a:prstGeom prst="roundRect">
            <a:avLst>
              <a:gd name="adj" fmla="val 8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l"/>
            <a:r>
              <a:rPr sz="1200" b="1" i="0">
                <a:solidFill>
                  <a:srgbClr val="E8590C"/>
                </a:solidFill>
                <a:latin typeface="Arial"/>
              </a:rPr>
              <a:t>₹7,541</a:t>
            </a:r>
          </a:p>
          <a:p>
            <a:pPr algn="l"/>
            <a:r>
              <a:rPr sz="750" b="0" i="0">
                <a:solidFill>
                  <a:srgbClr val="5F6368"/>
                </a:solidFill>
                <a:latin typeface="Arial"/>
              </a:rPr>
              <a:t>1,000 calls</a:t>
            </a:r>
          </a:p>
        </p:txBody>
      </p:sp>
      <p:sp>
        <p:nvSpPr>
          <p:cNvPr id="149" name="Rounded Rectangle 148"/>
          <p:cNvSpPr/>
          <p:nvPr/>
        </p:nvSpPr>
        <p:spPr>
          <a:xfrm>
            <a:off x="6400800" y="2212848"/>
            <a:ext cx="2377440" cy="566928"/>
          </a:xfrm>
          <a:prstGeom prst="roundRect">
            <a:avLst>
              <a:gd name="adj" fmla="val 8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l"/>
            <a:r>
              <a:rPr sz="1200" b="1" i="0">
                <a:solidFill>
                  <a:srgbClr val="E8590C"/>
                </a:solidFill>
                <a:latin typeface="Arial"/>
              </a:rPr>
              <a:t>₹22,624</a:t>
            </a:r>
          </a:p>
          <a:p>
            <a:pPr algn="l"/>
            <a:r>
              <a:rPr sz="750" b="0" i="0">
                <a:solidFill>
                  <a:srgbClr val="5F6368"/>
                </a:solidFill>
                <a:latin typeface="Arial"/>
              </a:rPr>
              <a:t>District pilot
100 calls/day, 1 month</a:t>
            </a:r>
          </a:p>
        </p:txBody>
      </p:sp>
      <p:sp>
        <p:nvSpPr>
          <p:cNvPr id="150" name="Rounded Rectangle 149"/>
          <p:cNvSpPr/>
          <p:nvPr/>
        </p:nvSpPr>
        <p:spPr>
          <a:xfrm>
            <a:off x="6400800" y="2852928"/>
            <a:ext cx="2377440" cy="566928"/>
          </a:xfrm>
          <a:prstGeom prst="roundRect">
            <a:avLst>
              <a:gd name="adj" fmla="val 8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l"/>
            <a:r>
              <a:rPr sz="1200" b="1" i="0">
                <a:solidFill>
                  <a:srgbClr val="E8590C"/>
                </a:solidFill>
                <a:latin typeface="Arial"/>
              </a:rPr>
              <a:t>₹0 on free tiers</a:t>
            </a:r>
          </a:p>
          <a:p>
            <a:pPr algn="l"/>
            <a:r>
              <a:rPr sz="750" b="0" i="0">
                <a:solidFill>
                  <a:srgbClr val="5F6368"/>
                </a:solidFill>
                <a:latin typeface="Arial"/>
              </a:rPr>
              <a:t>Hosting, database, maps</a:t>
            </a:r>
          </a:p>
        </p:txBody>
      </p:sp>
      <p:sp>
        <p:nvSpPr>
          <p:cNvPr id="151" name="TextBox 150"/>
          <p:cNvSpPr txBox="1"/>
          <p:nvPr/>
        </p:nvSpPr>
        <p:spPr>
          <a:xfrm>
            <a:off x="365760" y="3657600"/>
            <a:ext cx="5486400" cy="201168"/>
          </a:xfrm>
          <a:prstGeom prst="rect">
            <a:avLst/>
          </a:prstGeom>
          <a:noFill/>
        </p:spPr>
        <p:txBody>
          <a:bodyPr wrap="square" lIns="0" tIns="0" rIns="0" bIns="0" anchor="t"/>
          <a:lstStyle/>
          <a:p>
            <a:pPr algn="l"/>
            <a:r>
              <a:rPr sz="800" b="1" i="0">
                <a:solidFill>
                  <a:srgbClr val="5F6368"/>
                </a:solidFill>
                <a:latin typeface="Arial"/>
              </a:rPr>
              <a:t>COST LEVERS ALREADY BUILT</a:t>
            </a:r>
          </a:p>
        </p:txBody>
      </p:sp>
      <p:sp>
        <p:nvSpPr>
          <p:cNvPr id="152" name="Rounded Rectangle 151"/>
          <p:cNvSpPr/>
          <p:nvPr/>
        </p:nvSpPr>
        <p:spPr>
          <a:xfrm>
            <a:off x="365760" y="3886200"/>
            <a:ext cx="2029968" cy="777240"/>
          </a:xfrm>
          <a:prstGeom prst="roundRect">
            <a:avLst>
              <a:gd name="adj" fmla="val 8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l"/>
            <a:r>
              <a:rPr sz="1400" b="1" i="0">
                <a:solidFill>
                  <a:srgbClr val="1A73E8"/>
                </a:solidFill>
                <a:latin typeface="Arial"/>
              </a:rPr>
              <a:t>~22 → 5</a:t>
            </a:r>
          </a:p>
          <a:p>
            <a:pPr algn="l"/>
            <a:r>
              <a:rPr sz="750" b="0" i="0">
                <a:solidFill>
                  <a:srgbClr val="1A1A1A"/>
                </a:solidFill>
                <a:latin typeface="Arial"/>
              </a:rPr>
              <a:t>model inferences for a 4-turn call (silent tool replies)</a:t>
            </a:r>
          </a:p>
        </p:txBody>
      </p:sp>
      <p:sp>
        <p:nvSpPr>
          <p:cNvPr id="153" name="Rounded Rectangle 152"/>
          <p:cNvSpPr/>
          <p:nvPr/>
        </p:nvSpPr>
        <p:spPr>
          <a:xfrm>
            <a:off x="2496312" y="3886200"/>
            <a:ext cx="2029968" cy="777240"/>
          </a:xfrm>
          <a:prstGeom prst="roundRect">
            <a:avLst>
              <a:gd name="adj" fmla="val 8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l"/>
            <a:r>
              <a:rPr sz="1400" b="1" i="0">
                <a:solidFill>
                  <a:srgbClr val="1A73E8"/>
                </a:solidFill>
                <a:latin typeface="Arial"/>
              </a:rPr>
              <a:t>0.5 fps</a:t>
            </a:r>
          </a:p>
          <a:p>
            <a:pPr algn="l"/>
            <a:r>
              <a:rPr sz="750" b="0" i="0">
                <a:solidFill>
                  <a:srgbClr val="1A1A1A"/>
                </a:solidFill>
                <a:latin typeface="Arial"/>
              </a:rPr>
              <a:t>low-res camera frames (~70 tokens each)</a:t>
            </a:r>
          </a:p>
        </p:txBody>
      </p:sp>
      <p:sp>
        <p:nvSpPr>
          <p:cNvPr id="154" name="Rounded Rectangle 153"/>
          <p:cNvSpPr/>
          <p:nvPr/>
        </p:nvSpPr>
        <p:spPr>
          <a:xfrm>
            <a:off x="4626864" y="3886200"/>
            <a:ext cx="2029968" cy="777240"/>
          </a:xfrm>
          <a:prstGeom prst="roundRect">
            <a:avLst>
              <a:gd name="adj" fmla="val 8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l"/>
            <a:r>
              <a:rPr sz="1400" b="1" i="0">
                <a:solidFill>
                  <a:srgbClr val="1A73E8"/>
                </a:solidFill>
                <a:latin typeface="Arial"/>
              </a:rPr>
              <a:t>Per task</a:t>
            </a:r>
          </a:p>
          <a:p>
            <a:pPr algn="l"/>
            <a:r>
              <a:rPr sz="750" b="0" i="0">
                <a:solidFill>
                  <a:srgbClr val="1A1A1A"/>
                </a:solidFill>
                <a:latin typeface="Arial"/>
              </a:rPr>
              <a:t>smallest model; free tier first</a:t>
            </a:r>
          </a:p>
        </p:txBody>
      </p:sp>
      <p:sp>
        <p:nvSpPr>
          <p:cNvPr id="155" name="Rounded Rectangle 154"/>
          <p:cNvSpPr/>
          <p:nvPr/>
        </p:nvSpPr>
        <p:spPr>
          <a:xfrm>
            <a:off x="6757416" y="3886200"/>
            <a:ext cx="2029968" cy="777240"/>
          </a:xfrm>
          <a:prstGeom prst="roundRect">
            <a:avLst>
              <a:gd name="adj" fmla="val 8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l"/>
            <a:r>
              <a:rPr sz="1400" b="1" i="0">
                <a:solidFill>
                  <a:srgbClr val="1A73E8"/>
                </a:solidFill>
                <a:latin typeface="Arial"/>
              </a:rPr>
              <a:t>52 → 22 KB</a:t>
            </a:r>
          </a:p>
          <a:p>
            <a:pPr algn="l"/>
            <a:r>
              <a:rPr sz="750" b="0" i="0">
                <a:solidFill>
                  <a:srgbClr val="1A1A1A"/>
                </a:solidFill>
                <a:latin typeface="Arial"/>
              </a:rPr>
              <a:t>Mia’s prompt rewritten: about half the tokens per reply</a:t>
            </a:r>
          </a:p>
        </p:txBody>
      </p:sp>
      <p:sp>
        <p:nvSpPr>
          <p:cNvPr id="156" name="Footnote"/>
          <p:cNvSpPr txBox="1"/>
          <p:nvPr/>
        </p:nvSpPr>
        <p:spPr>
          <a:xfrm>
            <a:off x="365760" y="4846320"/>
            <a:ext cx="8412480" cy="182880"/>
          </a:xfrm>
          <a:prstGeom prst="rect">
            <a:avLst/>
          </a:prstGeom>
          <a:noFill/>
        </p:spPr>
        <p:txBody>
          <a:bodyPr wrap="square" lIns="0" tIns="0" rIns="0" bIns="0" anchor="t"/>
          <a:lstStyle/>
          <a:p>
            <a:pPr algn="l"/>
            <a:r>
              <a:rPr sz="650" b="0" i="0">
                <a:solidFill>
                  <a:srgbClr val="5F6368"/>
                </a:solidFill>
                <a:latin typeface="Arial"/>
              </a:rPr>
              <a:t>Gemini paid-tier prices, Oct 2026 (Live: $0.75 text in, $3 audio in, $12 audio out per 1M tokens) × tokens measured in the evaluation run; ₹88 = $1.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pic>
        <p:nvPicPr>
          <p:cNvPr id="132" name="Google Shape;132;p23"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33" name="Google Shape;133;p23" title="Group 427319979.png"/>
          <p:cNvPicPr preferRelativeResize="0"/>
          <p:nvPr/>
        </p:nvPicPr>
        <p:blipFill>
          <a:blip r:embed="rId4">
            <a:alphaModFix/>
          </a:blip>
          <a:stretch>
            <a:fillRect/>
          </a:stretch>
        </p:blipFill>
        <p:spPr>
          <a:xfrm>
            <a:off x="0" y="3649"/>
            <a:ext cx="9144000" cy="500062"/>
          </a:xfrm>
          <a:prstGeom prst="rect">
            <a:avLst/>
          </a:prstGeom>
          <a:noFill/>
          <a:ln>
            <a:noFill/>
          </a:ln>
        </p:spPr>
      </p:pic>
      <p:sp>
        <p:nvSpPr>
          <p:cNvPr id="134" name="Google Shape;134;p23"/>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5" name="Google Shape;135;p23"/>
          <p:cNvSpPr txBox="1"/>
          <p:nvPr/>
        </p:nvSpPr>
        <p:spPr>
          <a:xfrm>
            <a:off x="265350" y="603504"/>
            <a:ext cx="8943000" cy="384048"/>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latin typeface="Google Sans Flex Medium"/>
                <a:ea typeface="Google Sans Flex Medium"/>
                <a:cs typeface="Google Sans Flex Medium"/>
                <a:sym typeface="Google Sans Flex Medium"/>
              </a:rPr>
              <a:t>Snapshots of the prototype</a:t>
            </a:r>
            <a:endParaRPr sz="1600">
              <a:latin typeface="Google Sans Flex Medium"/>
              <a:ea typeface="Google Sans Flex Medium"/>
              <a:cs typeface="Google Sans Flex Medium"/>
              <a:sym typeface="Google Sans Flex Medium"/>
            </a:endParaRPr>
          </a:p>
        </p:txBody>
      </p:sp>
      <p:sp>
        <p:nvSpPr>
          <p:cNvPr id="136" name="Takeaway"/>
          <p:cNvSpPr txBox="1"/>
          <p:nvPr/>
        </p:nvSpPr>
        <p:spPr>
          <a:xfrm>
            <a:off x="365760" y="969264"/>
            <a:ext cx="8412480" cy="292608"/>
          </a:xfrm>
          <a:prstGeom prst="rect">
            <a:avLst/>
          </a:prstGeom>
          <a:noFill/>
        </p:spPr>
        <p:txBody>
          <a:bodyPr wrap="square" lIns="0" tIns="0" rIns="0" bIns="0" anchor="t"/>
          <a:lstStyle/>
          <a:p>
            <a:pPr algn="l"/>
            <a:r>
              <a:rPr sz="1300" b="1" i="0">
                <a:solidFill>
                  <a:srgbClr val="E8590C"/>
                </a:solidFill>
                <a:latin typeface="Arial"/>
              </a:rPr>
              <a:t>Live and deployed: what a responder sees while Anu is still on the call</a:t>
            </a:r>
          </a:p>
        </p:txBody>
      </p:sp>
      <p:pic>
        <p:nvPicPr>
          <p:cNvPr id="137" name="Picture 136" descr="route.png"/>
          <p:cNvPicPr>
            <a:picLocks noChangeAspect="1"/>
          </p:cNvPicPr>
          <p:nvPr/>
        </p:nvPicPr>
        <p:blipFill>
          <a:blip r:embed="rId5"/>
          <a:stretch>
            <a:fillRect/>
          </a:stretch>
        </p:blipFill>
        <p:spPr>
          <a:xfrm>
            <a:off x="365760" y="1353312"/>
            <a:ext cx="5074920" cy="2652462"/>
          </a:xfrm>
          <a:prstGeom prst="rect">
            <a:avLst/>
          </a:prstGeom>
        </p:spPr>
      </p:pic>
      <p:sp>
        <p:nvSpPr>
          <p:cNvPr id="138" name="Rounded Rectangle 137"/>
          <p:cNvSpPr/>
          <p:nvPr/>
        </p:nvSpPr>
        <p:spPr>
          <a:xfrm>
            <a:off x="365760" y="1353312"/>
            <a:ext cx="5074920" cy="2652462"/>
          </a:xfrm>
          <a:prstGeom prst="roundRect">
            <a:avLst>
              <a:gd name="adj" fmla="val 8000"/>
            </a:avLst>
          </a:prstGeom>
          <a:no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9" name="TextBox 138"/>
          <p:cNvSpPr txBox="1"/>
          <p:nvPr/>
        </p:nvSpPr>
        <p:spPr>
          <a:xfrm>
            <a:off x="365760" y="4051493"/>
            <a:ext cx="5074920" cy="384048"/>
          </a:xfrm>
          <a:prstGeom prst="rect">
            <a:avLst/>
          </a:prstGeom>
          <a:noFill/>
        </p:spPr>
        <p:txBody>
          <a:bodyPr wrap="square" lIns="0" tIns="0" rIns="0" bIns="0" anchor="t"/>
          <a:lstStyle/>
          <a:p>
            <a:pPr algn="l"/>
            <a:r>
              <a:rPr sz="800" b="1" i="0">
                <a:solidFill>
                  <a:srgbClr val="1A1A1A"/>
                </a:solidFill>
                <a:latin typeface="Arial"/>
              </a:rPr>
              <a:t>Case board: </a:t>
            </a:r>
            <a:r>
              <a:rPr sz="800" b="0" i="0">
                <a:solidFill>
                  <a:srgbClr val="1A1A1A"/>
                </a:solidFill>
                <a:latin typeface="Arial"/>
              </a:rPr>
              <a:t>threat, voice stress, linked cases and a live route to the nearest hospital, all filled in by Gemini during the call.</a:t>
            </a:r>
          </a:p>
        </p:txBody>
      </p:sp>
      <p:pic>
        <p:nvPicPr>
          <p:cNvPr id="140" name="Picture 139" descr="queue_c.png"/>
          <p:cNvPicPr>
            <a:picLocks noChangeAspect="1"/>
          </p:cNvPicPr>
          <p:nvPr/>
        </p:nvPicPr>
        <p:blipFill>
          <a:blip r:embed="rId6"/>
          <a:stretch>
            <a:fillRect/>
          </a:stretch>
        </p:blipFill>
        <p:spPr>
          <a:xfrm>
            <a:off x="5623560" y="1353312"/>
            <a:ext cx="3154680" cy="1311683"/>
          </a:xfrm>
          <a:prstGeom prst="rect">
            <a:avLst/>
          </a:prstGeom>
        </p:spPr>
      </p:pic>
      <p:sp>
        <p:nvSpPr>
          <p:cNvPr id="141" name="Rounded Rectangle 140"/>
          <p:cNvSpPr/>
          <p:nvPr/>
        </p:nvSpPr>
        <p:spPr>
          <a:xfrm>
            <a:off x="5623560" y="1353312"/>
            <a:ext cx="3154680" cy="1311683"/>
          </a:xfrm>
          <a:prstGeom prst="roundRect">
            <a:avLst>
              <a:gd name="adj" fmla="val 8000"/>
            </a:avLst>
          </a:prstGeom>
          <a:no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2" name="TextBox 141"/>
          <p:cNvSpPr txBox="1"/>
          <p:nvPr/>
        </p:nvSpPr>
        <p:spPr>
          <a:xfrm>
            <a:off x="5623560" y="2692427"/>
            <a:ext cx="3154680" cy="182880"/>
          </a:xfrm>
          <a:prstGeom prst="rect">
            <a:avLst/>
          </a:prstGeom>
          <a:noFill/>
        </p:spPr>
        <p:txBody>
          <a:bodyPr wrap="square" lIns="0" tIns="0" rIns="0" bIns="0" anchor="t"/>
          <a:lstStyle/>
          <a:p>
            <a:pPr algn="l"/>
            <a:r>
              <a:rPr sz="750" b="1" i="0">
                <a:solidFill>
                  <a:srgbClr val="1A1A1A"/>
                </a:solidFill>
                <a:latin typeface="Arial"/>
              </a:rPr>
              <a:t>Live queue: </a:t>
            </a:r>
            <a:r>
              <a:rPr sz="750" b="0" i="0">
                <a:solidFill>
                  <a:srgbClr val="1A1A1A"/>
                </a:solidFill>
                <a:latin typeface="Arial"/>
              </a:rPr>
              <a:t>ranked by severity, AI search</a:t>
            </a:r>
          </a:p>
        </p:txBody>
      </p:sp>
      <p:pic>
        <p:nvPicPr>
          <p:cNvPr id="143" name="Picture 142" descr="seen.png"/>
          <p:cNvPicPr>
            <a:picLocks noChangeAspect="1"/>
          </p:cNvPicPr>
          <p:nvPr/>
        </p:nvPicPr>
        <p:blipFill>
          <a:blip r:embed="rId7"/>
          <a:stretch>
            <a:fillRect/>
          </a:stretch>
        </p:blipFill>
        <p:spPr>
          <a:xfrm>
            <a:off x="5623560" y="2939315"/>
            <a:ext cx="3154680" cy="1642760"/>
          </a:xfrm>
          <a:prstGeom prst="rect">
            <a:avLst/>
          </a:prstGeom>
        </p:spPr>
      </p:pic>
      <p:sp>
        <p:nvSpPr>
          <p:cNvPr id="144" name="Rounded Rectangle 143"/>
          <p:cNvSpPr/>
          <p:nvPr/>
        </p:nvSpPr>
        <p:spPr>
          <a:xfrm>
            <a:off x="5623560" y="2939315"/>
            <a:ext cx="3154680" cy="1642760"/>
          </a:xfrm>
          <a:prstGeom prst="roundRect">
            <a:avLst>
              <a:gd name="adj" fmla="val 8000"/>
            </a:avLst>
          </a:prstGeom>
          <a:no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5" name="TextBox 144"/>
          <p:cNvSpPr txBox="1"/>
          <p:nvPr/>
        </p:nvSpPr>
        <p:spPr>
          <a:xfrm>
            <a:off x="5623560" y="4609507"/>
            <a:ext cx="3154680" cy="182880"/>
          </a:xfrm>
          <a:prstGeom prst="rect">
            <a:avLst/>
          </a:prstGeom>
          <a:noFill/>
        </p:spPr>
        <p:txBody>
          <a:bodyPr wrap="square" lIns="0" tIns="0" rIns="0" bIns="0" anchor="t"/>
          <a:lstStyle/>
          <a:p>
            <a:pPr algn="l"/>
            <a:r>
              <a:rPr sz="750" b="1" i="0">
                <a:solidFill>
                  <a:srgbClr val="1A1A1A"/>
                </a:solidFill>
                <a:latin typeface="Arial"/>
              </a:rPr>
              <a:t>Seen &amp; heard: </a:t>
            </a:r>
            <a:r>
              <a:rPr sz="750" b="0" i="0">
                <a:solidFill>
                  <a:srgbClr val="1A1A1A"/>
                </a:solidFill>
                <a:latin typeface="Arial"/>
              </a:rPr>
              <a:t>background voices logged as evidence</a:t>
            </a:r>
          </a:p>
        </p:txBody>
      </p:sp>
      <p:sp>
        <p:nvSpPr>
          <p:cNvPr id="146" name="Footnote"/>
          <p:cNvSpPr txBox="1"/>
          <p:nvPr/>
        </p:nvSpPr>
        <p:spPr>
          <a:xfrm>
            <a:off x="365760" y="4846320"/>
            <a:ext cx="8412480" cy="182880"/>
          </a:xfrm>
          <a:prstGeom prst="rect">
            <a:avLst/>
          </a:prstGeom>
          <a:noFill/>
        </p:spPr>
        <p:txBody>
          <a:bodyPr wrap="square" lIns="0" tIns="0" rIns="0" bIns="0" anchor="t"/>
          <a:lstStyle/>
          <a:p>
            <a:pPr algn="l"/>
            <a:r>
              <a:rPr sz="650" b="0" i="0">
                <a:solidFill>
                  <a:srgbClr val="5F6368"/>
                </a:solidFill>
                <a:latin typeface="Arial"/>
              </a:rPr>
              <a:t>Screenshots from the deployed responder console (quickbite-5cde0-dashboard.web.app) during test calls in Alappuzha, Kerala. Caller app: quickbite-5cde0.web.app.</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pic>
        <p:nvPicPr>
          <p:cNvPr id="140" name="Google Shape;140;p24"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41" name="Google Shape;141;p24" title="Group 427319979.png"/>
          <p:cNvPicPr preferRelativeResize="0"/>
          <p:nvPr/>
        </p:nvPicPr>
        <p:blipFill>
          <a:blip r:embed="rId4">
            <a:alphaModFix/>
          </a:blip>
          <a:stretch>
            <a:fillRect/>
          </a:stretch>
        </p:blipFill>
        <p:spPr>
          <a:xfrm>
            <a:off x="0" y="3649"/>
            <a:ext cx="9144000" cy="500062"/>
          </a:xfrm>
          <a:prstGeom prst="rect">
            <a:avLst/>
          </a:prstGeom>
          <a:noFill/>
          <a:ln>
            <a:noFill/>
          </a:ln>
        </p:spPr>
      </p:pic>
      <p:sp>
        <p:nvSpPr>
          <p:cNvPr id="142" name="Google Shape;142;p24"/>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3" name="Google Shape;143;p24"/>
          <p:cNvSpPr txBox="1"/>
          <p:nvPr/>
        </p:nvSpPr>
        <p:spPr>
          <a:xfrm>
            <a:off x="265350" y="603504"/>
            <a:ext cx="8943000" cy="384048"/>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latin typeface="Google Sans Flex Medium"/>
                <a:ea typeface="Google Sans Flex Medium"/>
                <a:cs typeface="Google Sans Flex Medium"/>
                <a:sym typeface="Google Sans Flex Medium"/>
              </a:rPr>
              <a:t>Prototype Performance report/Benchmarking</a:t>
            </a:r>
            <a:endParaRPr sz="1600">
              <a:latin typeface="Google Sans Flex Medium"/>
              <a:ea typeface="Google Sans Flex Medium"/>
              <a:cs typeface="Google Sans Flex Medium"/>
              <a:sym typeface="Google Sans Flex Medium"/>
            </a:endParaRPr>
          </a:p>
        </p:txBody>
      </p:sp>
      <p:sp>
        <p:nvSpPr>
          <p:cNvPr id="144" name="Takeaway"/>
          <p:cNvSpPr txBox="1"/>
          <p:nvPr/>
        </p:nvSpPr>
        <p:spPr>
          <a:xfrm>
            <a:off x="365760" y="969264"/>
            <a:ext cx="8412480" cy="292608"/>
          </a:xfrm>
          <a:prstGeom prst="rect">
            <a:avLst/>
          </a:prstGeom>
          <a:noFill/>
        </p:spPr>
        <p:txBody>
          <a:bodyPr wrap="square" lIns="0" tIns="0" rIns="0" bIns="0" anchor="t"/>
          <a:lstStyle/>
          <a:p>
            <a:pPr algn="l"/>
            <a:r>
              <a:rPr sz="1300" b="1" i="0">
                <a:solidFill>
                  <a:srgbClr val="E8590C"/>
                </a:solidFill>
                <a:latin typeface="Arial"/>
              </a:rPr>
              <a:t>70 of 88 checks pass on real Gemini Live calls, and the misses tell us what to fix</a:t>
            </a:r>
          </a:p>
        </p:txBody>
      </p:sp>
      <p:sp>
        <p:nvSpPr>
          <p:cNvPr id="145" name="Rounded Rectangle 144"/>
          <p:cNvSpPr/>
          <p:nvPr/>
        </p:nvSpPr>
        <p:spPr>
          <a:xfrm>
            <a:off x="365760" y="1353312"/>
            <a:ext cx="2103120" cy="1600200"/>
          </a:xfrm>
          <a:prstGeom prst="roundRect">
            <a:avLst>
              <a:gd name="adj" fmla="val 6000"/>
            </a:avLst>
          </a:prstGeom>
          <a:solidFill>
            <a:srgbClr val="2F9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6" name="TextBox 145"/>
          <p:cNvSpPr txBox="1"/>
          <p:nvPr/>
        </p:nvSpPr>
        <p:spPr>
          <a:xfrm>
            <a:off x="475488" y="1426464"/>
            <a:ext cx="1920240" cy="201168"/>
          </a:xfrm>
          <a:prstGeom prst="rect">
            <a:avLst/>
          </a:prstGeom>
          <a:noFill/>
        </p:spPr>
        <p:txBody>
          <a:bodyPr wrap="square" lIns="0" tIns="0" rIns="0" bIns="0" anchor="t"/>
          <a:lstStyle/>
          <a:p>
            <a:pPr algn="l"/>
            <a:r>
              <a:rPr sz="800" b="1" i="0">
                <a:solidFill>
                  <a:srgbClr val="FFFFFF"/>
                </a:solidFill>
                <a:latin typeface="Arial"/>
              </a:rPr>
              <a:t>CHECKS PASSED</a:t>
            </a:r>
          </a:p>
        </p:txBody>
      </p:sp>
      <p:sp>
        <p:nvSpPr>
          <p:cNvPr id="147" name="TextBox 146"/>
          <p:cNvSpPr txBox="1"/>
          <p:nvPr/>
        </p:nvSpPr>
        <p:spPr>
          <a:xfrm>
            <a:off x="475488" y="1645920"/>
            <a:ext cx="1920240" cy="548640"/>
          </a:xfrm>
          <a:prstGeom prst="rect">
            <a:avLst/>
          </a:prstGeom>
          <a:noFill/>
        </p:spPr>
        <p:txBody>
          <a:bodyPr wrap="square" lIns="0" tIns="0" rIns="0" bIns="0" anchor="t"/>
          <a:lstStyle/>
          <a:p>
            <a:pPr algn="l"/>
            <a:r>
              <a:rPr sz="3400" b="1" i="0">
                <a:solidFill>
                  <a:srgbClr val="FFFFFF"/>
                </a:solidFill>
                <a:latin typeface="Arial"/>
              </a:rPr>
              <a:t>80%</a:t>
            </a:r>
          </a:p>
        </p:txBody>
      </p:sp>
      <p:sp>
        <p:nvSpPr>
          <p:cNvPr id="148" name="TextBox 147"/>
          <p:cNvSpPr txBox="1"/>
          <p:nvPr/>
        </p:nvSpPr>
        <p:spPr>
          <a:xfrm>
            <a:off x="475488" y="2212848"/>
            <a:ext cx="1920240" cy="713232"/>
          </a:xfrm>
          <a:prstGeom prst="rect">
            <a:avLst/>
          </a:prstGeom>
          <a:noFill/>
        </p:spPr>
        <p:txBody>
          <a:bodyPr wrap="square" lIns="0" tIns="0" rIns="0" bIns="0" anchor="t"/>
          <a:lstStyle/>
          <a:p>
            <a:pPr algn="l">
              <a:spcAft>
                <a:spcPts val="200"/>
              </a:spcAft>
            </a:pPr>
            <a:r>
              <a:rPr sz="750" b="0" i="0">
                <a:solidFill>
                  <a:srgbClr val="FFFFFF"/>
                </a:solidFill>
                <a:latin typeface="Arial"/>
              </a:rPr>
              <a:t>70 / 88 strict keyword checks (80%)</a:t>
            </a:r>
          </a:p>
          <a:p>
            <a:pPr algn="l">
              <a:spcAft>
                <a:spcPts val="200"/>
              </a:spcAft>
            </a:pPr>
            <a:r>
              <a:rPr sz="750" b="0" i="0">
                <a:solidFill>
                  <a:srgbClr val="FFFFFF"/>
                </a:solidFill>
                <a:latin typeface="Arial"/>
              </a:rPr>
              <a:t>74 / 88 when an AI judge reads the dashboard (84%)</a:t>
            </a:r>
          </a:p>
          <a:p>
            <a:pPr algn="l">
              <a:spcAft>
                <a:spcPts val="200"/>
              </a:spcAft>
            </a:pPr>
            <a:r>
              <a:rPr sz="750" b="0" i="0">
                <a:solidFill>
                  <a:srgbClr val="FFFFFF"/>
                </a:solidFill>
                <a:latin typeface="Arial"/>
              </a:rPr>
              <a:t>17 calls, run 7 Oct 2026</a:t>
            </a:r>
          </a:p>
        </p:txBody>
      </p:sp>
      <p:sp>
        <p:nvSpPr>
          <p:cNvPr id="149" name="Rounded Rectangle 148"/>
          <p:cNvSpPr/>
          <p:nvPr/>
        </p:nvSpPr>
        <p:spPr>
          <a:xfrm>
            <a:off x="365760" y="3044952"/>
            <a:ext cx="2103120" cy="1691640"/>
          </a:xfrm>
          <a:prstGeom prst="roundRect">
            <a:avLst>
              <a:gd name="adj" fmla="val 8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t"/>
          <a:lstStyle/>
          <a:p>
            <a:pPr algn="l"/>
            <a:r>
              <a:rPr sz="850" b="1" i="0">
                <a:solidFill>
                  <a:srgbClr val="1A1A1A"/>
                </a:solidFill>
                <a:latin typeface="Arial"/>
              </a:rPr>
              <a:t>Method</a:t>
            </a:r>
          </a:p>
          <a:p>
            <a:pPr algn="l"/>
            <a:r>
              <a:rPr sz="750" b="0" i="0">
                <a:solidFill>
                  <a:srgbClr val="1A1A1A"/>
                </a:solidFill>
                <a:latin typeface="Arial"/>
              </a:rPr>
              <a:t>17 scenarios as real gemini-3.8-live voice calls with Mia’s production persona and tools. A second model plays the caller (covert, open, chase, coercion, Malayalam, Hinglish, camera, sound, SOS). Every result written to Firestore and scored by keyword and by an AI judge.</a:t>
            </a:r>
          </a:p>
        </p:txBody>
      </p:sp>
      <p:sp>
        <p:nvSpPr>
          <p:cNvPr id="150" name="TextBox 149"/>
          <p:cNvSpPr txBox="1"/>
          <p:nvPr/>
        </p:nvSpPr>
        <p:spPr>
          <a:xfrm>
            <a:off x="2651760" y="1325880"/>
            <a:ext cx="3108960" cy="201168"/>
          </a:xfrm>
          <a:prstGeom prst="rect">
            <a:avLst/>
          </a:prstGeom>
          <a:noFill/>
        </p:spPr>
        <p:txBody>
          <a:bodyPr wrap="square" lIns="0" tIns="0" rIns="0" bIns="0" anchor="t"/>
          <a:lstStyle/>
          <a:p>
            <a:pPr algn="l"/>
            <a:r>
              <a:rPr sz="800" b="1" i="0">
                <a:solidFill>
                  <a:srgbClr val="5F6368"/>
                </a:solidFill>
                <a:latin typeface="Arial"/>
              </a:rPr>
              <a:t>PASS RATE BY SCENARIO GROUP</a:t>
            </a:r>
          </a:p>
        </p:txBody>
      </p:sp>
      <p:graphicFrame>
        <p:nvGraphicFramePr>
          <p:cNvPr id="151" name="Chart 150" descr="Chart"/>
          <p:cNvGraphicFramePr>
            <a:graphicFrameLocks noGrp="1"/>
          </p:cNvGraphicFramePr>
          <p:nvPr>
            <p:extLst>
              <p:ext uri="{D42A27DB-BD31-4B8C-83A1-F6EECF244321}">
                <p14:modId xmlns:p14="http://schemas.microsoft.com/office/powerpoint/2010/main" val="1203644217"/>
              </p:ext>
            </p:extLst>
          </p:nvPr>
        </p:nvGraphicFramePr>
        <p:xfrm>
          <a:off x="2606040" y="1508760"/>
          <a:ext cx="3154680" cy="3246120"/>
        </p:xfrm>
        <a:graphic>
          <a:graphicData uri="http://schemas.openxmlformats.org/drawingml/2006/chart">
            <c:chart xmlns:c="http://schemas.openxmlformats.org/drawingml/2006/chart" xmlns:r="http://schemas.openxmlformats.org/officeDocument/2006/relationships" r:id="rId5"/>
          </a:graphicData>
        </a:graphic>
      </p:graphicFrame>
      <p:sp>
        <p:nvSpPr>
          <p:cNvPr id="152" name="TextBox 151"/>
          <p:cNvSpPr txBox="1"/>
          <p:nvPr/>
        </p:nvSpPr>
        <p:spPr>
          <a:xfrm>
            <a:off x="5943600" y="1325880"/>
            <a:ext cx="2834640" cy="201168"/>
          </a:xfrm>
          <a:prstGeom prst="rect">
            <a:avLst/>
          </a:prstGeom>
          <a:noFill/>
        </p:spPr>
        <p:txBody>
          <a:bodyPr wrap="square" lIns="0" tIns="0" rIns="0" bIns="0" anchor="t"/>
          <a:lstStyle/>
          <a:p>
            <a:pPr algn="l"/>
            <a:r>
              <a:rPr sz="800" b="1" i="0">
                <a:solidFill>
                  <a:srgbClr val="5F6368"/>
                </a:solidFill>
                <a:latin typeface="Arial"/>
              </a:rPr>
              <a:t>SPEED vs TARGET</a:t>
            </a:r>
          </a:p>
        </p:txBody>
      </p:sp>
      <p:graphicFrame>
        <p:nvGraphicFramePr>
          <p:cNvPr id="153" name="Table 152"/>
          <p:cNvGraphicFramePr>
            <a:graphicFrameLocks noGrp="1"/>
          </p:cNvGraphicFramePr>
          <p:nvPr/>
        </p:nvGraphicFramePr>
        <p:xfrm>
          <a:off x="5943600" y="1554480"/>
          <a:ext cx="2834640" cy="2048256"/>
        </p:xfrm>
        <a:graphic>
          <a:graphicData uri="http://schemas.openxmlformats.org/drawingml/2006/table">
            <a:tbl>
              <a:tblPr firstRow="1" bandRow="1">
                <a:tableStyleId>{5C22544A-7EE6-4342-B048-85BDC9FD1C3A}</a:tableStyleId>
              </a:tblPr>
              <a:tblGrid>
                <a:gridCol w="1325880">
                  <a:extLst>
                    <a:ext uri="{9D8B030D-6E8A-4147-A177-3AD203B41FA5}">
                      <a16:colId xmlns:a16="http://schemas.microsoft.com/office/drawing/2014/main" val="20000"/>
                    </a:ext>
                  </a:extLst>
                </a:gridCol>
                <a:gridCol w="77724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tblGrid>
              <a:tr h="256032">
                <a:tc>
                  <a:txBody>
                    <a:bodyPr/>
                    <a:lstStyle/>
                    <a:p>
                      <a:pPr algn="l"/>
                      <a:r>
                        <a:rPr sz="750" b="1" i="0">
                          <a:solidFill>
                            <a:srgbClr val="5F6368"/>
                          </a:solidFill>
                          <a:latin typeface="Arial"/>
                        </a:rPr>
                        <a:t>Metric</a:t>
                      </a:r>
                    </a:p>
                  </a:txBody>
                  <a:tcPr marL="36576" marR="36576" marT="18288" marB="18288" anchor="ctr">
                    <a:solidFill>
                      <a:srgbClr val="FFFFFF"/>
                    </a:solidFill>
                  </a:tcPr>
                </a:tc>
                <a:tc>
                  <a:txBody>
                    <a:bodyPr/>
                    <a:lstStyle/>
                    <a:p>
                      <a:pPr algn="ctr"/>
                      <a:r>
                        <a:rPr sz="750" b="1" i="0">
                          <a:solidFill>
                            <a:srgbClr val="5F6368"/>
                          </a:solidFill>
                          <a:latin typeface="Arial"/>
                        </a:rPr>
                        <a:t>Measured</a:t>
                      </a:r>
                    </a:p>
                  </a:txBody>
                  <a:tcPr marL="36576" marR="36576" marT="18288" marB="18288" anchor="ctr">
                    <a:solidFill>
                      <a:srgbClr val="FFFFFF"/>
                    </a:solidFill>
                  </a:tcPr>
                </a:tc>
                <a:tc>
                  <a:txBody>
                    <a:bodyPr/>
                    <a:lstStyle/>
                    <a:p>
                      <a:pPr algn="ctr"/>
                      <a:r>
                        <a:rPr sz="750" b="1" i="0">
                          <a:solidFill>
                            <a:srgbClr val="5F6368"/>
                          </a:solidFill>
                          <a:latin typeface="Arial"/>
                        </a:rPr>
                        <a:t>Target</a:t>
                      </a:r>
                    </a:p>
                  </a:txBody>
                  <a:tcPr marL="36576" marR="36576" marT="18288" marB="18288" anchor="ctr">
                    <a:solidFill>
                      <a:srgbClr val="FFFFFF"/>
                    </a:solidFill>
                  </a:tcPr>
                </a:tc>
                <a:extLst>
                  <a:ext uri="{0D108BD9-81ED-4DB2-BD59-A6C34878D82A}">
                    <a16:rowId xmlns:a16="http://schemas.microsoft.com/office/drawing/2014/main" val="10000"/>
                  </a:ext>
                </a:extLst>
              </a:tr>
              <a:tr h="256032">
                <a:tc>
                  <a:txBody>
                    <a:bodyPr/>
                    <a:lstStyle/>
                    <a:p>
                      <a:pPr algn="l"/>
                      <a:r>
                        <a:rPr sz="750" b="0" i="0">
                          <a:solidFill>
                            <a:srgbClr val="1A1A1A"/>
                          </a:solidFill>
                          <a:latin typeface="Arial"/>
                        </a:rPr>
                        <a:t>Incident created</a:t>
                      </a:r>
                    </a:p>
                  </a:txBody>
                  <a:tcPr marL="36576" marR="36576" marT="18288" marB="18288" anchor="ctr">
                    <a:solidFill>
                      <a:srgbClr val="F4F5F7"/>
                    </a:solidFill>
                  </a:tcPr>
                </a:tc>
                <a:tc>
                  <a:txBody>
                    <a:bodyPr/>
                    <a:lstStyle/>
                    <a:p>
                      <a:pPr algn="ctr"/>
                      <a:r>
                        <a:rPr sz="800" b="1" i="0">
                          <a:solidFill>
                            <a:srgbClr val="2F9E44"/>
                          </a:solidFill>
                          <a:latin typeface="Arial"/>
                        </a:rPr>
                        <a:t>0.11 s</a:t>
                      </a:r>
                    </a:p>
                  </a:txBody>
                  <a:tcPr marL="36576" marR="36576" marT="18288" marB="18288" anchor="ctr">
                    <a:solidFill>
                      <a:srgbClr val="F4F5F7"/>
                    </a:solidFill>
                  </a:tcPr>
                </a:tc>
                <a:tc>
                  <a:txBody>
                    <a:bodyPr/>
                    <a:lstStyle/>
                    <a:p>
                      <a:pPr algn="ctr"/>
                      <a:r>
                        <a:rPr sz="750" b="0" i="0">
                          <a:solidFill>
                            <a:srgbClr val="5F6368"/>
                          </a:solidFill>
                          <a:latin typeface="Arial"/>
                        </a:rPr>
                        <a:t>≤ 2 s</a:t>
                      </a:r>
                    </a:p>
                  </a:txBody>
                  <a:tcPr marL="36576" marR="36576" marT="18288" marB="18288" anchor="ctr">
                    <a:solidFill>
                      <a:srgbClr val="F4F5F7"/>
                    </a:solidFill>
                  </a:tcPr>
                </a:tc>
                <a:extLst>
                  <a:ext uri="{0D108BD9-81ED-4DB2-BD59-A6C34878D82A}">
                    <a16:rowId xmlns:a16="http://schemas.microsoft.com/office/drawing/2014/main" val="10001"/>
                  </a:ext>
                </a:extLst>
              </a:tr>
              <a:tr h="256032">
                <a:tc>
                  <a:txBody>
                    <a:bodyPr/>
                    <a:lstStyle/>
                    <a:p>
                      <a:pPr algn="l"/>
                      <a:r>
                        <a:rPr sz="750" b="0" i="0">
                          <a:solidFill>
                            <a:srgbClr val="1A1A1A"/>
                          </a:solidFill>
                          <a:latin typeface="Arial"/>
                        </a:rPr>
                        <a:t>Mia greeting</a:t>
                      </a:r>
                    </a:p>
                  </a:txBody>
                  <a:tcPr marL="36576" marR="36576" marT="18288" marB="18288" anchor="ctr">
                    <a:solidFill>
                      <a:srgbClr val="FFFFFF"/>
                    </a:solidFill>
                  </a:tcPr>
                </a:tc>
                <a:tc>
                  <a:txBody>
                    <a:bodyPr/>
                    <a:lstStyle/>
                    <a:p>
                      <a:pPr algn="ctr"/>
                      <a:r>
                        <a:rPr sz="800" b="1" i="0">
                          <a:solidFill>
                            <a:srgbClr val="2F9E44"/>
                          </a:solidFill>
                          <a:latin typeface="Arial"/>
                        </a:rPr>
                        <a:t>1.28 s</a:t>
                      </a:r>
                    </a:p>
                  </a:txBody>
                  <a:tcPr marL="36576" marR="36576" marT="18288" marB="18288" anchor="ctr">
                    <a:solidFill>
                      <a:srgbClr val="FFFFFF"/>
                    </a:solidFill>
                  </a:tcPr>
                </a:tc>
                <a:tc>
                  <a:txBody>
                    <a:bodyPr/>
                    <a:lstStyle/>
                    <a:p>
                      <a:pPr algn="ctr"/>
                      <a:r>
                        <a:rPr sz="750" b="0" i="0">
                          <a:solidFill>
                            <a:srgbClr val="5F6368"/>
                          </a:solidFill>
                          <a:latin typeface="Arial"/>
                        </a:rPr>
                        <a:t>≤ 2 s</a:t>
                      </a:r>
                    </a:p>
                  </a:txBody>
                  <a:tcPr marL="36576" marR="36576" marT="18288" marB="18288" anchor="ctr">
                    <a:solidFill>
                      <a:srgbClr val="FFFFFF"/>
                    </a:solidFill>
                  </a:tcPr>
                </a:tc>
                <a:extLst>
                  <a:ext uri="{0D108BD9-81ED-4DB2-BD59-A6C34878D82A}">
                    <a16:rowId xmlns:a16="http://schemas.microsoft.com/office/drawing/2014/main" val="10002"/>
                  </a:ext>
                </a:extLst>
              </a:tr>
              <a:tr h="256032">
                <a:tc>
                  <a:txBody>
                    <a:bodyPr/>
                    <a:lstStyle/>
                    <a:p>
                      <a:pPr algn="l"/>
                      <a:r>
                        <a:rPr sz="750" b="0" i="0">
                          <a:solidFill>
                            <a:srgbClr val="1A1A1A"/>
                          </a:solidFill>
                          <a:latin typeface="Arial"/>
                        </a:rPr>
                        <a:t>Mia reply, median</a:t>
                      </a:r>
                    </a:p>
                  </a:txBody>
                  <a:tcPr marL="36576" marR="36576" marT="18288" marB="18288" anchor="ctr">
                    <a:solidFill>
                      <a:srgbClr val="F4F5F7"/>
                    </a:solidFill>
                  </a:tcPr>
                </a:tc>
                <a:tc>
                  <a:txBody>
                    <a:bodyPr/>
                    <a:lstStyle/>
                    <a:p>
                      <a:pPr algn="ctr"/>
                      <a:r>
                        <a:rPr sz="800" b="1" i="0">
                          <a:solidFill>
                            <a:srgbClr val="2F9E44"/>
                          </a:solidFill>
                          <a:latin typeface="Arial"/>
                        </a:rPr>
                        <a:t>1.23 s</a:t>
                      </a:r>
                    </a:p>
                  </a:txBody>
                  <a:tcPr marL="36576" marR="36576" marT="18288" marB="18288" anchor="ctr">
                    <a:solidFill>
                      <a:srgbClr val="F4F5F7"/>
                    </a:solidFill>
                  </a:tcPr>
                </a:tc>
                <a:tc>
                  <a:txBody>
                    <a:bodyPr/>
                    <a:lstStyle/>
                    <a:p>
                      <a:pPr algn="ctr"/>
                      <a:r>
                        <a:rPr sz="750" b="0" i="0">
                          <a:solidFill>
                            <a:srgbClr val="5F6368"/>
                          </a:solidFill>
                          <a:latin typeface="Arial"/>
                        </a:rPr>
                        <a:t>≤ 1.5 s</a:t>
                      </a:r>
                    </a:p>
                  </a:txBody>
                  <a:tcPr marL="36576" marR="36576" marT="18288" marB="18288" anchor="ctr">
                    <a:solidFill>
                      <a:srgbClr val="F4F5F7"/>
                    </a:solidFill>
                  </a:tcPr>
                </a:tc>
                <a:extLst>
                  <a:ext uri="{0D108BD9-81ED-4DB2-BD59-A6C34878D82A}">
                    <a16:rowId xmlns:a16="http://schemas.microsoft.com/office/drawing/2014/main" val="10003"/>
                  </a:ext>
                </a:extLst>
              </a:tr>
              <a:tr h="256032">
                <a:tc>
                  <a:txBody>
                    <a:bodyPr/>
                    <a:lstStyle/>
                    <a:p>
                      <a:pPr algn="l"/>
                      <a:r>
                        <a:rPr sz="750" b="0" i="0">
                          <a:solidFill>
                            <a:srgbClr val="1A1A1A"/>
                          </a:solidFill>
                          <a:latin typeface="Arial"/>
                        </a:rPr>
                        <a:t>Mia reply, p95</a:t>
                      </a:r>
                    </a:p>
                  </a:txBody>
                  <a:tcPr marL="36576" marR="36576" marT="18288" marB="18288" anchor="ctr">
                    <a:solidFill>
                      <a:srgbClr val="FFFFFF"/>
                    </a:solidFill>
                  </a:tcPr>
                </a:tc>
                <a:tc>
                  <a:txBody>
                    <a:bodyPr/>
                    <a:lstStyle/>
                    <a:p>
                      <a:pPr algn="ctr"/>
                      <a:r>
                        <a:rPr sz="800" b="1" i="0">
                          <a:solidFill>
                            <a:srgbClr val="E39B00"/>
                          </a:solidFill>
                          <a:latin typeface="Arial"/>
                        </a:rPr>
                        <a:t>3.3 s</a:t>
                      </a:r>
                    </a:p>
                  </a:txBody>
                  <a:tcPr marL="36576" marR="36576" marT="18288" marB="18288" anchor="ctr">
                    <a:solidFill>
                      <a:srgbClr val="FFFFFF"/>
                    </a:solidFill>
                  </a:tcPr>
                </a:tc>
                <a:tc>
                  <a:txBody>
                    <a:bodyPr/>
                    <a:lstStyle/>
                    <a:p>
                      <a:pPr algn="ctr"/>
                      <a:r>
                        <a:rPr sz="750" b="0" i="0">
                          <a:solidFill>
                            <a:srgbClr val="5F6368"/>
                          </a:solidFill>
                          <a:latin typeface="Arial"/>
                        </a:rPr>
                        <a:t>≤ 2.5 s</a:t>
                      </a:r>
                    </a:p>
                  </a:txBody>
                  <a:tcPr marL="36576" marR="36576" marT="18288" marB="18288" anchor="ctr">
                    <a:solidFill>
                      <a:srgbClr val="FFFFFF"/>
                    </a:solidFill>
                  </a:tcPr>
                </a:tc>
                <a:extLst>
                  <a:ext uri="{0D108BD9-81ED-4DB2-BD59-A6C34878D82A}">
                    <a16:rowId xmlns:a16="http://schemas.microsoft.com/office/drawing/2014/main" val="10004"/>
                  </a:ext>
                </a:extLst>
              </a:tr>
              <a:tr h="256032">
                <a:tc>
                  <a:txBody>
                    <a:bodyPr/>
                    <a:lstStyle/>
                    <a:p>
                      <a:pPr algn="l"/>
                      <a:r>
                        <a:rPr sz="750" b="0" i="0">
                          <a:solidFill>
                            <a:srgbClr val="1A1A1A"/>
                          </a:solidFill>
                          <a:latin typeface="Arial"/>
                        </a:rPr>
                        <a:t>First danger tag, median</a:t>
                      </a:r>
                    </a:p>
                  </a:txBody>
                  <a:tcPr marL="36576" marR="36576" marT="18288" marB="18288" anchor="ctr">
                    <a:solidFill>
                      <a:srgbClr val="F4F5F7"/>
                    </a:solidFill>
                  </a:tcPr>
                </a:tc>
                <a:tc>
                  <a:txBody>
                    <a:bodyPr/>
                    <a:lstStyle/>
                    <a:p>
                      <a:pPr algn="ctr"/>
                      <a:r>
                        <a:rPr sz="800" b="1" i="0">
                          <a:solidFill>
                            <a:srgbClr val="2F9E44"/>
                          </a:solidFill>
                          <a:latin typeface="Arial"/>
                        </a:rPr>
                        <a:t>14.9 s</a:t>
                      </a:r>
                    </a:p>
                  </a:txBody>
                  <a:tcPr marL="36576" marR="36576" marT="18288" marB="18288" anchor="ctr">
                    <a:solidFill>
                      <a:srgbClr val="F4F5F7"/>
                    </a:solidFill>
                  </a:tcPr>
                </a:tc>
                <a:tc>
                  <a:txBody>
                    <a:bodyPr/>
                    <a:lstStyle/>
                    <a:p>
                      <a:pPr algn="ctr"/>
                      <a:r>
                        <a:rPr sz="750" b="0" i="0">
                          <a:solidFill>
                            <a:srgbClr val="5F6368"/>
                          </a:solidFill>
                          <a:latin typeface="Arial"/>
                        </a:rPr>
                        <a:t>≤ 15 s</a:t>
                      </a:r>
                    </a:p>
                  </a:txBody>
                  <a:tcPr marL="36576" marR="36576" marT="18288" marB="18288" anchor="ctr">
                    <a:solidFill>
                      <a:srgbClr val="F4F5F7"/>
                    </a:solidFill>
                  </a:tcPr>
                </a:tc>
                <a:extLst>
                  <a:ext uri="{0D108BD9-81ED-4DB2-BD59-A6C34878D82A}">
                    <a16:rowId xmlns:a16="http://schemas.microsoft.com/office/drawing/2014/main" val="10005"/>
                  </a:ext>
                </a:extLst>
              </a:tr>
              <a:tr h="256032">
                <a:tc>
                  <a:txBody>
                    <a:bodyPr/>
                    <a:lstStyle/>
                    <a:p>
                      <a:pPr algn="l"/>
                      <a:r>
                        <a:rPr sz="750" b="0" i="0">
                          <a:solidFill>
                            <a:srgbClr val="1A1A1A"/>
                          </a:solidFill>
                          <a:latin typeface="Arial"/>
                        </a:rPr>
                        <a:t>Route to safety</a:t>
                      </a:r>
                    </a:p>
                  </a:txBody>
                  <a:tcPr marL="36576" marR="36576" marT="18288" marB="18288" anchor="ctr">
                    <a:solidFill>
                      <a:srgbClr val="FFFFFF"/>
                    </a:solidFill>
                  </a:tcPr>
                </a:tc>
                <a:tc>
                  <a:txBody>
                    <a:bodyPr/>
                    <a:lstStyle/>
                    <a:p>
                      <a:pPr algn="ctr"/>
                      <a:r>
                        <a:rPr sz="800" b="1" i="0">
                          <a:solidFill>
                            <a:srgbClr val="E39B00"/>
                          </a:solidFill>
                          <a:latin typeface="Arial"/>
                        </a:rPr>
                        <a:t>6.6 s</a:t>
                      </a:r>
                    </a:p>
                  </a:txBody>
                  <a:tcPr marL="36576" marR="36576" marT="18288" marB="18288" anchor="ctr">
                    <a:solidFill>
                      <a:srgbClr val="FFFFFF"/>
                    </a:solidFill>
                  </a:tcPr>
                </a:tc>
                <a:tc>
                  <a:txBody>
                    <a:bodyPr/>
                    <a:lstStyle/>
                    <a:p>
                      <a:pPr algn="ctr"/>
                      <a:r>
                        <a:rPr sz="750" b="0" i="0">
                          <a:solidFill>
                            <a:srgbClr val="5F6368"/>
                          </a:solidFill>
                          <a:latin typeface="Arial"/>
                        </a:rPr>
                        <a:t>≤ 5 s</a:t>
                      </a:r>
                    </a:p>
                  </a:txBody>
                  <a:tcPr marL="36576" marR="36576" marT="18288" marB="18288" anchor="ctr">
                    <a:solidFill>
                      <a:srgbClr val="FFFFFF"/>
                    </a:solidFill>
                  </a:tcPr>
                </a:tc>
                <a:extLst>
                  <a:ext uri="{0D108BD9-81ED-4DB2-BD59-A6C34878D82A}">
                    <a16:rowId xmlns:a16="http://schemas.microsoft.com/office/drawing/2014/main" val="10006"/>
                  </a:ext>
                </a:extLst>
              </a:tr>
              <a:tr h="256032">
                <a:tc>
                  <a:txBody>
                    <a:bodyPr/>
                    <a:lstStyle/>
                    <a:p>
                      <a:pPr algn="l"/>
                      <a:r>
                        <a:rPr sz="750" b="0" i="0">
                          <a:solidFill>
                            <a:srgbClr val="1A1A1A"/>
                          </a:solidFill>
                          <a:latin typeface="Arial"/>
                        </a:rPr>
                        <a:t>Case summary, median</a:t>
                      </a:r>
                    </a:p>
                  </a:txBody>
                  <a:tcPr marL="36576" marR="36576" marT="18288" marB="18288" anchor="ctr">
                    <a:solidFill>
                      <a:srgbClr val="F4F5F7"/>
                    </a:solidFill>
                  </a:tcPr>
                </a:tc>
                <a:tc>
                  <a:txBody>
                    <a:bodyPr/>
                    <a:lstStyle/>
                    <a:p>
                      <a:pPr algn="ctr"/>
                      <a:r>
                        <a:rPr sz="800" b="1" i="0">
                          <a:solidFill>
                            <a:srgbClr val="2F9E44"/>
                          </a:solidFill>
                          <a:latin typeface="Arial"/>
                        </a:rPr>
                        <a:t>2.3 s</a:t>
                      </a:r>
                    </a:p>
                  </a:txBody>
                  <a:tcPr marL="36576" marR="36576" marT="18288" marB="18288" anchor="ctr">
                    <a:solidFill>
                      <a:srgbClr val="F4F5F7"/>
                    </a:solidFill>
                  </a:tcPr>
                </a:tc>
                <a:tc>
                  <a:txBody>
                    <a:bodyPr/>
                    <a:lstStyle/>
                    <a:p>
                      <a:pPr algn="ctr"/>
                      <a:r>
                        <a:rPr sz="750" b="0" i="0">
                          <a:solidFill>
                            <a:srgbClr val="5F6368"/>
                          </a:solidFill>
                          <a:latin typeface="Arial"/>
                        </a:rPr>
                        <a:t>≤ 10 s</a:t>
                      </a:r>
                    </a:p>
                  </a:txBody>
                  <a:tcPr marL="36576" marR="36576" marT="18288" marB="18288" anchor="ctr">
                    <a:solidFill>
                      <a:srgbClr val="F4F5F7"/>
                    </a:solidFill>
                  </a:tcPr>
                </a:tc>
                <a:extLst>
                  <a:ext uri="{0D108BD9-81ED-4DB2-BD59-A6C34878D82A}">
                    <a16:rowId xmlns:a16="http://schemas.microsoft.com/office/drawing/2014/main" val="10007"/>
                  </a:ext>
                </a:extLst>
              </a:tr>
            </a:tbl>
          </a:graphicData>
        </a:graphic>
      </p:graphicFrame>
      <p:sp>
        <p:nvSpPr>
          <p:cNvPr id="154" name="Rounded Rectangle 153"/>
          <p:cNvSpPr/>
          <p:nvPr/>
        </p:nvSpPr>
        <p:spPr>
          <a:xfrm>
            <a:off x="5943600" y="3739896"/>
            <a:ext cx="2834640" cy="1014983"/>
          </a:xfrm>
          <a:prstGeom prst="roundRect">
            <a:avLst>
              <a:gd name="adj" fmla="val 8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t"/>
          <a:lstStyle/>
          <a:p>
            <a:pPr algn="l"/>
            <a:r>
              <a:rPr sz="850" b="1" i="0">
                <a:solidFill>
                  <a:srgbClr val="D6336C"/>
                </a:solidFill>
                <a:latin typeface="Arial"/>
              </a:rPr>
              <a:t>What the run told us to fix</a:t>
            </a:r>
          </a:p>
          <a:p>
            <a:pPr algn="l"/>
            <a:r>
              <a:rPr sz="700" b="0" i="0">
                <a:solidFill>
                  <a:srgbClr val="1A1A1A"/>
                </a:solidFill>
                <a:latin typeface="Arial"/>
              </a:rPr>
              <a:t>Mia said “police” aloud in 2 covert calls; background gunshots and the knife on camera were missed in the harness; 1 false alarm on a genuine food order; reply p95 and routing above target.</a:t>
            </a:r>
          </a:p>
          <a:p>
            <a:pPr algn="l"/>
            <a:r>
              <a:rPr sz="700" b="1" i="0">
                <a:solidFill>
                  <a:srgbClr val="1A1A1A"/>
                </a:solidFill>
                <a:latin typeface="Arial"/>
              </a:rPr>
              <a:t>Already fixed in live calls: </a:t>
            </a:r>
            <a:r>
              <a:rPr sz="700" b="0" i="0">
                <a:solidFill>
                  <a:srgbClr val="1A1A1A"/>
                </a:solidFill>
                <a:latin typeface="Arial"/>
              </a:rPr>
              <a:t>reply gaps 20–25 s → 1–3 s; inferences per 4-turn call ~22 → 5.</a:t>
            </a:r>
          </a:p>
        </p:txBody>
      </p:sp>
      <p:sp>
        <p:nvSpPr>
          <p:cNvPr id="155" name="Footnote"/>
          <p:cNvSpPr txBox="1"/>
          <p:nvPr/>
        </p:nvSpPr>
        <p:spPr>
          <a:xfrm>
            <a:off x="365760" y="4846320"/>
            <a:ext cx="8412480" cy="182880"/>
          </a:xfrm>
          <a:prstGeom prst="rect">
            <a:avLst/>
          </a:prstGeom>
          <a:noFill/>
        </p:spPr>
        <p:txBody>
          <a:bodyPr wrap="square" lIns="0" tIns="0" rIns="0" bIns="0" anchor="t"/>
          <a:lstStyle/>
          <a:p>
            <a:pPr algn="l"/>
            <a:r>
              <a:rPr sz="650" b="0" i="0">
                <a:solidFill>
                  <a:srgbClr val="5F6368"/>
                </a:solidFill>
                <a:latin typeface="Arial"/>
              </a:rPr>
              <a:t>Source: covert_call/eval run, 7 Oct 2026 (results/latest.json + Excel report). Medians across calls; reply percentiles over 65 turns. One vision call re-run after a network outage.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pic>
        <p:nvPicPr>
          <p:cNvPr id="148" name="Google Shape;148;p25"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49" name="Google Shape;149;p25" title="Group 427319979.png"/>
          <p:cNvPicPr preferRelativeResize="0"/>
          <p:nvPr/>
        </p:nvPicPr>
        <p:blipFill>
          <a:blip r:embed="rId4">
            <a:alphaModFix/>
          </a:blip>
          <a:stretch>
            <a:fillRect/>
          </a:stretch>
        </p:blipFill>
        <p:spPr>
          <a:xfrm>
            <a:off x="0" y="3649"/>
            <a:ext cx="9144000" cy="500062"/>
          </a:xfrm>
          <a:prstGeom prst="rect">
            <a:avLst/>
          </a:prstGeom>
          <a:noFill/>
          <a:ln>
            <a:noFill/>
          </a:ln>
        </p:spPr>
      </p:pic>
      <p:sp>
        <p:nvSpPr>
          <p:cNvPr id="150" name="Google Shape;150;p25"/>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1" name="Google Shape;151;p25"/>
          <p:cNvSpPr txBox="1"/>
          <p:nvPr/>
        </p:nvSpPr>
        <p:spPr>
          <a:xfrm>
            <a:off x="265350" y="603504"/>
            <a:ext cx="8943000" cy="384048"/>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latin typeface="Google Sans Flex Medium"/>
                <a:ea typeface="Google Sans Flex Medium"/>
                <a:cs typeface="Google Sans Flex Medium"/>
                <a:sym typeface="Google Sans Flex Medium"/>
              </a:rPr>
              <a:t>Additional Details/Future Development (if any)</a:t>
            </a:r>
            <a:endParaRPr sz="1600">
              <a:latin typeface="Google Sans Flex Medium"/>
              <a:ea typeface="Google Sans Flex Medium"/>
              <a:cs typeface="Google Sans Flex Medium"/>
              <a:sym typeface="Google Sans Flex Medium"/>
            </a:endParaRPr>
          </a:p>
        </p:txBody>
      </p:sp>
      <p:sp>
        <p:nvSpPr>
          <p:cNvPr id="152" name="Takeaway"/>
          <p:cNvSpPr txBox="1"/>
          <p:nvPr/>
        </p:nvSpPr>
        <p:spPr>
          <a:xfrm>
            <a:off x="365760" y="969264"/>
            <a:ext cx="8412480" cy="292608"/>
          </a:xfrm>
          <a:prstGeom prst="rect">
            <a:avLst/>
          </a:prstGeom>
          <a:noFill/>
        </p:spPr>
        <p:txBody>
          <a:bodyPr wrap="square" lIns="0" tIns="0" rIns="0" bIns="0" anchor="t"/>
          <a:lstStyle/>
          <a:p>
            <a:pPr algn="l"/>
            <a:r>
              <a:rPr sz="1300" b="1" i="0">
                <a:solidFill>
                  <a:srgbClr val="E8590C"/>
                </a:solidFill>
                <a:latin typeface="Arial"/>
              </a:rPr>
              <a:t>From prototype to pilot to platform</a:t>
            </a:r>
          </a:p>
        </p:txBody>
      </p:sp>
      <p:sp>
        <p:nvSpPr>
          <p:cNvPr id="153" name="Pentagon 152"/>
          <p:cNvSpPr/>
          <p:nvPr/>
        </p:nvSpPr>
        <p:spPr>
          <a:xfrm>
            <a:off x="365760" y="1353312"/>
            <a:ext cx="2697480" cy="566928"/>
          </a:xfrm>
          <a:prstGeom prst="homePlate">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9728" rIns="109728" bIns="109728" rtlCol="0" anchor="ctr"/>
          <a:lstStyle/>
          <a:p>
            <a:pPr algn="l"/>
            <a:r>
              <a:rPr sz="1100" b="1" i="0">
                <a:solidFill>
                  <a:srgbClr val="FFFFFF"/>
                </a:solidFill>
                <a:latin typeface="Arial"/>
              </a:rPr>
              <a:t>Next 3 months</a:t>
            </a:r>
          </a:p>
          <a:p>
            <a:pPr algn="l"/>
            <a:r>
              <a:rPr sz="850" b="0" i="0">
                <a:solidFill>
                  <a:srgbClr val="FFFFFF"/>
                </a:solidFill>
                <a:latin typeface="Arial"/>
              </a:rPr>
              <a:t>Pilot-ready</a:t>
            </a:r>
          </a:p>
        </p:txBody>
      </p:sp>
      <p:sp>
        <p:nvSpPr>
          <p:cNvPr id="154" name="Rounded Rectangle 153"/>
          <p:cNvSpPr/>
          <p:nvPr/>
        </p:nvSpPr>
        <p:spPr>
          <a:xfrm>
            <a:off x="365760" y="2011680"/>
            <a:ext cx="2697480" cy="1828800"/>
          </a:xfrm>
          <a:prstGeom prst="roundRect">
            <a:avLst>
              <a:gd name="adj" fmla="val 8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5" name="TextBox 154"/>
          <p:cNvSpPr txBox="1"/>
          <p:nvPr/>
        </p:nvSpPr>
        <p:spPr>
          <a:xfrm>
            <a:off x="493776" y="2103120"/>
            <a:ext cx="2468880" cy="1691640"/>
          </a:xfrm>
          <a:prstGeom prst="rect">
            <a:avLst/>
          </a:prstGeom>
          <a:noFill/>
        </p:spPr>
        <p:txBody>
          <a:bodyPr wrap="square" lIns="0" tIns="0" rIns="0" bIns="0" anchor="t"/>
          <a:lstStyle/>
          <a:p>
            <a:pPr algn="l">
              <a:spcAft>
                <a:spcPts val="500"/>
              </a:spcAft>
            </a:pPr>
            <a:r>
              <a:rPr sz="900" b="1" i="0">
                <a:solidFill>
                  <a:srgbClr val="E8590C"/>
                </a:solidFill>
                <a:latin typeface="Arial"/>
              </a:rPr>
              <a:t>• </a:t>
            </a:r>
            <a:r>
              <a:rPr sz="900" b="0" i="0">
                <a:solidFill>
                  <a:srgbClr val="1A1A1A"/>
                </a:solidFill>
                <a:latin typeface="Arial"/>
              </a:rPr>
              <a:t>Close the eval gaps: cover words, gunshot and knife detection, reply p95</a:t>
            </a:r>
          </a:p>
          <a:p>
            <a:pPr algn="l">
              <a:spcAft>
                <a:spcPts val="500"/>
              </a:spcAft>
            </a:pPr>
            <a:r>
              <a:rPr sz="900" b="1" i="0">
                <a:solidFill>
                  <a:srgbClr val="E8590C"/>
                </a:solidFill>
                <a:latin typeface="Arial"/>
              </a:rPr>
              <a:t>• </a:t>
            </a:r>
            <a:r>
              <a:rPr sz="900" b="0" i="0">
                <a:solidFill>
                  <a:srgbClr val="1A1A1A"/>
                </a:solidFill>
                <a:latin typeface="Arial"/>
              </a:rPr>
              <a:t>Cloud Run + ADK agents: dispatch, verification; keys server-side</a:t>
            </a:r>
          </a:p>
          <a:p>
            <a:pPr algn="l">
              <a:spcAft>
                <a:spcPts val="500"/>
              </a:spcAft>
            </a:pPr>
            <a:r>
              <a:rPr sz="900" b="1" i="0">
                <a:solidFill>
                  <a:srgbClr val="E8590C"/>
                </a:solidFill>
                <a:latin typeface="Arial"/>
              </a:rPr>
              <a:t>• </a:t>
            </a:r>
            <a:r>
              <a:rPr sz="900" b="0" i="0">
                <a:solidFill>
                  <a:srgbClr val="1A1A1A"/>
                </a:solidFill>
                <a:latin typeface="Arial"/>
              </a:rPr>
              <a:t>Google Geocoding / Places for Indian addresses</a:t>
            </a:r>
          </a:p>
          <a:p>
            <a:pPr algn="l">
              <a:spcAft>
                <a:spcPts val="500"/>
              </a:spcAft>
            </a:pPr>
            <a:r>
              <a:rPr sz="900" b="1" i="0">
                <a:solidFill>
                  <a:srgbClr val="E8590C"/>
                </a:solidFill>
                <a:latin typeface="Arial"/>
              </a:rPr>
              <a:t>• </a:t>
            </a:r>
            <a:r>
              <a:rPr sz="900" b="0" i="0">
                <a:solidFill>
                  <a:srgbClr val="1A1A1A"/>
                </a:solidFill>
                <a:latin typeface="Arial"/>
              </a:rPr>
              <a:t>TURN relay for video on strict networks</a:t>
            </a:r>
          </a:p>
          <a:p>
            <a:pPr algn="l">
              <a:spcAft>
                <a:spcPts val="500"/>
              </a:spcAft>
            </a:pPr>
            <a:r>
              <a:rPr sz="900" b="1" i="0">
                <a:solidFill>
                  <a:srgbClr val="E8590C"/>
                </a:solidFill>
                <a:latin typeface="Arial"/>
              </a:rPr>
              <a:t>• </a:t>
            </a:r>
            <a:r>
              <a:rPr sz="900" b="0" i="0">
                <a:solidFill>
                  <a:srgbClr val="1A1A1A"/>
                </a:solidFill>
                <a:latin typeface="Arial"/>
              </a:rPr>
              <a:t>Full Android parity, then iOS</a:t>
            </a:r>
          </a:p>
        </p:txBody>
      </p:sp>
      <p:sp>
        <p:nvSpPr>
          <p:cNvPr id="156" name="Chevron 155"/>
          <p:cNvSpPr/>
          <p:nvPr/>
        </p:nvSpPr>
        <p:spPr>
          <a:xfrm>
            <a:off x="3200400" y="1353312"/>
            <a:ext cx="2697480" cy="566928"/>
          </a:xfrm>
          <a:prstGeom prst="chevron">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l"/>
            <a:r>
              <a:rPr sz="1100" b="1" i="0">
                <a:solidFill>
                  <a:srgbClr val="FFFFFF"/>
                </a:solidFill>
                <a:latin typeface="Arial"/>
              </a:rPr>
              <a:t>6–12 months</a:t>
            </a:r>
          </a:p>
          <a:p>
            <a:pPr algn="l"/>
            <a:r>
              <a:rPr sz="850" b="0" i="0">
                <a:solidFill>
                  <a:srgbClr val="FFFFFF"/>
                </a:solidFill>
                <a:latin typeface="Arial"/>
              </a:rPr>
              <a:t>Real dispatch</a:t>
            </a:r>
          </a:p>
        </p:txBody>
      </p:sp>
      <p:sp>
        <p:nvSpPr>
          <p:cNvPr id="157" name="Rounded Rectangle 156"/>
          <p:cNvSpPr/>
          <p:nvPr/>
        </p:nvSpPr>
        <p:spPr>
          <a:xfrm>
            <a:off x="3200400" y="2011680"/>
            <a:ext cx="2697480" cy="1828800"/>
          </a:xfrm>
          <a:prstGeom prst="roundRect">
            <a:avLst>
              <a:gd name="adj" fmla="val 8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8" name="TextBox 157"/>
          <p:cNvSpPr txBox="1"/>
          <p:nvPr/>
        </p:nvSpPr>
        <p:spPr>
          <a:xfrm>
            <a:off x="3328416" y="2103120"/>
            <a:ext cx="2468880" cy="1691640"/>
          </a:xfrm>
          <a:prstGeom prst="rect">
            <a:avLst/>
          </a:prstGeom>
          <a:noFill/>
        </p:spPr>
        <p:txBody>
          <a:bodyPr wrap="square" lIns="0" tIns="0" rIns="0" bIns="0" anchor="t"/>
          <a:lstStyle/>
          <a:p>
            <a:pPr algn="l">
              <a:spcAft>
                <a:spcPts val="500"/>
              </a:spcAft>
            </a:pPr>
            <a:r>
              <a:rPr sz="900" b="1" i="0">
                <a:solidFill>
                  <a:srgbClr val="1A73E8"/>
                </a:solidFill>
                <a:latin typeface="Arial"/>
              </a:rPr>
              <a:t>• </a:t>
            </a:r>
            <a:r>
              <a:rPr sz="900" b="0" i="0">
                <a:solidFill>
                  <a:srgbClr val="1A1A1A"/>
                </a:solidFill>
                <a:latin typeface="Arial"/>
              </a:rPr>
              <a:t>112 / ERSS integration: hand decoded incidents to the state response centre</a:t>
            </a:r>
          </a:p>
          <a:p>
            <a:pPr algn="l">
              <a:spcAft>
                <a:spcPts val="500"/>
              </a:spcAft>
            </a:pPr>
            <a:r>
              <a:rPr sz="900" b="1" i="0">
                <a:solidFill>
                  <a:srgbClr val="1A73E8"/>
                </a:solidFill>
                <a:latin typeface="Arial"/>
              </a:rPr>
              <a:t>• </a:t>
            </a:r>
            <a:r>
              <a:rPr sz="900" b="0" i="0">
                <a:solidFill>
                  <a:srgbClr val="1A1A1A"/>
                </a:solidFill>
                <a:latin typeface="Arial"/>
              </a:rPr>
              <a:t>Pilot with an NGO and police (e.g. Kerala Police Pol-App context)</a:t>
            </a:r>
          </a:p>
          <a:p>
            <a:pPr algn="l">
              <a:spcAft>
                <a:spcPts val="500"/>
              </a:spcAft>
            </a:pPr>
            <a:r>
              <a:rPr sz="900" b="1" i="0">
                <a:solidFill>
                  <a:srgbClr val="1A73E8"/>
                </a:solidFill>
                <a:latin typeface="Arial"/>
              </a:rPr>
              <a:t>• </a:t>
            </a:r>
            <a:r>
              <a:rPr sz="900" b="0" i="0">
                <a:solidFill>
                  <a:srgbClr val="1A1A1A"/>
                </a:solidFill>
                <a:latin typeface="Arial"/>
              </a:rPr>
              <a:t>More Indian and JAPAC languages</a:t>
            </a:r>
          </a:p>
          <a:p>
            <a:pPr algn="l">
              <a:spcAft>
                <a:spcPts val="500"/>
              </a:spcAft>
            </a:pPr>
            <a:r>
              <a:rPr sz="900" b="1" i="0">
                <a:solidFill>
                  <a:srgbClr val="1A73E8"/>
                </a:solidFill>
                <a:latin typeface="Arial"/>
              </a:rPr>
              <a:t>• </a:t>
            </a:r>
            <a:r>
              <a:rPr sz="900" b="0" i="0">
                <a:solidFill>
                  <a:srgbClr val="1A1A1A"/>
                </a:solidFill>
                <a:latin typeface="Arial"/>
              </a:rPr>
              <a:t>Responder mobile app for field units</a:t>
            </a:r>
          </a:p>
        </p:txBody>
      </p:sp>
      <p:sp>
        <p:nvSpPr>
          <p:cNvPr id="159" name="Chevron 158"/>
          <p:cNvSpPr/>
          <p:nvPr/>
        </p:nvSpPr>
        <p:spPr>
          <a:xfrm>
            <a:off x="6035040" y="1353312"/>
            <a:ext cx="2697480" cy="566928"/>
          </a:xfrm>
          <a:prstGeom prst="chevron">
            <a:avLst/>
          </a:prstGeom>
          <a:solidFill>
            <a:srgbClr val="2F9E44"/>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l"/>
            <a:r>
              <a:rPr sz="1100" b="1" i="0">
                <a:solidFill>
                  <a:srgbClr val="FFFFFF"/>
                </a:solidFill>
                <a:latin typeface="Arial"/>
              </a:rPr>
              <a:t>Platform</a:t>
            </a:r>
          </a:p>
          <a:p>
            <a:pPr algn="l"/>
            <a:r>
              <a:rPr sz="850" b="0" i="0">
                <a:solidFill>
                  <a:srgbClr val="FFFFFF"/>
                </a:solidFill>
                <a:latin typeface="Arial"/>
              </a:rPr>
              <a:t>Beyond calls</a:t>
            </a:r>
          </a:p>
        </p:txBody>
      </p:sp>
      <p:sp>
        <p:nvSpPr>
          <p:cNvPr id="160" name="Rounded Rectangle 159"/>
          <p:cNvSpPr/>
          <p:nvPr/>
        </p:nvSpPr>
        <p:spPr>
          <a:xfrm>
            <a:off x="6035040" y="2011680"/>
            <a:ext cx="2697480" cy="1828800"/>
          </a:xfrm>
          <a:prstGeom prst="roundRect">
            <a:avLst>
              <a:gd name="adj" fmla="val 8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1" name="TextBox 160"/>
          <p:cNvSpPr txBox="1"/>
          <p:nvPr/>
        </p:nvSpPr>
        <p:spPr>
          <a:xfrm>
            <a:off x="6163056" y="2103120"/>
            <a:ext cx="2468880" cy="1691640"/>
          </a:xfrm>
          <a:prstGeom prst="rect">
            <a:avLst/>
          </a:prstGeom>
          <a:noFill/>
        </p:spPr>
        <p:txBody>
          <a:bodyPr wrap="square" lIns="0" tIns="0" rIns="0" bIns="0" anchor="t"/>
          <a:lstStyle/>
          <a:p>
            <a:pPr algn="l">
              <a:spcAft>
                <a:spcPts val="500"/>
              </a:spcAft>
            </a:pPr>
            <a:r>
              <a:rPr sz="900" b="1" i="0">
                <a:solidFill>
                  <a:srgbClr val="2F9E44"/>
                </a:solidFill>
                <a:latin typeface="Arial"/>
              </a:rPr>
              <a:t>• </a:t>
            </a:r>
            <a:r>
              <a:rPr sz="900" b="0" i="0">
                <a:solidFill>
                  <a:srgbClr val="1A1A1A"/>
                </a:solidFill>
                <a:latin typeface="Arial"/>
              </a:rPr>
              <a:t>Bluetooth mesh relay for no-signal areas</a:t>
            </a:r>
          </a:p>
          <a:p>
            <a:pPr algn="l">
              <a:spcAft>
                <a:spcPts val="500"/>
              </a:spcAft>
            </a:pPr>
            <a:r>
              <a:rPr sz="900" b="1" i="0">
                <a:solidFill>
                  <a:srgbClr val="2F9E44"/>
                </a:solidFill>
                <a:latin typeface="Arial"/>
              </a:rPr>
              <a:t>• </a:t>
            </a:r>
            <a:r>
              <a:rPr sz="900" b="0" i="0">
                <a:solidFill>
                  <a:srgbClr val="1A1A1A"/>
                </a:solidFill>
                <a:latin typeface="Arial"/>
              </a:rPr>
              <a:t>On-device Gemini Nano extraction for privacy and offline</a:t>
            </a:r>
          </a:p>
          <a:p>
            <a:pPr algn="l">
              <a:spcAft>
                <a:spcPts val="500"/>
              </a:spcAft>
            </a:pPr>
            <a:r>
              <a:rPr sz="900" b="1" i="0">
                <a:solidFill>
                  <a:srgbClr val="2F9E44"/>
                </a:solidFill>
                <a:latin typeface="Arial"/>
              </a:rPr>
              <a:t>• </a:t>
            </a:r>
            <a:r>
              <a:rPr sz="900" b="0" i="0">
                <a:solidFill>
                  <a:srgbClr val="1A1A1A"/>
                </a:solidFill>
                <a:latin typeface="Arial"/>
              </a:rPr>
              <a:t>Anonymous whistleblowing channel on the same AI backbone</a:t>
            </a:r>
          </a:p>
          <a:p>
            <a:pPr algn="l">
              <a:spcAft>
                <a:spcPts val="500"/>
              </a:spcAft>
            </a:pPr>
            <a:r>
              <a:rPr sz="900" b="1" i="0">
                <a:solidFill>
                  <a:srgbClr val="2F9E44"/>
                </a:solidFill>
                <a:latin typeface="Arial"/>
              </a:rPr>
              <a:t>• </a:t>
            </a:r>
            <a:r>
              <a:rPr sz="900" b="0" i="0">
                <a:solidFill>
                  <a:srgbClr val="1A1A1A"/>
                </a:solidFill>
                <a:latin typeface="Arial"/>
              </a:rPr>
              <a:t>Integration path into Android (next slide)</a:t>
            </a:r>
          </a:p>
        </p:txBody>
      </p:sp>
      <p:sp>
        <p:nvSpPr>
          <p:cNvPr id="162" name="Rounded Rectangle 161"/>
          <p:cNvSpPr/>
          <p:nvPr/>
        </p:nvSpPr>
        <p:spPr>
          <a:xfrm>
            <a:off x="365760" y="3950208"/>
            <a:ext cx="8412480" cy="777240"/>
          </a:xfrm>
          <a:prstGeom prst="roundRect">
            <a:avLst>
              <a:gd name="adj" fmla="val 8000"/>
            </a:avLst>
          </a:prstGeom>
          <a:solidFill>
            <a:srgbClr val="FDEBDF"/>
          </a:solidFill>
          <a:ln>
            <a:noFill/>
          </a:ln>
          <a:effectLst/>
        </p:spPr>
        <p:style>
          <a:lnRef idx="1">
            <a:schemeClr val="accent1"/>
          </a:lnRef>
          <a:fillRef idx="3">
            <a:schemeClr val="accent1"/>
          </a:fillRef>
          <a:effectRef idx="2">
            <a:schemeClr val="accent1"/>
          </a:effectRef>
          <a:fontRef idx="minor">
            <a:schemeClr val="lt1"/>
          </a:fontRef>
        </p:style>
        <p:txBody>
          <a:bodyPr wrap="square" lIns="128016" tIns="128016" rIns="128016" bIns="128016" rtlCol="0" anchor="ctr"/>
          <a:lstStyle/>
          <a:p>
            <a:pPr algn="l"/>
            <a:r>
              <a:rPr sz="1050" b="1" i="0">
                <a:solidFill>
                  <a:srgbClr val="E8590C"/>
                </a:solidFill>
                <a:latin typeface="Arial"/>
              </a:rPr>
              <a:t>What we need next</a:t>
            </a:r>
          </a:p>
          <a:p>
            <a:pPr algn="l"/>
            <a:r>
              <a:rPr sz="900" b="0" i="0">
                <a:solidFill>
                  <a:srgbClr val="1A1A1A"/>
                </a:solidFill>
                <a:latin typeface="Arial"/>
              </a:rPr>
              <a:t>A public-safety pilot partner (NGO or police unit)  ·  Gemini API credits for a district pilot  ·  Android Personal Safety team feedback on a Discreet mode  ·  mentorship to take it to 112 integration</a:t>
            </a:r>
          </a:p>
        </p:txBody>
      </p:sp>
      <p:sp>
        <p:nvSpPr>
          <p:cNvPr id="163" name="Footnote"/>
          <p:cNvSpPr txBox="1"/>
          <p:nvPr/>
        </p:nvSpPr>
        <p:spPr>
          <a:xfrm>
            <a:off x="365760" y="4846320"/>
            <a:ext cx="8412480" cy="182880"/>
          </a:xfrm>
          <a:prstGeom prst="rect">
            <a:avLst/>
          </a:prstGeom>
          <a:noFill/>
        </p:spPr>
        <p:txBody>
          <a:bodyPr wrap="square" lIns="0" tIns="0" rIns="0" bIns="0" anchor="t"/>
          <a:lstStyle/>
          <a:p>
            <a:pPr algn="l"/>
            <a:r>
              <a:rPr sz="650" b="0" i="0">
                <a:solidFill>
                  <a:srgbClr val="5F6368"/>
                </a:solidFill>
                <a:latin typeface="Arial"/>
              </a:rPr>
              <a:t>Kerala Police Pol-App and Nirbhaya Nisha are existing state programmes we would pilot alongside; no partnership exists yet.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pic>
        <p:nvPicPr>
          <p:cNvPr id="164" name="Google Shape;164;p27"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65" name="Google Shape;165;p27" title="Group 427319979.png"/>
          <p:cNvPicPr preferRelativeResize="0"/>
          <p:nvPr/>
        </p:nvPicPr>
        <p:blipFill>
          <a:blip r:embed="rId4">
            <a:alphaModFix/>
          </a:blip>
          <a:stretch>
            <a:fillRect/>
          </a:stretch>
        </p:blipFill>
        <p:spPr>
          <a:xfrm>
            <a:off x="0" y="3649"/>
            <a:ext cx="9144000" cy="500062"/>
          </a:xfrm>
          <a:prstGeom prst="rect">
            <a:avLst/>
          </a:prstGeom>
          <a:noFill/>
          <a:ln>
            <a:noFill/>
          </a:ln>
        </p:spPr>
      </p:pic>
      <p:sp>
        <p:nvSpPr>
          <p:cNvPr id="166" name="Google Shape;166;p27"/>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1" name="Google Shape;71;p15"/>
          <p:cNvSpPr txBox="1"/>
          <p:nvPr/>
        </p:nvSpPr>
        <p:spPr>
          <a:xfrm>
            <a:off x="265350" y="603504"/>
            <a:ext cx="8943000" cy="384048"/>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latin typeface="Google Sans Flex Medium"/>
                <a:ea typeface="Google Sans Flex Medium"/>
                <a:cs typeface="Google Sans Flex Medium"/>
                <a:sym typeface="Google Sans Flex Medium"/>
              </a:rPr>
              <a:t>Built for Android: the path to a Google product</a:t>
            </a:r>
            <a:endParaRPr sz="1600">
              <a:latin typeface="Google Sans Flex Medium"/>
              <a:ea typeface="Google Sans Flex Medium"/>
              <a:cs typeface="Google Sans Flex Medium"/>
              <a:sym typeface="Google Sans Flex Medium"/>
            </a:endParaRPr>
          </a:p>
        </p:txBody>
      </p:sp>
      <p:sp>
        <p:nvSpPr>
          <p:cNvPr id="167" name="Takeaway"/>
          <p:cNvSpPr txBox="1"/>
          <p:nvPr/>
        </p:nvSpPr>
        <p:spPr>
          <a:xfrm>
            <a:off x="365760" y="969264"/>
            <a:ext cx="8412480" cy="292608"/>
          </a:xfrm>
          <a:prstGeom prst="rect">
            <a:avLst/>
          </a:prstGeom>
          <a:noFill/>
        </p:spPr>
        <p:txBody>
          <a:bodyPr wrap="square" lIns="0" tIns="0" rIns="0" bIns="0" anchor="t"/>
          <a:lstStyle/>
          <a:p>
            <a:pPr algn="l"/>
            <a:r>
              <a:rPr sz="1300" b="1" i="0">
                <a:solidFill>
                  <a:srgbClr val="E8590C"/>
                </a:solidFill>
                <a:latin typeface="Arial"/>
              </a:rPr>
              <a:t>Android can call for help silently. It can’t yet call for help covertly.</a:t>
            </a:r>
          </a:p>
        </p:txBody>
      </p:sp>
      <p:sp>
        <p:nvSpPr>
          <p:cNvPr id="168" name="TextBox 167"/>
          <p:cNvSpPr txBox="1"/>
          <p:nvPr/>
        </p:nvSpPr>
        <p:spPr>
          <a:xfrm>
            <a:off x="365760" y="1325880"/>
            <a:ext cx="3840480" cy="201168"/>
          </a:xfrm>
          <a:prstGeom prst="rect">
            <a:avLst/>
          </a:prstGeom>
          <a:noFill/>
        </p:spPr>
        <p:txBody>
          <a:bodyPr wrap="square" lIns="0" tIns="0" rIns="0" bIns="0" anchor="t"/>
          <a:lstStyle/>
          <a:p>
            <a:pPr algn="l"/>
            <a:r>
              <a:rPr sz="800" b="1" i="0">
                <a:solidFill>
                  <a:srgbClr val="5F6368"/>
                </a:solidFill>
                <a:latin typeface="Arial"/>
              </a:rPr>
              <a:t>WHAT ANDROID ALREADY SHIPS</a:t>
            </a:r>
          </a:p>
        </p:txBody>
      </p:sp>
      <p:sp>
        <p:nvSpPr>
          <p:cNvPr id="169" name="Rounded Rectangle 168"/>
          <p:cNvSpPr/>
          <p:nvPr/>
        </p:nvSpPr>
        <p:spPr>
          <a:xfrm>
            <a:off x="365760" y="1554480"/>
            <a:ext cx="3840480" cy="338328"/>
          </a:xfrm>
          <a:prstGeom prst="roundRect">
            <a:avLst>
              <a:gd name="adj" fmla="val 12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0" name="Oval 169"/>
          <p:cNvSpPr/>
          <p:nvPr/>
        </p:nvSpPr>
        <p:spPr>
          <a:xfrm>
            <a:off x="457200" y="1668780"/>
            <a:ext cx="109728" cy="109728"/>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1" name="TextBox 170"/>
          <p:cNvSpPr txBox="1"/>
          <p:nvPr/>
        </p:nvSpPr>
        <p:spPr>
          <a:xfrm>
            <a:off x="658368" y="1563624"/>
            <a:ext cx="3520440" cy="320040"/>
          </a:xfrm>
          <a:prstGeom prst="rect">
            <a:avLst/>
          </a:prstGeom>
          <a:noFill/>
        </p:spPr>
        <p:txBody>
          <a:bodyPr wrap="square" lIns="0" tIns="0" rIns="0" bIns="0" anchor="ctr"/>
          <a:lstStyle/>
          <a:p>
            <a:pPr algn="l"/>
            <a:r>
              <a:rPr sz="850" b="1" i="0">
                <a:solidFill>
                  <a:srgbClr val="1A1A1A"/>
                </a:solidFill>
                <a:latin typeface="Arial"/>
              </a:rPr>
              <a:t>Emergency SOS</a:t>
            </a:r>
          </a:p>
          <a:p>
            <a:pPr algn="l"/>
            <a:r>
              <a:rPr sz="700" b="0" i="0">
                <a:solidFill>
                  <a:srgbClr val="5F6368"/>
                </a:solidFill>
                <a:latin typeface="Arial"/>
              </a:rPr>
              <a:t>power ×5; alarm can be silent, but the SOS screen is visible</a:t>
            </a:r>
          </a:p>
        </p:txBody>
      </p:sp>
      <p:sp>
        <p:nvSpPr>
          <p:cNvPr id="172" name="Rounded Rectangle 171"/>
          <p:cNvSpPr/>
          <p:nvPr/>
        </p:nvSpPr>
        <p:spPr>
          <a:xfrm>
            <a:off x="365760" y="1929384"/>
            <a:ext cx="3840480" cy="338328"/>
          </a:xfrm>
          <a:prstGeom prst="roundRect">
            <a:avLst>
              <a:gd name="adj" fmla="val 12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3" name="Oval 172"/>
          <p:cNvSpPr/>
          <p:nvPr/>
        </p:nvSpPr>
        <p:spPr>
          <a:xfrm>
            <a:off x="457200" y="2043684"/>
            <a:ext cx="109728" cy="109728"/>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4" name="TextBox 173"/>
          <p:cNvSpPr txBox="1"/>
          <p:nvPr/>
        </p:nvSpPr>
        <p:spPr>
          <a:xfrm>
            <a:off x="658368" y="1938527"/>
            <a:ext cx="3520440" cy="320040"/>
          </a:xfrm>
          <a:prstGeom prst="rect">
            <a:avLst/>
          </a:prstGeom>
          <a:noFill/>
        </p:spPr>
        <p:txBody>
          <a:bodyPr wrap="square" lIns="0" tIns="0" rIns="0" bIns="0" anchor="ctr"/>
          <a:lstStyle/>
          <a:p>
            <a:pPr algn="l"/>
            <a:r>
              <a:rPr sz="850" b="1" i="0">
                <a:solidFill>
                  <a:srgbClr val="1A1A1A"/>
                </a:solidFill>
                <a:latin typeface="Arial"/>
              </a:rPr>
              <a:t>Emergency Location Service</a:t>
            </a:r>
          </a:p>
          <a:p>
            <a:pPr algn="l"/>
            <a:r>
              <a:rPr sz="700" b="0" i="0">
                <a:solidFill>
                  <a:srgbClr val="5F6368"/>
                </a:solidFill>
                <a:latin typeface="Arial"/>
              </a:rPr>
              <a:t>location straight to 112; India: live with UP 112 since Dec 2025</a:t>
            </a:r>
          </a:p>
        </p:txBody>
      </p:sp>
      <p:sp>
        <p:nvSpPr>
          <p:cNvPr id="175" name="Rounded Rectangle 174"/>
          <p:cNvSpPr/>
          <p:nvPr/>
        </p:nvSpPr>
        <p:spPr>
          <a:xfrm>
            <a:off x="365760" y="2304288"/>
            <a:ext cx="3840480" cy="338328"/>
          </a:xfrm>
          <a:prstGeom prst="roundRect">
            <a:avLst>
              <a:gd name="adj" fmla="val 12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6" name="Oval 175"/>
          <p:cNvSpPr/>
          <p:nvPr/>
        </p:nvSpPr>
        <p:spPr>
          <a:xfrm>
            <a:off x="457200" y="2418588"/>
            <a:ext cx="109728" cy="109728"/>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7" name="TextBox 176"/>
          <p:cNvSpPr txBox="1"/>
          <p:nvPr/>
        </p:nvSpPr>
        <p:spPr>
          <a:xfrm>
            <a:off x="658368" y="2313432"/>
            <a:ext cx="3520440" cy="320040"/>
          </a:xfrm>
          <a:prstGeom prst="rect">
            <a:avLst/>
          </a:prstGeom>
          <a:noFill/>
        </p:spPr>
        <p:txBody>
          <a:bodyPr wrap="square" lIns="0" tIns="0" rIns="0" bIns="0" anchor="ctr"/>
          <a:lstStyle/>
          <a:p>
            <a:pPr algn="l"/>
            <a:r>
              <a:rPr sz="850" b="1" i="0">
                <a:solidFill>
                  <a:srgbClr val="1A1A1A"/>
                </a:solidFill>
                <a:latin typeface="Arial"/>
              </a:rPr>
              <a:t>Emergency Live Video</a:t>
            </a:r>
          </a:p>
          <a:p>
            <a:pPr algn="l"/>
            <a:r>
              <a:rPr sz="700" b="0" i="0">
                <a:solidFill>
                  <a:srgbClr val="5F6368"/>
                </a:solidFill>
                <a:latin typeface="Arial"/>
              </a:rPr>
              <a:t>dispatcher-requested video stream (Dec 2025)</a:t>
            </a:r>
          </a:p>
        </p:txBody>
      </p:sp>
      <p:sp>
        <p:nvSpPr>
          <p:cNvPr id="178" name="Rounded Rectangle 177"/>
          <p:cNvSpPr/>
          <p:nvPr/>
        </p:nvSpPr>
        <p:spPr>
          <a:xfrm>
            <a:off x="365760" y="2679192"/>
            <a:ext cx="3840480" cy="338328"/>
          </a:xfrm>
          <a:prstGeom prst="roundRect">
            <a:avLst>
              <a:gd name="adj" fmla="val 12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9" name="Oval 178"/>
          <p:cNvSpPr/>
          <p:nvPr/>
        </p:nvSpPr>
        <p:spPr>
          <a:xfrm>
            <a:off x="457200" y="2793492"/>
            <a:ext cx="109728" cy="109728"/>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0" name="TextBox 179"/>
          <p:cNvSpPr txBox="1"/>
          <p:nvPr/>
        </p:nvSpPr>
        <p:spPr>
          <a:xfrm>
            <a:off x="658368" y="2688336"/>
            <a:ext cx="3520440" cy="320040"/>
          </a:xfrm>
          <a:prstGeom prst="rect">
            <a:avLst/>
          </a:prstGeom>
          <a:noFill/>
        </p:spPr>
        <p:txBody>
          <a:bodyPr wrap="square" lIns="0" tIns="0" rIns="0" bIns="0" anchor="ctr"/>
          <a:lstStyle/>
          <a:p>
            <a:pPr algn="l"/>
            <a:r>
              <a:rPr sz="850" b="1" i="0">
                <a:solidFill>
                  <a:srgbClr val="1A1A1A"/>
                </a:solidFill>
                <a:latin typeface="Arial"/>
              </a:rPr>
              <a:t>Theft Detection Lock</a:t>
            </a:r>
          </a:p>
          <a:p>
            <a:pPr algn="l"/>
            <a:r>
              <a:rPr sz="700" b="0" i="0">
                <a:solidFill>
                  <a:srgbClr val="5F6368"/>
                </a:solidFill>
                <a:latin typeface="Arial"/>
              </a:rPr>
              <a:t>on-device ML spots a phone being snatched</a:t>
            </a:r>
          </a:p>
        </p:txBody>
      </p:sp>
      <p:sp>
        <p:nvSpPr>
          <p:cNvPr id="181" name="Rounded Rectangle 180"/>
          <p:cNvSpPr/>
          <p:nvPr/>
        </p:nvSpPr>
        <p:spPr>
          <a:xfrm>
            <a:off x="365760" y="3054096"/>
            <a:ext cx="3840480" cy="338328"/>
          </a:xfrm>
          <a:prstGeom prst="roundRect">
            <a:avLst>
              <a:gd name="adj" fmla="val 12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2" name="Oval 181"/>
          <p:cNvSpPr/>
          <p:nvPr/>
        </p:nvSpPr>
        <p:spPr>
          <a:xfrm>
            <a:off x="457200" y="3168396"/>
            <a:ext cx="109728" cy="109728"/>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3" name="TextBox 182"/>
          <p:cNvSpPr txBox="1"/>
          <p:nvPr/>
        </p:nvSpPr>
        <p:spPr>
          <a:xfrm>
            <a:off x="658368" y="3063240"/>
            <a:ext cx="3520440" cy="320040"/>
          </a:xfrm>
          <a:prstGeom prst="rect">
            <a:avLst/>
          </a:prstGeom>
          <a:noFill/>
        </p:spPr>
        <p:txBody>
          <a:bodyPr wrap="square" lIns="0" tIns="0" rIns="0" bIns="0" anchor="ctr"/>
          <a:lstStyle/>
          <a:p>
            <a:pPr algn="l"/>
            <a:r>
              <a:rPr sz="850" b="1" i="0">
                <a:solidFill>
                  <a:srgbClr val="1A1A1A"/>
                </a:solidFill>
                <a:latin typeface="Arial"/>
              </a:rPr>
              <a:t>Private Space</a:t>
            </a:r>
          </a:p>
          <a:p>
            <a:pPr algn="l"/>
            <a:r>
              <a:rPr sz="700" b="0" i="0">
                <a:solidFill>
                  <a:srgbClr val="5F6368"/>
                </a:solidFill>
                <a:latin typeface="Arial"/>
              </a:rPr>
              <a:t>hides apps in a locked space</a:t>
            </a:r>
          </a:p>
        </p:txBody>
      </p:sp>
      <p:sp>
        <p:nvSpPr>
          <p:cNvPr id="184" name="Rounded Rectangle 183"/>
          <p:cNvSpPr/>
          <p:nvPr/>
        </p:nvSpPr>
        <p:spPr>
          <a:xfrm>
            <a:off x="365760" y="3429000"/>
            <a:ext cx="3840480" cy="338328"/>
          </a:xfrm>
          <a:prstGeom prst="roundRect">
            <a:avLst>
              <a:gd name="adj" fmla="val 12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5" name="Oval 184"/>
          <p:cNvSpPr/>
          <p:nvPr/>
        </p:nvSpPr>
        <p:spPr>
          <a:xfrm>
            <a:off x="457200" y="3543300"/>
            <a:ext cx="109728" cy="109728"/>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6" name="TextBox 185"/>
          <p:cNvSpPr txBox="1"/>
          <p:nvPr/>
        </p:nvSpPr>
        <p:spPr>
          <a:xfrm>
            <a:off x="658368" y="3438144"/>
            <a:ext cx="3520440" cy="320040"/>
          </a:xfrm>
          <a:prstGeom prst="rect">
            <a:avLst/>
          </a:prstGeom>
          <a:noFill/>
        </p:spPr>
        <p:txBody>
          <a:bodyPr wrap="square" lIns="0" tIns="0" rIns="0" bIns="0" anchor="ctr"/>
          <a:lstStyle/>
          <a:p>
            <a:pPr algn="l"/>
            <a:r>
              <a:rPr sz="850" b="1" i="0">
                <a:solidFill>
                  <a:srgbClr val="1A1A1A"/>
                </a:solidFill>
                <a:latin typeface="Arial"/>
              </a:rPr>
              <a:t>Pixel Watch + Emergency Sharing</a:t>
            </a:r>
          </a:p>
          <a:p>
            <a:pPr algn="l"/>
            <a:r>
              <a:rPr sz="700" b="0" i="0">
                <a:solidFill>
                  <a:srgbClr val="5F6368"/>
                </a:solidFill>
                <a:latin typeface="Arial"/>
              </a:rPr>
              <a:t>fall / loss-of-pulse alerts (Jun 2026)</a:t>
            </a:r>
          </a:p>
        </p:txBody>
      </p:sp>
      <p:sp>
        <p:nvSpPr>
          <p:cNvPr id="187" name="Rounded Rectangle 186"/>
          <p:cNvSpPr/>
          <p:nvPr/>
        </p:nvSpPr>
        <p:spPr>
          <a:xfrm>
            <a:off x="365760" y="3803904"/>
            <a:ext cx="3840480" cy="338328"/>
          </a:xfrm>
          <a:prstGeom prst="roundRect">
            <a:avLst>
              <a:gd name="adj" fmla="val 12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8" name="Oval 187"/>
          <p:cNvSpPr/>
          <p:nvPr/>
        </p:nvSpPr>
        <p:spPr>
          <a:xfrm>
            <a:off x="457200" y="3918204"/>
            <a:ext cx="109728" cy="109728"/>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9" name="TextBox 188"/>
          <p:cNvSpPr txBox="1"/>
          <p:nvPr/>
        </p:nvSpPr>
        <p:spPr>
          <a:xfrm>
            <a:off x="658368" y="3813048"/>
            <a:ext cx="3520440" cy="320040"/>
          </a:xfrm>
          <a:prstGeom prst="rect">
            <a:avLst/>
          </a:prstGeom>
          <a:noFill/>
        </p:spPr>
        <p:txBody>
          <a:bodyPr wrap="square" lIns="0" tIns="0" rIns="0" bIns="0" anchor="ctr"/>
          <a:lstStyle/>
          <a:p>
            <a:pPr algn="l"/>
            <a:r>
              <a:rPr sz="850" b="1" i="0">
                <a:solidFill>
                  <a:srgbClr val="1A1A1A"/>
                </a:solidFill>
                <a:latin typeface="Arial"/>
              </a:rPr>
              <a:t>Gemini Live API on Android</a:t>
            </a:r>
          </a:p>
          <a:p>
            <a:pPr algn="l"/>
            <a:r>
              <a:rPr sz="700" b="0" i="0">
                <a:solidFill>
                  <a:srgbClr val="5F6368"/>
                </a:solidFill>
                <a:latin typeface="Arial"/>
              </a:rPr>
              <a:t>via Firebase AI Logic, App Check enforced</a:t>
            </a:r>
          </a:p>
        </p:txBody>
      </p:sp>
      <p:sp>
        <p:nvSpPr>
          <p:cNvPr id="190" name="Rounded Rectangle 189"/>
          <p:cNvSpPr/>
          <p:nvPr/>
        </p:nvSpPr>
        <p:spPr>
          <a:xfrm>
            <a:off x="365760" y="4197096"/>
            <a:ext cx="3840480" cy="310896"/>
          </a:xfrm>
          <a:prstGeom prst="roundRect">
            <a:avLst>
              <a:gd name="adj" fmla="val 8000"/>
            </a:avLst>
          </a:prstGeom>
          <a:solidFill>
            <a:srgbClr val="FBE4E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l"/>
            <a:r>
              <a:rPr sz="800" b="1" i="0">
                <a:solidFill>
                  <a:srgbClr val="D6336C"/>
                </a:solidFill>
                <a:latin typeface="Arial"/>
              </a:rPr>
              <a:t>Gap: </a:t>
            </a:r>
            <a:r>
              <a:rPr sz="800" b="0" i="0">
                <a:solidFill>
                  <a:srgbClr val="1A1A1A"/>
                </a:solidFill>
                <a:latin typeface="Arial"/>
              </a:rPr>
              <a:t>no disguise, no AI holding a cover story with the attacker in the room.</a:t>
            </a:r>
          </a:p>
        </p:txBody>
      </p:sp>
      <p:sp>
        <p:nvSpPr>
          <p:cNvPr id="191" name="TextBox 190"/>
          <p:cNvSpPr txBox="1"/>
          <p:nvPr/>
        </p:nvSpPr>
        <p:spPr>
          <a:xfrm>
            <a:off x="4526280" y="1325880"/>
            <a:ext cx="4251960" cy="201168"/>
          </a:xfrm>
          <a:prstGeom prst="rect">
            <a:avLst/>
          </a:prstGeom>
          <a:noFill/>
        </p:spPr>
        <p:txBody>
          <a:bodyPr wrap="square" lIns="0" tIns="0" rIns="0" bIns="0" anchor="t"/>
          <a:lstStyle/>
          <a:p>
            <a:pPr algn="l"/>
            <a:r>
              <a:rPr sz="800" b="1" i="0">
                <a:solidFill>
                  <a:srgbClr val="5F6368"/>
                </a:solidFill>
                <a:latin typeface="Arial"/>
              </a:rPr>
              <a:t>HOW QUICKBITE BECOMES AN ANDROID FEATURE</a:t>
            </a:r>
          </a:p>
        </p:txBody>
      </p:sp>
      <p:sp>
        <p:nvSpPr>
          <p:cNvPr id="192" name="Oval 191"/>
          <p:cNvSpPr/>
          <p:nvPr/>
        </p:nvSpPr>
        <p:spPr>
          <a:xfrm>
            <a:off x="4526280" y="1645920"/>
            <a:ext cx="329184" cy="329184"/>
          </a:xfrm>
          <a:prstGeom prst="ellipse">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100" b="1" i="0">
                <a:solidFill>
                  <a:srgbClr val="FFFFFF"/>
                </a:solidFill>
                <a:latin typeface="Arial"/>
              </a:rPr>
              <a:t>1</a:t>
            </a:r>
          </a:p>
        </p:txBody>
      </p:sp>
      <p:sp>
        <p:nvSpPr>
          <p:cNvPr id="193" name="Rounded Rectangle 192"/>
          <p:cNvSpPr/>
          <p:nvPr/>
        </p:nvSpPr>
        <p:spPr>
          <a:xfrm>
            <a:off x="4956048" y="1554480"/>
            <a:ext cx="3822191" cy="713232"/>
          </a:xfrm>
          <a:prstGeom prst="roundRect">
            <a:avLst>
              <a:gd name="adj" fmla="val 8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l"/>
            <a:r>
              <a:rPr sz="950" b="1" i="0">
                <a:solidFill>
                  <a:srgbClr val="E8590C"/>
                </a:solidFill>
                <a:latin typeface="Arial"/>
              </a:rPr>
              <a:t>Discreet mode in Personal Safety</a:t>
            </a:r>
          </a:p>
          <a:p>
            <a:pPr algn="l"/>
            <a:r>
              <a:rPr sz="750" b="0" i="0">
                <a:solidFill>
                  <a:srgbClr val="1A1A1A"/>
                </a:solidFill>
                <a:latin typeface="Arial"/>
              </a:rPr>
              <a:t>An option inside Emergency SOS: a Gemini Live covert persona takes over. QuickBite’s persona, codes and 12 tools are the working blueprint.</a:t>
            </a:r>
          </a:p>
        </p:txBody>
      </p:sp>
      <p:sp>
        <p:nvSpPr>
          <p:cNvPr id="194" name="Oval 193"/>
          <p:cNvSpPr/>
          <p:nvPr/>
        </p:nvSpPr>
        <p:spPr>
          <a:xfrm>
            <a:off x="4526280" y="2423160"/>
            <a:ext cx="329184" cy="329184"/>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100" b="1" i="0">
                <a:solidFill>
                  <a:srgbClr val="FFFFFF"/>
                </a:solidFill>
                <a:latin typeface="Arial"/>
              </a:rPr>
              <a:t>2</a:t>
            </a:r>
          </a:p>
        </p:txBody>
      </p:sp>
      <p:sp>
        <p:nvSpPr>
          <p:cNvPr id="195" name="Rounded Rectangle 194"/>
          <p:cNvSpPr/>
          <p:nvPr/>
        </p:nvSpPr>
        <p:spPr>
          <a:xfrm>
            <a:off x="4956048" y="2331720"/>
            <a:ext cx="3822191" cy="713232"/>
          </a:xfrm>
          <a:prstGeom prst="roundRect">
            <a:avLst>
              <a:gd name="adj" fmla="val 8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l"/>
            <a:r>
              <a:rPr sz="950" b="1" i="0">
                <a:solidFill>
                  <a:srgbClr val="1A73E8"/>
                </a:solidFill>
                <a:latin typeface="Arial"/>
              </a:rPr>
              <a:t>Decoded incidents to 112 via ELS</a:t>
            </a:r>
          </a:p>
          <a:p>
            <a:pPr algn="l"/>
            <a:r>
              <a:rPr sz="750" b="0" i="0">
                <a:solidFill>
                  <a:srgbClr val="1A1A1A"/>
                </a:solidFill>
                <a:latin typeface="Arial"/>
              </a:rPr>
              <a:t>Send structured facts (danger, people, route, stress) with ELS location and Emergency Live Video, not a silent open line.</a:t>
            </a:r>
          </a:p>
        </p:txBody>
      </p:sp>
      <p:sp>
        <p:nvSpPr>
          <p:cNvPr id="196" name="Oval 195"/>
          <p:cNvSpPr/>
          <p:nvPr/>
        </p:nvSpPr>
        <p:spPr>
          <a:xfrm>
            <a:off x="4526280" y="3200400"/>
            <a:ext cx="329184" cy="329184"/>
          </a:xfrm>
          <a:prstGeom prst="ellipse">
            <a:avLst/>
          </a:prstGeom>
          <a:solidFill>
            <a:srgbClr val="2F9E44"/>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100" b="1" i="0">
                <a:solidFill>
                  <a:srgbClr val="FFFFFF"/>
                </a:solidFill>
                <a:latin typeface="Arial"/>
              </a:rPr>
              <a:t>3</a:t>
            </a:r>
          </a:p>
        </p:txBody>
      </p:sp>
      <p:sp>
        <p:nvSpPr>
          <p:cNvPr id="197" name="Rounded Rectangle 196"/>
          <p:cNvSpPr/>
          <p:nvPr/>
        </p:nvSpPr>
        <p:spPr>
          <a:xfrm>
            <a:off x="4956048" y="3108960"/>
            <a:ext cx="3822191" cy="713232"/>
          </a:xfrm>
          <a:prstGeom prst="roundRect">
            <a:avLst>
              <a:gd name="adj" fmla="val 8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l"/>
            <a:r>
              <a:rPr sz="950" b="1" i="0">
                <a:solidFill>
                  <a:srgbClr val="2F9E44"/>
                </a:solidFill>
                <a:latin typeface="Arial"/>
              </a:rPr>
              <a:t>On-device and wearable</a:t>
            </a:r>
          </a:p>
          <a:p>
            <a:pPr algn="l"/>
            <a:r>
              <a:rPr sz="750" b="0" i="0">
                <a:solidFill>
                  <a:srgbClr val="1A1A1A"/>
                </a:solidFill>
                <a:latin typeface="Arial"/>
              </a:rPr>
              <a:t>Gemini Nano for private extraction; a snatch-motion trigger like Theft Detection Lock; a Pixel Watch covert gesture; disguised entry via Private Space.</a:t>
            </a:r>
          </a:p>
        </p:txBody>
      </p:sp>
      <p:sp>
        <p:nvSpPr>
          <p:cNvPr id="198" name="Rounded Rectangle 197"/>
          <p:cNvSpPr/>
          <p:nvPr/>
        </p:nvSpPr>
        <p:spPr>
          <a:xfrm>
            <a:off x="4526280" y="3886200"/>
            <a:ext cx="4251960" cy="548640"/>
          </a:xfrm>
          <a:prstGeom prst="roundRect">
            <a:avLst>
              <a:gd name="adj" fmla="val 8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wrap="square" tIns="91440" bIns="91440" rtlCol="0" anchor="ctr"/>
          <a:lstStyle/>
          <a:p>
            <a:pPr algn="l"/>
            <a:r>
              <a:rPr sz="750" b="1" i="0">
                <a:solidFill>
                  <a:srgbClr val="1A1A1A"/>
                </a:solidFill>
                <a:latin typeface="Arial"/>
              </a:rPr>
              <a:t>Already proven on Google’s stack: </a:t>
            </a:r>
            <a:r>
              <a:rPr sz="750" b="0" i="0">
                <a:solidFill>
                  <a:srgbClr val="1A1A1A"/>
                </a:solidFill>
                <a:latin typeface="Arial"/>
              </a:rPr>
              <a:t>RapidSOS HARMONY runs Gemini Live API + ADK in 911 centres (Jun 2026). Firebase + Google Cloud can be the responder backend for public-safety agencies.</a:t>
            </a:r>
          </a:p>
        </p:txBody>
      </p:sp>
      <p:sp>
        <p:nvSpPr>
          <p:cNvPr id="199" name="Rounded Rectangle 198"/>
          <p:cNvSpPr/>
          <p:nvPr/>
        </p:nvSpPr>
        <p:spPr>
          <a:xfrm>
            <a:off x="365760" y="4626864"/>
            <a:ext cx="8412480" cy="219456"/>
          </a:xfrm>
          <a:prstGeom prst="roundRect">
            <a:avLst>
              <a:gd name="adj" fmla="val 8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00" b="1" i="0">
                <a:solidFill>
                  <a:srgbClr val="1A1A1A"/>
                </a:solidFill>
                <a:latin typeface="Arial"/>
              </a:rPr>
              <a:t>Designed to complement 112, never to delay it: when the caller can talk freely, Mia also suggests dialling 112.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pic>
        <p:nvPicPr>
          <p:cNvPr id="156" name="Google Shape;156;p26" title="Frame 144.png"/>
          <p:cNvPicPr preferRelativeResize="0"/>
          <p:nvPr/>
        </p:nvPicPr>
        <p:blipFill rotWithShape="1">
          <a:blip r:embed="rId4">
            <a:alphaModFix/>
          </a:blip>
          <a:srcRect b="98001"/>
          <a:stretch/>
        </p:blipFill>
        <p:spPr>
          <a:xfrm>
            <a:off x="0" y="5093562"/>
            <a:ext cx="9144000" cy="54275"/>
          </a:xfrm>
          <a:prstGeom prst="rect">
            <a:avLst/>
          </a:prstGeom>
          <a:noFill/>
          <a:ln>
            <a:noFill/>
          </a:ln>
        </p:spPr>
      </p:pic>
      <p:pic>
        <p:nvPicPr>
          <p:cNvPr id="157" name="Google Shape;157;p26" title="Group 427319979.png"/>
          <p:cNvPicPr preferRelativeResize="0"/>
          <p:nvPr/>
        </p:nvPicPr>
        <p:blipFill>
          <a:blip r:embed="rId5">
            <a:alphaModFix/>
          </a:blip>
          <a:stretch>
            <a:fillRect/>
          </a:stretch>
        </p:blipFill>
        <p:spPr>
          <a:xfrm>
            <a:off x="0" y="3649"/>
            <a:ext cx="9144000" cy="500062"/>
          </a:xfrm>
          <a:prstGeom prst="rect">
            <a:avLst/>
          </a:prstGeom>
          <a:noFill/>
          <a:ln>
            <a:noFill/>
          </a:ln>
        </p:spPr>
      </p:pic>
      <p:sp>
        <p:nvSpPr>
          <p:cNvPr id="158" name="Google Shape;158;p26"/>
          <p:cNvSpPr/>
          <p:nvPr/>
        </p:nvSpPr>
        <p:spPr>
          <a:xfrm>
            <a:off x="-29250" y="5071875"/>
            <a:ext cx="9173400" cy="97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9" name="Google Shape;159;p26"/>
          <p:cNvSpPr txBox="1"/>
          <p:nvPr/>
        </p:nvSpPr>
        <p:spPr>
          <a:xfrm>
            <a:off x="265350" y="603504"/>
            <a:ext cx="8112420" cy="345948"/>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latin typeface="Google Sans Flex Medium"/>
                <a:ea typeface="Google Sans Flex Medium"/>
                <a:cs typeface="Google Sans Flex Medium"/>
                <a:sym typeface="Google Sans Flex Medium"/>
              </a:rPr>
              <a:t>Provide links to your:</a:t>
            </a:r>
            <a:endParaRPr sz="1600">
              <a:latin typeface="Google Sans Flex Medium"/>
              <a:ea typeface="Google Sans Flex Medium"/>
              <a:cs typeface="Google Sans Flex Medium"/>
              <a:sym typeface="Google Sans Flex Medium"/>
            </a:endParaRPr>
          </a:p>
        </p:txBody>
      </p:sp>
      <p:sp>
        <p:nvSpPr>
          <p:cNvPr id="160" name="Takeaway"/>
          <p:cNvSpPr txBox="1"/>
          <p:nvPr/>
        </p:nvSpPr>
        <p:spPr>
          <a:xfrm>
            <a:off x="365760" y="969264"/>
            <a:ext cx="7635240" cy="262128"/>
          </a:xfrm>
          <a:prstGeom prst="rect">
            <a:avLst/>
          </a:prstGeom>
          <a:noFill/>
        </p:spPr>
        <p:txBody>
          <a:bodyPr wrap="square" lIns="0" tIns="0" rIns="0" bIns="0" anchor="t"/>
          <a:lstStyle/>
          <a:p>
            <a:pPr algn="l"/>
            <a:r>
              <a:rPr sz="1300" b="1" i="0">
                <a:solidFill>
                  <a:srgbClr val="E8590C"/>
                </a:solidFill>
                <a:latin typeface="Arial"/>
              </a:rPr>
              <a:t>Try it: call the restaurant yourself</a:t>
            </a:r>
          </a:p>
        </p:txBody>
      </p:sp>
      <p:sp>
        <p:nvSpPr>
          <p:cNvPr id="161" name="Rounded Rectangle 160"/>
          <p:cNvSpPr/>
          <p:nvPr/>
        </p:nvSpPr>
        <p:spPr>
          <a:xfrm>
            <a:off x="365760" y="1371600"/>
            <a:ext cx="7635240" cy="513588"/>
          </a:xfrm>
          <a:prstGeom prst="roundRect">
            <a:avLst>
              <a:gd name="adj" fmla="val 15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2" name="Oval 161"/>
          <p:cNvSpPr/>
          <p:nvPr/>
        </p:nvSpPr>
        <p:spPr>
          <a:xfrm>
            <a:off x="502920" y="1527048"/>
            <a:ext cx="233172" cy="233172"/>
          </a:xfrm>
          <a:prstGeom prst="ellipse">
            <a:avLst/>
          </a:prstGeom>
          <a:solidFill>
            <a:srgbClr val="E859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3" name="TextBox 162"/>
          <p:cNvSpPr txBox="1"/>
          <p:nvPr/>
        </p:nvSpPr>
        <p:spPr>
          <a:xfrm>
            <a:off x="914400" y="1417320"/>
            <a:ext cx="2651760" cy="429768"/>
          </a:xfrm>
          <a:prstGeom prst="rect">
            <a:avLst/>
          </a:prstGeom>
          <a:noFill/>
        </p:spPr>
        <p:txBody>
          <a:bodyPr wrap="square" lIns="0" tIns="0" rIns="0" bIns="0" anchor="ctr"/>
          <a:lstStyle/>
          <a:p>
            <a:pPr algn="l"/>
            <a:r>
              <a:rPr lang="en-US" sz="950" b="1" i="0">
                <a:solidFill>
                  <a:srgbClr val="1A1A1A"/>
                </a:solidFill>
                <a:latin typeface="Arial"/>
              </a:rPr>
              <a:t>GitHub Public Repository</a:t>
            </a:r>
          </a:p>
        </p:txBody>
      </p:sp>
      <p:sp>
        <p:nvSpPr>
          <p:cNvPr id="164" name="TextBox 163"/>
          <p:cNvSpPr txBox="1"/>
          <p:nvPr/>
        </p:nvSpPr>
        <p:spPr>
          <a:xfrm>
            <a:off x="3840480" y="1417320"/>
            <a:ext cx="4396740" cy="429768"/>
          </a:xfrm>
          <a:prstGeom prst="rect">
            <a:avLst/>
          </a:prstGeom>
          <a:noFill/>
        </p:spPr>
        <p:txBody>
          <a:bodyPr wrap="square" lIns="0" tIns="0" rIns="0" bIns="0" anchor="ctr"/>
          <a:lstStyle/>
          <a:p>
            <a:pPr algn="l"/>
            <a:r>
              <a:rPr lang="en-US" sz="950" b="0" i="0">
                <a:solidFill>
                  <a:srgbClr val="1A73E8"/>
                </a:solidFill>
                <a:latin typeface="Arial"/>
                <a:hlinkClick r:id="rId6"/>
              </a:rPr>
              <a:t>github.com/Jeevanvsan/ai_builder_hack</a:t>
            </a:r>
          </a:p>
        </p:txBody>
      </p:sp>
      <p:sp>
        <p:nvSpPr>
          <p:cNvPr id="165" name="Rounded Rectangle 164"/>
          <p:cNvSpPr/>
          <p:nvPr/>
        </p:nvSpPr>
        <p:spPr>
          <a:xfrm>
            <a:off x="365760" y="2029967"/>
            <a:ext cx="7635240" cy="513588"/>
          </a:xfrm>
          <a:prstGeom prst="roundRect">
            <a:avLst>
              <a:gd name="adj" fmla="val 15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6" name="Oval 165"/>
          <p:cNvSpPr/>
          <p:nvPr/>
        </p:nvSpPr>
        <p:spPr>
          <a:xfrm>
            <a:off x="502920" y="2185415"/>
            <a:ext cx="233172" cy="233172"/>
          </a:xfrm>
          <a:prstGeom prst="ellipse">
            <a:avLst/>
          </a:prstGeom>
          <a:solidFill>
            <a:srgbClr val="D633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7" name="TextBox 166"/>
          <p:cNvSpPr txBox="1"/>
          <p:nvPr/>
        </p:nvSpPr>
        <p:spPr>
          <a:xfrm>
            <a:off x="914400" y="2075687"/>
            <a:ext cx="2651760" cy="429768"/>
          </a:xfrm>
          <a:prstGeom prst="rect">
            <a:avLst/>
          </a:prstGeom>
          <a:noFill/>
        </p:spPr>
        <p:txBody>
          <a:bodyPr wrap="square" lIns="0" tIns="0" rIns="0" bIns="0" anchor="ctr"/>
          <a:lstStyle/>
          <a:p>
            <a:pPr algn="l"/>
            <a:r>
              <a:rPr lang="en-US" sz="950" b="1" i="0">
                <a:solidFill>
                  <a:srgbClr val="1A1A1A"/>
                </a:solidFill>
                <a:latin typeface="Arial"/>
              </a:rPr>
              <a:t>Demo Video — Mail Scenario</a:t>
            </a:r>
          </a:p>
        </p:txBody>
      </p:sp>
      <p:sp>
        <p:nvSpPr>
          <p:cNvPr id="168" name="TextBox 167"/>
          <p:cNvSpPr txBox="1"/>
          <p:nvPr/>
        </p:nvSpPr>
        <p:spPr>
          <a:xfrm>
            <a:off x="3840480" y="2075687"/>
            <a:ext cx="4396740" cy="429768"/>
          </a:xfrm>
          <a:prstGeom prst="rect">
            <a:avLst/>
          </a:prstGeom>
          <a:noFill/>
        </p:spPr>
        <p:txBody>
          <a:bodyPr wrap="square" lIns="0" tIns="0" rIns="0" bIns="0" anchor="ctr"/>
          <a:lstStyle/>
          <a:p>
            <a:pPr algn="l"/>
            <a:r>
              <a:rPr lang="en-US" sz="950" b="0" i="0">
                <a:solidFill>
                  <a:srgbClr val="D6336C"/>
                </a:solidFill>
                <a:latin typeface="Arial"/>
              </a:rPr>
              <a:t>[add mail-scenario video link]</a:t>
            </a:r>
          </a:p>
        </p:txBody>
      </p:sp>
      <p:sp>
        <p:nvSpPr>
          <p:cNvPr id="169" name="Rounded Rectangle 168"/>
          <p:cNvSpPr/>
          <p:nvPr/>
        </p:nvSpPr>
        <p:spPr>
          <a:xfrm>
            <a:off x="365760" y="2688335"/>
            <a:ext cx="7635240" cy="513588"/>
          </a:xfrm>
          <a:prstGeom prst="roundRect">
            <a:avLst>
              <a:gd name="adj" fmla="val 15000"/>
            </a:avLst>
          </a:prstGeom>
          <a:solidFill>
            <a:srgbClr val="F4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0" name="Oval 169"/>
          <p:cNvSpPr/>
          <p:nvPr/>
        </p:nvSpPr>
        <p:spPr>
          <a:xfrm>
            <a:off x="502920" y="2843783"/>
            <a:ext cx="233172" cy="233172"/>
          </a:xfrm>
          <a:prstGeom prst="ellipse">
            <a:avLst/>
          </a:prstGeom>
          <a:solidFill>
            <a:srgbClr val="2F9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1" name="TextBox 170"/>
          <p:cNvSpPr txBox="1"/>
          <p:nvPr/>
        </p:nvSpPr>
        <p:spPr>
          <a:xfrm>
            <a:off x="914400" y="2734055"/>
            <a:ext cx="2651760" cy="429768"/>
          </a:xfrm>
          <a:prstGeom prst="rect">
            <a:avLst/>
          </a:prstGeom>
          <a:noFill/>
        </p:spPr>
        <p:txBody>
          <a:bodyPr wrap="square" lIns="0" tIns="0" rIns="0" bIns="0" anchor="ctr"/>
          <a:lstStyle/>
          <a:p>
            <a:pPr algn="l"/>
            <a:r>
              <a:rPr lang="en-US" sz="950" b="1" i="0">
                <a:solidFill>
                  <a:srgbClr val="1A1A1A"/>
                </a:solidFill>
                <a:latin typeface="Arial"/>
              </a:rPr>
              <a:t>Final Product Link</a:t>
            </a:r>
          </a:p>
        </p:txBody>
      </p:sp>
      <p:sp>
        <p:nvSpPr>
          <p:cNvPr id="172" name="TextBox 171"/>
          <p:cNvSpPr txBox="1"/>
          <p:nvPr/>
        </p:nvSpPr>
        <p:spPr>
          <a:xfrm>
            <a:off x="3840480" y="2734055"/>
            <a:ext cx="4396740" cy="429768"/>
          </a:xfrm>
          <a:prstGeom prst="rect">
            <a:avLst/>
          </a:prstGeom>
          <a:noFill/>
        </p:spPr>
        <p:txBody>
          <a:bodyPr wrap="square" lIns="0" tIns="0" rIns="0" bIns="0" anchor="ctr"/>
          <a:lstStyle/>
          <a:p>
            <a:pPr algn="l"/>
            <a:r>
              <a:rPr lang="en-US" sz="700">
                <a:solidFill>
                  <a:srgbClr val="1A73E8"/>
                </a:solidFill>
                <a:hlinkClick r:id="rId7"/>
              </a:rPr>
              <a:t>quickbite-5cde0-landing</a:t>
            </a:r>
            <a:r>
              <a:rPr lang="en-US" sz="700" b="0" i="0">
                <a:solidFill>
                  <a:srgbClr val="1A73E8"/>
                </a:solidFill>
                <a:hlinkClick r:id="rId7">
                  <a:extLst>
                    <a:ext uri="{A12FA001-AC4F-418D-AE19-62706E023703}">
                      <ahyp:hlinkClr xmlns:ahyp="http://schemas.microsoft.com/office/drawing/2018/hyperlinkcolor" val="tx"/>
                    </a:ext>
                  </a:extLst>
                </a:hlinkClick>
              </a:rPr>
              <a:t>.web.app</a:t>
            </a:r>
            <a:endParaRPr lang="en-US" sz="700">
              <a:hlinkClick r:id="rId7">
                <a:extLst>
                  <a:ext uri="{A12FA001-AC4F-418D-AE19-62706E023703}">
                    <ahyp:hlinkClr xmlns:ahyp="http://schemas.microsoft.com/office/drawing/2018/hyperlinkcolor" val="tx"/>
                  </a:ext>
                </a:extLst>
              </a:hlinkClick>
            </a:endParaRPr>
          </a:p>
        </p:txBody>
      </p:sp>
      <p:sp>
        <p:nvSpPr>
          <p:cNvPr id="173" name="Rounded Rectangle 172"/>
          <p:cNvSpPr/>
          <p:nvPr/>
        </p:nvSpPr>
        <p:spPr>
          <a:xfrm>
            <a:off x="365760" y="3392423"/>
            <a:ext cx="8412480" cy="1143000"/>
          </a:xfrm>
          <a:prstGeom prst="roundRect">
            <a:avLst>
              <a:gd name="adj" fmla="val 8000"/>
            </a:avLst>
          </a:prstGeom>
          <a:solidFill>
            <a:srgbClr val="FDEB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4" name="TextBox 173"/>
          <p:cNvSpPr txBox="1"/>
          <p:nvPr/>
        </p:nvSpPr>
        <p:spPr>
          <a:xfrm>
            <a:off x="548640" y="3456431"/>
            <a:ext cx="3840480" cy="228600"/>
          </a:xfrm>
          <a:prstGeom prst="rect">
            <a:avLst/>
          </a:prstGeom>
          <a:noFill/>
        </p:spPr>
        <p:txBody>
          <a:bodyPr wrap="square" lIns="0" tIns="0" rIns="0" bIns="0" anchor="t"/>
          <a:lstStyle/>
          <a:p>
            <a:pPr algn="l"/>
            <a:r>
              <a:rPr lang="en-US" sz="900" b="1" i="0">
                <a:solidFill>
                  <a:srgbClr val="E8590C"/>
                </a:solidFill>
                <a:latin typeface="Arial"/>
              </a:rPr>
              <a:t>Extra references</a:t>
            </a:r>
          </a:p>
        </p:txBody>
      </p:sp>
      <p:sp>
        <p:nvSpPr>
          <p:cNvPr id="175" name="TextBox 174"/>
          <p:cNvSpPr txBox="1"/>
          <p:nvPr/>
        </p:nvSpPr>
        <p:spPr>
          <a:xfrm>
            <a:off x="548640" y="3712463"/>
            <a:ext cx="4023360" cy="777240"/>
          </a:xfrm>
          <a:prstGeom prst="rect">
            <a:avLst/>
          </a:prstGeom>
          <a:noFill/>
        </p:spPr>
        <p:txBody>
          <a:bodyPr wrap="square" lIns="0" tIns="0" rIns="0" bIns="0" anchor="t"/>
          <a:lstStyle/>
          <a:p>
            <a:pPr algn="l">
              <a:spcBef>
                <a:spcPts val="0"/>
              </a:spcBef>
              <a:spcAft>
                <a:spcPts val="0"/>
              </a:spcAft>
            </a:pPr>
            <a:r>
              <a:rPr lang="en-US" sz="720" b="1" i="0">
                <a:solidFill>
                  <a:srgbClr val="1A1A1A"/>
                </a:solidFill>
                <a:latin typeface="Arial"/>
              </a:rPr>
              <a:t>Chasing-scenario video: </a:t>
            </a:r>
            <a:r>
              <a:rPr lang="en-US" sz="720" b="0" i="0">
                <a:solidFill>
                  <a:srgbClr val="D6336C"/>
                </a:solidFill>
                <a:latin typeface="Arial"/>
              </a:rPr>
              <a:t>[add video link]</a:t>
            </a:r>
          </a:p>
          <a:p>
            <a:pPr algn="l">
              <a:spcBef>
                <a:spcPts val="0"/>
              </a:spcBef>
              <a:spcAft>
                <a:spcPts val="0"/>
              </a:spcAft>
            </a:pPr>
            <a:r>
              <a:rPr lang="en-US" sz="720" b="1" i="0">
                <a:solidFill>
                  <a:srgbClr val="1A1A1A"/>
                </a:solidFill>
                <a:latin typeface="Arial"/>
              </a:rPr>
              <a:t>User manual: </a:t>
            </a:r>
            <a:r>
              <a:rPr lang="en-US" sz="720" b="0" i="0">
                <a:solidFill>
                  <a:srgbClr val="D6336C"/>
                </a:solidFill>
                <a:latin typeface="Arial"/>
              </a:rPr>
              <a:t>[add user-manual link]</a:t>
            </a:r>
          </a:p>
          <a:p>
            <a:pPr algn="l">
              <a:spcBef>
                <a:spcPts val="0"/>
              </a:spcBef>
              <a:spcAft>
                <a:spcPts val="0"/>
              </a:spcAft>
            </a:pPr>
            <a:r>
              <a:rPr lang="en-US" sz="700" b="1" i="0">
                <a:solidFill>
                  <a:srgbClr val="1A1A1A"/>
                </a:solidFill>
                <a:latin typeface="Arial"/>
              </a:rPr>
              <a:t>Responder console: </a:t>
            </a:r>
            <a:r>
              <a:rPr lang="en-US" sz="700" b="0" i="0">
                <a:solidFill>
                  <a:srgbClr val="1A73E8"/>
                </a:solidFill>
                <a:latin typeface="Arial"/>
                <a:hlinkClick r:id="rId8"/>
              </a:rPr>
              <a:t>quickbite-5cde0-dashboard.web.app</a:t>
            </a:r>
          </a:p>
          <a:p>
            <a:r>
              <a:rPr lang="en-US" sz="700" b="1" i="0">
                <a:solidFill>
                  <a:srgbClr val="1A1A1A"/>
                </a:solidFill>
                <a:latin typeface="Arial"/>
              </a:rPr>
              <a:t>Judge login:</a:t>
            </a:r>
            <a:r>
              <a:rPr lang="en-US" sz="700" b="1">
                <a:solidFill>
                  <a:srgbClr val="1A1A1A"/>
                </a:solidFill>
              </a:rPr>
              <a:t> </a:t>
            </a:r>
            <a:r>
              <a:rPr lang="en-US" sz="700" b="0" i="0">
                <a:solidFill>
                  <a:srgbClr val="1A1A1A"/>
                </a:solidFill>
                <a:latin typeface="Arial"/>
              </a:rPr>
              <a:t>judge@quickbite.com</a:t>
            </a:r>
            <a:r>
              <a:rPr lang="en-US" sz="700">
                <a:solidFill>
                  <a:srgbClr val="1A1A1A"/>
                </a:solidFill>
              </a:rPr>
              <a:t> </a:t>
            </a:r>
            <a:r>
              <a:rPr lang="en-US" sz="700" b="0" i="0">
                <a:solidFill>
                  <a:srgbClr val="1A1A1A"/>
                </a:solidFill>
                <a:latin typeface="Arial"/>
              </a:rPr>
              <a:t> / </a:t>
            </a:r>
            <a:r>
              <a:rPr lang="en-US" sz="700">
                <a:solidFill>
                  <a:srgbClr val="1A1A1A"/>
                </a:solidFill>
              </a:rPr>
              <a:t>judge@Quickbite123</a:t>
            </a:r>
            <a:endParaRPr lang="en-US" sz="700" b="0" i="0">
              <a:solidFill>
                <a:srgbClr val="1A1A1A"/>
              </a:solidFill>
              <a:latin typeface="Arial"/>
            </a:endParaRPr>
          </a:p>
        </p:txBody>
      </p:sp>
      <p:sp>
        <p:nvSpPr>
          <p:cNvPr id="176" name="TextBox 175"/>
          <p:cNvSpPr txBox="1"/>
          <p:nvPr/>
        </p:nvSpPr>
        <p:spPr>
          <a:xfrm>
            <a:off x="4663440" y="3456431"/>
            <a:ext cx="3977639" cy="1005840"/>
          </a:xfrm>
          <a:prstGeom prst="rect">
            <a:avLst/>
          </a:prstGeom>
          <a:noFill/>
        </p:spPr>
        <p:txBody>
          <a:bodyPr wrap="square" lIns="0" tIns="0" rIns="0" bIns="0" anchor="t"/>
          <a:lstStyle/>
          <a:p>
            <a:r>
              <a:rPr lang="en-US" sz="750" b="1" i="0">
                <a:solidFill>
                  <a:srgbClr val="1A1A1A"/>
                </a:solidFill>
                <a:latin typeface="Arial"/>
              </a:rPr>
              <a:t>Two-screen demo: </a:t>
            </a:r>
            <a:r>
              <a:rPr lang="en-US" sz="750" b="0" i="0">
                <a:solidFill>
                  <a:srgbClr val="1A1A1A"/>
                </a:solidFill>
                <a:latin typeface="Arial"/>
              </a:rPr>
              <a:t>open the console on a </a:t>
            </a:r>
            <a:r>
              <a:rPr lang="en-US" sz="750" err="1">
                <a:solidFill>
                  <a:srgbClr val="1A1A1A"/>
                </a:solidFill>
              </a:rPr>
              <a:t>broser</a:t>
            </a:r>
            <a:r>
              <a:rPr lang="en-US" sz="750">
                <a:solidFill>
                  <a:srgbClr val="1A1A1A"/>
                </a:solidFill>
              </a:rPr>
              <a:t> tab</a:t>
            </a:r>
            <a:r>
              <a:rPr lang="en-US" sz="750" b="0" i="0">
                <a:solidFill>
                  <a:srgbClr val="1A1A1A"/>
                </a:solidFill>
                <a:latin typeface="Arial"/>
              </a:rPr>
              <a:t>, the caller app on </a:t>
            </a:r>
            <a:r>
              <a:rPr lang="en-US" sz="750">
                <a:solidFill>
                  <a:srgbClr val="1A1A1A"/>
                </a:solidFill>
              </a:rPr>
              <a:t>another tab</a:t>
            </a:r>
            <a:r>
              <a:rPr lang="en-US" sz="750" b="0" i="0">
                <a:solidFill>
                  <a:srgbClr val="1A1A1A"/>
                </a:solidFill>
                <a:latin typeface="Arial"/>
              </a:rPr>
              <a:t> tap “Call to order” and say “order”. Watch the incident fill in live.</a:t>
            </a:r>
          </a:p>
          <a:p>
            <a:pPr algn="l">
              <a:spcBef>
                <a:spcPts val="0"/>
              </a:spcBef>
              <a:spcAft>
                <a:spcPts val="0"/>
              </a:spcAft>
            </a:pPr>
            <a:r>
              <a:rPr lang="en-US" sz="750" b="1" i="0">
                <a:solidFill>
                  <a:srgbClr val="1A1A1A"/>
                </a:solidFill>
                <a:latin typeface="Arial"/>
              </a:rPr>
              <a:t>Practice call: </a:t>
            </a:r>
            <a:r>
              <a:rPr lang="en-US" sz="750" b="0" i="0">
                <a:solidFill>
                  <a:srgbClr val="1A1A1A"/>
                </a:solidFill>
                <a:latin typeface="Arial"/>
              </a:rPr>
              <a:t>long-press the </a:t>
            </a:r>
            <a:r>
              <a:rPr lang="en-US" sz="750" b="0" i="0" err="1">
                <a:solidFill>
                  <a:srgbClr val="1A1A1A"/>
                </a:solidFill>
                <a:latin typeface="Arial"/>
              </a:rPr>
              <a:t>QuickBite</a:t>
            </a:r>
            <a:r>
              <a:rPr lang="en-US" sz="750" b="0" i="0">
                <a:solidFill>
                  <a:srgbClr val="1A1A1A"/>
                </a:solidFill>
                <a:latin typeface="Arial"/>
              </a:rPr>
              <a:t> logo for 2 s. It never reaches responders.</a:t>
            </a:r>
          </a:p>
        </p:txBody>
      </p:sp>
    </p:spTree>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pic>
        <p:nvPicPr>
          <p:cNvPr id="171" name="Google Shape;171;p28" title="Frame 144.png"/>
          <p:cNvPicPr preferRelativeResize="0"/>
          <p:nvPr/>
        </p:nvPicPr>
        <p:blipFill rotWithShape="1">
          <a:blip r:embed="rId3">
            <a:alphaModFix/>
          </a:blip>
          <a:srcRect b="98001"/>
          <a:stretch/>
        </p:blipFill>
        <p:spPr>
          <a:xfrm>
            <a:off x="0" y="5093562"/>
            <a:ext cx="9144000" cy="54275"/>
          </a:xfrm>
          <a:prstGeom prst="rect">
            <a:avLst/>
          </a:prstGeom>
          <a:noFill/>
          <a:ln>
            <a:noFill/>
          </a:ln>
        </p:spPr>
      </p:pic>
      <p:pic>
        <p:nvPicPr>
          <p:cNvPr id="172" name="Google Shape;172;p28" title="Frame 145.png"/>
          <p:cNvPicPr preferRelativeResize="0"/>
          <p:nvPr/>
        </p:nvPicPr>
        <p:blipFill>
          <a:blip r:embed="rId4">
            <a:alphaModFix/>
          </a:blip>
          <a:stretch>
            <a:fillRect/>
          </a:stretch>
        </p:blipFill>
        <p:spPr>
          <a:xfrm>
            <a:off x="0" y="0"/>
            <a:ext cx="9144000" cy="5143516"/>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16</Slides>
  <Notes>16</Notes>
  <HiddenSlides>0</HiddenSlide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2</cp:revision>
  <dcterms:modified xsi:type="dcterms:W3CDTF">2026-10-09T14:04:16Z</dcterms:modified>
</cp:coreProperties>
</file>