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omments/modernComment1.xml" ContentType="application/vnd.ms-powerpoint.comments+xml"/>
  <Override PartName="/ppt/comments/modernComment2.xml" ContentType="application/vnd.ms-powerpoint.comments+xml"/>
  <Override PartName="/ppt/comments/modernComment3.xml" ContentType="application/vnd.ms-powerpoint.comment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8" r:id="rId5"/>
    <p:sldId id="259" r:id="rId6"/>
    <p:sldId id="260" r:id="rId7"/>
    <p:sldId id="261" r:id="rId8"/>
    <p:sldId id="262" r:id="rId9"/>
    <p:sldId id="263" r:id="rId10"/>
    <p:sldId id="270" r:id="rId11"/>
    <p:sldId id="264" r:id="rId12"/>
    <p:sldId id="265" r:id="rId13"/>
    <p:sldId id="266" r:id="rId14"/>
    <p:sldId id="267" r:id="rId15"/>
    <p:sldId id="268" r:id="rId16"/>
    <p:sldId id="272" r:id="rId17"/>
    <p:sldId id="269" r:id="rId18"/>
    <p:sldId id="271" r:id="rId19"/>
  </p:sldIdLst>
  <p:sldSz cx="9144000" cy="5143500" type="screen16x9"/>
  <p:notesSz cx="6858000" cy="9144000"/>
  <p:embeddedFontLst>
    <p:embeddedFont>
      <p:font typeface="Google Sans Flex SemiBold" panose="020B0503030502040204"/>
      <p:bold r:id="rId24"/>
    </p:embeddedFont>
    <p:embeddedFont>
      <p:font typeface="Google Sans Flex" panose="020B0503030502040204"/>
      <p:bold r:id="rId25"/>
    </p:embeddedFont>
    <p:embeddedFont>
      <p:font typeface="Google Sans Flex Medium" panose="020B0503030502040204"/>
      <p:bold r:id="rId26"/>
    </p:embeddedFont>
    <p:embeddedFont>
      <p:font typeface="Calibri" panose="020F0502020204030204"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5" userDrawn="1">
          <p15:clr>
            <a:srgbClr val="747775"/>
          </p15:clr>
        </p15:guide>
        <p15:guide id="2" pos="2871" userDrawn="1">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ED078BD-FF22-03A6-6CBB-9FDE3E12E98E}" name="Jeevan V" initials="JV" userId="S::jeevan.v@experionglobal.com::40fa15b1-97ff-4188-b5c1-5e4d70f30278"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00" d="100"/>
          <a:sy n="100" d="100"/>
        </p:scale>
        <p:origin x="0" y="0"/>
      </p:cViewPr>
      <p:guideLst>
        <p:guide orient="horz" pos="1625"/>
        <p:guide pos="2871"/>
      </p:guideLst>
    </p:cSldViewPr>
  </p:slide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0" Type="http://schemas.openxmlformats.org/officeDocument/2006/relationships/font" Target="fonts/font7.fntdata"/><Relationship Id="rId3" Type="http://schemas.openxmlformats.org/officeDocument/2006/relationships/slide" Target="slides/slide1.xml"/><Relationship Id="rId29" Type="http://schemas.openxmlformats.org/officeDocument/2006/relationships/font" Target="fonts/font6.fntdata"/><Relationship Id="rId28" Type="http://schemas.openxmlformats.org/officeDocument/2006/relationships/font" Target="fonts/font5.fntdata"/><Relationship Id="rId27" Type="http://schemas.openxmlformats.org/officeDocument/2006/relationships/font" Target="fonts/font4.fntdata"/><Relationship Id="rId26" Type="http://schemas.openxmlformats.org/officeDocument/2006/relationships/font" Target="fonts/font3.fntdata"/><Relationship Id="rId25" Type="http://schemas.openxmlformats.org/officeDocument/2006/relationships/font" Target="fonts/font2.fntdata"/><Relationship Id="rId24" Type="http://schemas.openxmlformats.org/officeDocument/2006/relationships/font" Target="fonts/font1.fntdata"/><Relationship Id="rId23" Type="http://schemas.microsoft.com/office/2018/10/relationships/authors" Target="authors.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1"/>
        <c:ser>
          <c:idx val="0"/>
          <c:order val="0"/>
          <c:tx>
            <c:strRef>
              <c:f>Sheet1!$B$1</c:f>
              <c:strCache>
                <c:ptCount val="1"/>
                <c:pt idx="0">
                  <c:v>Pass rate</c:v>
                </c:pt>
              </c:strCache>
            </c:strRef>
          </c:tx>
          <c:spPr>
            <a:solidFill>
              <a:srgbClr val="2F9E44"/>
            </a:solidFill>
          </c:spPr>
          <c:invertIfNegative val="1"/>
          <c:dPt>
            <c:idx val="0"/>
            <c:invertIfNegative val="1"/>
            <c:bubble3D val="0"/>
            <c:spPr>
              <a:solidFill>
                <a:srgbClr val="2F9E44"/>
              </a:solidFill>
            </c:spPr>
          </c:dPt>
          <c:dPt>
            <c:idx val="1"/>
            <c:invertIfNegative val="1"/>
            <c:bubble3D val="0"/>
            <c:spPr>
              <a:solidFill>
                <a:srgbClr val="2F9E44"/>
              </a:solidFill>
            </c:spPr>
          </c:dPt>
          <c:dPt>
            <c:idx val="2"/>
            <c:invertIfNegative val="1"/>
            <c:bubble3D val="0"/>
            <c:spPr>
              <a:solidFill>
                <a:srgbClr val="2F9E44"/>
              </a:solidFill>
            </c:spPr>
          </c:dPt>
          <c:dPt>
            <c:idx val="3"/>
            <c:invertIfNegative val="1"/>
            <c:bubble3D val="0"/>
            <c:spPr>
              <a:solidFill>
                <a:srgbClr val="2F9E44"/>
              </a:solidFill>
            </c:spPr>
          </c:dPt>
          <c:dPt>
            <c:idx val="4"/>
            <c:invertIfNegative val="1"/>
            <c:bubble3D val="0"/>
            <c:spPr>
              <a:solidFill>
                <a:srgbClr val="2F9E44"/>
              </a:solidFill>
            </c:spPr>
          </c:dPt>
          <c:dPt>
            <c:idx val="5"/>
            <c:invertIfNegative val="1"/>
            <c:bubble3D val="0"/>
            <c:spPr>
              <a:solidFill>
                <a:srgbClr val="E39B00"/>
              </a:solidFill>
            </c:spPr>
          </c:dPt>
          <c:dPt>
            <c:idx val="6"/>
            <c:invertIfNegative val="1"/>
            <c:bubble3D val="0"/>
            <c:spPr>
              <a:solidFill>
                <a:srgbClr val="E39B00"/>
              </a:solidFill>
            </c:spPr>
          </c:dPt>
          <c:dPt>
            <c:idx val="7"/>
            <c:invertIfNegative val="1"/>
            <c:bubble3D val="0"/>
            <c:spPr>
              <a:solidFill>
                <a:srgbClr val="E39B00"/>
              </a:solidFill>
            </c:spPr>
          </c:dPt>
          <c:dPt>
            <c:idx val="8"/>
            <c:invertIfNegative val="1"/>
            <c:bubble3D val="0"/>
            <c:spPr>
              <a:solidFill>
                <a:srgbClr val="E39B00"/>
              </a:solidFill>
            </c:spPr>
          </c:dPt>
          <c:dPt>
            <c:idx val="9"/>
            <c:invertIfNegative val="1"/>
            <c:bubble3D val="0"/>
            <c:spPr>
              <a:solidFill>
                <a:srgbClr val="E39B00"/>
              </a:solidFill>
            </c:spPr>
          </c:dPt>
          <c:dLbls>
            <c:numFmt formatCode="0%" sourceLinked="0"/>
            <c:spPr>
              <a:noFill/>
              <a:ln>
                <a:noFill/>
              </a:ln>
              <a:effectLst/>
            </c:spPr>
            <c:txPr>
              <a:bodyPr rot="0" spcFirstLastPara="0" vertOverflow="ellipsis" vert="horz" wrap="square" lIns="38100" tIns="19050" rIns="38100" bIns="19050" anchor="ctr" anchorCtr="1"/>
              <a:lstStyle/>
              <a:p>
                <a:pPr>
                  <a:defRPr lang="en-US" sz="750" b="0" i="0" u="none" strike="noStrike" kern="1200" baseline="0">
                    <a:solidFill>
                      <a:srgbClr val="1A1A1A"/>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Sheet1!$A$2:$A$11</c:f>
              <c:strCache>
                <c:ptCount val="10"/>
                <c:pt idx="0">
                  <c:v>Chase (1)</c:v>
                </c:pt>
                <c:pt idx="1">
                  <c:v>Negation (2)</c:v>
                </c:pt>
                <c:pt idx="2">
                  <c:v>Open mode (2)</c:v>
                </c:pt>
                <c:pt idx="3">
                  <c:v>Covert (3)</c:v>
                </c:pt>
                <c:pt idx="4">
                  <c:v>Languages (2)</c:v>
                </c:pt>
                <c:pt idx="5">
                  <c:v>Coercion (2)</c:v>
                </c:pt>
                <c:pt idx="6">
                  <c:v>Silent SOS (1)</c:v>
                </c:pt>
                <c:pt idx="7">
                  <c:v>Benign order (1)</c:v>
                </c:pt>
                <c:pt idx="8">
                  <c:v>Vision (2)</c:v>
                </c:pt>
                <c:pt idx="9">
                  <c:v>Sound (1)</c:v>
                </c:pt>
              </c:strCache>
            </c:strRef>
          </c:cat>
          <c:val>
            <c:numRef>
              <c:f>Sheet1!$B$2:$B$11</c:f>
              <c:numCache>
                <c:formatCode>General</c:formatCode>
                <c:ptCount val="10"/>
                <c:pt idx="0">
                  <c:v>1</c:v>
                </c:pt>
                <c:pt idx="1">
                  <c:v>1</c:v>
                </c:pt>
                <c:pt idx="2">
                  <c:v>0.916666666666667</c:v>
                </c:pt>
                <c:pt idx="3">
                  <c:v>0.833333333333333</c:v>
                </c:pt>
                <c:pt idx="4">
                  <c:v>0.8</c:v>
                </c:pt>
                <c:pt idx="5">
                  <c:v>0.777777777777778</c:v>
                </c:pt>
                <c:pt idx="6">
                  <c:v>0.714285714285714</c:v>
                </c:pt>
                <c:pt idx="7">
                  <c:v>0.666666666666667</c:v>
                </c:pt>
                <c:pt idx="8">
                  <c:v>0.571428571428571</c:v>
                </c:pt>
                <c:pt idx="9">
                  <c:v>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Lst>
        </c:ser>
        <c:dLbls>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w="9525" cap="flat" cmpd="sng" algn="ctr">
            <a:solidFill>
              <a:srgbClr val="DADCE0"/>
            </a:solidFill>
            <a:prstDash val="solid"/>
            <a:round/>
          </a:ln>
        </c:spPr>
        <c:txPr>
          <a:bodyPr rot="-60000000" spcFirstLastPara="0" vertOverflow="ellipsis" vert="horz" wrap="square" anchor="ctr" anchorCtr="1"/>
          <a:lstStyle/>
          <a:p>
            <a:pPr>
              <a:defRPr lang="en-US" sz="750" b="0" i="0" u="none" strike="noStrike" kern="1200" baseline="0">
                <a:solidFill>
                  <a:srgbClr val="1A1A1A"/>
                </a:solidFill>
                <a:latin typeface="Arial" panose="020B0604020202020204"/>
                <a:ea typeface="+mn-ea"/>
                <a:cs typeface="+mn-cs"/>
              </a:defRPr>
            </a:pPr>
          </a:p>
        </c:txPr>
        <c:crossAx val="2113994440"/>
        <c:crosses val="autoZero"/>
        <c:auto val="1"/>
        <c:lblAlgn val="ctr"/>
        <c:lblOffset val="100"/>
        <c:noMultiLvlLbl val="0"/>
      </c:catAx>
      <c:valAx>
        <c:axId val="2113994440"/>
        <c:scaling>
          <c:orientation val="minMax"/>
          <c:max val="1.15"/>
          <c:min val="0"/>
        </c:scaling>
        <c:delete val="1"/>
        <c:axPos val="t"/>
        <c:numFmt formatCode="General" sourceLinked="1"/>
        <c:majorTickMark val="out"/>
        <c:minorTickMark val="none"/>
        <c:tickLblPos val="nextTo"/>
        <c:txPr>
          <a:bodyPr rot="-60000000" spcFirstLastPara="0" vertOverflow="ellipsis" vert="horz" wrap="square" anchor="ctr" anchorCtr="1"/>
          <a:lstStyle/>
          <a:p>
            <a:pPr>
              <a:defRPr lang="en-US" sz="1800" b="0" i="0" u="none" strike="noStrike" kern="1200" baseline="0">
                <a:solidFill>
                  <a:schemeClr val="tx1"/>
                </a:solidFill>
                <a:latin typeface="+mn-lt"/>
                <a:ea typeface="+mn-ea"/>
                <a:cs typeface="+mn-cs"/>
              </a:defRPr>
            </a:pPr>
          </a:p>
        </c:txPr>
        <c:crossAx val="2068027336"/>
        <c:crosses val="autoZero"/>
        <c:crossBetween val="between"/>
      </c:valAx>
    </c:plotArea>
    <c:plotVisOnly val="1"/>
    <c:dispBlanksAs val="gap"/>
    <c:showDLblsOverMax val="1"/>
    <c:extLst>
      <c:ext uri="{0b15fc19-7d7d-44ad-8c2d-2c3a37ce22c3}">
        <chartProps xmlns="https://web.wps.cn/et/2018/main" chartId="{bb022c35-09c3-41e4-ac64-fb395ed3f8a0}"/>
      </c:ext>
    </c:extLst>
  </c:chart>
  <c:txPr>
    <a:bodyPr/>
    <a:lstStyle/>
    <a:p>
      <a:pPr>
        <a:defRPr lang="en-US" sz="1800"/>
      </a:pPr>
    </a:p>
  </c:txPr>
  <c:externalData r:id="rId1">
    <c:autoUpdate val="0"/>
  </c:externalData>
</c:chartSpace>
</file>

<file path=ppt/comments/modernComment1.xml><?xml version="1.0" encoding="utf-8"?>
<p188:cmLst xmlns:a="http://schemas.openxmlformats.org/drawingml/2006/main" xmlns:r="http://schemas.openxmlformats.org/officeDocument/2006/relationships" xmlns:p188="http://schemas.microsoft.com/office/powerpoint/2018/8/main">
  <p188:cm id="{EB69A1C0-368B-4CEE-AC47-6103AA9480A4}" authorId="{AED078BD-FF22-03A6-6CBB-9FDE3E12E98E}" created="2026-10-08T05:39:57.919">
    <pc:sldMkLst xmlns:pc="http://schemas.microsoft.com/office/powerpoint/2013/main/command">
      <pc:docMk/>
      <pc:sldMk sldId="260"/>
    </pc:sldMkLst>
    <p188:txBody>
      <a:bodyPr/>
      <a:lstStyle/>
      <a:p>
        <a:r>
          <a:rPr lang="en-US"/>
          <a:t>[@Al Ameen N] - option 1 ilu last pointil hostage situation ennukuda add akano ah sos last</a:t>
        </a:r>
      </a:p>
    </p188:txBody>
  </p188:cm>
  <p188:cm id="{0337466D-3DC2-45BC-BB73-5DA0761B9920}" authorId="{AED078BD-FF22-03A6-6CBB-9FDE3E12E98E}" created="2026-10-08T05:45:04.553">
    <pc:sldMkLst xmlns:pc="http://schemas.microsoft.com/office/powerpoint/2013/main/command">
      <pc:docMk/>
      <pc:sldMk sldId="260"/>
    </pc:sldMkLst>
    <p188:txBody>
      <a:bodyPr/>
      <a:lstStyle/>
      <a:p>
        <a:r>
          <a:rPr lang="en-US"/>
          <a:t>option 6 last 2 points enik mansilayilla. ithil ollathanenki noki vekanam select aya questions varam</a:t>
        </a:r>
      </a:p>
    </p188:txBody>
  </p188:cm>
</p188:cmLst>
</file>

<file path=ppt/comments/modernComment2.xml><?xml version="1.0" encoding="utf-8"?>
<p188:cmLst xmlns:a="http://schemas.openxmlformats.org/drawingml/2006/main" xmlns:r="http://schemas.openxmlformats.org/officeDocument/2006/relationships" xmlns:p188="http://schemas.microsoft.com/office/powerpoint/2018/8/main">
  <p188:cm id="{C8907F68-3BA0-40B4-9A20-B6508D7C296F}" authorId="{AED078BD-FF22-03A6-6CBB-9FDE3E12E98E}" created="2026-10-08T05:48:10.671">
    <pc:sldMkLst xmlns:pc="http://schemas.microsoft.com/office/powerpoint/2013/main/command">
      <pc:docMk/>
      <pc:sldMk sldId="263"/>
    </pc:sldMkLst>
    <p188:txBody>
      <a:bodyPr/>
      <a:lstStyle/>
      <a:p>
        <a:r>
          <a:rPr lang="en-US"/>
          <a:t>eee big query onnum illannu thonnanu ipo</a:t>
        </a:r>
      </a:p>
    </p188:txBody>
  </p188:cm>
</p188:cmLst>
</file>

<file path=ppt/comments/modernComment3.xml><?xml version="1.0" encoding="utf-8"?>
<p188:cmLst xmlns:a="http://schemas.openxmlformats.org/drawingml/2006/main" xmlns:r="http://schemas.openxmlformats.org/officeDocument/2006/relationships" xmlns:p188="http://schemas.microsoft.com/office/powerpoint/2018/8/main">
  <p188:cm id="{D6E79F52-C49C-4640-87F6-B584F52AC661}" authorId="{AED078BD-FF22-03A6-6CBB-9FDE3E12E98E}" created="2026-10-08T06:01:10.542">
    <pc:sldMkLst xmlns:pc="http://schemas.microsoft.com/office/powerpoint/2013/main/command">
      <pc:docMk/>
      <pc:sldMk sldId="269"/>
    </pc:sldMkLst>
    <p188:txBody>
      <a:bodyPr/>
      <a:lstStyle/>
      <a:p>
        <a:r>
          <a:rPr lang="en-US"/>
          <a:t>namak ah ella permissions grant ayirikanam illenkil work avilla ennu parayanam.
permission engnokke grant cheyam ennu guide cheyende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7EFC73-5C40-4B7C-9655-97823A04F56E}" type="datetimeFigureOut">
              <a:rPr/>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7595D9-B628-4B8D-89F8-B768B78F80CD}" type="slidenum">
              <a:rPr/>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NexMind — team leader Jeevan V.</a:t>
            </a:r>
          </a:p>
          <a:p/>
          <a:p>
            <a:r>
              <a:t>One-line problem: when someone is being watched, coerced or held, the normal ways to get help (calling 112, shouting, opening a safety app) are exactly what they can't do.</a:t>
            </a:r>
          </a:p>
          <a:p/>
          <a:p>
            <a:r>
              <a:t>QuickBite: an ordinary-looking food-delivery app. Calling 'the restaurant' reaches Mia, a Gemini Live persona who takes the order, teaches each danger code in the same sentence, and streams a structured incident to a response team live. Theme fit: societal impact via the theme's own named approaches, resilience strengthening and community support.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Hook: 1 in 3 women experience partner or sexual violence (WHO). One woman or girl is killed by a partner or family member every 10 minutes (UNODC/UN Women, Nov 2025: ~50,000 of ~83,000 femicides in 2024). India recorded 4,41,534 crimes against women in 2024 (NCRB, released May 2026); 'cruelty by husband or relatives' is the largest category. Fewer than 40% of women who experience violence seek any help, under 10% from police (UN DESA, World's Women 2015).</a:t>
            </a:r>
          </a:p>
          <a:p/>
          <a:p>
            <a:r>
              <a:t>The insight: the danger is often in the same room. A visible SOS, a 112 call or a shout can provoke immediate violence. Help has to be invisible to the person watching.</a:t>
            </a:r>
          </a:p>
          <a:p/>
          <a:p>
            <a:r>
              <a:t>Story: Priya (illustrative) opens a normal food app and calls 'the restaurant'. Mia, a Gemini Live persona, asks menu questions and says each code's real meaning in the same sentence, so Priya never has to have memorised anything. Her partner hears an order; responders see a live incident and Mia routes her to safety.</a:t>
            </a:r>
          </a:p>
          <a:p/>
          <a:p>
            <a:r>
              <a:t>Sources: https://www.who.int/news-room/fact-sheets/detail/violence-against-women ; https://news.un.org/en/story/2025/11/1166452 ; NCRB Crime in India 2024 via https://theprint.in/india/ncrb-report-out-crimes-against-women-saw-minor-dip-in-2024-maximum-cases-were-cruelty-by-husband/2924248/ ; https://unstats.un.org/unsd/gender/chapter6/chapter6.html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How different: compare against what a person in danger can use today.</a:t>
            </a:r>
          </a:p>
          <a:p>
            <a:r>
              <a:t>- A 112 call or the phone's SOS works but is obvious to anyone in the room.</a:t>
            </a:r>
          </a:p>
          <a:p>
            <a:r>
              <a:t>- SOS apps (Delhi Police Himmat Plus, bSafe, Noonlight) send an alert but are visibly safety apps and mostly one-way.</a:t>
            </a:r>
          </a:p>
          <a:p>
            <a:r>
              <a:t>- Disguised apps exist (Aspire News since ~2013 hides a help button inside a news app) but need pre-set contacts and only send a one-way alert.</a:t>
            </a:r>
          </a:p>
          <a:p>
            <a:r>
              <a:t>- Code words (Ask for Angela, Signal for Help) must be known in advance and work in person.</a:t>
            </a:r>
          </a:p>
          <a:p>
            <a:r>
              <a:t>- The famous 2019 Oregon, Ohio 'pizza order' 911 call worked only because the dispatcher guessed. NENA says there is no universal code because abusers would learn it.</a:t>
            </a:r>
          </a:p>
          <a:p/>
          <a:p>
            <a:r>
              <a:t>QuickBite makes the pizza call systematic: the AI does the guessing every time and teaches its own code in the conversation, so nothing is published or memorised.</a:t>
            </a:r>
          </a:p>
          <a:p/>
          <a:p>
            <a:r>
              <a:t>How it solves it: the disguise holds; the incident exists from the first second with location; facts stream live; Mia brings help back (route to safety, first aid, responder messages).</a:t>
            </a:r>
          </a:p>
          <a:p/>
          <a:p>
            <a:r>
              <a:t>Honest framing: disguise alone is not new. The combination (live AI persona + codes taught in the call + live structured extraction + two-way guidance) is what we did not find anywhere.</a:t>
            </a:r>
          </a:p>
          <a:p/>
          <a:p>
            <a:r>
              <a:t>Sources: https://www.cnn.com/2019/11/26/us/what-to-do-if-you-cant-speak-to-911 ; https://abc7news.com/911-call-pizza-order-oregon-ohio/5715159/ ; https://www.domesticshelters.org/articles/technology/apps-designed-to-keep-you-safe ; https://apps.apple.com/us/app/himmat-plus/id1337677961 ; https://en.wikipedia.org/wiki/Ask_for_Angela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Six groups, everything verified against the code.</a:t>
            </a:r>
          </a:p>
          <a:p>
            <a:r>
              <a:t>1) Four hidden ways in, all separate forks from the home screen: Call to order (Gemini Live call with Mia); Click &amp; order (menu items are codes, quantity = people, delivery speed = urgency; the order-tracking screen mirrors the responder's real status: Rider assigned / On the way / Delivered); Delivery instructions (five ordinary options, long-press reveals the meaning, optional photo analysed by Gemini); Heart double-tap silent SOS (screen goes black like the phone is off, records mic + front and back cameras, a silent Gemini observer reports what it sees and hears; three taps to exit).</a:t>
            </a:r>
          </a:p>
          <a:p>
            <a:r>
              <a:t>2) Mia: covert mode (only food words) and open mode (plain dispatcher + first aid), switching instantly if someone comes near; 12 tools; multilingual; voice stress; coercion signals (second voice, scripted answers, forced cancel); camera + background sound (weapon, vehicle, plate, gunshot).</a:t>
            </a:r>
          </a:p>
          <a:p>
            <a:r>
              <a:t>3) Safety: live GPS trail, turn-by-turn routing (OSRM) to the nearest police/hospital/fire with landmarks (Photon/OSM), disguised as meeting the rider.</a:t>
            </a:r>
          </a:p>
          <a:p>
            <a:r>
              <a:t>4) After the call: Gemini case summary with per-field confidence, dispatch bulletin, redaction of third-party details, linked-case detection, case-report email with PDF and scene sketch, trusted-contact email alert, recordings to Google Drive.</a:t>
            </a:r>
          </a:p>
          <a:p>
            <a:r>
              <a:t>5) Console: see snapshots slide.</a:t>
            </a:r>
          </a:p>
          <a:p>
            <a:r>
              <a:t>6) Security: zero-trace exit replaces browser history; App Check with reCAPTCHA Enterprise; Firestore rules (no deletes, status only moves forward); gitleaks secret scanning on every push.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Read left to right; lanes show who does what.</a:t>
            </a:r>
          </a:p>
          <a:p>
            <a:r>
              <a:t>1. Priya opens QuickBite and picks a way in. 2. The incident is written to Firestore the instant the call starts, with GPS (or IP fallback) location, before any AI output; the responder console rings and pins it. 3. Mia asks a coded question and says its meaning in the same breath; Priya answers as if ordering. 4. Each answer becomes a function call; the app writes the fields and computes severity with deterministic rules (not AI). 5. A responder acknowledges (a Firestore transaction, so only one can claim it) and can message the caller; Mia relays it as delivery chat and gives turn-by-turn directions to the nearest police station or hospital. 6. On hang-up, a zero-trace exit removes the call from browser history; Gemini writes the case summary, redacts third-party details and links related cases. 7. Case record and report email; when the responder resolves it, the caller's order screen simply says Delivered.</a:t>
            </a:r>
          </a:p>
          <a:p/>
          <a:p>
            <a:r>
              <a:t>Use cases: a person in danger (domestic violence, being followed, abduction, hostage), a witness reporting for someone else (crime, group fight, child in danger, fire/accident), responders and admins.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Five screens of the caller journey. 1 and 2 are real screenshots of the deployed app: a complete food app (menu, categories, offers, cart, checkout). The heart icon hides the silent SOS (double-tap). Long-pressing a coded menu item reveals its meaning, so a caller can learn the code silently.</a:t>
            </a:r>
          </a:p>
          <a:p>
            <a:r>
              <a:t>3. The call screen: Mia always says the real meaning in the same sentence as the food question. Nothing to memorise, ever.</a:t>
            </a:r>
          </a:p>
          <a:p>
            <a:r>
              <a:t>4. Delivery instructions: for when no sound is safe. Five ordinary instructions; long-press shows the meaning (e.g. "Don't ring, leave silently" = a weapon is present). Optional photo is read by Gemini.</a:t>
            </a:r>
          </a:p>
          <a:p>
            <a:r>
              <a:t>5. Silent SOS: the screen goes black as if the phone were off while mic and cameras stream to responders and a silent Gemini observer reports what it sees and hears. Honest limitation: the OS camera-in-use indicator can't be hidden.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No custom server. The caller app talks to Gemini Live directly through Firebase AI Logic with App Check (reCAPTCHA Enterprise), so no API key ships in the web app. Every tool call is executed in the app and written to Cloud Firestore (asia-south1) through one shared incident client used by web, Android and the eval harness. The responder console is a separate React app that subscribes with Firestore realtime listeners, so fields appear on screen as they are written: the realtime channel IS the database.</a:t>
            </a:r>
          </a:p>
          <a:p/>
          <a:p>
            <a:r>
              <a:t>Media: live video and listen-in are peer-to-peer WebRTC (Firestore carries only the handshake, Google STUN). Recordings go to Google Drive through an Apps Script web app; the case-report email (with PDF and scene sketch) and trusted-contact alerts use Apps Script mail. Location: GPS with IP fallback; Nominatim/Photon geocoding; OSRM routing.</a:t>
            </a:r>
          </a:p>
          <a:p/>
          <a:p>
            <a:r>
              <a:t>Model choice is per task (shared/aiModels.ts): the smallest model that does each job. Free-tier key first, paid key only on quota errors. Planned: a Cloud Run backend with ADK agents for dispatch and verification (dashed box), which also moves the remaining keys server-side.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This is the technical core. During a call the phone streams 16 kHz PCM audio and low-resolution camera frames (0.5 fps) into a Gemini Live session (gemini-3.8-live) running Mia's persona. Mia never 'chats': every fact she learns comes out as one of 12 function calls (report_situation, confirm_address, report_stress_level, report_scene_observation, report_vehicle_number, report_coercion_signal, get_route_guidance, and more). The app executes them: severity is computed by deterministic rules, addresses are geocoded, routes come from OSRM with landmarks; everything is written to Firestore and appears on the console instantly. Tool responses carry known facts, the next route turn and any responder message back into the conversation.</a:t>
            </a:r>
          </a:p>
          <a:p/>
          <a:p>
            <a:r>
              <a:t>Engineering that made it reliable: record-only tools are answered SILENT and only one response per batch is allowed to trigger Mia's next reply (this cut model inferences from ~22 to 5 for a 4-turn test call); session resumption and sliding-window compression keep video calls alive past the session cap; silence/reply watchdogs and a 6-second routing budget mean Mia never goes quiet on a frightened caller.</a:t>
            </a:r>
          </a:p>
          <a:p/>
          <a:p>
            <a:r>
              <a:t>After the call: 3.5 Flash-Lite writes the case summary with confidence per field and redacts third-party personal details in the same structured request; 3.1 Flash-Lite links the case to recent incidents. Every request records token usage on the incident, and a 17-scenario evaluation harness tests the real persona and tools end to end.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Google AI: Gemini Live API is the only option that does real-time two-way voice, vision and function calling in one session, which is exactly what a disguised call needs. Smaller Flash-Lite models handle the post-call and console tasks cheaply. Firebase AI Logic with App Check lets the web app call Gemini without shipping a key. Gemma 4 is used as a free judge in our evaluation harness.</a:t>
            </a:r>
          </a:p>
          <a:p/>
          <a:p>
            <a:r>
              <a:t>Firebase/Google Cloud: four Hosting sites (caller app, responder console, landing, staging); Cloud Firestore as database and realtime channel; Auth for responders (email/password), callers (an invisible device ID) and optional phone OTP; Apps Script + Drive for evidence storage and email without billing; BigQuery sandbox for anonymised analytics.</a:t>
            </a:r>
          </a:p>
          <a:p/>
          <a:p>
            <a:r>
              <a:t>Apps: React + Vite + TypeScript on the web, React Native/Expo on Android with a custom Kotlin module that taps camera frames out of WebRTC and routes audio to the earpiece. Open map data (OSM, Nominatim, Photon, OSRM) for geocoding and routing. Quality: GitHub Actions secret scanning, APK release workflow, an evaluation harness with real Live calls.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Cost is computed, not guessed: every incident records its Gemini token usage per task, and the evaluation run gives measured token counts per call. Multiplied by the Gemini paid-tier prices in shared/aiModels.ts (gemini-3.8-live: text in $0.75, audio in $3.00, text out $4.50, audio out $12.00 per 1M tokens; 3.5 Flash-Lite $0.30/$2.50; 3.1 Flash-Lite $0.25/$1.50).</a:t>
            </a:r>
          </a:p>
          <a:p/>
          <a:p>
            <a:r>
              <a:t>Fixed cost at prototype scale is zero: Firebase Hosting and Firestore free tier, Apps Script + Drive, OpenStreetMap services. A real deployment would move to the Blaze pay-as-you-go plan; cost stays proportional to calls.</a:t>
            </a:r>
          </a:p>
          <a:p/>
          <a:p>
            <a:r>
              <a:t>The live call is almost all of the cost, because the persona prompt is re-read on every reply. It was rewritten from ~52 KB to ~22 KB on 7 Oct 2026, before this evaluation run, so the measured cost already includes that saving. Also done: silent tool responses (inferences per 4-turn call from ~22 to 5), low-resolution 0.5 fps frames, context compression, smallest model per task, free-tier key first.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Real screenshots from the deployed console during test calls.</a:t>
            </a:r>
          </a:p>
          <a:p>
            <a:r>
              <a:t>Left: the case board. Evidence tiles spring in around the caller's live position as Gemini reports them: threat (weapon, injury), subjects, voice stress, linked cases (same person or vehicle in other incidents) and the route to safety Gemini chose (here the nearest hospital, 2 minutes away, next turn shown).</a:t>
            </a:r>
          </a:p>
          <a:p>
            <a:r>
              <a:t>Top right: the live queue: new incidents pinned and highlighted until someone opens them, then ranked by severity, unclaimed, live, waiting time; plain-language AI search.</a:t>
            </a:r>
          </a:p>
          <a:p>
            <a:r>
              <a:t>Bottom right: Seen &amp; heard: Gemini logged a Malayalam background conversation as sound evidence while the caller answered in code.</a:t>
            </a:r>
          </a:p>
          <a:p/>
          <a:p>
            <a:r>
              <a:t>Also in the console (not shown): live transcript with codes decoded, live video and listen-in, replay scrubber, scene sketch, analytics with AI insights, responder management and performance.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Method: 17 scenarios, each a real gemini-3.8-live voice session using Mia's production persona and 12 tools, against a simulated caller (gemini-3.1-flash-lite) playing the person in danger. Mocks: fake GPS feeding the real routing code, camera frames and recorded sound, and the silent SOS observer. Every call is written to Firestore as a DEMO incident through the same shared client the app uses, then scored two ways: strict keyword checks, and an AI judge (Gemma 4) reading exactly what the dashboard holds.</a:t>
            </a:r>
          </a:p>
          <a:p/>
          <a:p>
            <a:r>
              <a:t>Result: 70/88 strict (80%), 74/88 judged (84%). Perfect on chase, negation (no weapon / not hurt correctly NOT flagged) and calm welfare checks; strong on covert, open mode and languages (Malayalam/Manglish 5/5).</a:t>
            </a:r>
          </a:p>
          <a:p/>
          <a:p>
            <a:r>
              <a:t>Speed: the incident exists 0.11 s after the call starts; Mia greets in 1.3 s and replies in 1.2 s median; first danger tag 15 s median (it needs the caller's first answer); case summary 2.3 s after hang-up. Misses on target: reply p95 3.3 s (target 2.5) and route guidance 6.6 s (target 5; a 6 s holding line keeps Mia talking meanwhile).</a:t>
            </a:r>
          </a:p>
          <a:p/>
          <a:p>
            <a:r>
              <a:t>What we are fixing: Mia said 'police' aloud in two covert calls (cover break); background gunshots and the knife on camera were not reported in the harness runs; one false alarm on a genuine food order. We show these because the harness exists to find them before a real caller does.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Next 3 months, pilot-ready: close the gaps the evaluation found (Mia saying 'police' in covert mode, missed gunshot and knife detection, reply p95 above 2.5 s). A Cloud Run backend with Agent Development Kit agents (dispatch prioritisation, credibility verification, resource allocation) also moves the remaining keys server-side. Google Geocoding/Places instead of free OSM geocoders for precise Indian addresses. TURN relay so live video works on strict networks. Native parity (motion alerts, case report, AI Logic) then iOS.</a:t>
            </a:r>
          </a:p>
          <a:p/>
          <a:p>
            <a:r>
              <a:t>6-12 months, real dispatch: integrate with India's 112 Emergency Response Support System so decoded incidents reach the state response centre; pilot with an NGO and a police unit; more languages; a responder field app.</a:t>
            </a:r>
          </a:p>
          <a:p/>
          <a:p>
            <a:r>
              <a:t>Platform: Bluetooth mesh relay for no-signal areas, on-device Gemini Nano extraction, an anonymous whistleblowing channel on the same backbone, and the Android integration path on the next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pitch to Google. Android already has the pieces for emergencies: Emergency SOS (press power 5 times; the alarm can be silent, but the SOS screen and countdown are visible), the Emergency Location Service (sends device location directly to emergency services; launched in India with Uttar Pradesh 112 in Dec 2025), Emergency Live Video (Dec 2025), Theft Detection Lock (on-device ML recognises a snatch), Private Space (hides apps), Pixel Watch fall/loss-of-pulse detection feeding Emergency Sharing (June 2026 Pixel Drop), and the Gemini Live API on Android through Firebase AI Logic. Pixel also has a tap-to-speak silent emergency call in 16 countries, not India.</a:t>
            </a:r>
          </a:p>
          <a:p/>
          <a:p>
            <a:r>
              <a:t>The gap: all of these are silent at best, never covert. Nothing keeps up a cover story while the attacker watches the screen and listens.</a:t>
            </a:r>
          </a:p>
          <a:p/>
          <a:p>
            <a:r>
              <a:t>Integration path: (1) a 'Discreet mode' inside Personal Safety / Emergency SOS powered by a Gemini Live covert persona: QuickBite is a working blueprint (persona, codes, 12 tools, eval harness). (2) Hand the decoded, structured incident to 112 through ELS plus Emergency Live Video, so dispatchers get facts instead of a silent line. (3) On-device Gemini Nano for private extraction, a snatch-motion trigger, a Pixel Watch gesture and a disguised entry point via Private Space. Precedent on Google's stack: RapidSOS HARMONY runs the Gemini Live API + ADK in 911 centres (Google developer forum, June 2026). Safety principle: it complements 112, never delays it.</a:t>
            </a:r>
          </a:p>
          <a:p/>
          <a:p>
            <a:r>
              <a:t>Sources: https://support.google.com/android/answer/9319337 ; https://9to5google.com/2025/12/23/androids-emergency-location-service-arrives-in-india-after-nearly-10-years/ ; https://security.googleblog.com/2024/10/android-theft-protection.html ; https://blog.google/products-and-platforms/devices/pixel/june-2026-pixel-drop/ ; https://developer.android.com/ai/gemini/live ; https://discuss.google.dev/t/serving-real-time-public-safety-ai-with-gemini-live-api-and-adk/369066 ; https://support.google.com/pixelphone/answer/7055029</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Links. GitHub: https://github.com/Jeevanvsan/ai_builder_hack (public). Demo video: [add link]. Caller app: https://quickbite-5cde0.web.app (best on a phone; allow microphone, camera and location). Responder console: https://quickbite-5cde0-dashboard.web.app (judge login on the slide). Landing page with the Android APK download and demo clips: https://quickbite-5cde0-landing.web.app</a:t>
            </a:r>
          </a:p>
          <a:p/>
          <a:p>
            <a:r>
              <a:t>Suggested two-screen demo: console on a laptop, caller app on a phone, tap Call to order, say 'order' to keep the food cover, answer Mia's menu questions and watch the incident populate live. The hidden practice call (long-press the logo for 2 seconds) runs the same flow without reaching responders.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Close: QuickBite proves that an AI can hold a disguise and run an emergency at the same time. A person in danger orders dinner; a response team gets a located, structured, live incident; Mia guides them to safety. Built on Gemini Live and Firebase, and ready to become a Discreet mode in Android.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5" Type="http://schemas.microsoft.com/office/2018/10/relationships/comments" Target="../comments/modernComment1.xml"/><Relationship Id="rId4" Type="http://schemas.openxmlformats.org/officeDocument/2006/relationships/notesSlide" Target="../notesSlides/notesSlide4.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6" Type="http://schemas.openxmlformats.org/officeDocument/2006/relationships/notesSlide" Target="../notesSlides/notesSlide6.xml"/><Relationship Id="rId5" Type="http://schemas.openxmlformats.org/officeDocument/2006/relationships/slideLayout" Target="../slideLayouts/slideLayout1.xml"/><Relationship Id="rId4" Type="http://schemas.openxmlformats.org/officeDocument/2006/relationships/image" Target="../media/image5.png"/><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5" Type="http://schemas.microsoft.com/office/2018/10/relationships/comments" Target="../comments/modernComment2.xml"/><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hyperlink" Target="https://docs.google.com/spreadsheets/d/19s3mMe2nNcZM_Z_tzK-qhx9iXAsQteTn/edit?usp=sharing" TargetMode="External"/><Relationship Id="rId2" Type="http://schemas.openxmlformats.org/officeDocument/2006/relationships/image" Target="../media/image3.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7" Type="http://schemas.openxmlformats.org/officeDocument/2006/relationships/notesSlide" Target="../notesSlides/notesSlide11.xml"/><Relationship Id="rId6"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image" Target="../media/image2.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chart" Target="../charts/chart1.xml"/><Relationship Id="rId90" Type="http://schemas.openxmlformats.org/officeDocument/2006/relationships/hyperlink" Target="https://docs.google.com/spreadsheets/d/1fUVyPzAyDgvhrUJFWH-G35BiqVEt-5Tz/edit?usp=sharing" TargetMode="External"/></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hyperlink" Target="https://quickbite-5cde0-landing.web.app/manual" TargetMode="External"/><Relationship Id="rId7" Type="http://schemas.openxmlformats.org/officeDocument/2006/relationships/hyperlink" Target="https://drive.google.com/file/d/1uBdzXwyzJghvpMSNXqDNOqFgilbk9s8X/view" TargetMode="External"/><Relationship Id="rId6" Type="http://schemas.openxmlformats.org/officeDocument/2006/relationships/hyperlink" Target="https://quickbite-5cde0-dashboard.web.app" TargetMode="External"/><Relationship Id="rId5" Type="http://schemas.openxmlformats.org/officeDocument/2006/relationships/hyperlink" Target="https://quickbite-5cde0-landing.web.app/" TargetMode="External"/><Relationship Id="rId4" Type="http://schemas.openxmlformats.org/officeDocument/2006/relationships/hyperlink" Target="https://drive.google.com/file/d/1qbD2s1cqTlPZI9gDnLh30P5kUVEMRK_k/view" TargetMode="External"/><Relationship Id="rId3" Type="http://schemas.openxmlformats.org/officeDocument/2006/relationships/hyperlink" Target="https://github.com/Jeevanvsan/ai_builder_hack" TargetMode="External"/><Relationship Id="rId2" Type="http://schemas.openxmlformats.org/officeDocument/2006/relationships/image" Target="../media/image3.png"/><Relationship Id="rId11" Type="http://schemas.microsoft.com/office/2018/10/relationships/comments" Target="../comments/modernComment3.xml"/><Relationship Id="rId10" Type="http://schemas.openxmlformats.org/officeDocument/2006/relationships/notesSlide" Target="../notesSlides/notesSlide15.xml"/><Relationship Id="rId1" Type="http://schemas.openxmlformats.org/officeDocument/2006/relationships/image" Target="../media/image2.png"/><Relationship Id="rId12" Type="http://schemas.openxmlformats.org/officeDocument/2006/relationships/hyperlink" Target="https://docs.google.com/spreadsheets/d/19s3mMe2nNcZM_Z_tzK-qhx9iXAsQteTn/edit?usp=sharing" TargetMode="External"/><Relationship Id="rId15" Type="http://schemas.openxmlformats.org/officeDocument/2006/relationships/hyperlink" Target="https://quickbite-5cde0-dashboard.web.app/incident/INC-MUZNKM7N" TargetMode="External"/><Relationship Id="rId16" Type="http://schemas.openxmlformats.org/officeDocument/2006/relationships/hyperlink" Target="https://quickbite-5cde0-dashboard.web.app/incident/INC-MUZKKVL1" TargetMode="External"/><Relationship Id="rId17" Type="http://schemas.openxmlformats.org/officeDocument/2006/relationships/hyperlink" Target="https://docs.google.com/spreadsheets/d/1fUVyPzAyDgvhrUJFWH-G35BiqVEt-5Tz/edit?usp=sharing" TargetMode="External"/><Relationship Id="rId14" Type="http://schemas.openxmlformats.org/officeDocument/2006/relationships/hyperlink" Target="https://quickbite-5cde0-landing.web.app/#demo" TargetMode="External"/><Relationship Id="rId13" Type="http://schemas.openxmlformats.org/officeDocument/2006/relationships/hyperlink" Target="https://quickbite-5cde0.web.app/" TargetMode="External"/></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761488"/>
            <a:ext cx="8760000" cy="22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900">
                <a:latin typeface="Google Sans Flex SemiBold" panose="020B0503030502040204"/>
                <a:ea typeface="Google Sans Flex SemiBold" panose="020B0503030502040204"/>
                <a:cs typeface="Google Sans Flex SemiBold" panose="020B0503030502040204"/>
                <a:sym typeface="Google Sans Flex SemiBold" panose="020B0503030502040204"/>
              </a:rPr>
              <a:t>Team Details</a:t>
            </a:r>
            <a:endParaRPr lang="en-US" sz="2100">
              <a:latin typeface="Google Sans Flex SemiBold" panose="020B0503030502040204"/>
              <a:ea typeface="Google Sans Flex SemiBold" panose="020B0503030502040204"/>
              <a:cs typeface="Google Sans Flex SemiBold" panose="020B0503030502040204"/>
              <a:sym typeface="Google Sans Flex SemiBold" panose="020B0503030502040204"/>
            </a:endParaRPr>
          </a:p>
          <a:p>
            <a:pPr marL="914400" lvl="1" indent="-342900" algn="l" rtl="0">
              <a:spcBef>
                <a:spcPts val="0"/>
              </a:spcBef>
              <a:spcAft>
                <a:spcPts val="0"/>
              </a:spcAft>
              <a:buSzPts val="1800"/>
              <a:buFont typeface="Google Sans Flex" panose="020B0503030502040204"/>
              <a:buAutoNum type="alphaLcPeriod"/>
            </a:pPr>
            <a:r>
              <a:rPr lang="en-GB" sz="1600">
                <a:latin typeface="Google Sans Flex" panose="020B0503030502040204"/>
                <a:ea typeface="Google Sans Flex" panose="020B0503030502040204"/>
                <a:cs typeface="Google Sans Flex" panose="020B0503030502040204"/>
                <a:sym typeface="Google Sans Flex" panose="020B0503030502040204"/>
              </a:rPr>
              <a:t>Team name: </a:t>
            </a:r>
            <a:r>
              <a:rPr lang="en-US" sz="1600" b="1">
                <a:solidFill>
                  <a:srgbClr val="E8590C"/>
                </a:solidFill>
                <a:latin typeface="Google Sans Flex" panose="020B0503030502040204"/>
              </a:rPr>
              <a:t>NexMind</a:t>
            </a:r>
            <a:endParaRPr lang="en-US" sz="1800">
              <a:latin typeface="Google Sans Flex" panose="020B0503030502040204"/>
              <a:ea typeface="Google Sans Flex" panose="020B0503030502040204"/>
              <a:cs typeface="Google Sans Flex" panose="020B0503030502040204"/>
              <a:sym typeface="Google Sans Flex" panose="020B0503030502040204"/>
            </a:endParaRPr>
          </a:p>
          <a:p>
            <a:pPr marL="914400" lvl="1" indent="-342900" algn="l" rtl="0">
              <a:spcBef>
                <a:spcPts val="0"/>
              </a:spcBef>
              <a:spcAft>
                <a:spcPts val="0"/>
              </a:spcAft>
              <a:buSzPts val="1800"/>
              <a:buFont typeface="Google Sans Flex" panose="020B0503030502040204"/>
              <a:buAutoNum type="alphaLcPeriod"/>
            </a:pPr>
            <a:r>
              <a:rPr lang="en-GB" sz="1600">
                <a:latin typeface="Google Sans Flex" panose="020B0503030502040204"/>
                <a:ea typeface="Google Sans Flex" panose="020B0503030502040204"/>
                <a:cs typeface="Google Sans Flex" panose="020B0503030502040204"/>
                <a:sym typeface="Google Sans Flex" panose="020B0503030502040204"/>
              </a:rPr>
              <a:t>Team leader name: </a:t>
            </a:r>
            <a:r>
              <a:rPr lang="en-US" sz="1600" b="1">
                <a:solidFill>
                  <a:srgbClr val="E8590C"/>
                </a:solidFill>
                <a:latin typeface="Google Sans Flex" panose="020B0503030502040204"/>
              </a:rPr>
              <a:t>Jeevan V</a:t>
            </a:r>
            <a:endParaRPr lang="en-US" sz="1800">
              <a:latin typeface="Google Sans Flex" panose="020B0503030502040204"/>
              <a:ea typeface="Google Sans Flex" panose="020B0503030502040204"/>
              <a:cs typeface="Google Sans Flex" panose="020B0503030502040204"/>
              <a:sym typeface="Google Sans Flex" panose="020B0503030502040204"/>
            </a:endParaRPr>
          </a:p>
          <a:p>
            <a:pPr marL="914400" lvl="1" indent="-342900" algn="l" rtl="0">
              <a:spcBef>
                <a:spcPts val="0"/>
              </a:spcBef>
              <a:spcAft>
                <a:spcPts val="0"/>
              </a:spcAft>
              <a:buSzPts val="1800"/>
              <a:buFont typeface="Google Sans Flex" panose="020B0503030502040204"/>
              <a:buAutoNum type="alphaLcPeriod"/>
            </a:pPr>
            <a:r>
              <a:rPr lang="en-GB" sz="1600">
                <a:latin typeface="Google Sans Flex" panose="020B0503030502040204"/>
                <a:ea typeface="Google Sans Flex" panose="020B0503030502040204"/>
                <a:cs typeface="Google Sans Flex" panose="020B0503030502040204"/>
                <a:sym typeface="Google Sans Flex" panose="020B0503030502040204"/>
              </a:rPr>
              <a:t>Problem Statement: </a:t>
            </a:r>
            <a:endParaRPr lang="en-US" sz="1800">
              <a:latin typeface="Google Sans Flex" panose="020B0503030502040204"/>
              <a:ea typeface="Google Sans Flex" panose="020B0503030502040204"/>
              <a:cs typeface="Google Sans Flex" panose="020B0503030502040204"/>
              <a:sym typeface="Google Sans Flex" panose="020B0503030502040204"/>
            </a:endParaRPr>
          </a:p>
          <a:p>
            <a:pPr marL="914400" indent="0" algn="l" rtl="0">
              <a:lnSpc>
                <a:spcPct val="120000"/>
              </a:lnSpc>
              <a:spcBef>
                <a:spcPts val="0"/>
              </a:spcBef>
              <a:spcAft>
                <a:spcPts val="0"/>
              </a:spcAft>
              <a:buNone/>
            </a:pPr>
            <a:r>
              <a:rPr lang="en-US" sz="1150" b="0" i="0">
                <a:solidFill>
                  <a:srgbClr val="1A1A1A"/>
                </a:solidFill>
                <a:latin typeface="Arial" panose="020B0604020202020204"/>
              </a:rPr>
              <a:t>People who are watched, coerced or held can't safely call for help: dialling 112, shouting or opening an SOS app can provoke the attacker. QuickBite is a real food-delivery app that is secretly a two-way emergency line. A Gemini Live “restaurant employee” turns a whispered food order into a live, located incident for responders and guides the caller to safety, without ever breaking the disguise.</a:t>
            </a:r>
            <a:endParaRPr lang="en-US" sz="1800">
              <a:latin typeface="Google Sans Flex Medium" panose="020B0503030502040204"/>
              <a:ea typeface="Google Sans Flex Medium" panose="020B0503030502040204"/>
              <a:cs typeface="Google Sans Flex Medium" panose="020B0503030502040204"/>
              <a:sym typeface="Google Sans Flex Medium" panose="020B0503030502040204"/>
            </a:endParaRPr>
          </a:p>
          <a:p>
            <a:pPr marL="914400" indent="0">
              <a:lnSpc>
                <a:spcPct val="120000"/>
              </a:lnSpc>
              <a:spcBef>
                <a:spcPts val="500"/>
              </a:spcBef>
            </a:pPr>
            <a:r>
              <a:rPr lang="en-US" sz="950" b="1" i="0">
                <a:solidFill>
                  <a:srgbClr val="5F6368"/>
                </a:solidFill>
                <a:latin typeface="Arial" panose="020B0604020202020204"/>
              </a:rPr>
              <a:t>Theme: Sustainability &amp; Social Impact  ·  resilience strengthening  ·  community support</a:t>
            </a:r>
            <a:endParaRPr lang="en-US" sz="950" b="1" i="0">
              <a:solidFill>
                <a:srgbClr val="5F6368"/>
              </a:solidFill>
              <a:latin typeface="Arial" panose="020B0604020202020204"/>
            </a:endParaRPr>
          </a:p>
        </p:txBody>
      </p:sp>
      <p:pic>
        <p:nvPicPr>
          <p:cNvPr id="55" name="Google Shape;55;p13" title="Frame 144.png"/>
          <p:cNvPicPr preferRelativeResize="0"/>
          <p:nvPr/>
        </p:nvPicPr>
        <p:blipFill>
          <a:blip r:embed="rId1"/>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2"/>
          <a:srcRect b="98001"/>
          <a:stretch>
            <a:fillRect/>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1"/>
          <a:stretch>
            <a:fillRect/>
          </a:stretch>
        </p:blipFill>
        <p:spPr>
          <a:xfrm>
            <a:off x="0" y="3649"/>
            <a:ext cx="9144000" cy="500062"/>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71" name="Google Shape;71;p15"/>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Brief about the idea</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72"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The people who most need help often can't be seen asking for it</a:t>
            </a:r>
            <a:endParaRPr lang="en-US" sz="1300" b="1" i="0">
              <a:solidFill>
                <a:srgbClr val="E8590C"/>
              </a:solidFill>
              <a:latin typeface="Arial" panose="020B0604020202020204"/>
            </a:endParaRPr>
          </a:p>
        </p:txBody>
      </p:sp>
      <p:sp>
        <p:nvSpPr>
          <p:cNvPr id="73" name="Rounded Rectangle 72"/>
          <p:cNvSpPr/>
          <p:nvPr/>
        </p:nvSpPr>
        <p:spPr>
          <a:xfrm>
            <a:off x="365760" y="1371600"/>
            <a:ext cx="2788920" cy="7315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475488" y="1426464"/>
            <a:ext cx="1143000" cy="621792"/>
          </a:xfrm>
          <a:prstGeom prst="rect">
            <a:avLst/>
          </a:prstGeom>
          <a:noFill/>
        </p:spPr>
        <p:txBody>
          <a:bodyPr wrap="square" lIns="0" tIns="0" rIns="0" bIns="0" anchor="ctr"/>
          <a:lstStyle/>
          <a:p>
            <a:pPr algn="l"/>
            <a:r>
              <a:rPr lang="en-US" sz="1700" b="1" i="0">
                <a:solidFill>
                  <a:srgbClr val="D6336C"/>
                </a:solidFill>
                <a:latin typeface="Arial" panose="020B0604020202020204"/>
              </a:rPr>
              <a:t>1 in 3</a:t>
            </a:r>
            <a:endParaRPr lang="en-US" sz="1700" b="1" i="0">
              <a:solidFill>
                <a:srgbClr val="D6336C"/>
              </a:solidFill>
              <a:latin typeface="Arial" panose="020B0604020202020204"/>
            </a:endParaRPr>
          </a:p>
        </p:txBody>
      </p:sp>
      <p:sp>
        <p:nvSpPr>
          <p:cNvPr id="75" name="TextBox 74"/>
          <p:cNvSpPr txBox="1"/>
          <p:nvPr/>
        </p:nvSpPr>
        <p:spPr>
          <a:xfrm>
            <a:off x="1645920" y="1435608"/>
            <a:ext cx="1463040" cy="475488"/>
          </a:xfrm>
          <a:prstGeom prst="rect">
            <a:avLst/>
          </a:prstGeom>
          <a:noFill/>
        </p:spPr>
        <p:txBody>
          <a:bodyPr wrap="square" lIns="0" tIns="0" rIns="0" bIns="0" anchor="ctr"/>
          <a:lstStyle/>
          <a:p>
            <a:pPr algn="l">
              <a:lnSpc>
                <a:spcPct val="112000"/>
              </a:lnSpc>
            </a:pPr>
            <a:r>
              <a:rPr lang="en-US" sz="850" b="0" i="0">
                <a:solidFill>
                  <a:srgbClr val="1A1A1A"/>
                </a:solidFill>
                <a:latin typeface="Arial" panose="020B0604020202020204"/>
              </a:rPr>
              <a:t>women experience partner or sexual violence in their lifetime</a:t>
            </a:r>
            <a:endParaRPr lang="en-US" sz="850" b="0" i="0">
              <a:solidFill>
                <a:srgbClr val="1A1A1A"/>
              </a:solidFill>
              <a:latin typeface="Arial" panose="020B0604020202020204"/>
            </a:endParaRPr>
          </a:p>
        </p:txBody>
      </p:sp>
      <p:sp>
        <p:nvSpPr>
          <p:cNvPr id="76" name="TextBox 75"/>
          <p:cNvSpPr txBox="1"/>
          <p:nvPr/>
        </p:nvSpPr>
        <p:spPr>
          <a:xfrm>
            <a:off x="1645920" y="1892807"/>
            <a:ext cx="1463040" cy="164592"/>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WHO, 2026</a:t>
            </a:r>
            <a:endParaRPr lang="en-US" sz="650" b="0" i="0">
              <a:solidFill>
                <a:srgbClr val="5F6368"/>
              </a:solidFill>
              <a:latin typeface="Arial" panose="020B0604020202020204"/>
            </a:endParaRPr>
          </a:p>
        </p:txBody>
      </p:sp>
      <p:sp>
        <p:nvSpPr>
          <p:cNvPr id="77" name="Rounded Rectangle 76"/>
          <p:cNvSpPr/>
          <p:nvPr/>
        </p:nvSpPr>
        <p:spPr>
          <a:xfrm>
            <a:off x="365760" y="2176272"/>
            <a:ext cx="2788920" cy="7315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75488" y="2231136"/>
            <a:ext cx="1143000" cy="621792"/>
          </a:xfrm>
          <a:prstGeom prst="rect">
            <a:avLst/>
          </a:prstGeom>
          <a:noFill/>
        </p:spPr>
        <p:txBody>
          <a:bodyPr wrap="square" lIns="0" tIns="0" rIns="0" bIns="0" anchor="ctr"/>
          <a:lstStyle/>
          <a:p>
            <a:pPr algn="l"/>
            <a:r>
              <a:rPr lang="en-US" sz="1700" b="1" i="0">
                <a:solidFill>
                  <a:srgbClr val="D6336C"/>
                </a:solidFill>
                <a:latin typeface="Arial" panose="020B0604020202020204"/>
              </a:rPr>
              <a:t>10 min</a:t>
            </a:r>
            <a:endParaRPr lang="en-US" sz="1700" b="1" i="0">
              <a:solidFill>
                <a:srgbClr val="D6336C"/>
              </a:solidFill>
              <a:latin typeface="Arial" panose="020B0604020202020204"/>
            </a:endParaRPr>
          </a:p>
        </p:txBody>
      </p:sp>
      <p:sp>
        <p:nvSpPr>
          <p:cNvPr id="79" name="TextBox 78"/>
          <p:cNvSpPr txBox="1"/>
          <p:nvPr/>
        </p:nvSpPr>
        <p:spPr>
          <a:xfrm>
            <a:off x="1645920" y="2240279"/>
            <a:ext cx="1463040" cy="475488"/>
          </a:xfrm>
          <a:prstGeom prst="rect">
            <a:avLst/>
          </a:prstGeom>
          <a:noFill/>
        </p:spPr>
        <p:txBody>
          <a:bodyPr wrap="square" lIns="0" tIns="0" rIns="0" bIns="0" anchor="ctr"/>
          <a:lstStyle/>
          <a:p>
            <a:pPr algn="l">
              <a:lnSpc>
                <a:spcPct val="112000"/>
              </a:lnSpc>
            </a:pPr>
            <a:r>
              <a:rPr lang="en-US" sz="850" b="0" i="0">
                <a:solidFill>
                  <a:srgbClr val="1A1A1A"/>
                </a:solidFill>
                <a:latin typeface="Arial" panose="020B0604020202020204"/>
              </a:rPr>
              <a:t>one woman or girl is killed by a partner or family member, every 10 minutes</a:t>
            </a:r>
            <a:endParaRPr lang="en-US" sz="850" b="0" i="0">
              <a:solidFill>
                <a:srgbClr val="1A1A1A"/>
              </a:solidFill>
              <a:latin typeface="Arial" panose="020B0604020202020204"/>
            </a:endParaRPr>
          </a:p>
        </p:txBody>
      </p:sp>
      <p:sp>
        <p:nvSpPr>
          <p:cNvPr id="80" name="TextBox 79"/>
          <p:cNvSpPr txBox="1"/>
          <p:nvPr/>
        </p:nvSpPr>
        <p:spPr>
          <a:xfrm>
            <a:off x="1645920" y="2697479"/>
            <a:ext cx="1463040" cy="164592"/>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UNODC / UN Women, 2025</a:t>
            </a:r>
            <a:endParaRPr lang="en-US" sz="650" b="0" i="0">
              <a:solidFill>
                <a:srgbClr val="5F6368"/>
              </a:solidFill>
              <a:latin typeface="Arial" panose="020B0604020202020204"/>
            </a:endParaRPr>
          </a:p>
        </p:txBody>
      </p:sp>
      <p:sp>
        <p:nvSpPr>
          <p:cNvPr id="81" name="Rounded Rectangle 80"/>
          <p:cNvSpPr/>
          <p:nvPr/>
        </p:nvSpPr>
        <p:spPr>
          <a:xfrm>
            <a:off x="365760" y="2980944"/>
            <a:ext cx="2788920" cy="7315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475488" y="3035808"/>
            <a:ext cx="1143000" cy="621792"/>
          </a:xfrm>
          <a:prstGeom prst="rect">
            <a:avLst/>
          </a:prstGeom>
          <a:noFill/>
        </p:spPr>
        <p:txBody>
          <a:bodyPr wrap="square" lIns="0" tIns="0" rIns="0" bIns="0" anchor="ctr"/>
          <a:lstStyle/>
          <a:p>
            <a:pPr algn="l"/>
            <a:r>
              <a:rPr lang="en-US" sz="1700" b="1" i="0">
                <a:solidFill>
                  <a:srgbClr val="D6336C"/>
                </a:solidFill>
                <a:latin typeface="Arial" panose="020B0604020202020204"/>
              </a:rPr>
              <a:t>4,45,256+</a:t>
            </a:r>
            <a:endParaRPr lang="en-US" sz="1700" b="1" i="0">
              <a:solidFill>
                <a:srgbClr val="D6336C"/>
              </a:solidFill>
              <a:latin typeface="Arial" panose="020B0604020202020204"/>
            </a:endParaRPr>
          </a:p>
        </p:txBody>
      </p:sp>
      <p:sp>
        <p:nvSpPr>
          <p:cNvPr id="83" name="TextBox 82"/>
          <p:cNvSpPr txBox="1"/>
          <p:nvPr/>
        </p:nvSpPr>
        <p:spPr>
          <a:xfrm>
            <a:off x="1645920" y="3044951"/>
            <a:ext cx="1463040" cy="475488"/>
          </a:xfrm>
          <a:prstGeom prst="rect">
            <a:avLst/>
          </a:prstGeom>
          <a:noFill/>
        </p:spPr>
        <p:txBody>
          <a:bodyPr wrap="square" lIns="0" tIns="0" rIns="0" bIns="0" anchor="ctr"/>
          <a:lstStyle/>
          <a:p>
            <a:pPr algn="l">
              <a:lnSpc>
                <a:spcPct val="112000"/>
              </a:lnSpc>
            </a:pPr>
            <a:r>
              <a:rPr lang="en-US" sz="850" b="0" i="0">
                <a:solidFill>
                  <a:srgbClr val="1A1A1A"/>
                </a:solidFill>
                <a:latin typeface="Arial" panose="020B0604020202020204"/>
              </a:rPr>
              <a:t>crimes against women in India, in one year</a:t>
            </a:r>
            <a:endParaRPr lang="en-US" sz="850" b="0" i="0">
              <a:solidFill>
                <a:srgbClr val="1A1A1A"/>
              </a:solidFill>
              <a:latin typeface="Arial" panose="020B0604020202020204"/>
            </a:endParaRPr>
          </a:p>
        </p:txBody>
      </p:sp>
      <p:sp>
        <p:nvSpPr>
          <p:cNvPr id="84" name="TextBox 83"/>
          <p:cNvSpPr txBox="1"/>
          <p:nvPr/>
        </p:nvSpPr>
        <p:spPr>
          <a:xfrm>
            <a:off x="1645920" y="3502151"/>
            <a:ext cx="1463040" cy="164592"/>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NCRB, 2022</a:t>
            </a:r>
            <a:endParaRPr lang="en-US" sz="650" b="0" i="0">
              <a:solidFill>
                <a:srgbClr val="5F6368"/>
              </a:solidFill>
              <a:latin typeface="Arial" panose="020B0604020202020204"/>
            </a:endParaRPr>
          </a:p>
        </p:txBody>
      </p:sp>
      <p:sp>
        <p:nvSpPr>
          <p:cNvPr id="85" name="Rounded Rectangle 84"/>
          <p:cNvSpPr/>
          <p:nvPr/>
        </p:nvSpPr>
        <p:spPr>
          <a:xfrm>
            <a:off x="365760" y="3785615"/>
            <a:ext cx="2788920" cy="7315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475488" y="3840479"/>
            <a:ext cx="1143000" cy="621792"/>
          </a:xfrm>
          <a:prstGeom prst="rect">
            <a:avLst/>
          </a:prstGeom>
          <a:noFill/>
        </p:spPr>
        <p:txBody>
          <a:bodyPr wrap="square" lIns="0" tIns="0" rIns="0" bIns="0" anchor="ctr"/>
          <a:lstStyle/>
          <a:p>
            <a:pPr algn="l"/>
            <a:r>
              <a:rPr lang="en-US" sz="1700" b="1" i="0">
                <a:solidFill>
                  <a:srgbClr val="D6336C"/>
                </a:solidFill>
                <a:latin typeface="Arial" panose="020B0604020202020204"/>
              </a:rPr>
              <a:t>&lt; 40%</a:t>
            </a:r>
            <a:endParaRPr lang="en-US" sz="1700" b="1" i="0">
              <a:solidFill>
                <a:srgbClr val="D6336C"/>
              </a:solidFill>
              <a:latin typeface="Arial" panose="020B0604020202020204"/>
            </a:endParaRPr>
          </a:p>
        </p:txBody>
      </p:sp>
      <p:sp>
        <p:nvSpPr>
          <p:cNvPr id="87" name="TextBox 86"/>
          <p:cNvSpPr txBox="1"/>
          <p:nvPr/>
        </p:nvSpPr>
        <p:spPr>
          <a:xfrm>
            <a:off x="1645920" y="3849624"/>
            <a:ext cx="1463040" cy="475488"/>
          </a:xfrm>
          <a:prstGeom prst="rect">
            <a:avLst/>
          </a:prstGeom>
          <a:noFill/>
        </p:spPr>
        <p:txBody>
          <a:bodyPr wrap="square" lIns="0" tIns="0" rIns="0" bIns="0" anchor="ctr"/>
          <a:lstStyle/>
          <a:p>
            <a:pPr algn="l">
              <a:lnSpc>
                <a:spcPct val="112000"/>
              </a:lnSpc>
            </a:pPr>
            <a:r>
              <a:rPr lang="en-US" sz="850" b="0" i="0">
                <a:solidFill>
                  <a:srgbClr val="1A1A1A"/>
                </a:solidFill>
                <a:latin typeface="Arial" panose="020B0604020202020204"/>
              </a:rPr>
              <a:t>of women facing violence seek any help; under 10% go to police</a:t>
            </a:r>
            <a:endParaRPr lang="en-US" sz="850" b="0" i="0">
              <a:solidFill>
                <a:srgbClr val="1A1A1A"/>
              </a:solidFill>
              <a:latin typeface="Arial" panose="020B0604020202020204"/>
            </a:endParaRPr>
          </a:p>
        </p:txBody>
      </p:sp>
      <p:sp>
        <p:nvSpPr>
          <p:cNvPr id="88" name="TextBox 87"/>
          <p:cNvSpPr txBox="1"/>
          <p:nvPr/>
        </p:nvSpPr>
        <p:spPr>
          <a:xfrm>
            <a:off x="1645920" y="4306824"/>
            <a:ext cx="1463040" cy="164592"/>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UN DESA</a:t>
            </a:r>
            <a:endParaRPr lang="en-US" sz="650" b="0" i="0">
              <a:solidFill>
                <a:srgbClr val="5F6368"/>
              </a:solidFill>
              <a:latin typeface="Arial" panose="020B0604020202020204"/>
            </a:endParaRPr>
          </a:p>
        </p:txBody>
      </p:sp>
      <p:sp>
        <p:nvSpPr>
          <p:cNvPr id="89" name="TextBox 88"/>
          <p:cNvSpPr txBox="1"/>
          <p:nvPr/>
        </p:nvSpPr>
        <p:spPr>
          <a:xfrm>
            <a:off x="3429000" y="1353312"/>
            <a:ext cx="5303520" cy="228600"/>
          </a:xfrm>
          <a:prstGeom prst="rect">
            <a:avLst/>
          </a:prstGeom>
          <a:noFill/>
        </p:spPr>
        <p:txBody>
          <a:bodyPr wrap="square" lIns="0" tIns="0" rIns="0" bIns="0" anchor="t"/>
          <a:lstStyle/>
          <a:p>
            <a:pPr algn="l">
              <a:lnSpc>
                <a:spcPct val="112000"/>
              </a:lnSpc>
            </a:pPr>
            <a:r>
              <a:rPr lang="en-US" sz="850" b="1" i="0">
                <a:solidFill>
                  <a:srgbClr val="5F6368"/>
                </a:solidFill>
                <a:latin typeface="Arial" panose="020B0604020202020204"/>
              </a:rPr>
              <a:t>ONE CALL, TWO CONVERSATIONS</a:t>
            </a:r>
            <a:endParaRPr lang="en-US" sz="850" b="1" i="0">
              <a:solidFill>
                <a:srgbClr val="5F6368"/>
              </a:solidFill>
              <a:latin typeface="Arial" panose="020B0604020202020204"/>
            </a:endParaRPr>
          </a:p>
        </p:txBody>
      </p:sp>
      <p:sp>
        <p:nvSpPr>
          <p:cNvPr id="90" name="Oval 89"/>
          <p:cNvSpPr/>
          <p:nvPr/>
        </p:nvSpPr>
        <p:spPr>
          <a:xfrm>
            <a:off x="3429000" y="1645920"/>
            <a:ext cx="274320" cy="27432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1000" b="1" i="0">
                <a:solidFill>
                  <a:srgbClr val="FFFFFF"/>
                </a:solidFill>
                <a:latin typeface="Arial" panose="020B0604020202020204"/>
              </a:rPr>
              <a:t>1</a:t>
            </a:r>
            <a:endParaRPr lang="en-US" sz="1000" b="1" i="0">
              <a:solidFill>
                <a:srgbClr val="FFFFFF"/>
              </a:solidFill>
              <a:latin typeface="Arial" panose="020B0604020202020204"/>
            </a:endParaRPr>
          </a:p>
        </p:txBody>
      </p:sp>
      <p:sp>
        <p:nvSpPr>
          <p:cNvPr id="91" name="TextBox 90"/>
          <p:cNvSpPr txBox="1"/>
          <p:nvPr/>
        </p:nvSpPr>
        <p:spPr>
          <a:xfrm>
            <a:off x="3813048" y="1627632"/>
            <a:ext cx="4892040" cy="329184"/>
          </a:xfrm>
          <a:prstGeom prst="rect">
            <a:avLst/>
          </a:prstGeom>
          <a:noFill/>
        </p:spPr>
        <p:txBody>
          <a:bodyPr wrap="square" lIns="0" tIns="0" rIns="0" bIns="0" anchor="ctr"/>
          <a:lstStyle/>
          <a:p>
            <a:pPr algn="l">
              <a:lnSpc>
                <a:spcPct val="112000"/>
              </a:lnSpc>
            </a:pPr>
            <a:r>
              <a:rPr lang="en-US" sz="1050" b="0" i="0">
                <a:solidFill>
                  <a:srgbClr val="1A1A1A"/>
                </a:solidFill>
                <a:latin typeface="Arial" panose="020B0604020202020204"/>
              </a:rPr>
              <a:t>Priya's partner is in the room, watching her phone.</a:t>
            </a:r>
            <a:endParaRPr lang="en-US" sz="1050" b="0" i="0">
              <a:solidFill>
                <a:srgbClr val="1A1A1A"/>
              </a:solidFill>
              <a:latin typeface="Arial" panose="020B0604020202020204"/>
            </a:endParaRPr>
          </a:p>
        </p:txBody>
      </p:sp>
      <p:sp>
        <p:nvSpPr>
          <p:cNvPr id="92" name="Oval 91"/>
          <p:cNvSpPr/>
          <p:nvPr/>
        </p:nvSpPr>
        <p:spPr>
          <a:xfrm>
            <a:off x="3429000" y="2029968"/>
            <a:ext cx="274320" cy="27432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1000" b="1" i="0">
                <a:solidFill>
                  <a:srgbClr val="FFFFFF"/>
                </a:solidFill>
                <a:latin typeface="Arial" panose="020B0604020202020204"/>
              </a:rPr>
              <a:t>2</a:t>
            </a:r>
            <a:endParaRPr lang="en-US" sz="1000" b="1" i="0">
              <a:solidFill>
                <a:srgbClr val="FFFFFF"/>
              </a:solidFill>
              <a:latin typeface="Arial" panose="020B0604020202020204"/>
            </a:endParaRPr>
          </a:p>
        </p:txBody>
      </p:sp>
      <p:sp>
        <p:nvSpPr>
          <p:cNvPr id="93" name="TextBox 92"/>
          <p:cNvSpPr txBox="1"/>
          <p:nvPr/>
        </p:nvSpPr>
        <p:spPr>
          <a:xfrm>
            <a:off x="3813048" y="2011680"/>
            <a:ext cx="4892040" cy="329184"/>
          </a:xfrm>
          <a:prstGeom prst="rect">
            <a:avLst/>
          </a:prstGeom>
          <a:noFill/>
        </p:spPr>
        <p:txBody>
          <a:bodyPr wrap="square" lIns="0" tIns="0" rIns="0" bIns="0" anchor="ctr"/>
          <a:lstStyle/>
          <a:p>
            <a:pPr algn="l">
              <a:lnSpc>
                <a:spcPct val="112000"/>
              </a:lnSpc>
            </a:pPr>
            <a:r>
              <a:rPr lang="en-US" sz="1050" b="0" i="0">
                <a:solidFill>
                  <a:srgbClr val="1A1A1A"/>
                </a:solidFill>
                <a:latin typeface="Arial" panose="020B0604020202020204"/>
              </a:rPr>
              <a:t>She opens QuickBite (menu, cart, offers) and taps “Call to order”.</a:t>
            </a:r>
            <a:endParaRPr lang="en-US" sz="1050" b="0" i="0">
              <a:solidFill>
                <a:srgbClr val="1A1A1A"/>
              </a:solidFill>
              <a:latin typeface="Arial" panose="020B0604020202020204"/>
            </a:endParaRPr>
          </a:p>
        </p:txBody>
      </p:sp>
      <p:sp>
        <p:nvSpPr>
          <p:cNvPr id="94" name="Oval 93"/>
          <p:cNvSpPr/>
          <p:nvPr/>
        </p:nvSpPr>
        <p:spPr>
          <a:xfrm>
            <a:off x="3429000" y="2414016"/>
            <a:ext cx="274320" cy="27432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1000" b="1" i="0">
                <a:solidFill>
                  <a:srgbClr val="FFFFFF"/>
                </a:solidFill>
                <a:latin typeface="Arial" panose="020B0604020202020204"/>
              </a:rPr>
              <a:t>3</a:t>
            </a:r>
            <a:endParaRPr lang="en-US" sz="1000" b="1" i="0">
              <a:solidFill>
                <a:srgbClr val="FFFFFF"/>
              </a:solidFill>
              <a:latin typeface="Arial" panose="020B0604020202020204"/>
            </a:endParaRPr>
          </a:p>
        </p:txBody>
      </p:sp>
      <p:sp>
        <p:nvSpPr>
          <p:cNvPr id="95" name="TextBox 94"/>
          <p:cNvSpPr txBox="1"/>
          <p:nvPr/>
        </p:nvSpPr>
        <p:spPr>
          <a:xfrm>
            <a:off x="3813048" y="2395728"/>
            <a:ext cx="4892040" cy="329184"/>
          </a:xfrm>
          <a:prstGeom prst="rect">
            <a:avLst/>
          </a:prstGeom>
          <a:noFill/>
        </p:spPr>
        <p:txBody>
          <a:bodyPr wrap="square" lIns="0" tIns="0" rIns="0" bIns="0" anchor="ctr"/>
          <a:lstStyle/>
          <a:p>
            <a:pPr algn="l">
              <a:lnSpc>
                <a:spcPct val="112000"/>
              </a:lnSpc>
            </a:pPr>
            <a:r>
              <a:rPr lang="en-US" sz="1050" b="0" i="0">
                <a:solidFill>
                  <a:srgbClr val="1A1A1A"/>
                </a:solidFill>
                <a:latin typeface="Arial" panose="020B0604020202020204"/>
              </a:rPr>
              <a:t>Mia, the Gemini Live “restaurant”, answers and takes the order:</a:t>
            </a:r>
            <a:endParaRPr lang="en-US" sz="1050" b="0" i="0">
              <a:solidFill>
                <a:srgbClr val="1A1A1A"/>
              </a:solidFill>
              <a:latin typeface="Arial" panose="020B0604020202020204"/>
            </a:endParaRPr>
          </a:p>
        </p:txBody>
      </p:sp>
      <p:sp>
        <p:nvSpPr>
          <p:cNvPr id="96" name="Rounded Rectangle 95"/>
          <p:cNvSpPr/>
          <p:nvPr/>
        </p:nvSpPr>
        <p:spPr>
          <a:xfrm>
            <a:off x="3813048" y="2761488"/>
            <a:ext cx="4892040" cy="457200"/>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lnSpc>
                <a:spcPct val="112000"/>
              </a:lnSpc>
            </a:pPr>
            <a:r>
              <a:rPr lang="en-US" sz="1050" b="1" i="1">
                <a:solidFill>
                  <a:srgbClr val="1A1A1A"/>
                </a:solidFill>
                <a:latin typeface="Arial" panose="020B0604020202020204"/>
              </a:rPr>
              <a:t>"Garlic bread on the side? Garlic bread tells me someone is following you."</a:t>
            </a:r>
            <a:endParaRPr lang="en-US" sz="1050" b="1" i="1">
              <a:solidFill>
                <a:srgbClr val="1A1A1A"/>
              </a:solidFill>
              <a:latin typeface="Arial" panose="020B0604020202020204"/>
            </a:endParaRPr>
          </a:p>
        </p:txBody>
      </p:sp>
      <p:sp>
        <p:nvSpPr>
          <p:cNvPr id="97" name="TextBox 96"/>
          <p:cNvSpPr txBox="1"/>
          <p:nvPr/>
        </p:nvSpPr>
        <p:spPr>
          <a:xfrm>
            <a:off x="3813048" y="3282696"/>
            <a:ext cx="4892040" cy="457200"/>
          </a:xfrm>
          <a:prstGeom prst="rect">
            <a:avLst/>
          </a:prstGeom>
          <a:noFill/>
        </p:spPr>
        <p:txBody>
          <a:bodyPr wrap="square" lIns="0" tIns="0" rIns="0" bIns="0" anchor="t"/>
          <a:lstStyle/>
          <a:p>
            <a:pPr algn="l">
              <a:lnSpc>
                <a:spcPct val="112000"/>
              </a:lnSpc>
            </a:pPr>
            <a:r>
              <a:rPr lang="en-US" sz="950" b="1" i="0">
                <a:solidFill>
                  <a:srgbClr val="1A1A1A"/>
                </a:solidFill>
                <a:latin typeface="Arial" panose="020B0604020202020204"/>
              </a:rPr>
              <a:t>He hears dinner being ordered. </a:t>
            </a:r>
            <a:r>
              <a:rPr lang="en-US" sz="950" b="0" i="0">
                <a:solidFill>
                  <a:srgbClr val="1A1A1A"/>
                </a:solidFill>
                <a:latin typeface="Arial" panose="020B0604020202020204"/>
              </a:rPr>
              <a:t>Responders see a located, high-severity incident fill in field by field, then Mia guides Priya to the nearest police station as “the rider’s pickup point”.</a:t>
            </a:r>
            <a:endParaRPr lang="en-US" sz="950" b="0" i="0">
              <a:solidFill>
                <a:srgbClr val="1A1A1A"/>
              </a:solidFill>
              <a:latin typeface="Arial" panose="020B0604020202020204"/>
            </a:endParaRPr>
          </a:p>
        </p:txBody>
      </p:sp>
      <p:sp>
        <p:nvSpPr>
          <p:cNvPr id="98" name="Pentagon 97"/>
          <p:cNvSpPr/>
          <p:nvPr/>
        </p:nvSpPr>
        <p:spPr>
          <a:xfrm>
            <a:off x="3429000" y="4114800"/>
            <a:ext cx="1737360" cy="566928"/>
          </a:xfrm>
          <a:prstGeom prst="homePlat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lnSpc>
                <a:spcPct val="112000"/>
              </a:lnSpc>
            </a:pPr>
            <a:r>
              <a:rPr lang="en-US" sz="950" b="1" i="0">
                <a:solidFill>
                  <a:srgbClr val="FFFFFF"/>
                </a:solidFill>
                <a:latin typeface="Arial" panose="020B0604020202020204"/>
              </a:rPr>
              <a:t>Disguised request</a:t>
            </a:r>
            <a:endParaRPr lang="en-US" sz="950" b="1" i="0">
              <a:solidFill>
                <a:srgbClr val="FFFFFF"/>
              </a:solidFill>
              <a:latin typeface="Arial" panose="020B0604020202020204"/>
            </a:endParaRPr>
          </a:p>
          <a:p>
            <a:pPr algn="ctr">
              <a:lnSpc>
                <a:spcPct val="112000"/>
              </a:lnSpc>
            </a:pPr>
            <a:r>
              <a:rPr lang="en-US" sz="750" b="0" i="0">
                <a:solidFill>
                  <a:srgbClr val="FFFFFF"/>
                </a:solidFill>
                <a:latin typeface="Arial" panose="020B0604020202020204"/>
              </a:rPr>
              <a:t>any of 4 hidden ways in</a:t>
            </a:r>
            <a:endParaRPr lang="en-US" sz="750" b="0" i="0">
              <a:solidFill>
                <a:srgbClr val="FFFFFF"/>
              </a:solidFill>
              <a:latin typeface="Arial" panose="020B0604020202020204"/>
            </a:endParaRPr>
          </a:p>
        </p:txBody>
      </p:sp>
      <p:sp>
        <p:nvSpPr>
          <p:cNvPr id="99" name="Chevron 98"/>
          <p:cNvSpPr/>
          <p:nvPr/>
        </p:nvSpPr>
        <p:spPr>
          <a:xfrm>
            <a:off x="5212080" y="4114800"/>
            <a:ext cx="1737360" cy="566928"/>
          </a:xfrm>
          <a:prstGeom prst="chevron">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lnSpc>
                <a:spcPct val="112000"/>
              </a:lnSpc>
            </a:pPr>
            <a:r>
              <a:rPr lang="en-US" sz="950" b="1" i="0">
                <a:solidFill>
                  <a:srgbClr val="FFFFFF"/>
                </a:solidFill>
                <a:latin typeface="Arial" panose="020B0604020202020204"/>
              </a:rPr>
              <a:t>Gemini decodes live</a:t>
            </a:r>
            <a:endParaRPr lang="en-US" sz="950" b="1" i="0">
              <a:solidFill>
                <a:srgbClr val="FFFFFF"/>
              </a:solidFill>
              <a:latin typeface="Arial" panose="020B0604020202020204"/>
            </a:endParaRPr>
          </a:p>
          <a:p>
            <a:pPr algn="ctr">
              <a:lnSpc>
                <a:spcPct val="112000"/>
              </a:lnSpc>
            </a:pPr>
            <a:r>
              <a:rPr lang="en-US" sz="750" b="0" i="0">
                <a:solidFill>
                  <a:srgbClr val="FFFFFF"/>
                </a:solidFill>
                <a:latin typeface="Arial" panose="020B0604020202020204"/>
              </a:rPr>
              <a:t>codes → structured facts</a:t>
            </a:r>
            <a:endParaRPr lang="en-US" sz="750" b="0" i="0">
              <a:solidFill>
                <a:srgbClr val="FFFFFF"/>
              </a:solidFill>
              <a:latin typeface="Arial" panose="020B0604020202020204"/>
            </a:endParaRPr>
          </a:p>
        </p:txBody>
      </p:sp>
      <p:sp>
        <p:nvSpPr>
          <p:cNvPr id="100" name="Chevron 99"/>
          <p:cNvSpPr/>
          <p:nvPr/>
        </p:nvSpPr>
        <p:spPr>
          <a:xfrm>
            <a:off x="6995160" y="4114800"/>
            <a:ext cx="1737360" cy="566928"/>
          </a:xfrm>
          <a:prstGeom prst="chevron">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lnSpc>
                <a:spcPct val="112000"/>
              </a:lnSpc>
            </a:pPr>
            <a:r>
              <a:rPr lang="en-US" sz="950" b="1" i="0">
                <a:solidFill>
                  <a:srgbClr val="FFFFFF"/>
                </a:solidFill>
                <a:latin typeface="Arial" panose="020B0604020202020204"/>
              </a:rPr>
              <a:t>Responders act</a:t>
            </a:r>
            <a:endParaRPr lang="en-US" sz="950" b="1" i="0">
              <a:solidFill>
                <a:srgbClr val="FFFFFF"/>
              </a:solidFill>
              <a:latin typeface="Arial" panose="020B0604020202020204"/>
            </a:endParaRPr>
          </a:p>
          <a:p>
            <a:pPr algn="ctr">
              <a:lnSpc>
                <a:spcPct val="112000"/>
              </a:lnSpc>
            </a:pPr>
            <a:r>
              <a:rPr lang="en-US" sz="750" b="0" i="0">
                <a:solidFill>
                  <a:srgbClr val="FFFFFF"/>
                </a:solidFill>
                <a:latin typeface="Arial" panose="020B0604020202020204"/>
              </a:rPr>
              <a:t>map, route, video, evidence</a:t>
            </a:r>
            <a:endParaRPr lang="en-US" sz="750" b="0" i="0">
              <a:solidFill>
                <a:srgbClr val="FFFFFF"/>
              </a:solidFill>
              <a:latin typeface="Arial" panose="020B0604020202020204"/>
            </a:endParaRPr>
          </a:p>
        </p:txBody>
      </p:sp>
      <p:sp>
        <p:nvSpPr>
          <p:cNvPr id="101" name="Footnote"/>
          <p:cNvSpPr txBox="1"/>
          <p:nvPr/>
        </p:nvSpPr>
        <p:spPr>
          <a:xfrm>
            <a:off x="365760" y="4846320"/>
            <a:ext cx="8412480" cy="182880"/>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Sources: WHO violence against women fact sheet (Jun 2026); UNODC/UN Women “Femicides in 2024” (Nov 2025); NCRB Crime in India 2022; UN DESA The World’s Women 2015. Priya is an illustrative caller.</a:t>
            </a:r>
            <a:endParaRPr lang="en-US" sz="650" b="0" i="0">
              <a:solidFill>
                <a:srgbClr val="5F6368"/>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79" name="Google Shape;79;p16"/>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SemiBold" panose="020B0503030502040204"/>
                <a:ea typeface="Google Sans Flex SemiBold" panose="020B0503030502040204"/>
                <a:cs typeface="Google Sans Flex SemiBold" panose="020B0503030502040204"/>
                <a:sym typeface="Google Sans Flex SemiBold" panose="020B0503030502040204"/>
              </a:rPr>
              <a:t>Opportunities</a:t>
            </a:r>
            <a:endParaRPr lang="en-US" sz="1600">
              <a:latin typeface="Google Sans Flex SemiBold" panose="020B0503030502040204"/>
              <a:ea typeface="Google Sans Flex SemiBold" panose="020B0503030502040204"/>
              <a:cs typeface="Google Sans Flex SemiBold" panose="020B0503030502040204"/>
              <a:sym typeface="Google Sans Flex SemiBold" panose="020B0503030502040204"/>
            </a:endParaRPr>
          </a:p>
        </p:txBody>
      </p:sp>
      <p:sp>
        <p:nvSpPr>
          <p:cNvPr id="80"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Every other option has a tell. QuickBite looks like dinner.</a:t>
            </a:r>
            <a:endParaRPr lang="en-US" sz="1300" b="1" i="0">
              <a:solidFill>
                <a:srgbClr val="E8590C"/>
              </a:solidFill>
              <a:latin typeface="Arial" panose="020B0604020202020204"/>
            </a:endParaRPr>
          </a:p>
        </p:txBody>
      </p:sp>
      <p:sp>
        <p:nvSpPr>
          <p:cNvPr id="81" name="TextBox 80"/>
          <p:cNvSpPr txBox="1"/>
          <p:nvPr/>
        </p:nvSpPr>
        <p:spPr>
          <a:xfrm>
            <a:off x="365760" y="1325880"/>
            <a:ext cx="4297680" cy="329184"/>
          </a:xfrm>
          <a:prstGeom prst="rect">
            <a:avLst/>
          </a:prstGeom>
          <a:noFill/>
        </p:spPr>
        <p:txBody>
          <a:bodyPr wrap="square" lIns="0" tIns="0" rIns="0" bIns="0" anchor="b"/>
          <a:lstStyle/>
          <a:p>
            <a:pPr algn="l">
              <a:lnSpc>
                <a:spcPct val="112000"/>
              </a:lnSpc>
            </a:pPr>
            <a:r>
              <a:rPr lang="en-US" sz="1000" b="1" i="0">
                <a:solidFill>
                  <a:srgbClr val="1A1A1A"/>
                </a:solidFill>
                <a:latin typeface="Arial" panose="020B0604020202020204"/>
              </a:rPr>
              <a:t>How different is it from any of the other existing ideas?</a:t>
            </a:r>
            <a:endParaRPr lang="en-US" sz="1000" b="1" i="0">
              <a:solidFill>
                <a:srgbClr val="1A1A1A"/>
              </a:solidFill>
              <a:latin typeface="Arial" panose="020B0604020202020204"/>
            </a:endParaRPr>
          </a:p>
        </p:txBody>
      </p:sp>
      <p:sp>
        <p:nvSpPr>
          <p:cNvPr id="82" name="TextBox 81"/>
          <p:cNvSpPr txBox="1"/>
          <p:nvPr/>
        </p:nvSpPr>
        <p:spPr>
          <a:xfrm>
            <a:off x="4846320" y="1325880"/>
            <a:ext cx="2011680" cy="329184"/>
          </a:xfrm>
          <a:prstGeom prst="rect">
            <a:avLst/>
          </a:prstGeom>
          <a:noFill/>
        </p:spPr>
        <p:txBody>
          <a:bodyPr wrap="square" lIns="0" tIns="0" rIns="0" bIns="0" anchor="b"/>
          <a:lstStyle/>
          <a:p>
            <a:pPr algn="l">
              <a:lnSpc>
                <a:spcPct val="112000"/>
              </a:lnSpc>
            </a:pPr>
            <a:r>
              <a:rPr lang="en-US" sz="1000" b="1" i="0">
                <a:solidFill>
                  <a:srgbClr val="1A1A1A"/>
                </a:solidFill>
                <a:latin typeface="Arial" panose="020B0604020202020204"/>
              </a:rPr>
              <a:t>How will it be able to solve the problem?</a:t>
            </a:r>
            <a:endParaRPr lang="en-US" sz="1000" b="1" i="0">
              <a:solidFill>
                <a:srgbClr val="1A1A1A"/>
              </a:solidFill>
              <a:latin typeface="Arial" panose="020B0604020202020204"/>
            </a:endParaRPr>
          </a:p>
        </p:txBody>
      </p:sp>
      <p:sp>
        <p:nvSpPr>
          <p:cNvPr id="83" name="TextBox 82"/>
          <p:cNvSpPr txBox="1"/>
          <p:nvPr/>
        </p:nvSpPr>
        <p:spPr>
          <a:xfrm>
            <a:off x="7040880" y="1325880"/>
            <a:ext cx="1737360" cy="329184"/>
          </a:xfrm>
          <a:prstGeom prst="rect">
            <a:avLst/>
          </a:prstGeom>
          <a:noFill/>
        </p:spPr>
        <p:txBody>
          <a:bodyPr wrap="square" lIns="0" tIns="0" rIns="0" bIns="0" anchor="b"/>
          <a:lstStyle/>
          <a:p>
            <a:pPr algn="l">
              <a:lnSpc>
                <a:spcPct val="112000"/>
              </a:lnSpc>
            </a:pPr>
            <a:r>
              <a:rPr lang="en-US" sz="1000" b="1" i="0">
                <a:solidFill>
                  <a:srgbClr val="1A1A1A"/>
                </a:solidFill>
                <a:latin typeface="Arial" panose="020B0604020202020204"/>
              </a:rPr>
              <a:t>USP of the proposed solution</a:t>
            </a:r>
            <a:endParaRPr lang="en-US" sz="1000" b="1" i="0">
              <a:solidFill>
                <a:srgbClr val="1A1A1A"/>
              </a:solidFill>
              <a:latin typeface="Arial" panose="020B0604020202020204"/>
            </a:endParaRPr>
          </a:p>
        </p:txBody>
      </p:sp>
      <p:graphicFrame>
        <p:nvGraphicFramePr>
          <p:cNvPr id="84" name="Table 83"/>
          <p:cNvGraphicFramePr>
            <a:graphicFrameLocks noGrp="1"/>
          </p:cNvGraphicFramePr>
          <p:nvPr/>
        </p:nvGraphicFramePr>
        <p:xfrm>
          <a:off x="365760" y="1737360"/>
          <a:ext cx="4297680" cy="2304288"/>
        </p:xfrm>
        <a:graphic>
          <a:graphicData uri="http://schemas.openxmlformats.org/drawingml/2006/table">
            <a:tbl>
              <a:tblPr firstRow="1" bandRow="1">
                <a:tableStyleId>{5C22544A-7EE6-4342-B048-85BDC9FD1C3A}</a:tableStyleId>
              </a:tblPr>
              <a:tblGrid>
                <a:gridCol w="1572768"/>
                <a:gridCol w="681228"/>
                <a:gridCol w="681228"/>
                <a:gridCol w="681228"/>
                <a:gridCol w="681228"/>
              </a:tblGrid>
              <a:tr h="324612">
                <a:tc>
                  <a:txBody>
                    <a:bodyPr/>
                    <a:lstStyle/>
                    <a:p>
                      <a:pPr algn="ctr"/>
                    </a:p>
                  </a:txBody>
                  <a:tcPr marL="36576" marR="36576" marT="18288" marB="18288" anchor="ctr">
                    <a:solidFill>
                      <a:srgbClr val="FFFFFF"/>
                    </a:solidFill>
                  </a:tcPr>
                </a:tc>
                <a:tc>
                  <a:txBody>
                    <a:bodyPr/>
                    <a:lstStyle/>
                    <a:p>
                      <a:pPr algn="ctr">
                        <a:lnSpc>
                          <a:spcPct val="112000"/>
                        </a:lnSpc>
                      </a:pPr>
                      <a:r>
                        <a:rPr lang="en-US" sz="700" b="1" i="0">
                          <a:solidFill>
                            <a:srgbClr val="5F6368"/>
                          </a:solidFill>
                          <a:latin typeface="Arial" panose="020B0604020202020204"/>
                        </a:rPr>
                        <a:t>Looks harmless</a:t>
                      </a:r>
                      <a:endParaRPr lang="en-US" sz="700" b="1" i="0">
                        <a:solidFill>
                          <a:srgbClr val="5F6368"/>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700" b="1" i="0">
                          <a:solidFill>
                            <a:srgbClr val="5F6368"/>
                          </a:solidFill>
                          <a:latin typeface="Arial" panose="020B0604020202020204"/>
                        </a:rPr>
                        <a:t>Nothing to memorise</a:t>
                      </a:r>
                      <a:endParaRPr lang="en-US" sz="700" b="1" i="0">
                        <a:solidFill>
                          <a:srgbClr val="5F6368"/>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700" b="1" i="0">
                          <a:solidFill>
                            <a:srgbClr val="5F6368"/>
                          </a:solidFill>
                          <a:latin typeface="Arial" panose="020B0604020202020204"/>
                        </a:rPr>
                        <a:t>Two-way guidance</a:t>
                      </a:r>
                      <a:endParaRPr lang="en-US" sz="700" b="1" i="0">
                        <a:solidFill>
                          <a:srgbClr val="5F6368"/>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700" b="1" i="0">
                          <a:solidFill>
                            <a:srgbClr val="5F6368"/>
                          </a:solidFill>
                          <a:latin typeface="Arial" panose="020B0604020202020204"/>
                        </a:rPr>
                        <a:t>Live structured data</a:t>
                      </a:r>
                      <a:endParaRPr lang="en-US" sz="700" b="1" i="0">
                        <a:solidFill>
                          <a:srgbClr val="5F6368"/>
                        </a:solidFill>
                        <a:latin typeface="Arial" panose="020B0604020202020204"/>
                      </a:endParaRPr>
                    </a:p>
                  </a:txBody>
                  <a:tcPr marL="36576" marR="36576" marT="18288" marB="18288" anchor="ctr">
                    <a:solidFill>
                      <a:srgbClr val="FFFFFF"/>
                    </a:solidFill>
                  </a:tcPr>
                </a:tc>
              </a:tr>
              <a:tr h="324612">
                <a:tc>
                  <a:txBody>
                    <a:bodyPr/>
                    <a:lstStyle/>
                    <a:p>
                      <a:pPr algn="l">
                        <a:lnSpc>
                          <a:spcPct val="112000"/>
                        </a:lnSpc>
                      </a:pPr>
                      <a:r>
                        <a:rPr lang="en-US" sz="800" b="0" i="0">
                          <a:solidFill>
                            <a:srgbClr val="1A1A1A"/>
                          </a:solidFill>
                          <a:latin typeface="Arial" panose="020B0604020202020204"/>
                        </a:rPr>
                        <a:t>112 call / phone SOS</a:t>
                      </a:r>
                      <a:endParaRPr lang="en-US" sz="800" b="0" i="0">
                        <a:solidFill>
                          <a:srgbClr val="1A1A1A"/>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B0B3B8"/>
                          </a:solidFill>
                          <a:latin typeface="Arial" panose="020B0604020202020204"/>
                        </a:rPr>
                        <a:t>○</a:t>
                      </a:r>
                      <a:endParaRPr lang="en-US" sz="1200" b="0" i="0">
                        <a:solidFill>
                          <a:srgbClr val="B0B3B8"/>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E39B00"/>
                          </a:solidFill>
                          <a:latin typeface="Arial" panose="020B0604020202020204"/>
                        </a:rPr>
                        <a:t>●</a:t>
                      </a:r>
                      <a:endParaRPr lang="en-US" sz="1200" b="0" i="0">
                        <a:solidFill>
                          <a:srgbClr val="E39B00"/>
                        </a:solidFill>
                        <a:latin typeface="Arial" panose="020B0604020202020204"/>
                      </a:endParaRPr>
                    </a:p>
                  </a:txBody>
                  <a:tcPr marL="36576" marR="36576" marT="18288" marB="18288" anchor="ctr">
                    <a:solidFill>
                      <a:srgbClr val="F4F5F7"/>
                    </a:solidFill>
                  </a:tcPr>
                </a:tc>
              </a:tr>
              <a:tr h="324612">
                <a:tc>
                  <a:txBody>
                    <a:bodyPr/>
                    <a:lstStyle/>
                    <a:p>
                      <a:pPr algn="l">
                        <a:lnSpc>
                          <a:spcPct val="112000"/>
                        </a:lnSpc>
                      </a:pPr>
                      <a:r>
                        <a:rPr lang="en-US" sz="800" b="0" i="0">
                          <a:solidFill>
                            <a:srgbClr val="1A1A1A"/>
                          </a:solidFill>
                          <a:latin typeface="Arial" panose="020B0604020202020204"/>
                        </a:rPr>
                        <a:t>SOS apps (Himmat Plus, bSafe)</a:t>
                      </a:r>
                      <a:endParaRPr lang="en-US" sz="800" b="0" i="0">
                        <a:solidFill>
                          <a:srgbClr val="1A1A1A"/>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1200" b="0" i="0">
                          <a:solidFill>
                            <a:srgbClr val="B0B3B8"/>
                          </a:solidFill>
                          <a:latin typeface="Arial" panose="020B0604020202020204"/>
                        </a:rPr>
                        <a:t>○</a:t>
                      </a:r>
                      <a:endParaRPr lang="en-US" sz="1200" b="0" i="0">
                        <a:solidFill>
                          <a:srgbClr val="B0B3B8"/>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1200" b="0" i="0">
                          <a:solidFill>
                            <a:srgbClr val="E39B00"/>
                          </a:solidFill>
                          <a:latin typeface="Arial" panose="020B0604020202020204"/>
                        </a:rPr>
                        <a:t>●</a:t>
                      </a:r>
                      <a:endParaRPr lang="en-US" sz="1200" b="0" i="0">
                        <a:solidFill>
                          <a:srgbClr val="E39B00"/>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1200" b="0" i="0">
                          <a:solidFill>
                            <a:srgbClr val="B0B3B8"/>
                          </a:solidFill>
                          <a:latin typeface="Arial" panose="020B0604020202020204"/>
                        </a:rPr>
                        <a:t>○</a:t>
                      </a:r>
                      <a:endParaRPr lang="en-US" sz="1200" b="0" i="0">
                        <a:solidFill>
                          <a:srgbClr val="B0B3B8"/>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1200" b="0" i="0">
                          <a:solidFill>
                            <a:srgbClr val="E39B00"/>
                          </a:solidFill>
                          <a:latin typeface="Arial" panose="020B0604020202020204"/>
                        </a:rPr>
                        <a:t>●</a:t>
                      </a:r>
                      <a:endParaRPr lang="en-US" sz="1200" b="0" i="0">
                        <a:solidFill>
                          <a:srgbClr val="E39B00"/>
                        </a:solidFill>
                        <a:latin typeface="Arial" panose="020B0604020202020204"/>
                      </a:endParaRPr>
                    </a:p>
                  </a:txBody>
                  <a:tcPr marL="36576" marR="36576" marT="18288" marB="18288" anchor="ctr">
                    <a:solidFill>
                      <a:srgbClr val="FFFFFF"/>
                    </a:solidFill>
                  </a:tcPr>
                </a:tc>
              </a:tr>
              <a:tr h="324612">
                <a:tc>
                  <a:txBody>
                    <a:bodyPr/>
                    <a:lstStyle/>
                    <a:p>
                      <a:pPr algn="l">
                        <a:lnSpc>
                          <a:spcPct val="112000"/>
                        </a:lnSpc>
                      </a:pPr>
                      <a:r>
                        <a:rPr lang="en-US" sz="800" b="0" i="0">
                          <a:solidFill>
                            <a:srgbClr val="1A1A1A"/>
                          </a:solidFill>
                          <a:latin typeface="Arial" panose="020B0604020202020204"/>
                        </a:rPr>
                        <a:t>Disguised apps (Aspire News)</a:t>
                      </a:r>
                      <a:endParaRPr lang="en-US" sz="800" b="0" i="0">
                        <a:solidFill>
                          <a:srgbClr val="1A1A1A"/>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E39B00"/>
                          </a:solidFill>
                          <a:latin typeface="Arial" panose="020B0604020202020204"/>
                        </a:rPr>
                        <a:t>●</a:t>
                      </a:r>
                      <a:endParaRPr lang="en-US" sz="1200" b="0" i="0">
                        <a:solidFill>
                          <a:srgbClr val="E39B00"/>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B0B3B8"/>
                          </a:solidFill>
                          <a:latin typeface="Arial" panose="020B0604020202020204"/>
                        </a:rPr>
                        <a:t>○</a:t>
                      </a:r>
                      <a:endParaRPr lang="en-US" sz="1200" b="0" i="0">
                        <a:solidFill>
                          <a:srgbClr val="B0B3B8"/>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B0B3B8"/>
                          </a:solidFill>
                          <a:latin typeface="Arial" panose="020B0604020202020204"/>
                        </a:rPr>
                        <a:t>○</a:t>
                      </a:r>
                      <a:endParaRPr lang="en-US" sz="1200" b="0" i="0">
                        <a:solidFill>
                          <a:srgbClr val="B0B3B8"/>
                        </a:solidFill>
                        <a:latin typeface="Arial" panose="020B0604020202020204"/>
                      </a:endParaRPr>
                    </a:p>
                  </a:txBody>
                  <a:tcPr marL="36576" marR="36576" marT="18288" marB="18288" anchor="ctr">
                    <a:solidFill>
                      <a:srgbClr val="F4F5F7"/>
                    </a:solidFill>
                  </a:tcPr>
                </a:tc>
              </a:tr>
              <a:tr h="324612">
                <a:tc>
                  <a:txBody>
                    <a:bodyPr/>
                    <a:lstStyle/>
                    <a:p>
                      <a:pPr algn="l">
                        <a:lnSpc>
                          <a:spcPct val="112000"/>
                        </a:lnSpc>
                      </a:pPr>
                      <a:r>
                        <a:rPr lang="en-US" sz="800" b="0" i="0">
                          <a:solidFill>
                            <a:srgbClr val="1A1A1A"/>
                          </a:solidFill>
                          <a:latin typeface="Arial" panose="020B0604020202020204"/>
                        </a:rPr>
                        <a:t>Code words (Ask for Angela)</a:t>
                      </a:r>
                      <a:endParaRPr lang="en-US" sz="800" b="0" i="0">
                        <a:solidFill>
                          <a:srgbClr val="1A1A1A"/>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1200" b="0" i="0">
                          <a:solidFill>
                            <a:srgbClr val="B0B3B8"/>
                          </a:solidFill>
                          <a:latin typeface="Arial" panose="020B0604020202020204"/>
                        </a:rPr>
                        <a:t>○</a:t>
                      </a:r>
                      <a:endParaRPr lang="en-US" sz="1200" b="0" i="0">
                        <a:solidFill>
                          <a:srgbClr val="B0B3B8"/>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1200" b="0" i="0">
                          <a:solidFill>
                            <a:srgbClr val="E39B00"/>
                          </a:solidFill>
                          <a:latin typeface="Arial" panose="020B0604020202020204"/>
                        </a:rPr>
                        <a:t>●</a:t>
                      </a:r>
                      <a:endParaRPr lang="en-US" sz="1200" b="0" i="0">
                        <a:solidFill>
                          <a:srgbClr val="E39B00"/>
                        </a:solidFill>
                        <a:latin typeface="Arial" panose="020B0604020202020204"/>
                      </a:endParaRPr>
                    </a:p>
                  </a:txBody>
                  <a:tcPr marL="36576" marR="36576" marT="18288" marB="18288" anchor="ctr">
                    <a:solidFill>
                      <a:srgbClr val="FFFFFF"/>
                    </a:solidFill>
                  </a:tcPr>
                </a:tc>
                <a:tc>
                  <a:txBody>
                    <a:bodyPr/>
                    <a:lstStyle/>
                    <a:p>
                      <a:pPr algn="ctr">
                        <a:lnSpc>
                          <a:spcPct val="112000"/>
                        </a:lnSpc>
                      </a:pPr>
                      <a:r>
                        <a:rPr lang="en-US" sz="1200" b="0" i="0">
                          <a:solidFill>
                            <a:srgbClr val="B0B3B8"/>
                          </a:solidFill>
                          <a:latin typeface="Arial" panose="020B0604020202020204"/>
                        </a:rPr>
                        <a:t>○</a:t>
                      </a:r>
                      <a:endParaRPr lang="en-US" sz="1200" b="0" i="0">
                        <a:solidFill>
                          <a:srgbClr val="B0B3B8"/>
                        </a:solidFill>
                        <a:latin typeface="Arial" panose="020B0604020202020204"/>
                      </a:endParaRPr>
                    </a:p>
                  </a:txBody>
                  <a:tcPr marL="36576" marR="36576" marT="18288" marB="18288" anchor="ctr">
                    <a:solidFill>
                      <a:srgbClr val="FFFFFF"/>
                    </a:solidFill>
                  </a:tcPr>
                </a:tc>
              </a:tr>
              <a:tr h="324612">
                <a:tc>
                  <a:txBody>
                    <a:bodyPr/>
                    <a:lstStyle/>
                    <a:p>
                      <a:pPr algn="l">
                        <a:lnSpc>
                          <a:spcPct val="112000"/>
                        </a:lnSpc>
                      </a:pPr>
                      <a:r>
                        <a:rPr lang="en-US" sz="800" b="0" i="0">
                          <a:solidFill>
                            <a:srgbClr val="1A1A1A"/>
                          </a:solidFill>
                          <a:latin typeface="Arial" panose="020B0604020202020204"/>
                        </a:rPr>
                        <a:t>Improvised “pizza” 112 call</a:t>
                      </a:r>
                      <a:endParaRPr lang="en-US" sz="800" b="0" i="0">
                        <a:solidFill>
                          <a:srgbClr val="1A1A1A"/>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E39B00"/>
                          </a:solidFill>
                          <a:latin typeface="Arial" panose="020B0604020202020204"/>
                        </a:rPr>
                        <a:t>●</a:t>
                      </a:r>
                      <a:endParaRPr lang="en-US" sz="1200" b="0" i="0">
                        <a:solidFill>
                          <a:srgbClr val="E39B00"/>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E39B00"/>
                          </a:solidFill>
                          <a:latin typeface="Arial" panose="020B0604020202020204"/>
                        </a:rPr>
                        <a:t>●</a:t>
                      </a:r>
                      <a:endParaRPr lang="en-US" sz="1200" b="0" i="0">
                        <a:solidFill>
                          <a:srgbClr val="E39B00"/>
                        </a:solidFill>
                        <a:latin typeface="Arial" panose="020B0604020202020204"/>
                      </a:endParaRPr>
                    </a:p>
                  </a:txBody>
                  <a:tcPr marL="36576" marR="36576" marT="18288" marB="18288" anchor="ctr">
                    <a:solidFill>
                      <a:srgbClr val="F4F5F7"/>
                    </a:solidFill>
                  </a:tcPr>
                </a:tc>
                <a:tc>
                  <a:txBody>
                    <a:bodyPr/>
                    <a:lstStyle/>
                    <a:p>
                      <a:pPr algn="ctr">
                        <a:lnSpc>
                          <a:spcPct val="112000"/>
                        </a:lnSpc>
                      </a:pPr>
                      <a:r>
                        <a:rPr lang="en-US" sz="1200" b="0" i="0">
                          <a:solidFill>
                            <a:srgbClr val="B0B3B8"/>
                          </a:solidFill>
                          <a:latin typeface="Arial" panose="020B0604020202020204"/>
                        </a:rPr>
                        <a:t>○</a:t>
                      </a:r>
                      <a:endParaRPr lang="en-US" sz="1200" b="0" i="0">
                        <a:solidFill>
                          <a:srgbClr val="B0B3B8"/>
                        </a:solidFill>
                        <a:latin typeface="Arial" panose="020B0604020202020204"/>
                      </a:endParaRPr>
                    </a:p>
                  </a:txBody>
                  <a:tcPr marL="36576" marR="36576" marT="18288" marB="18288" anchor="ctr">
                    <a:solidFill>
                      <a:srgbClr val="F4F5F7"/>
                    </a:solidFill>
                  </a:tcPr>
                </a:tc>
              </a:tr>
              <a:tr h="324612">
                <a:tc>
                  <a:txBody>
                    <a:bodyPr/>
                    <a:lstStyle/>
                    <a:p>
                      <a:pPr algn="l">
                        <a:lnSpc>
                          <a:spcPct val="112000"/>
                        </a:lnSpc>
                      </a:pPr>
                      <a:r>
                        <a:rPr lang="en-US" sz="800" b="1" i="0">
                          <a:solidFill>
                            <a:srgbClr val="1A1A1A"/>
                          </a:solidFill>
                          <a:latin typeface="Arial" panose="020B0604020202020204"/>
                        </a:rPr>
                        <a:t>QuickBite</a:t>
                      </a:r>
                      <a:endParaRPr lang="en-US" sz="800" b="1" i="0">
                        <a:solidFill>
                          <a:srgbClr val="1A1A1A"/>
                        </a:solidFill>
                        <a:latin typeface="Arial" panose="020B0604020202020204"/>
                      </a:endParaRPr>
                    </a:p>
                  </a:txBody>
                  <a:tcPr marL="36576" marR="36576" marT="18288" marB="18288" anchor="ctr">
                    <a:solidFill>
                      <a:srgbClr val="FDEBDF"/>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DEBDF"/>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DEBDF"/>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DEBDF"/>
                    </a:solidFill>
                  </a:tcPr>
                </a:tc>
                <a:tc>
                  <a:txBody>
                    <a:bodyPr/>
                    <a:lstStyle/>
                    <a:p>
                      <a:pPr algn="ctr">
                        <a:lnSpc>
                          <a:spcPct val="112000"/>
                        </a:lnSpc>
                      </a:pPr>
                      <a:r>
                        <a:rPr lang="en-US" sz="1200" b="0" i="0">
                          <a:solidFill>
                            <a:srgbClr val="2F9E44"/>
                          </a:solidFill>
                          <a:latin typeface="Arial" panose="020B0604020202020204"/>
                        </a:rPr>
                        <a:t>●</a:t>
                      </a:r>
                      <a:endParaRPr lang="en-US" sz="1200" b="0" i="0">
                        <a:solidFill>
                          <a:srgbClr val="2F9E44"/>
                        </a:solidFill>
                        <a:latin typeface="Arial" panose="020B0604020202020204"/>
                      </a:endParaRPr>
                    </a:p>
                  </a:txBody>
                  <a:tcPr marL="36576" marR="36576" marT="18288" marB="18288" anchor="ctr">
                    <a:solidFill>
                      <a:srgbClr val="FDEBDF"/>
                    </a:solidFill>
                  </a:tcPr>
                </a:tc>
              </a:tr>
            </a:tbl>
          </a:graphicData>
        </a:graphic>
      </p:graphicFrame>
      <p:sp>
        <p:nvSpPr>
          <p:cNvPr id="85" name="TextBox 84"/>
          <p:cNvSpPr txBox="1"/>
          <p:nvPr/>
        </p:nvSpPr>
        <p:spPr>
          <a:xfrm>
            <a:off x="365760" y="4069080"/>
            <a:ext cx="4297680" cy="201168"/>
          </a:xfrm>
          <a:prstGeom prst="rect">
            <a:avLst/>
          </a:prstGeom>
          <a:noFill/>
        </p:spPr>
        <p:txBody>
          <a:bodyPr wrap="square" lIns="0" tIns="0" rIns="0" bIns="0" anchor="t"/>
          <a:lstStyle/>
          <a:p>
            <a:pPr algn="l">
              <a:lnSpc>
                <a:spcPct val="112000"/>
              </a:lnSpc>
            </a:pPr>
            <a:r>
              <a:rPr lang="en-US" sz="750" b="0" i="0">
                <a:solidFill>
                  <a:srgbClr val="2F9E44"/>
                </a:solidFill>
                <a:latin typeface="Arial" panose="020B0604020202020204"/>
              </a:rPr>
              <a:t>●</a:t>
            </a:r>
            <a:r>
              <a:rPr lang="en-US" sz="750" b="0" i="0">
                <a:solidFill>
                  <a:srgbClr val="5F6368"/>
                </a:solidFill>
                <a:latin typeface="Arial" panose="020B0604020202020204"/>
              </a:rPr>
              <a:t> yes   </a:t>
            </a:r>
            <a:r>
              <a:rPr lang="en-US" sz="750" b="0" i="0">
                <a:solidFill>
                  <a:srgbClr val="E39B00"/>
                </a:solidFill>
                <a:latin typeface="Arial" panose="020B0604020202020204"/>
              </a:rPr>
              <a:t>●</a:t>
            </a:r>
            <a:r>
              <a:rPr lang="en-US" sz="750" b="0" i="0">
                <a:solidFill>
                  <a:srgbClr val="5F6368"/>
                </a:solidFill>
                <a:latin typeface="Arial" panose="020B0604020202020204"/>
              </a:rPr>
              <a:t> partly / needs setup or luck   </a:t>
            </a:r>
            <a:r>
              <a:rPr lang="en-US" sz="750" b="0" i="0">
                <a:solidFill>
                  <a:srgbClr val="B0B3B8"/>
                </a:solidFill>
                <a:latin typeface="Arial" panose="020B0604020202020204"/>
              </a:rPr>
              <a:t>○</a:t>
            </a:r>
            <a:r>
              <a:rPr lang="en-US" sz="750" b="0" i="0">
                <a:solidFill>
                  <a:srgbClr val="5F6368"/>
                </a:solidFill>
                <a:latin typeface="Arial" panose="020B0604020202020204"/>
              </a:rPr>
              <a:t> no</a:t>
            </a:r>
            <a:endParaRPr lang="en-US" sz="750" b="0" i="0">
              <a:solidFill>
                <a:srgbClr val="5F6368"/>
              </a:solidFill>
              <a:latin typeface="Arial" panose="020B0604020202020204"/>
            </a:endParaRPr>
          </a:p>
        </p:txBody>
      </p:sp>
      <p:sp>
        <p:nvSpPr>
          <p:cNvPr id="86" name="Rounded Rectangle 85"/>
          <p:cNvSpPr/>
          <p:nvPr/>
        </p:nvSpPr>
        <p:spPr>
          <a:xfrm>
            <a:off x="365760" y="4297680"/>
            <a:ext cx="4297680" cy="475488"/>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800" b="1" i="0">
                <a:solidFill>
                  <a:srgbClr val="1A1A1A"/>
                </a:solidFill>
                <a:latin typeface="Arial" panose="020B0604020202020204"/>
              </a:rPr>
              <a:t>Why not just a code word? </a:t>
            </a:r>
            <a:r>
              <a:rPr lang="en-US" sz="800" b="0" i="0">
                <a:solidFill>
                  <a:srgbClr val="1A1A1A"/>
                </a:solidFill>
                <a:latin typeface="Arial" panose="020B0604020202020204"/>
              </a:rPr>
              <a:t>911/112 bodies avoid published codes because abusers learn them too (NENA). Mia teaches the code inside the call, so it never has to be published.</a:t>
            </a:r>
            <a:endParaRPr lang="en-US" sz="800" b="0" i="0">
              <a:solidFill>
                <a:srgbClr val="1A1A1A"/>
              </a:solidFill>
              <a:latin typeface="Arial" panose="020B0604020202020204"/>
            </a:endParaRPr>
          </a:p>
        </p:txBody>
      </p:sp>
      <p:sp>
        <p:nvSpPr>
          <p:cNvPr id="87" name="Oval 86"/>
          <p:cNvSpPr/>
          <p:nvPr/>
        </p:nvSpPr>
        <p:spPr>
          <a:xfrm>
            <a:off x="4846320" y="1764792"/>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1</a:t>
            </a:r>
            <a:endParaRPr lang="en-US" sz="850" b="1" i="0">
              <a:solidFill>
                <a:srgbClr val="FFFFFF"/>
              </a:solidFill>
              <a:latin typeface="Arial" panose="020B0604020202020204"/>
            </a:endParaRPr>
          </a:p>
        </p:txBody>
      </p:sp>
      <p:sp>
        <p:nvSpPr>
          <p:cNvPr id="88" name="TextBox 87"/>
          <p:cNvSpPr txBox="1"/>
          <p:nvPr/>
        </p:nvSpPr>
        <p:spPr>
          <a:xfrm>
            <a:off x="5157216" y="1737360"/>
            <a:ext cx="1737360" cy="566928"/>
          </a:xfrm>
          <a:prstGeom prst="rect">
            <a:avLst/>
          </a:prstGeom>
          <a:noFill/>
        </p:spPr>
        <p:txBody>
          <a:bodyPr wrap="square" lIns="0" tIns="0" rIns="0" bIns="0" anchor="t"/>
          <a:lstStyle/>
          <a:p>
            <a:pPr algn="l">
              <a:lnSpc>
                <a:spcPct val="112000"/>
              </a:lnSpc>
            </a:pPr>
            <a:r>
              <a:rPr lang="en-US" sz="950" b="1" i="0">
                <a:solidFill>
                  <a:srgbClr val="1A1A1A"/>
                </a:solidFill>
                <a:latin typeface="Arial" panose="020B0604020202020204"/>
              </a:rPr>
              <a:t>Disguise holds</a:t>
            </a:r>
            <a:endParaRPr lang="en-US" sz="950" b="1" i="0">
              <a:solidFill>
                <a:srgbClr val="1A1A1A"/>
              </a:solidFill>
              <a:latin typeface="Arial" panose="020B0604020202020204"/>
            </a:endParaRPr>
          </a:p>
          <a:p>
            <a:pPr algn="l">
              <a:lnSpc>
                <a:spcPct val="112000"/>
              </a:lnSpc>
            </a:pPr>
            <a:r>
              <a:rPr lang="en-US" sz="800" b="0" i="0">
                <a:solidFill>
                  <a:srgbClr val="5F6368"/>
                </a:solidFill>
                <a:latin typeface="Arial" panose="020B0604020202020204"/>
              </a:rPr>
              <a:t>real app + a persona that never breaks character</a:t>
            </a:r>
            <a:endParaRPr lang="en-US" sz="800" b="0" i="0">
              <a:solidFill>
                <a:srgbClr val="5F6368"/>
              </a:solidFill>
              <a:latin typeface="Arial" panose="020B0604020202020204"/>
            </a:endParaRPr>
          </a:p>
        </p:txBody>
      </p:sp>
      <p:sp>
        <p:nvSpPr>
          <p:cNvPr id="89" name="Oval 88"/>
          <p:cNvSpPr/>
          <p:nvPr/>
        </p:nvSpPr>
        <p:spPr>
          <a:xfrm>
            <a:off x="4846320" y="2368296"/>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2</a:t>
            </a:r>
            <a:endParaRPr lang="en-US" sz="850" b="1" i="0">
              <a:solidFill>
                <a:srgbClr val="FFFFFF"/>
              </a:solidFill>
              <a:latin typeface="Arial" panose="020B0604020202020204"/>
            </a:endParaRPr>
          </a:p>
        </p:txBody>
      </p:sp>
      <p:sp>
        <p:nvSpPr>
          <p:cNvPr id="90" name="TextBox 89"/>
          <p:cNvSpPr txBox="1"/>
          <p:nvPr/>
        </p:nvSpPr>
        <p:spPr>
          <a:xfrm>
            <a:off x="5157216" y="2340864"/>
            <a:ext cx="1737360" cy="566928"/>
          </a:xfrm>
          <a:prstGeom prst="rect">
            <a:avLst/>
          </a:prstGeom>
          <a:noFill/>
        </p:spPr>
        <p:txBody>
          <a:bodyPr wrap="square" lIns="0" tIns="0" rIns="0" bIns="0" anchor="t"/>
          <a:lstStyle/>
          <a:p>
            <a:pPr algn="l">
              <a:lnSpc>
                <a:spcPct val="112000"/>
              </a:lnSpc>
            </a:pPr>
            <a:r>
              <a:rPr lang="en-US" sz="950" b="1" i="0">
                <a:solidFill>
                  <a:srgbClr val="1A1A1A"/>
                </a:solidFill>
                <a:latin typeface="Arial" panose="020B0604020202020204"/>
              </a:rPr>
              <a:t>Zero memorising</a:t>
            </a:r>
            <a:endParaRPr lang="en-US" sz="950" b="1" i="0">
              <a:solidFill>
                <a:srgbClr val="1A1A1A"/>
              </a:solidFill>
              <a:latin typeface="Arial" panose="020B0604020202020204"/>
            </a:endParaRPr>
          </a:p>
          <a:p>
            <a:pPr algn="l">
              <a:lnSpc>
                <a:spcPct val="112000"/>
              </a:lnSpc>
            </a:pPr>
            <a:r>
              <a:rPr lang="en-US" sz="800" b="0" i="0">
                <a:solidFill>
                  <a:srgbClr val="5F6368"/>
                </a:solidFill>
                <a:latin typeface="Arial" panose="020B0604020202020204"/>
              </a:rPr>
              <a:t>every code’s meaning is spoken with it</a:t>
            </a:r>
            <a:endParaRPr lang="en-US" sz="800" b="0" i="0">
              <a:solidFill>
                <a:srgbClr val="5F6368"/>
              </a:solidFill>
              <a:latin typeface="Arial" panose="020B0604020202020204"/>
            </a:endParaRPr>
          </a:p>
        </p:txBody>
      </p:sp>
      <p:sp>
        <p:nvSpPr>
          <p:cNvPr id="91" name="Oval 90"/>
          <p:cNvSpPr/>
          <p:nvPr/>
        </p:nvSpPr>
        <p:spPr>
          <a:xfrm>
            <a:off x="4846320" y="2971800"/>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3</a:t>
            </a:r>
            <a:endParaRPr lang="en-US" sz="850" b="1" i="0">
              <a:solidFill>
                <a:srgbClr val="FFFFFF"/>
              </a:solidFill>
              <a:latin typeface="Arial" panose="020B0604020202020204"/>
            </a:endParaRPr>
          </a:p>
        </p:txBody>
      </p:sp>
      <p:sp>
        <p:nvSpPr>
          <p:cNvPr id="92" name="TextBox 91"/>
          <p:cNvSpPr txBox="1"/>
          <p:nvPr/>
        </p:nvSpPr>
        <p:spPr>
          <a:xfrm>
            <a:off x="5157216" y="2944368"/>
            <a:ext cx="1737360" cy="566928"/>
          </a:xfrm>
          <a:prstGeom prst="rect">
            <a:avLst/>
          </a:prstGeom>
          <a:noFill/>
        </p:spPr>
        <p:txBody>
          <a:bodyPr wrap="square" lIns="0" tIns="0" rIns="0" bIns="0" anchor="t"/>
          <a:lstStyle/>
          <a:p>
            <a:pPr algn="l">
              <a:lnSpc>
                <a:spcPct val="112000"/>
              </a:lnSpc>
            </a:pPr>
            <a:r>
              <a:rPr lang="en-US" sz="950" b="1" i="0">
                <a:solidFill>
                  <a:srgbClr val="1A1A1A"/>
                </a:solidFill>
                <a:latin typeface="Arial" panose="020B0604020202020204"/>
              </a:rPr>
              <a:t>Instant incident</a:t>
            </a:r>
            <a:endParaRPr lang="en-US" sz="950" b="1" i="0">
              <a:solidFill>
                <a:srgbClr val="1A1A1A"/>
              </a:solidFill>
              <a:latin typeface="Arial" panose="020B0604020202020204"/>
            </a:endParaRPr>
          </a:p>
          <a:p>
            <a:pPr algn="l">
              <a:lnSpc>
                <a:spcPct val="112000"/>
              </a:lnSpc>
            </a:pPr>
            <a:r>
              <a:rPr lang="en-US" sz="800" b="0" i="0">
                <a:solidFill>
                  <a:srgbClr val="5F6368"/>
                </a:solidFill>
                <a:latin typeface="Arial" panose="020B0604020202020204"/>
              </a:rPr>
              <a:t>created the moment the call starts, with location</a:t>
            </a:r>
            <a:endParaRPr lang="en-US" sz="800" b="0" i="0">
              <a:solidFill>
                <a:srgbClr val="5F6368"/>
              </a:solidFill>
              <a:latin typeface="Arial" panose="020B0604020202020204"/>
            </a:endParaRPr>
          </a:p>
        </p:txBody>
      </p:sp>
      <p:sp>
        <p:nvSpPr>
          <p:cNvPr id="93" name="Oval 92"/>
          <p:cNvSpPr/>
          <p:nvPr/>
        </p:nvSpPr>
        <p:spPr>
          <a:xfrm>
            <a:off x="4846320" y="3575304"/>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4</a:t>
            </a:r>
            <a:endParaRPr lang="en-US" sz="850" b="1" i="0">
              <a:solidFill>
                <a:srgbClr val="FFFFFF"/>
              </a:solidFill>
              <a:latin typeface="Arial" panose="020B0604020202020204"/>
            </a:endParaRPr>
          </a:p>
        </p:txBody>
      </p:sp>
      <p:sp>
        <p:nvSpPr>
          <p:cNvPr id="94" name="TextBox 93"/>
          <p:cNvSpPr txBox="1"/>
          <p:nvPr/>
        </p:nvSpPr>
        <p:spPr>
          <a:xfrm>
            <a:off x="5157216" y="3547872"/>
            <a:ext cx="1737360" cy="566928"/>
          </a:xfrm>
          <a:prstGeom prst="rect">
            <a:avLst/>
          </a:prstGeom>
          <a:noFill/>
        </p:spPr>
        <p:txBody>
          <a:bodyPr wrap="square" lIns="0" tIns="0" rIns="0" bIns="0" anchor="t"/>
          <a:lstStyle/>
          <a:p>
            <a:pPr algn="l">
              <a:lnSpc>
                <a:spcPct val="112000"/>
              </a:lnSpc>
            </a:pPr>
            <a:r>
              <a:rPr lang="en-US" sz="950" b="1" i="0">
                <a:solidFill>
                  <a:srgbClr val="1A1A1A"/>
                </a:solidFill>
                <a:latin typeface="Arial" panose="020B0604020202020204"/>
              </a:rPr>
              <a:t>Live, not after</a:t>
            </a:r>
            <a:endParaRPr lang="en-US" sz="950" b="1" i="0">
              <a:solidFill>
                <a:srgbClr val="1A1A1A"/>
              </a:solidFill>
              <a:latin typeface="Arial" panose="020B0604020202020204"/>
            </a:endParaRPr>
          </a:p>
          <a:p>
            <a:pPr algn="l">
              <a:lnSpc>
                <a:spcPct val="112000"/>
              </a:lnSpc>
            </a:pPr>
            <a:r>
              <a:rPr lang="en-US" sz="800" b="0" i="0">
                <a:solidFill>
                  <a:srgbClr val="5F6368"/>
                </a:solidFill>
                <a:latin typeface="Arial" panose="020B0604020202020204"/>
              </a:rPr>
              <a:t>facts stream to responders field by field</a:t>
            </a:r>
            <a:endParaRPr lang="en-US" sz="800" b="0" i="0">
              <a:solidFill>
                <a:srgbClr val="5F6368"/>
              </a:solidFill>
              <a:latin typeface="Arial" panose="020B0604020202020204"/>
            </a:endParaRPr>
          </a:p>
        </p:txBody>
      </p:sp>
      <p:sp>
        <p:nvSpPr>
          <p:cNvPr id="95" name="Oval 94"/>
          <p:cNvSpPr/>
          <p:nvPr/>
        </p:nvSpPr>
        <p:spPr>
          <a:xfrm>
            <a:off x="4846320" y="4178808"/>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5</a:t>
            </a:r>
            <a:endParaRPr lang="en-US" sz="850" b="1" i="0">
              <a:solidFill>
                <a:srgbClr val="FFFFFF"/>
              </a:solidFill>
              <a:latin typeface="Arial" panose="020B0604020202020204"/>
            </a:endParaRPr>
          </a:p>
        </p:txBody>
      </p:sp>
      <p:sp>
        <p:nvSpPr>
          <p:cNvPr id="96" name="TextBox 95"/>
          <p:cNvSpPr txBox="1"/>
          <p:nvPr/>
        </p:nvSpPr>
        <p:spPr>
          <a:xfrm>
            <a:off x="5157216" y="4151376"/>
            <a:ext cx="1737360" cy="566928"/>
          </a:xfrm>
          <a:prstGeom prst="rect">
            <a:avLst/>
          </a:prstGeom>
          <a:noFill/>
        </p:spPr>
        <p:txBody>
          <a:bodyPr wrap="square" lIns="0" tIns="0" rIns="0" bIns="0" anchor="t"/>
          <a:lstStyle/>
          <a:p>
            <a:pPr algn="l">
              <a:lnSpc>
                <a:spcPct val="112000"/>
              </a:lnSpc>
            </a:pPr>
            <a:r>
              <a:rPr lang="en-US" sz="950" b="1" i="0">
                <a:solidFill>
                  <a:srgbClr val="1A1A1A"/>
                </a:solidFill>
                <a:latin typeface="Arial" panose="020B0604020202020204"/>
              </a:rPr>
              <a:t>Two-way</a:t>
            </a:r>
            <a:endParaRPr lang="en-US" sz="950" b="1" i="0">
              <a:solidFill>
                <a:srgbClr val="1A1A1A"/>
              </a:solidFill>
              <a:latin typeface="Arial" panose="020B0604020202020204"/>
            </a:endParaRPr>
          </a:p>
          <a:p>
            <a:pPr algn="l">
              <a:lnSpc>
                <a:spcPct val="112000"/>
              </a:lnSpc>
            </a:pPr>
            <a:r>
              <a:rPr lang="en-US" sz="800" b="0" i="0">
                <a:solidFill>
                  <a:srgbClr val="5F6368"/>
                </a:solidFill>
                <a:latin typeface="Arial" panose="020B0604020202020204"/>
              </a:rPr>
              <a:t>route to safety, first aid, responder messages via Mia</a:t>
            </a:r>
            <a:endParaRPr lang="en-US" sz="800" b="0" i="0">
              <a:solidFill>
                <a:srgbClr val="5F6368"/>
              </a:solidFill>
              <a:latin typeface="Arial" panose="020B0604020202020204"/>
            </a:endParaRPr>
          </a:p>
        </p:txBody>
      </p:sp>
      <p:sp>
        <p:nvSpPr>
          <p:cNvPr id="97" name="Rounded Rectangle 96"/>
          <p:cNvSpPr/>
          <p:nvPr/>
        </p:nvSpPr>
        <p:spPr>
          <a:xfrm>
            <a:off x="7040880" y="1737360"/>
            <a:ext cx="1737360" cy="2194560"/>
          </a:xfrm>
          <a:prstGeom prst="roundRect">
            <a:avLst>
              <a:gd name="adj" fmla="val 6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28016" rIns="128016" bIns="128016" rtlCol="0" anchor="t"/>
          <a:lstStyle/>
          <a:p>
            <a:pPr algn="l"/>
            <a:r>
              <a:rPr lang="en-US" sz="2600" b="1" i="0">
                <a:solidFill>
                  <a:srgbClr val="FFFFFF"/>
                </a:solidFill>
                <a:latin typeface="Arial" panose="020B0604020202020204"/>
              </a:rPr>
              <a:t>“</a:t>
            </a:r>
            <a:endParaRPr lang="en-US" sz="2600" b="1" i="0">
              <a:solidFill>
                <a:srgbClr val="FFFFFF"/>
              </a:solidFill>
              <a:latin typeface="Arial" panose="020B0604020202020204"/>
            </a:endParaRPr>
          </a:p>
          <a:p>
            <a:pPr algn="l"/>
            <a:r>
              <a:rPr lang="en-US" sz="1250" b="1" i="0">
                <a:solidFill>
                  <a:srgbClr val="FFFFFF"/>
                </a:solidFill>
                <a:latin typeface="Arial" panose="020B0604020202020204"/>
              </a:rPr>
              <a:t>The only emergency line that looks like ordering dinner, and teaches its own code while you talk.</a:t>
            </a:r>
            <a:endParaRPr lang="en-US" sz="1250" b="1" i="0">
              <a:solidFill>
                <a:srgbClr val="FFFFFF"/>
              </a:solidFill>
              <a:latin typeface="Arial" panose="020B0604020202020204"/>
            </a:endParaRPr>
          </a:p>
        </p:txBody>
      </p:sp>
      <p:sp>
        <p:nvSpPr>
          <p:cNvPr id="98" name="Rounded Rectangle 97"/>
          <p:cNvSpPr/>
          <p:nvPr/>
        </p:nvSpPr>
        <p:spPr>
          <a:xfrm>
            <a:off x="7040880" y="4023360"/>
            <a:ext cx="1737360" cy="749808"/>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800" b="0" i="0">
                <a:solidFill>
                  <a:srgbClr val="1A1A1A"/>
                </a:solidFill>
                <a:latin typeface="Arial" panose="020B0604020202020204"/>
              </a:rPr>
              <a:t>No product we found combines </a:t>
            </a:r>
            <a:r>
              <a:rPr lang="en-US" sz="800" b="1" i="0">
                <a:solidFill>
                  <a:srgbClr val="1A1A1A"/>
                </a:solidFill>
                <a:latin typeface="Arial" panose="020B0604020202020204"/>
              </a:rPr>
              <a:t>all four columns</a:t>
            </a:r>
            <a:r>
              <a:rPr lang="en-US" sz="800" b="0" i="0">
                <a:solidFill>
                  <a:srgbClr val="1A1A1A"/>
                </a:solidFill>
                <a:latin typeface="Arial" panose="020B0604020202020204"/>
              </a:rPr>
              <a:t> (desk research, Oct 2026).</a:t>
            </a:r>
            <a:endParaRPr lang="en-US" sz="800" b="0" i="0">
              <a:solidFill>
                <a:srgbClr val="1A1A1A"/>
              </a:solidFill>
              <a:latin typeface="Arial" panose="020B0604020202020204"/>
            </a:endParaRPr>
          </a:p>
        </p:txBody>
      </p:sp>
      <p:sp>
        <p:nvSpPr>
          <p:cNvPr id="99" name="Footnote"/>
          <p:cNvSpPr txBox="1"/>
          <p:nvPr/>
        </p:nvSpPr>
        <p:spPr>
          <a:xfrm>
            <a:off x="365760" y="4846320"/>
            <a:ext cx="8412480" cy="182880"/>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Sources: NENA via CNN (Nov 2019); Oregon, Ohio “pizza” 911 call (ABC7/WTOL, Nov 2019); Aspire News, Himmat Plus, bSafe, Ask for Angela public pages.</a:t>
            </a:r>
            <a:endParaRPr lang="en-US" sz="650" b="0" i="0">
              <a:solidFill>
                <a:srgbClr val="5F6368"/>
              </a:solidFill>
              <a:latin typeface="Arial" panose="020B06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87" name="Google Shape;87;p17"/>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List of features offered by the solution</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88"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A complete loop: four hidden ways in, one AI that listens, one console that acts</a:t>
            </a:r>
            <a:endParaRPr lang="en-US" sz="1300" b="1" i="0">
              <a:solidFill>
                <a:srgbClr val="E8590C"/>
              </a:solidFill>
              <a:latin typeface="Arial" panose="020B0604020202020204"/>
            </a:endParaRPr>
          </a:p>
        </p:txBody>
      </p:sp>
      <p:sp>
        <p:nvSpPr>
          <p:cNvPr id="89" name="Rounded Rectangle 88"/>
          <p:cNvSpPr/>
          <p:nvPr/>
        </p:nvSpPr>
        <p:spPr>
          <a:xfrm>
            <a:off x="365760" y="1353312"/>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475488" y="1463040"/>
            <a:ext cx="256032" cy="256032"/>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1</a:t>
            </a:r>
            <a:endParaRPr lang="en-US" sz="850" b="1" i="0">
              <a:solidFill>
                <a:srgbClr val="FFFFFF"/>
              </a:solidFill>
              <a:latin typeface="Arial" panose="020B0604020202020204"/>
            </a:endParaRPr>
          </a:p>
        </p:txBody>
      </p:sp>
      <p:sp>
        <p:nvSpPr>
          <p:cNvPr id="91" name="TextBox 90"/>
          <p:cNvSpPr txBox="1"/>
          <p:nvPr/>
        </p:nvSpPr>
        <p:spPr>
          <a:xfrm>
            <a:off x="804672" y="1444752"/>
            <a:ext cx="2221991" cy="292608"/>
          </a:xfrm>
          <a:prstGeom prst="rect">
            <a:avLst/>
          </a:prstGeom>
          <a:noFill/>
        </p:spPr>
        <p:txBody>
          <a:bodyPr wrap="square" lIns="0" tIns="0" rIns="0" bIns="0" anchor="ctr"/>
          <a:lstStyle/>
          <a:p>
            <a:pPr algn="l">
              <a:lnSpc>
                <a:spcPct val="112000"/>
              </a:lnSpc>
            </a:pPr>
            <a:r>
              <a:rPr lang="en-US" sz="1100" b="1" i="0">
                <a:solidFill>
                  <a:srgbClr val="1A1A1A"/>
                </a:solidFill>
                <a:latin typeface="Arial" panose="020B0604020202020204"/>
              </a:rPr>
              <a:t>Four ways in</a:t>
            </a:r>
            <a:endParaRPr lang="en-US" sz="1100" b="1" i="0">
              <a:solidFill>
                <a:srgbClr val="1A1A1A"/>
              </a:solidFill>
              <a:latin typeface="Arial" panose="020B0604020202020204"/>
            </a:endParaRPr>
          </a:p>
        </p:txBody>
      </p:sp>
      <p:sp>
        <p:nvSpPr>
          <p:cNvPr id="92" name="TextBox 91"/>
          <p:cNvSpPr txBox="1"/>
          <p:nvPr/>
        </p:nvSpPr>
        <p:spPr>
          <a:xfrm>
            <a:off x="493776" y="1792224"/>
            <a:ext cx="2505456" cy="1152144"/>
          </a:xfrm>
          <a:prstGeom prst="rect">
            <a:avLst/>
          </a:prstGeom>
          <a:noFill/>
        </p:spPr>
        <p:txBody>
          <a:bodyPr wrap="square" lIns="0" tIns="0" rIns="0" bIns="0" anchor="t"/>
          <a:lstStyle/>
          <a:p>
            <a:pPr algn="l">
              <a:lnSpc>
                <a:spcPct val="112000"/>
              </a:lnSpc>
              <a:spcAft>
                <a:spcPts val="250"/>
              </a:spcAft>
            </a:pPr>
            <a:r>
              <a:rPr lang="en-US" sz="850" b="1" i="0">
                <a:solidFill>
                  <a:srgbClr val="E8590C"/>
                </a:solidFill>
                <a:latin typeface="Arial" panose="020B0604020202020204"/>
              </a:rPr>
              <a:t>• </a:t>
            </a:r>
            <a:r>
              <a:rPr lang="en-US" sz="850" b="0" i="0">
                <a:solidFill>
                  <a:srgbClr val="1A1A1A"/>
                </a:solidFill>
                <a:latin typeface="Arial" panose="020B0604020202020204"/>
              </a:rPr>
              <a:t>Call to order: live call with Mia</a:t>
            </a:r>
            <a:endParaRPr lang="en-US" sz="850" b="0" i="0">
              <a:solidFill>
                <a:srgbClr val="1A1A1A"/>
              </a:solidFill>
              <a:latin typeface="Arial" panose="020B0604020202020204"/>
            </a:endParaRPr>
          </a:p>
          <a:p>
            <a:pPr algn="l">
              <a:lnSpc>
                <a:spcPct val="112000"/>
              </a:lnSpc>
              <a:spcAft>
                <a:spcPts val="250"/>
              </a:spcAft>
            </a:pPr>
            <a:r>
              <a:rPr lang="en-US" sz="850" b="1" i="0">
                <a:solidFill>
                  <a:srgbClr val="E8590C"/>
                </a:solidFill>
                <a:latin typeface="Arial" panose="020B0604020202020204"/>
              </a:rPr>
              <a:t>• </a:t>
            </a:r>
            <a:r>
              <a:rPr lang="en-US" sz="850" b="0" i="0">
                <a:solidFill>
                  <a:srgbClr val="1A1A1A"/>
                </a:solidFill>
                <a:latin typeface="Arial" panose="020B0604020202020204"/>
              </a:rPr>
              <a:t>Click &amp; order: coded cart, tracking mirrors the response</a:t>
            </a:r>
            <a:endParaRPr lang="en-US" sz="850" b="0" i="0">
              <a:solidFill>
                <a:srgbClr val="1A1A1A"/>
              </a:solidFill>
              <a:latin typeface="Arial" panose="020B0604020202020204"/>
            </a:endParaRPr>
          </a:p>
          <a:p>
            <a:pPr algn="l">
              <a:lnSpc>
                <a:spcPct val="112000"/>
              </a:lnSpc>
              <a:spcAft>
                <a:spcPts val="250"/>
              </a:spcAft>
            </a:pPr>
            <a:r>
              <a:rPr lang="en-US" sz="850" b="1" i="0">
                <a:solidFill>
                  <a:srgbClr val="E8590C"/>
                </a:solidFill>
                <a:latin typeface="Arial" panose="020B0604020202020204"/>
              </a:rPr>
              <a:t>• </a:t>
            </a:r>
            <a:r>
              <a:rPr lang="en-US" sz="850" b="0" i="0">
                <a:solidFill>
                  <a:srgbClr val="1A1A1A"/>
                </a:solidFill>
                <a:latin typeface="Arial" panose="020B0604020202020204"/>
              </a:rPr>
              <a:t>Delivery instructions: silent taps + photo read by Gemini</a:t>
            </a:r>
            <a:endParaRPr lang="en-US" sz="850" b="0" i="0">
              <a:solidFill>
                <a:srgbClr val="1A1A1A"/>
              </a:solidFill>
              <a:latin typeface="Arial" panose="020B0604020202020204"/>
            </a:endParaRPr>
          </a:p>
          <a:p>
            <a:pPr algn="l">
              <a:lnSpc>
                <a:spcPct val="112000"/>
              </a:lnSpc>
              <a:spcAft>
                <a:spcPts val="250"/>
              </a:spcAft>
            </a:pPr>
            <a:r>
              <a:rPr lang="en-US" sz="850" b="1" i="0">
                <a:solidFill>
                  <a:srgbClr val="E8590C"/>
                </a:solidFill>
                <a:latin typeface="Arial" panose="020B0604020202020204"/>
              </a:rPr>
              <a:t>• </a:t>
            </a:r>
            <a:r>
              <a:rPr lang="en-US" sz="850" b="0" i="0">
                <a:solidFill>
                  <a:srgbClr val="1A1A1A"/>
                </a:solidFill>
                <a:latin typeface="Arial" panose="020B0604020202020204"/>
              </a:rPr>
              <a:t>Heart double-tap SOS: “phone off” screen, both cameras, silent AI observer</a:t>
            </a:r>
            <a:endParaRPr lang="en-US" sz="850" b="0" i="0">
              <a:solidFill>
                <a:srgbClr val="1A1A1A"/>
              </a:solidFill>
              <a:latin typeface="Arial" panose="020B0604020202020204"/>
            </a:endParaRPr>
          </a:p>
        </p:txBody>
      </p:sp>
      <p:sp>
        <p:nvSpPr>
          <p:cNvPr id="93" name="Rounded Rectangle 92"/>
          <p:cNvSpPr/>
          <p:nvPr/>
        </p:nvSpPr>
        <p:spPr>
          <a:xfrm>
            <a:off x="3209544" y="1353312"/>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3319272" y="1463040"/>
            <a:ext cx="256032" cy="256032"/>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2</a:t>
            </a:r>
            <a:endParaRPr lang="en-US" sz="850" b="1" i="0">
              <a:solidFill>
                <a:srgbClr val="FFFFFF"/>
              </a:solidFill>
              <a:latin typeface="Arial" panose="020B0604020202020204"/>
            </a:endParaRPr>
          </a:p>
        </p:txBody>
      </p:sp>
      <p:sp>
        <p:nvSpPr>
          <p:cNvPr id="95" name="TextBox 94"/>
          <p:cNvSpPr txBox="1"/>
          <p:nvPr/>
        </p:nvSpPr>
        <p:spPr>
          <a:xfrm>
            <a:off x="3648456" y="1444752"/>
            <a:ext cx="2221991" cy="292608"/>
          </a:xfrm>
          <a:prstGeom prst="rect">
            <a:avLst/>
          </a:prstGeom>
          <a:noFill/>
        </p:spPr>
        <p:txBody>
          <a:bodyPr wrap="square" lIns="0" tIns="0" rIns="0" bIns="0" anchor="ctr"/>
          <a:lstStyle/>
          <a:p>
            <a:pPr algn="l">
              <a:lnSpc>
                <a:spcPct val="112000"/>
              </a:lnSpc>
            </a:pPr>
            <a:r>
              <a:rPr lang="en-US" sz="1100" b="1" i="0">
                <a:solidFill>
                  <a:srgbClr val="1A1A1A"/>
                </a:solidFill>
                <a:latin typeface="Arial" panose="020B0604020202020204"/>
              </a:rPr>
              <a:t>Mia, on Gemini Live</a:t>
            </a:r>
            <a:endParaRPr lang="en-US" sz="1100" b="1" i="0">
              <a:solidFill>
                <a:srgbClr val="1A1A1A"/>
              </a:solidFill>
              <a:latin typeface="Arial" panose="020B0604020202020204"/>
            </a:endParaRPr>
          </a:p>
        </p:txBody>
      </p:sp>
      <p:sp>
        <p:nvSpPr>
          <p:cNvPr id="96" name="TextBox 95"/>
          <p:cNvSpPr txBox="1"/>
          <p:nvPr/>
        </p:nvSpPr>
        <p:spPr>
          <a:xfrm>
            <a:off x="3337560" y="1792224"/>
            <a:ext cx="2505456" cy="1152144"/>
          </a:xfrm>
          <a:prstGeom prst="rect">
            <a:avLst/>
          </a:prstGeom>
          <a:noFill/>
        </p:spPr>
        <p:txBody>
          <a:bodyPr wrap="square" lIns="0" tIns="0" rIns="0" bIns="0" anchor="t"/>
          <a:lstStyle/>
          <a:p>
            <a:pPr algn="l">
              <a:lnSpc>
                <a:spcPct val="112000"/>
              </a:lnSpc>
              <a:spcAft>
                <a:spcPts val="250"/>
              </a:spcAft>
            </a:pPr>
            <a:r>
              <a:rPr lang="en-US" sz="850" b="1" i="0">
                <a:solidFill>
                  <a:srgbClr val="1A73E8"/>
                </a:solidFill>
                <a:latin typeface="Arial" panose="020B0604020202020204"/>
              </a:rPr>
              <a:t>• </a:t>
            </a:r>
            <a:r>
              <a:rPr lang="en-US" sz="850" b="0" i="0">
                <a:solidFill>
                  <a:srgbClr val="1A1A1A"/>
                </a:solidFill>
                <a:latin typeface="Arial" panose="020B0604020202020204"/>
              </a:rPr>
              <a:t>Meaning spoken with every code; covert and open modes</a:t>
            </a:r>
            <a:endParaRPr lang="en-US" sz="850" b="0" i="0">
              <a:solidFill>
                <a:srgbClr val="1A1A1A"/>
              </a:solidFill>
              <a:latin typeface="Arial" panose="020B0604020202020204"/>
            </a:endParaRPr>
          </a:p>
          <a:p>
            <a:pPr algn="l">
              <a:lnSpc>
                <a:spcPct val="112000"/>
              </a:lnSpc>
              <a:spcAft>
                <a:spcPts val="250"/>
              </a:spcAft>
            </a:pPr>
            <a:r>
              <a:rPr lang="en-US" sz="850" b="1" i="0">
                <a:solidFill>
                  <a:srgbClr val="1A73E8"/>
                </a:solidFill>
                <a:latin typeface="Arial" panose="020B0604020202020204"/>
              </a:rPr>
              <a:t>• </a:t>
            </a:r>
            <a:r>
              <a:rPr lang="en-US" sz="850" b="0" i="0">
                <a:solidFill>
                  <a:srgbClr val="1A1A1A"/>
                </a:solidFill>
                <a:latin typeface="Arial" panose="020B0604020202020204"/>
              </a:rPr>
              <a:t>12 function-calling tools, live extraction</a:t>
            </a:r>
            <a:endParaRPr lang="en-US" sz="850" b="0" i="0">
              <a:solidFill>
                <a:srgbClr val="1A1A1A"/>
              </a:solidFill>
              <a:latin typeface="Arial" panose="020B0604020202020204"/>
            </a:endParaRPr>
          </a:p>
          <a:p>
            <a:pPr algn="l">
              <a:lnSpc>
                <a:spcPct val="112000"/>
              </a:lnSpc>
              <a:spcAft>
                <a:spcPts val="250"/>
              </a:spcAft>
            </a:pPr>
            <a:r>
              <a:rPr lang="en-US" sz="850" b="1" i="0">
                <a:solidFill>
                  <a:srgbClr val="1A73E8"/>
                </a:solidFill>
                <a:latin typeface="Arial" panose="020B0604020202020204"/>
              </a:rPr>
              <a:t>• </a:t>
            </a:r>
            <a:r>
              <a:rPr lang="en-US" sz="850" b="0" i="0">
                <a:solidFill>
                  <a:srgbClr val="1A1A1A"/>
                </a:solidFill>
                <a:latin typeface="Arial" panose="020B0604020202020204"/>
              </a:rPr>
              <a:t>English, Malayalam, Hindi, Tamil, Manglish, Hinglish</a:t>
            </a:r>
            <a:endParaRPr lang="en-US" sz="850" b="0" i="0">
              <a:solidFill>
                <a:srgbClr val="1A1A1A"/>
              </a:solidFill>
              <a:latin typeface="Arial" panose="020B0604020202020204"/>
            </a:endParaRPr>
          </a:p>
          <a:p>
            <a:pPr algn="l">
              <a:lnSpc>
                <a:spcPct val="112000"/>
              </a:lnSpc>
              <a:spcAft>
                <a:spcPts val="250"/>
              </a:spcAft>
            </a:pPr>
            <a:r>
              <a:rPr lang="en-US" sz="850" b="1" i="0">
                <a:solidFill>
                  <a:srgbClr val="1A73E8"/>
                </a:solidFill>
                <a:latin typeface="Arial" panose="020B0604020202020204"/>
              </a:rPr>
              <a:t>• </a:t>
            </a:r>
            <a:r>
              <a:rPr lang="en-US" sz="850" b="0" i="0">
                <a:solidFill>
                  <a:srgbClr val="1A1A1A"/>
                </a:solidFill>
                <a:latin typeface="Arial" panose="020B0604020202020204"/>
              </a:rPr>
              <a:t>Voice stress, coercion signals, camera + sound evidence</a:t>
            </a:r>
            <a:endParaRPr lang="en-US" sz="850" b="0" i="0">
              <a:solidFill>
                <a:srgbClr val="1A1A1A"/>
              </a:solidFill>
              <a:latin typeface="Arial" panose="020B0604020202020204"/>
            </a:endParaRPr>
          </a:p>
        </p:txBody>
      </p:sp>
      <p:sp>
        <p:nvSpPr>
          <p:cNvPr id="97" name="Rounded Rectangle 96"/>
          <p:cNvSpPr/>
          <p:nvPr/>
        </p:nvSpPr>
        <p:spPr>
          <a:xfrm>
            <a:off x="6053328" y="1353312"/>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6163056" y="1463040"/>
            <a:ext cx="256032" cy="256032"/>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3</a:t>
            </a:r>
            <a:endParaRPr lang="en-US" sz="850" b="1" i="0">
              <a:solidFill>
                <a:srgbClr val="FFFFFF"/>
              </a:solidFill>
              <a:latin typeface="Arial" panose="020B0604020202020204"/>
            </a:endParaRPr>
          </a:p>
        </p:txBody>
      </p:sp>
      <p:sp>
        <p:nvSpPr>
          <p:cNvPr id="99" name="TextBox 98"/>
          <p:cNvSpPr txBox="1"/>
          <p:nvPr/>
        </p:nvSpPr>
        <p:spPr>
          <a:xfrm>
            <a:off x="6492240" y="1444752"/>
            <a:ext cx="2221991" cy="292608"/>
          </a:xfrm>
          <a:prstGeom prst="rect">
            <a:avLst/>
          </a:prstGeom>
          <a:noFill/>
        </p:spPr>
        <p:txBody>
          <a:bodyPr wrap="square" lIns="0" tIns="0" rIns="0" bIns="0" anchor="ctr"/>
          <a:lstStyle/>
          <a:p>
            <a:pPr algn="l">
              <a:lnSpc>
                <a:spcPct val="112000"/>
              </a:lnSpc>
            </a:pPr>
            <a:r>
              <a:rPr lang="en-US" sz="1100" b="1" i="0">
                <a:solidFill>
                  <a:srgbClr val="1A1A1A"/>
                </a:solidFill>
                <a:latin typeface="Arial" panose="020B0604020202020204"/>
              </a:rPr>
              <a:t>Getting to safety</a:t>
            </a:r>
            <a:endParaRPr lang="en-US" sz="1100" b="1" i="0">
              <a:solidFill>
                <a:srgbClr val="1A1A1A"/>
              </a:solidFill>
              <a:latin typeface="Arial" panose="020B0604020202020204"/>
            </a:endParaRPr>
          </a:p>
        </p:txBody>
      </p:sp>
      <p:sp>
        <p:nvSpPr>
          <p:cNvPr id="100" name="TextBox 99"/>
          <p:cNvSpPr txBox="1"/>
          <p:nvPr/>
        </p:nvSpPr>
        <p:spPr>
          <a:xfrm>
            <a:off x="6181344" y="1792224"/>
            <a:ext cx="2505456" cy="1152144"/>
          </a:xfrm>
          <a:prstGeom prst="rect">
            <a:avLst/>
          </a:prstGeom>
          <a:noFill/>
        </p:spPr>
        <p:txBody>
          <a:bodyPr wrap="square" lIns="0" tIns="0" rIns="0" bIns="0" anchor="t"/>
          <a:lstStyle/>
          <a:p>
            <a:pPr algn="l">
              <a:lnSpc>
                <a:spcPct val="112000"/>
              </a:lnSpc>
              <a:spcAft>
                <a:spcPts val="250"/>
              </a:spcAft>
            </a:pPr>
            <a:r>
              <a:rPr lang="en-US" sz="850" b="1" i="0">
                <a:solidFill>
                  <a:srgbClr val="2F9E44"/>
                </a:solidFill>
                <a:latin typeface="Arial" panose="020B0604020202020204"/>
              </a:rPr>
              <a:t>• </a:t>
            </a:r>
            <a:r>
              <a:rPr lang="en-US" sz="850" b="0" i="0">
                <a:solidFill>
                  <a:srgbClr val="1A1A1A"/>
                </a:solidFill>
                <a:latin typeface="Arial" panose="020B0604020202020204"/>
              </a:rPr>
              <a:t>GPS with IP fallback; spoken address confirmed and geocoded</a:t>
            </a:r>
            <a:endParaRPr lang="en-US" sz="850" b="0" i="0">
              <a:solidFill>
                <a:srgbClr val="1A1A1A"/>
              </a:solidFill>
              <a:latin typeface="Arial" panose="020B0604020202020204"/>
            </a:endParaRPr>
          </a:p>
          <a:p>
            <a:pPr algn="l">
              <a:lnSpc>
                <a:spcPct val="112000"/>
              </a:lnSpc>
              <a:spcAft>
                <a:spcPts val="250"/>
              </a:spcAft>
            </a:pPr>
            <a:r>
              <a:rPr lang="en-US" sz="850" b="1" i="0">
                <a:solidFill>
                  <a:srgbClr val="2F9E44"/>
                </a:solidFill>
                <a:latin typeface="Arial" panose="020B0604020202020204"/>
              </a:rPr>
              <a:t>• </a:t>
            </a:r>
            <a:r>
              <a:rPr lang="en-US" sz="850" b="0" i="0">
                <a:solidFill>
                  <a:srgbClr val="1A1A1A"/>
                </a:solidFill>
                <a:latin typeface="Arial" panose="020B0604020202020204"/>
              </a:rPr>
              <a:t>Turn-by-turn route to police, hospital or fire, with landmarks</a:t>
            </a:r>
            <a:endParaRPr lang="en-US" sz="850" b="0" i="0">
              <a:solidFill>
                <a:srgbClr val="1A1A1A"/>
              </a:solidFill>
              <a:latin typeface="Arial" panose="020B0604020202020204"/>
            </a:endParaRPr>
          </a:p>
          <a:p>
            <a:pPr algn="l">
              <a:lnSpc>
                <a:spcPct val="112000"/>
              </a:lnSpc>
              <a:spcAft>
                <a:spcPts val="250"/>
              </a:spcAft>
            </a:pPr>
            <a:r>
              <a:rPr lang="en-US" sz="850" b="1" i="0">
                <a:solidFill>
                  <a:srgbClr val="2F9E44"/>
                </a:solidFill>
                <a:latin typeface="Arial" panose="020B0604020202020204"/>
              </a:rPr>
              <a:t>• </a:t>
            </a:r>
            <a:r>
              <a:rPr lang="en-US" sz="850" b="0" i="0">
                <a:solidFill>
                  <a:srgbClr val="1A1A1A"/>
                </a:solidFill>
                <a:latin typeface="Arial" panose="020B0604020202020204"/>
              </a:rPr>
              <a:t>Directions disguised as “meet the rider”</a:t>
            </a:r>
            <a:endParaRPr lang="en-US" sz="850" b="0" i="0">
              <a:solidFill>
                <a:srgbClr val="1A1A1A"/>
              </a:solidFill>
              <a:latin typeface="Arial" panose="020B0604020202020204"/>
            </a:endParaRPr>
          </a:p>
          <a:p>
            <a:pPr algn="l">
              <a:lnSpc>
                <a:spcPct val="112000"/>
              </a:lnSpc>
              <a:spcAft>
                <a:spcPts val="250"/>
              </a:spcAft>
            </a:pPr>
            <a:r>
              <a:rPr lang="en-US" sz="850" b="1" i="0">
                <a:solidFill>
                  <a:srgbClr val="2F9E44"/>
                </a:solidFill>
                <a:latin typeface="Arial" panose="020B0604020202020204"/>
              </a:rPr>
              <a:t>• </a:t>
            </a:r>
            <a:r>
              <a:rPr lang="en-US" sz="850" b="0" i="0">
                <a:solidFill>
                  <a:srgbClr val="1A1A1A"/>
                </a:solidFill>
                <a:latin typeface="Arial" panose="020B0604020202020204"/>
              </a:rPr>
              <a:t>Open-mode first aid; responder messages relayed by Mia</a:t>
            </a:r>
            <a:endParaRPr lang="en-US" sz="850" b="0" i="0">
              <a:solidFill>
                <a:srgbClr val="1A1A1A"/>
              </a:solidFill>
              <a:latin typeface="Arial" panose="020B0604020202020204"/>
            </a:endParaRPr>
          </a:p>
        </p:txBody>
      </p:sp>
      <p:sp>
        <p:nvSpPr>
          <p:cNvPr id="101" name="Rounded Rectangle 100"/>
          <p:cNvSpPr/>
          <p:nvPr/>
        </p:nvSpPr>
        <p:spPr>
          <a:xfrm>
            <a:off x="365760" y="3072384"/>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475488" y="3182112"/>
            <a:ext cx="256032" cy="256032"/>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4</a:t>
            </a:r>
            <a:endParaRPr lang="en-US" sz="850" b="1" i="0">
              <a:solidFill>
                <a:srgbClr val="FFFFFF"/>
              </a:solidFill>
              <a:latin typeface="Arial" panose="020B0604020202020204"/>
            </a:endParaRPr>
          </a:p>
        </p:txBody>
      </p:sp>
      <p:sp>
        <p:nvSpPr>
          <p:cNvPr id="103" name="TextBox 102"/>
          <p:cNvSpPr txBox="1"/>
          <p:nvPr/>
        </p:nvSpPr>
        <p:spPr>
          <a:xfrm>
            <a:off x="804672" y="3163824"/>
            <a:ext cx="2221991" cy="292608"/>
          </a:xfrm>
          <a:prstGeom prst="rect">
            <a:avLst/>
          </a:prstGeom>
          <a:noFill/>
        </p:spPr>
        <p:txBody>
          <a:bodyPr wrap="square" lIns="0" tIns="0" rIns="0" bIns="0" anchor="ctr"/>
          <a:lstStyle/>
          <a:p>
            <a:pPr algn="l">
              <a:lnSpc>
                <a:spcPct val="112000"/>
              </a:lnSpc>
            </a:pPr>
            <a:r>
              <a:rPr lang="en-US" sz="1100" b="1" i="0">
                <a:solidFill>
                  <a:srgbClr val="1A1A1A"/>
                </a:solidFill>
                <a:latin typeface="Arial" panose="020B0604020202020204"/>
              </a:rPr>
              <a:t>After the call</a:t>
            </a:r>
            <a:endParaRPr lang="en-US" sz="1100" b="1" i="0">
              <a:solidFill>
                <a:srgbClr val="1A1A1A"/>
              </a:solidFill>
              <a:latin typeface="Arial" panose="020B0604020202020204"/>
            </a:endParaRPr>
          </a:p>
        </p:txBody>
      </p:sp>
      <p:sp>
        <p:nvSpPr>
          <p:cNvPr id="104" name="TextBox 103"/>
          <p:cNvSpPr txBox="1"/>
          <p:nvPr/>
        </p:nvSpPr>
        <p:spPr>
          <a:xfrm>
            <a:off x="493776" y="3511296"/>
            <a:ext cx="2505456" cy="1152144"/>
          </a:xfrm>
          <a:prstGeom prst="rect">
            <a:avLst/>
          </a:prstGeom>
          <a:noFill/>
        </p:spPr>
        <p:txBody>
          <a:bodyPr wrap="square" lIns="0" tIns="0" rIns="0" bIns="0" anchor="t"/>
          <a:lstStyle/>
          <a:p>
            <a:pPr algn="l">
              <a:lnSpc>
                <a:spcPct val="112000"/>
              </a:lnSpc>
              <a:spcAft>
                <a:spcPts val="250"/>
              </a:spcAft>
            </a:pPr>
            <a:r>
              <a:rPr lang="en-US" sz="850" b="1" i="0">
                <a:solidFill>
                  <a:srgbClr val="E8590C"/>
                </a:solidFill>
                <a:latin typeface="Arial" panose="020B0604020202020204"/>
              </a:rPr>
              <a:t>• </a:t>
            </a:r>
            <a:r>
              <a:rPr lang="en-US" sz="850" b="0" i="0">
                <a:solidFill>
                  <a:srgbClr val="1A1A1A"/>
                </a:solidFill>
                <a:latin typeface="Arial" panose="020B0604020202020204"/>
              </a:rPr>
              <a:t>Case summary with field confidence + dispatch bulletin</a:t>
            </a:r>
            <a:endParaRPr lang="en-US" sz="850" b="0" i="0">
              <a:solidFill>
                <a:srgbClr val="1A1A1A"/>
              </a:solidFill>
              <a:latin typeface="Arial" panose="020B0604020202020204"/>
            </a:endParaRPr>
          </a:p>
          <a:p>
            <a:pPr algn="l">
              <a:lnSpc>
                <a:spcPct val="112000"/>
              </a:lnSpc>
              <a:spcAft>
                <a:spcPts val="250"/>
              </a:spcAft>
            </a:pPr>
            <a:r>
              <a:rPr lang="en-US" sz="850" b="1" i="0">
                <a:solidFill>
                  <a:srgbClr val="E8590C"/>
                </a:solidFill>
                <a:latin typeface="Arial" panose="020B0604020202020204"/>
              </a:rPr>
              <a:t>• </a:t>
            </a:r>
            <a:r>
              <a:rPr lang="en-US" sz="850" b="0" i="0">
                <a:solidFill>
                  <a:srgbClr val="1A1A1A"/>
                </a:solidFill>
                <a:latin typeface="Arial" panose="020B0604020202020204"/>
              </a:rPr>
              <a:t>Third-party details redacted; linked cases found</a:t>
            </a:r>
            <a:endParaRPr lang="en-US" sz="850" b="0" i="0">
              <a:solidFill>
                <a:srgbClr val="1A1A1A"/>
              </a:solidFill>
              <a:latin typeface="Arial" panose="020B0604020202020204"/>
            </a:endParaRPr>
          </a:p>
          <a:p>
            <a:pPr algn="l">
              <a:lnSpc>
                <a:spcPct val="112000"/>
              </a:lnSpc>
              <a:spcAft>
                <a:spcPts val="250"/>
              </a:spcAft>
            </a:pPr>
            <a:r>
              <a:rPr lang="en-US" sz="850" b="1" i="0">
                <a:solidFill>
                  <a:srgbClr val="E8590C"/>
                </a:solidFill>
                <a:latin typeface="Arial" panose="020B0604020202020204"/>
              </a:rPr>
              <a:t>• </a:t>
            </a:r>
            <a:r>
              <a:rPr lang="en-US" sz="850" b="0" i="0">
                <a:solidFill>
                  <a:srgbClr val="1A1A1A"/>
                </a:solidFill>
                <a:latin typeface="Arial" panose="020B0604020202020204"/>
              </a:rPr>
              <a:t>Case-report email (PDF, scene sketch, map)</a:t>
            </a:r>
            <a:endParaRPr lang="en-US" sz="850" b="0" i="0">
              <a:solidFill>
                <a:srgbClr val="1A1A1A"/>
              </a:solidFill>
              <a:latin typeface="Arial" panose="020B0604020202020204"/>
            </a:endParaRPr>
          </a:p>
          <a:p>
            <a:pPr algn="l">
              <a:lnSpc>
                <a:spcPct val="112000"/>
              </a:lnSpc>
              <a:spcAft>
                <a:spcPts val="250"/>
              </a:spcAft>
            </a:pPr>
            <a:r>
              <a:rPr lang="en-US" sz="850" b="1" i="0">
                <a:solidFill>
                  <a:srgbClr val="E8590C"/>
                </a:solidFill>
                <a:latin typeface="Arial" panose="020B0604020202020204"/>
              </a:rPr>
              <a:t>• </a:t>
            </a:r>
            <a:r>
              <a:rPr lang="en-US" sz="850" b="0" i="0">
                <a:solidFill>
                  <a:srgbClr val="1A1A1A"/>
                </a:solidFill>
                <a:latin typeface="Arial" panose="020B0604020202020204"/>
              </a:rPr>
              <a:t>Trusted-contact alert; recordings saved to Drive</a:t>
            </a:r>
            <a:endParaRPr lang="en-US" sz="850" b="0" i="0">
              <a:solidFill>
                <a:srgbClr val="1A1A1A"/>
              </a:solidFill>
              <a:latin typeface="Arial" panose="020B0604020202020204"/>
            </a:endParaRPr>
          </a:p>
        </p:txBody>
      </p:sp>
      <p:sp>
        <p:nvSpPr>
          <p:cNvPr id="105" name="Rounded Rectangle 104"/>
          <p:cNvSpPr/>
          <p:nvPr/>
        </p:nvSpPr>
        <p:spPr>
          <a:xfrm>
            <a:off x="3209544" y="3072384"/>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3319272" y="3182112"/>
            <a:ext cx="256032" cy="256032"/>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5</a:t>
            </a:r>
            <a:endParaRPr lang="en-US" sz="850" b="1" i="0">
              <a:solidFill>
                <a:srgbClr val="FFFFFF"/>
              </a:solidFill>
              <a:latin typeface="Arial" panose="020B0604020202020204"/>
            </a:endParaRPr>
          </a:p>
        </p:txBody>
      </p:sp>
      <p:sp>
        <p:nvSpPr>
          <p:cNvPr id="107" name="TextBox 106"/>
          <p:cNvSpPr txBox="1"/>
          <p:nvPr/>
        </p:nvSpPr>
        <p:spPr>
          <a:xfrm>
            <a:off x="3648456" y="3163824"/>
            <a:ext cx="2221991" cy="292608"/>
          </a:xfrm>
          <a:prstGeom prst="rect">
            <a:avLst/>
          </a:prstGeom>
          <a:noFill/>
        </p:spPr>
        <p:txBody>
          <a:bodyPr wrap="square" lIns="0" tIns="0" rIns="0" bIns="0" anchor="ctr"/>
          <a:lstStyle/>
          <a:p>
            <a:pPr algn="l">
              <a:lnSpc>
                <a:spcPct val="112000"/>
              </a:lnSpc>
            </a:pPr>
            <a:r>
              <a:rPr lang="en-US" sz="1100" b="1" i="0">
                <a:solidFill>
                  <a:srgbClr val="1A1A1A"/>
                </a:solidFill>
                <a:latin typeface="Arial" panose="020B0604020202020204"/>
              </a:rPr>
              <a:t>Responder console</a:t>
            </a:r>
            <a:endParaRPr lang="en-US" sz="1100" b="1" i="0">
              <a:solidFill>
                <a:srgbClr val="1A1A1A"/>
              </a:solidFill>
              <a:latin typeface="Arial" panose="020B0604020202020204"/>
            </a:endParaRPr>
          </a:p>
        </p:txBody>
      </p:sp>
      <p:sp>
        <p:nvSpPr>
          <p:cNvPr id="108" name="TextBox 107"/>
          <p:cNvSpPr txBox="1"/>
          <p:nvPr/>
        </p:nvSpPr>
        <p:spPr>
          <a:xfrm>
            <a:off x="3337560" y="3511296"/>
            <a:ext cx="2505456" cy="1152144"/>
          </a:xfrm>
          <a:prstGeom prst="rect">
            <a:avLst/>
          </a:prstGeom>
          <a:noFill/>
        </p:spPr>
        <p:txBody>
          <a:bodyPr wrap="square" lIns="0" tIns="0" rIns="0" bIns="0" anchor="t"/>
          <a:lstStyle/>
          <a:p>
            <a:pPr algn="l">
              <a:lnSpc>
                <a:spcPct val="112000"/>
              </a:lnSpc>
              <a:spcAft>
                <a:spcPts val="250"/>
              </a:spcAft>
            </a:pPr>
            <a:r>
              <a:rPr lang="en-US" sz="850" b="1" i="0">
                <a:solidFill>
                  <a:srgbClr val="1A73E8"/>
                </a:solidFill>
                <a:latin typeface="Arial" panose="020B0604020202020204"/>
              </a:rPr>
              <a:t>• </a:t>
            </a:r>
            <a:r>
              <a:rPr lang="en-US" sz="850" b="0" i="0">
                <a:solidFill>
                  <a:srgbClr val="1A1A1A"/>
                </a:solidFill>
                <a:latin typeface="Arial" panose="020B0604020202020204"/>
              </a:rPr>
              <a:t>Ranked live queue, critical alerts, “N” for next urgent</a:t>
            </a:r>
            <a:endParaRPr lang="en-US" sz="850" b="0" i="0">
              <a:solidFill>
                <a:srgbClr val="1A1A1A"/>
              </a:solidFill>
              <a:latin typeface="Arial" panose="020B0604020202020204"/>
            </a:endParaRPr>
          </a:p>
          <a:p>
            <a:pPr algn="l">
              <a:lnSpc>
                <a:spcPct val="112000"/>
              </a:lnSpc>
              <a:spcAft>
                <a:spcPts val="250"/>
              </a:spcAft>
            </a:pPr>
            <a:r>
              <a:rPr lang="en-US" sz="850" b="1" i="0">
                <a:solidFill>
                  <a:srgbClr val="1A73E8"/>
                </a:solidFill>
                <a:latin typeface="Arial" panose="020B0604020202020204"/>
              </a:rPr>
              <a:t>• </a:t>
            </a:r>
            <a:r>
              <a:rPr lang="en-US" sz="850" b="0" i="0">
                <a:solidFill>
                  <a:srgbClr val="1A1A1A"/>
                </a:solidFill>
                <a:latin typeface="Arial" panose="020B0604020202020204"/>
              </a:rPr>
              <a:t>Map case board: 8 evidence tiles, scene sketch</a:t>
            </a:r>
            <a:endParaRPr lang="en-US" sz="850" b="0" i="0">
              <a:solidFill>
                <a:srgbClr val="1A1A1A"/>
              </a:solidFill>
              <a:latin typeface="Arial" panose="020B0604020202020204"/>
            </a:endParaRPr>
          </a:p>
          <a:p>
            <a:pPr algn="l">
              <a:lnSpc>
                <a:spcPct val="112000"/>
              </a:lnSpc>
              <a:spcAft>
                <a:spcPts val="250"/>
              </a:spcAft>
            </a:pPr>
            <a:r>
              <a:rPr lang="en-US" sz="850" b="1" i="0">
                <a:solidFill>
                  <a:srgbClr val="1A73E8"/>
                </a:solidFill>
                <a:latin typeface="Arial" panose="020B0604020202020204"/>
              </a:rPr>
              <a:t>• </a:t>
            </a:r>
            <a:r>
              <a:rPr lang="en-US" sz="850" b="0" i="0">
                <a:solidFill>
                  <a:srgbClr val="1A1A1A"/>
                </a:solidFill>
                <a:latin typeface="Arial" panose="020B0604020202020204"/>
              </a:rPr>
              <a:t>Live transcript with codes decoded, live video, listen-in</a:t>
            </a:r>
            <a:endParaRPr lang="en-US" sz="850" b="0" i="0">
              <a:solidFill>
                <a:srgbClr val="1A1A1A"/>
              </a:solidFill>
              <a:latin typeface="Arial" panose="020B0604020202020204"/>
            </a:endParaRPr>
          </a:p>
          <a:p>
            <a:pPr algn="l">
              <a:lnSpc>
                <a:spcPct val="112000"/>
              </a:lnSpc>
              <a:spcAft>
                <a:spcPts val="250"/>
              </a:spcAft>
            </a:pPr>
            <a:r>
              <a:rPr lang="en-US" sz="850" b="1" i="0">
                <a:solidFill>
                  <a:srgbClr val="1A73E8"/>
                </a:solidFill>
                <a:latin typeface="Arial" panose="020B0604020202020204"/>
              </a:rPr>
              <a:t>• </a:t>
            </a:r>
            <a:r>
              <a:rPr lang="en-US" sz="850" b="0" i="0">
                <a:solidFill>
                  <a:srgbClr val="1A1A1A"/>
                </a:solidFill>
                <a:latin typeface="Arial" panose="020B0604020202020204"/>
              </a:rPr>
              <a:t>Replay, claim/resolve, AI search, analytics, insights</a:t>
            </a:r>
            <a:endParaRPr lang="en-US" sz="850" b="0" i="0">
              <a:solidFill>
                <a:srgbClr val="1A1A1A"/>
              </a:solidFill>
              <a:latin typeface="Arial" panose="020B0604020202020204"/>
            </a:endParaRPr>
          </a:p>
        </p:txBody>
      </p:sp>
      <p:sp>
        <p:nvSpPr>
          <p:cNvPr id="109" name="Rounded Rectangle 108"/>
          <p:cNvSpPr/>
          <p:nvPr/>
        </p:nvSpPr>
        <p:spPr>
          <a:xfrm>
            <a:off x="6053328" y="3072384"/>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6163056" y="3182112"/>
            <a:ext cx="256032" cy="256032"/>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6</a:t>
            </a:r>
            <a:endParaRPr lang="en-US" sz="850" b="1" i="0">
              <a:solidFill>
                <a:srgbClr val="FFFFFF"/>
              </a:solidFill>
              <a:latin typeface="Arial" panose="020B0604020202020204"/>
            </a:endParaRPr>
          </a:p>
        </p:txBody>
      </p:sp>
      <p:sp>
        <p:nvSpPr>
          <p:cNvPr id="111" name="TextBox 110"/>
          <p:cNvSpPr txBox="1"/>
          <p:nvPr/>
        </p:nvSpPr>
        <p:spPr>
          <a:xfrm>
            <a:off x="6492240" y="3163824"/>
            <a:ext cx="2221991" cy="292608"/>
          </a:xfrm>
          <a:prstGeom prst="rect">
            <a:avLst/>
          </a:prstGeom>
          <a:noFill/>
        </p:spPr>
        <p:txBody>
          <a:bodyPr wrap="square" lIns="0" tIns="0" rIns="0" bIns="0" anchor="ctr"/>
          <a:lstStyle/>
          <a:p>
            <a:pPr algn="l">
              <a:lnSpc>
                <a:spcPct val="112000"/>
              </a:lnSpc>
            </a:pPr>
            <a:r>
              <a:rPr lang="en-US" sz="1100" b="1" i="0">
                <a:solidFill>
                  <a:srgbClr val="1A1A1A"/>
                </a:solidFill>
                <a:latin typeface="Arial" panose="020B0604020202020204"/>
              </a:rPr>
              <a:t>Disguise &amp; security</a:t>
            </a:r>
            <a:endParaRPr lang="en-US" sz="1100" b="1" i="0">
              <a:solidFill>
                <a:srgbClr val="1A1A1A"/>
              </a:solidFill>
              <a:latin typeface="Arial" panose="020B0604020202020204"/>
            </a:endParaRPr>
          </a:p>
        </p:txBody>
      </p:sp>
      <p:sp>
        <p:nvSpPr>
          <p:cNvPr id="112" name="TextBox 111"/>
          <p:cNvSpPr txBox="1"/>
          <p:nvPr/>
        </p:nvSpPr>
        <p:spPr>
          <a:xfrm>
            <a:off x="6181344" y="3511296"/>
            <a:ext cx="2505456" cy="1152144"/>
          </a:xfrm>
          <a:prstGeom prst="rect">
            <a:avLst/>
          </a:prstGeom>
          <a:noFill/>
        </p:spPr>
        <p:txBody>
          <a:bodyPr wrap="square" lIns="0" tIns="0" rIns="0" bIns="0" anchor="t"/>
          <a:lstStyle/>
          <a:p>
            <a:pPr algn="l">
              <a:lnSpc>
                <a:spcPct val="112000"/>
              </a:lnSpc>
              <a:spcAft>
                <a:spcPts val="250"/>
              </a:spcAft>
            </a:pPr>
            <a:r>
              <a:rPr lang="en-US" sz="850" b="1" i="0">
                <a:solidFill>
                  <a:srgbClr val="2F9E44"/>
                </a:solidFill>
                <a:latin typeface="Arial" panose="020B0604020202020204"/>
              </a:rPr>
              <a:t>• </a:t>
            </a:r>
            <a:r>
              <a:rPr lang="en-US" sz="850" b="0" i="0">
                <a:solidFill>
                  <a:srgbClr val="1A1A1A"/>
                </a:solidFill>
                <a:latin typeface="Arial" panose="020B0604020202020204"/>
              </a:rPr>
              <a:t>Zero-trace exit: no way back to the call</a:t>
            </a:r>
            <a:endParaRPr lang="en-US" sz="850" b="0" i="0">
              <a:solidFill>
                <a:srgbClr val="1A1A1A"/>
              </a:solidFill>
              <a:latin typeface="Arial" panose="020B0604020202020204"/>
            </a:endParaRPr>
          </a:p>
          <a:p>
            <a:pPr algn="l">
              <a:lnSpc>
                <a:spcPct val="112000"/>
              </a:lnSpc>
              <a:spcAft>
                <a:spcPts val="250"/>
              </a:spcAft>
            </a:pPr>
            <a:r>
              <a:rPr lang="en-US" sz="850" b="1" i="0">
                <a:solidFill>
                  <a:srgbClr val="2F9E44"/>
                </a:solidFill>
                <a:latin typeface="Arial" panose="020B0604020202020204"/>
              </a:rPr>
              <a:t>• </a:t>
            </a:r>
            <a:r>
              <a:rPr lang="en-US" sz="850" b="0" i="0">
                <a:solidFill>
                  <a:srgbClr val="1A1A1A"/>
                </a:solidFill>
                <a:latin typeface="Arial" panose="020B0604020202020204"/>
              </a:rPr>
              <a:t>Food-app wording on every permission prompt</a:t>
            </a:r>
            <a:endParaRPr lang="en-US" sz="850" b="0" i="0">
              <a:solidFill>
                <a:srgbClr val="1A1A1A"/>
              </a:solidFill>
              <a:latin typeface="Arial" panose="020B0604020202020204"/>
            </a:endParaRPr>
          </a:p>
          <a:p>
            <a:pPr algn="l">
              <a:lnSpc>
                <a:spcPct val="112000"/>
              </a:lnSpc>
              <a:spcAft>
                <a:spcPts val="250"/>
              </a:spcAft>
            </a:pPr>
            <a:r>
              <a:rPr lang="en-US" sz="850" b="1" i="0">
                <a:solidFill>
                  <a:srgbClr val="2F9E44"/>
                </a:solidFill>
                <a:latin typeface="Arial" panose="020B0604020202020204"/>
              </a:rPr>
              <a:t>• </a:t>
            </a:r>
            <a:r>
              <a:rPr lang="en-US" sz="850" b="0" i="0">
                <a:solidFill>
                  <a:srgbClr val="1A1A1A"/>
                </a:solidFill>
                <a:latin typeface="Arial" panose="020B0604020202020204"/>
              </a:rPr>
              <a:t>Strict Firestore security rules; role-based responder access</a:t>
            </a:r>
            <a:endParaRPr lang="en-US" sz="850" b="0" i="0">
              <a:solidFill>
                <a:srgbClr val="1A1A1A"/>
              </a:solidFill>
              <a:latin typeface="Arial" panose="020B0604020202020204"/>
            </a:endParaRPr>
          </a:p>
          <a:p>
            <a:pPr algn="l">
              <a:lnSpc>
                <a:spcPct val="112000"/>
              </a:lnSpc>
              <a:spcAft>
                <a:spcPts val="250"/>
              </a:spcAft>
            </a:pPr>
            <a:r>
              <a:rPr lang="en-US" sz="850" b="1" i="0">
                <a:solidFill>
                  <a:srgbClr val="2F9E44"/>
                </a:solidFill>
                <a:latin typeface="Arial" panose="020B0604020202020204"/>
              </a:rPr>
              <a:t>• </a:t>
            </a:r>
            <a:r>
              <a:rPr lang="en-US" sz="850" b="0" i="0">
                <a:solidFill>
                  <a:srgbClr val="1A1A1A"/>
                </a:solidFill>
                <a:latin typeface="Arial" panose="020B0604020202020204"/>
              </a:rPr>
              <a:t>Practice call (long-press logo) never reaches responders</a:t>
            </a:r>
            <a:endParaRPr lang="en-US" sz="850" b="0" i="0">
              <a:solidFill>
                <a:srgbClr val="1A1A1A"/>
              </a:solidFill>
              <a:latin typeface="Arial" panose="020B0604020202020204"/>
            </a:endParaRPr>
          </a:p>
        </p:txBody>
      </p:sp>
      <p:sp>
        <p:nvSpPr>
          <p:cNvPr id="113" name="Footnote"/>
          <p:cNvSpPr txBox="1"/>
          <p:nvPr/>
        </p:nvSpPr>
        <p:spPr>
          <a:xfrm>
            <a:off x="365760" y="4846320"/>
            <a:ext cx="8412480" cy="182880"/>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All features above are built and running in the deployed web app.</a:t>
            </a:r>
            <a:endParaRPr lang="en-US" sz="650" b="0" i="0">
              <a:solidFill>
                <a:srgbClr val="5F6368"/>
              </a:solidFill>
              <a:latin typeface="Arial" panose="020B060402020202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95" name="Google Shape;95;p18"/>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Process flow diagram or Use-case diagram</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96"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The incident exists before Priya finishes her first sentence</a:t>
            </a:r>
            <a:endParaRPr lang="en-US" sz="1300" b="1" i="0">
              <a:solidFill>
                <a:srgbClr val="E8590C"/>
              </a:solidFill>
              <a:latin typeface="Arial" panose="020B0604020202020204"/>
            </a:endParaRPr>
          </a:p>
        </p:txBody>
      </p:sp>
      <p:sp>
        <p:nvSpPr>
          <p:cNvPr id="97" name="Rounded Rectangle 96"/>
          <p:cNvSpPr/>
          <p:nvPr/>
        </p:nvSpPr>
        <p:spPr>
          <a:xfrm>
            <a:off x="365760" y="1335024"/>
            <a:ext cx="8412480" cy="795528"/>
          </a:xfrm>
          <a:prstGeom prst="roundRect">
            <a:avLst>
              <a:gd name="adj" fmla="val 4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438912" y="1335024"/>
            <a:ext cx="868680" cy="795528"/>
          </a:xfrm>
          <a:prstGeom prst="rect">
            <a:avLst/>
          </a:prstGeom>
          <a:noFill/>
        </p:spPr>
        <p:txBody>
          <a:bodyPr wrap="square" lIns="0" tIns="0" rIns="0" bIns="0" anchor="ctr"/>
          <a:lstStyle/>
          <a:p>
            <a:pPr algn="l">
              <a:lnSpc>
                <a:spcPct val="112000"/>
              </a:lnSpc>
            </a:pPr>
            <a:r>
              <a:rPr lang="en-US" sz="850" b="1" i="0">
                <a:solidFill>
                  <a:srgbClr val="E8590C"/>
                </a:solidFill>
                <a:latin typeface="Arial" panose="020B0604020202020204"/>
              </a:rPr>
              <a:t>Caller
(QuickBite)</a:t>
            </a:r>
            <a:endParaRPr lang="en-US" sz="850" b="1" i="0">
              <a:solidFill>
                <a:srgbClr val="E8590C"/>
              </a:solidFill>
              <a:latin typeface="Arial" panose="020B0604020202020204"/>
            </a:endParaRPr>
          </a:p>
        </p:txBody>
      </p:sp>
      <p:sp>
        <p:nvSpPr>
          <p:cNvPr id="99" name="Rounded Rectangle 98"/>
          <p:cNvSpPr/>
          <p:nvPr/>
        </p:nvSpPr>
        <p:spPr>
          <a:xfrm>
            <a:off x="365760" y="2167128"/>
            <a:ext cx="8412480" cy="795528"/>
          </a:xfrm>
          <a:prstGeom prst="roundRect">
            <a:avLst>
              <a:gd name="adj" fmla="val 4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438912" y="2167128"/>
            <a:ext cx="868680" cy="795528"/>
          </a:xfrm>
          <a:prstGeom prst="rect">
            <a:avLst/>
          </a:prstGeom>
          <a:noFill/>
        </p:spPr>
        <p:txBody>
          <a:bodyPr wrap="square" lIns="0" tIns="0" rIns="0" bIns="0" anchor="ctr"/>
          <a:lstStyle/>
          <a:p>
            <a:pPr algn="l">
              <a:lnSpc>
                <a:spcPct val="112000"/>
              </a:lnSpc>
            </a:pPr>
            <a:r>
              <a:rPr lang="en-US" sz="850" b="1" i="0">
                <a:solidFill>
                  <a:srgbClr val="1A73E8"/>
                </a:solidFill>
                <a:latin typeface="Arial" panose="020B0604020202020204"/>
              </a:rPr>
              <a:t>Gemini</a:t>
            </a:r>
            <a:endParaRPr lang="en-US" sz="850" b="1" i="0">
              <a:solidFill>
                <a:srgbClr val="1A73E8"/>
              </a:solidFill>
              <a:latin typeface="Arial" panose="020B0604020202020204"/>
            </a:endParaRPr>
          </a:p>
        </p:txBody>
      </p:sp>
      <p:sp>
        <p:nvSpPr>
          <p:cNvPr id="101" name="Rounded Rectangle 100"/>
          <p:cNvSpPr/>
          <p:nvPr/>
        </p:nvSpPr>
        <p:spPr>
          <a:xfrm>
            <a:off x="365760" y="2999232"/>
            <a:ext cx="8412480" cy="795528"/>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438912" y="2999232"/>
            <a:ext cx="868680" cy="795528"/>
          </a:xfrm>
          <a:prstGeom prst="rect">
            <a:avLst/>
          </a:prstGeom>
          <a:noFill/>
        </p:spPr>
        <p:txBody>
          <a:bodyPr wrap="square" lIns="0" tIns="0" rIns="0" bIns="0" anchor="ctr"/>
          <a:lstStyle/>
          <a:p>
            <a:pPr algn="l">
              <a:lnSpc>
                <a:spcPct val="112000"/>
              </a:lnSpc>
            </a:pPr>
            <a:r>
              <a:rPr lang="en-US" sz="850" b="1" i="0">
                <a:solidFill>
                  <a:srgbClr val="5F6368"/>
                </a:solidFill>
                <a:latin typeface="Arial" panose="020B0604020202020204"/>
              </a:rPr>
              <a:t>Firestore
(realtime)</a:t>
            </a:r>
            <a:endParaRPr lang="en-US" sz="850" b="1" i="0">
              <a:solidFill>
                <a:srgbClr val="5F6368"/>
              </a:solidFill>
              <a:latin typeface="Arial" panose="020B0604020202020204"/>
            </a:endParaRPr>
          </a:p>
        </p:txBody>
      </p:sp>
      <p:sp>
        <p:nvSpPr>
          <p:cNvPr id="103" name="Rounded Rectangle 102"/>
          <p:cNvSpPr/>
          <p:nvPr/>
        </p:nvSpPr>
        <p:spPr>
          <a:xfrm>
            <a:off x="365760" y="3831335"/>
            <a:ext cx="8412480" cy="795528"/>
          </a:xfrm>
          <a:prstGeom prst="roundRect">
            <a:avLst>
              <a:gd name="adj" fmla="val 4000"/>
            </a:avLst>
          </a:prstGeom>
          <a:solidFill>
            <a:srgbClr val="E3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438912" y="3831335"/>
            <a:ext cx="868680" cy="795528"/>
          </a:xfrm>
          <a:prstGeom prst="rect">
            <a:avLst/>
          </a:prstGeom>
          <a:noFill/>
        </p:spPr>
        <p:txBody>
          <a:bodyPr wrap="square" lIns="0" tIns="0" rIns="0" bIns="0" anchor="ctr"/>
          <a:lstStyle/>
          <a:p>
            <a:pPr algn="l">
              <a:lnSpc>
                <a:spcPct val="112000"/>
              </a:lnSpc>
            </a:pPr>
            <a:r>
              <a:rPr lang="en-US" sz="850" b="1" i="0">
                <a:solidFill>
                  <a:srgbClr val="2F9E44"/>
                </a:solidFill>
                <a:latin typeface="Arial" panose="020B0604020202020204"/>
              </a:rPr>
              <a:t>Responder
console</a:t>
            </a:r>
            <a:endParaRPr lang="en-US" sz="850" b="1" i="0">
              <a:solidFill>
                <a:srgbClr val="2F9E44"/>
              </a:solidFill>
              <a:latin typeface="Arial" panose="020B0604020202020204"/>
            </a:endParaRPr>
          </a:p>
        </p:txBody>
      </p:sp>
      <p:sp>
        <p:nvSpPr>
          <p:cNvPr id="105" name="Rounded Rectangle 104"/>
          <p:cNvSpPr/>
          <p:nvPr/>
        </p:nvSpPr>
        <p:spPr>
          <a:xfrm>
            <a:off x="1325880" y="1449324"/>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Opens app, picks a way in: call · cart · silent tap · SOS</a:t>
            </a:r>
            <a:endParaRPr lang="en-US" sz="750" b="0" i="0">
              <a:solidFill>
                <a:srgbClr val="1A1A1A"/>
              </a:solidFill>
              <a:latin typeface="Arial" panose="020B0604020202020204"/>
            </a:endParaRPr>
          </a:p>
        </p:txBody>
      </p:sp>
      <p:sp>
        <p:nvSpPr>
          <p:cNvPr id="106" name="Rounded Rectangle 105"/>
          <p:cNvSpPr/>
          <p:nvPr/>
        </p:nvSpPr>
        <p:spPr>
          <a:xfrm>
            <a:off x="2391156" y="3113532"/>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Incident created at the tap + GPS / IP location</a:t>
            </a:r>
            <a:endParaRPr lang="en-US" sz="750" b="0" i="0">
              <a:solidFill>
                <a:srgbClr val="1A1A1A"/>
              </a:solidFill>
              <a:latin typeface="Arial" panose="020B0604020202020204"/>
            </a:endParaRPr>
          </a:p>
        </p:txBody>
      </p:sp>
      <p:sp>
        <p:nvSpPr>
          <p:cNvPr id="107" name="Rounded Rectangle 106"/>
          <p:cNvSpPr/>
          <p:nvPr/>
        </p:nvSpPr>
        <p:spPr>
          <a:xfrm>
            <a:off x="2391156" y="3945635"/>
            <a:ext cx="969264" cy="566928"/>
          </a:xfrm>
          <a:prstGeom prst="roundRect">
            <a:avLst>
              <a:gd name="adj" fmla="val 12000"/>
            </a:avLst>
          </a:prstGeom>
          <a:solidFill>
            <a:srgbClr val="FFFFFF"/>
          </a:solidFill>
          <a:ln w="9525">
            <a:solidFill>
              <a:srgbClr val="E8590C"/>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Alert rings; pin appears on the map</a:t>
            </a:r>
            <a:endParaRPr lang="en-US" sz="750" b="0" i="0">
              <a:solidFill>
                <a:srgbClr val="1A1A1A"/>
              </a:solidFill>
              <a:latin typeface="Arial" panose="020B0604020202020204"/>
            </a:endParaRPr>
          </a:p>
        </p:txBody>
      </p:sp>
      <p:sp>
        <p:nvSpPr>
          <p:cNvPr id="108" name="Rounded Rectangle 107"/>
          <p:cNvSpPr/>
          <p:nvPr/>
        </p:nvSpPr>
        <p:spPr>
          <a:xfrm>
            <a:off x="3456432" y="2281428"/>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Coded question, meaning in the same breath</a:t>
            </a:r>
            <a:endParaRPr lang="en-US" sz="750" b="0" i="0">
              <a:solidFill>
                <a:srgbClr val="1A1A1A"/>
              </a:solidFill>
              <a:latin typeface="Arial" panose="020B0604020202020204"/>
            </a:endParaRPr>
          </a:p>
        </p:txBody>
      </p:sp>
      <p:sp>
        <p:nvSpPr>
          <p:cNvPr id="109" name="Rounded Rectangle 108"/>
          <p:cNvSpPr/>
          <p:nvPr/>
        </p:nvSpPr>
        <p:spPr>
          <a:xfrm>
            <a:off x="3456432" y="1449324"/>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Answers as if ordering food</a:t>
            </a:r>
            <a:endParaRPr lang="en-US" sz="750" b="0" i="0">
              <a:solidFill>
                <a:srgbClr val="1A1A1A"/>
              </a:solidFill>
              <a:latin typeface="Arial" panose="020B0604020202020204"/>
            </a:endParaRPr>
          </a:p>
        </p:txBody>
      </p:sp>
      <p:sp>
        <p:nvSpPr>
          <p:cNvPr id="110" name="Rounded Rectangle 109"/>
          <p:cNvSpPr/>
          <p:nvPr/>
        </p:nvSpPr>
        <p:spPr>
          <a:xfrm>
            <a:off x="4521708" y="2281428"/>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Tool call → facts: danger, people, urgency, address</a:t>
            </a:r>
            <a:endParaRPr lang="en-US" sz="750" b="0" i="0">
              <a:solidFill>
                <a:srgbClr val="1A1A1A"/>
              </a:solidFill>
              <a:latin typeface="Arial" panose="020B0604020202020204"/>
            </a:endParaRPr>
          </a:p>
        </p:txBody>
      </p:sp>
      <p:sp>
        <p:nvSpPr>
          <p:cNvPr id="111" name="Rounded Rectangle 110"/>
          <p:cNvSpPr/>
          <p:nvPr/>
        </p:nvSpPr>
        <p:spPr>
          <a:xfrm>
            <a:off x="4521708" y="3113532"/>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Live fields; severity by rules in code</a:t>
            </a:r>
            <a:endParaRPr lang="en-US" sz="750" b="0" i="0">
              <a:solidFill>
                <a:srgbClr val="1A1A1A"/>
              </a:solidFill>
              <a:latin typeface="Arial" panose="020B0604020202020204"/>
            </a:endParaRPr>
          </a:p>
        </p:txBody>
      </p:sp>
      <p:sp>
        <p:nvSpPr>
          <p:cNvPr id="112" name="Rounded Rectangle 111"/>
          <p:cNvSpPr/>
          <p:nvPr/>
        </p:nvSpPr>
        <p:spPr>
          <a:xfrm>
            <a:off x="5586984" y="3945635"/>
            <a:ext cx="969264" cy="566928"/>
          </a:xfrm>
          <a:prstGeom prst="roundRect">
            <a:avLst>
              <a:gd name="adj" fmla="val 12000"/>
            </a:avLst>
          </a:prstGeom>
          <a:solidFill>
            <a:srgbClr val="FFFFFF"/>
          </a:solidFill>
          <a:ln w="9525">
            <a:solidFill>
              <a:srgbClr val="E8590C"/>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Acknowledge, respond, message caller</a:t>
            </a:r>
            <a:endParaRPr lang="en-US" sz="750" b="0" i="0">
              <a:solidFill>
                <a:srgbClr val="1A1A1A"/>
              </a:solidFill>
              <a:latin typeface="Arial" panose="020B0604020202020204"/>
            </a:endParaRPr>
          </a:p>
        </p:txBody>
      </p:sp>
      <p:sp>
        <p:nvSpPr>
          <p:cNvPr id="113" name="Rounded Rectangle 112"/>
          <p:cNvSpPr/>
          <p:nvPr/>
        </p:nvSpPr>
        <p:spPr>
          <a:xfrm>
            <a:off x="5586984" y="2281428"/>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Relays message as delivery chat; route to safety</a:t>
            </a:r>
            <a:endParaRPr lang="en-US" sz="750" b="0" i="0">
              <a:solidFill>
                <a:srgbClr val="1A1A1A"/>
              </a:solidFill>
              <a:latin typeface="Arial" panose="020B0604020202020204"/>
            </a:endParaRPr>
          </a:p>
        </p:txBody>
      </p:sp>
      <p:sp>
        <p:nvSpPr>
          <p:cNvPr id="114" name="Rounded Rectangle 113"/>
          <p:cNvSpPr/>
          <p:nvPr/>
        </p:nvSpPr>
        <p:spPr>
          <a:xfrm>
            <a:off x="6652260" y="1449324"/>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Walks to police / hospital; zero-trace exit</a:t>
            </a:r>
            <a:endParaRPr lang="en-US" sz="750" b="0" i="0">
              <a:solidFill>
                <a:srgbClr val="1A1A1A"/>
              </a:solidFill>
              <a:latin typeface="Arial" panose="020B0604020202020204"/>
            </a:endParaRPr>
          </a:p>
        </p:txBody>
      </p:sp>
      <p:sp>
        <p:nvSpPr>
          <p:cNvPr id="115" name="Rounded Rectangle 114"/>
          <p:cNvSpPr/>
          <p:nvPr/>
        </p:nvSpPr>
        <p:spPr>
          <a:xfrm>
            <a:off x="6652260" y="2281428"/>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Post-call: summary, redaction, case linking</a:t>
            </a:r>
            <a:endParaRPr lang="en-US" sz="750" b="0" i="0">
              <a:solidFill>
                <a:srgbClr val="1A1A1A"/>
              </a:solidFill>
              <a:latin typeface="Arial" panose="020B0604020202020204"/>
            </a:endParaRPr>
          </a:p>
        </p:txBody>
      </p:sp>
      <p:sp>
        <p:nvSpPr>
          <p:cNvPr id="116" name="Rounded Rectangle 115"/>
          <p:cNvSpPr/>
          <p:nvPr/>
        </p:nvSpPr>
        <p:spPr>
          <a:xfrm>
            <a:off x="7717536" y="3113532"/>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Case record + report email</a:t>
            </a:r>
            <a:endParaRPr lang="en-US" sz="750" b="0" i="0">
              <a:solidFill>
                <a:srgbClr val="1A1A1A"/>
              </a:solidFill>
              <a:latin typeface="Arial" panose="020B0604020202020204"/>
            </a:endParaRPr>
          </a:p>
        </p:txBody>
      </p:sp>
      <p:sp>
        <p:nvSpPr>
          <p:cNvPr id="117" name="Rounded Rectangle 116"/>
          <p:cNvSpPr/>
          <p:nvPr/>
        </p:nvSpPr>
        <p:spPr>
          <a:xfrm>
            <a:off x="7717536" y="3945635"/>
            <a:ext cx="969264" cy="566928"/>
          </a:xfrm>
          <a:prstGeom prst="roundRect">
            <a:avLst>
              <a:gd name="adj" fmla="val 12000"/>
            </a:avLst>
          </a:prstGeom>
          <a:solidFill>
            <a:srgbClr val="FFFFFF"/>
          </a:solidFill>
          <a:ln w="9525">
            <a:solidFill>
              <a:srgbClr val="E8590C"/>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lnSpc>
                <a:spcPct val="112000"/>
              </a:lnSpc>
            </a:pPr>
            <a:r>
              <a:rPr lang="en-US" sz="750" b="0" i="0">
                <a:solidFill>
                  <a:srgbClr val="1A1A1A"/>
                </a:solidFill>
                <a:latin typeface="Arial" panose="020B0604020202020204"/>
              </a:rPr>
              <a:t>Resolve → caller’s app shows “Delivered”</a:t>
            </a:r>
            <a:endParaRPr lang="en-US" sz="750" b="0" i="0">
              <a:solidFill>
                <a:srgbClr val="1A1A1A"/>
              </a:solidFill>
              <a:latin typeface="Arial" panose="020B0604020202020204"/>
            </a:endParaRPr>
          </a:p>
        </p:txBody>
      </p:sp>
      <p:cxnSp>
        <p:nvCxnSpPr>
          <p:cNvPr id="118" name="Connector 117"/>
          <p:cNvCxnSpPr/>
          <p:nvPr/>
        </p:nvCxnSpPr>
        <p:spPr>
          <a:xfrm>
            <a:off x="2295144" y="1732788"/>
            <a:ext cx="96012" cy="1664208"/>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2875788" y="3680460"/>
            <a:ext cx="0" cy="265175"/>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360420" y="2564892"/>
            <a:ext cx="96012" cy="832104"/>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941064" y="2016252"/>
            <a:ext cx="0" cy="265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4425696" y="1732788"/>
            <a:ext cx="96012" cy="832104"/>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006340" y="2848356"/>
            <a:ext cx="0" cy="265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5490972" y="3396996"/>
            <a:ext cx="96012" cy="832103"/>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071616" y="2848356"/>
            <a:ext cx="0" cy="1097279"/>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556248" y="1732788"/>
            <a:ext cx="96012" cy="832104"/>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136892" y="2016252"/>
            <a:ext cx="0" cy="265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621524" y="2564892"/>
            <a:ext cx="96012" cy="832104"/>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8202167" y="3680460"/>
            <a:ext cx="0" cy="265175"/>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365760" y="4681728"/>
            <a:ext cx="8412480" cy="182880"/>
          </a:xfrm>
          <a:prstGeom prst="rect">
            <a:avLst/>
          </a:prstGeom>
          <a:noFill/>
        </p:spPr>
        <p:txBody>
          <a:bodyPr wrap="square" lIns="0" tIns="0" rIns="0" bIns="0" anchor="t"/>
          <a:lstStyle/>
          <a:p>
            <a:pPr algn="l">
              <a:lnSpc>
                <a:spcPct val="112000"/>
              </a:lnSpc>
            </a:pPr>
            <a:r>
              <a:rPr lang="en-US" sz="750" b="1" i="0">
                <a:solidFill>
                  <a:srgbClr val="1A1A1A"/>
                </a:solidFill>
                <a:latin typeface="Arial" panose="020B0604020202020204"/>
              </a:rPr>
              <a:t>Use cases: </a:t>
            </a:r>
            <a:r>
              <a:rPr lang="en-US" sz="750" b="0" i="0">
                <a:solidFill>
                  <a:srgbClr val="5F6368"/>
                </a:solidFill>
                <a:latin typeface="Arial" panose="020B0604020202020204"/>
              </a:rPr>
              <a:t>caller in danger · witness (“for someone else” codes: crime seen, fight, child in danger, fire) · responder · admin.  </a:t>
            </a:r>
            <a:r>
              <a:rPr lang="en-US" sz="750" b="1" i="0">
                <a:solidFill>
                  <a:srgbClr val="1A1A1A"/>
                </a:solidFill>
                <a:latin typeface="Arial" panose="020B0604020202020204"/>
              </a:rPr>
              <a:t>Measured: </a:t>
            </a:r>
            <a:r>
              <a:rPr lang="en-US" sz="750" b="0" i="0">
                <a:solidFill>
                  <a:srgbClr val="5F6368"/>
                </a:solidFill>
                <a:latin typeface="Arial" panose="020B0604020202020204"/>
              </a:rPr>
              <a:t>danger tag on the dashboard before the caller’s line is transcribed (8 real calls)</a:t>
            </a:r>
            <a:endParaRPr lang="en-US" sz="750" b="0" i="0">
              <a:solidFill>
                <a:srgbClr val="5F6368"/>
              </a:solidFill>
              <a:latin typeface="Arial" panose="020B060402020202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03" name="Google Shape;103;p19"/>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Wireframes/Mock diagrams of the proposed solution (optional)</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104"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Every screen passes as a food app; every way to ask for help is an ordinary feature</a:t>
            </a:r>
            <a:endParaRPr lang="en-US" sz="1300" b="1" i="0">
              <a:solidFill>
                <a:srgbClr val="E8590C"/>
              </a:solidFill>
              <a:latin typeface="Arial" panose="020B0604020202020204"/>
            </a:endParaRPr>
          </a:p>
        </p:txBody>
      </p:sp>
      <p:sp>
        <p:nvSpPr>
          <p:cNvPr id="105" name="Rounded Rectangle 104"/>
          <p:cNvSpPr/>
          <p:nvPr/>
        </p:nvSpPr>
        <p:spPr>
          <a:xfrm>
            <a:off x="384048"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434340" y="1376172"/>
            <a:ext cx="1362456" cy="293522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qb-home.png"/>
          <p:cNvPicPr>
            <a:picLocks noChangeAspect="1"/>
          </p:cNvPicPr>
          <p:nvPr/>
        </p:nvPicPr>
        <p:blipFill>
          <a:blip r:embed="rId3"/>
          <a:srcRect b="303"/>
          <a:stretch>
            <a:fillRect/>
          </a:stretch>
        </p:blipFill>
        <p:spPr>
          <a:xfrm>
            <a:off x="434340" y="1376172"/>
            <a:ext cx="1362456" cy="2935224"/>
          </a:xfrm>
          <a:prstGeom prst="rect">
            <a:avLst/>
          </a:prstGeom>
        </p:spPr>
      </p:pic>
      <p:sp>
        <p:nvSpPr>
          <p:cNvPr id="108" name="Rounded Rectangle 107"/>
          <p:cNvSpPr/>
          <p:nvPr/>
        </p:nvSpPr>
        <p:spPr>
          <a:xfrm>
            <a:off x="2103120"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ounded Rectangle 108"/>
          <p:cNvSpPr/>
          <p:nvPr/>
        </p:nvSpPr>
        <p:spPr>
          <a:xfrm>
            <a:off x="2153412" y="1376172"/>
            <a:ext cx="1362456" cy="293522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qb-item.png"/>
          <p:cNvPicPr>
            <a:picLocks noChangeAspect="1"/>
          </p:cNvPicPr>
          <p:nvPr/>
        </p:nvPicPr>
        <p:blipFill>
          <a:blip r:embed="rId4"/>
          <a:srcRect b="1554"/>
          <a:stretch>
            <a:fillRect/>
          </a:stretch>
        </p:blipFill>
        <p:spPr>
          <a:xfrm>
            <a:off x="2153412" y="1376172"/>
            <a:ext cx="1362456" cy="2935224"/>
          </a:xfrm>
          <a:prstGeom prst="rect">
            <a:avLst/>
          </a:prstGeom>
        </p:spPr>
      </p:pic>
      <p:sp>
        <p:nvSpPr>
          <p:cNvPr id="111" name="Rounded Rectangle 110"/>
          <p:cNvSpPr/>
          <p:nvPr/>
        </p:nvSpPr>
        <p:spPr>
          <a:xfrm>
            <a:off x="3822191"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3872483" y="1376172"/>
            <a:ext cx="1362456" cy="2935224"/>
          </a:xfrm>
          <a:prstGeom prst="roundRect">
            <a:avLst>
              <a:gd name="adj" fmla="val 9000"/>
            </a:avLst>
          </a:prstGeom>
          <a:solidFill>
            <a:srgbClr val="FF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872483" y="1485900"/>
            <a:ext cx="1362456" cy="182880"/>
          </a:xfrm>
          <a:prstGeom prst="rect">
            <a:avLst/>
          </a:prstGeom>
          <a:noFill/>
        </p:spPr>
        <p:txBody>
          <a:bodyPr wrap="square" lIns="0" tIns="0" rIns="0" bIns="0" anchor="t"/>
          <a:lstStyle/>
          <a:p>
            <a:pPr algn="ctr">
              <a:lnSpc>
                <a:spcPct val="112000"/>
              </a:lnSpc>
            </a:pPr>
            <a:r>
              <a:rPr lang="en-US" sz="800" b="1" i="0">
                <a:solidFill>
                  <a:srgbClr val="1A1A1A"/>
                </a:solidFill>
                <a:latin typeface="Arial" panose="020B0604020202020204"/>
              </a:rPr>
              <a:t>QuickBite Kitchen</a:t>
            </a:r>
            <a:endParaRPr lang="en-US" sz="800" b="1" i="0">
              <a:solidFill>
                <a:srgbClr val="1A1A1A"/>
              </a:solidFill>
              <a:latin typeface="Arial" panose="020B0604020202020204"/>
            </a:endParaRPr>
          </a:p>
        </p:txBody>
      </p:sp>
      <p:sp>
        <p:nvSpPr>
          <p:cNvPr id="114" name="TextBox 113"/>
          <p:cNvSpPr txBox="1"/>
          <p:nvPr/>
        </p:nvSpPr>
        <p:spPr>
          <a:xfrm>
            <a:off x="3872483" y="1650492"/>
            <a:ext cx="1362456" cy="164592"/>
          </a:xfrm>
          <a:prstGeom prst="rect">
            <a:avLst/>
          </a:prstGeom>
          <a:noFill/>
        </p:spPr>
        <p:txBody>
          <a:bodyPr wrap="square" lIns="0" tIns="0" rIns="0" bIns="0" anchor="t"/>
          <a:lstStyle/>
          <a:p>
            <a:pPr algn="ctr">
              <a:lnSpc>
                <a:spcPct val="112000"/>
              </a:lnSpc>
            </a:pPr>
            <a:r>
              <a:rPr lang="en-US" sz="650" b="0" i="0">
                <a:solidFill>
                  <a:srgbClr val="5F6368"/>
                </a:solidFill>
                <a:latin typeface="Arial" panose="020B0604020202020204"/>
              </a:rPr>
              <a:t>Order line · 01:24</a:t>
            </a:r>
            <a:endParaRPr lang="en-US" sz="650" b="0" i="0">
              <a:solidFill>
                <a:srgbClr val="5F6368"/>
              </a:solidFill>
              <a:latin typeface="Arial" panose="020B0604020202020204"/>
            </a:endParaRPr>
          </a:p>
        </p:txBody>
      </p:sp>
      <p:sp>
        <p:nvSpPr>
          <p:cNvPr id="115" name="Oval 114"/>
          <p:cNvSpPr/>
          <p:nvPr/>
        </p:nvSpPr>
        <p:spPr>
          <a:xfrm>
            <a:off x="4352544" y="1851660"/>
            <a:ext cx="402336" cy="402336"/>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50" b="1" i="0">
                <a:solidFill>
                  <a:srgbClr val="FFFFFF"/>
                </a:solidFill>
                <a:latin typeface="Arial" panose="020B0604020202020204"/>
              </a:rPr>
              <a:t>Mia</a:t>
            </a:r>
            <a:endParaRPr lang="en-US" sz="850" b="1" i="0">
              <a:solidFill>
                <a:srgbClr val="FFFFFF"/>
              </a:solidFill>
              <a:latin typeface="Arial" panose="020B0604020202020204"/>
            </a:endParaRPr>
          </a:p>
        </p:txBody>
      </p:sp>
      <p:sp>
        <p:nvSpPr>
          <p:cNvPr id="116" name="Rounded Rectangle 115"/>
          <p:cNvSpPr/>
          <p:nvPr/>
        </p:nvSpPr>
        <p:spPr>
          <a:xfrm>
            <a:off x="3936491" y="2345436"/>
            <a:ext cx="1024128" cy="457200"/>
          </a:xfrm>
          <a:prstGeom prst="roundRect">
            <a:avLst>
              <a:gd name="adj" fmla="val 15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lnSpc>
                <a:spcPct val="112000"/>
              </a:lnSpc>
            </a:pPr>
            <a:r>
              <a:rPr lang="en-US" sz="650" b="0" i="0">
                <a:solidFill>
                  <a:srgbClr val="1A1A1A"/>
                </a:solidFill>
                <a:latin typeface="Arial" panose="020B0604020202020204"/>
              </a:rPr>
              <a:t>Garlic bread on the side? Garlic bread tells me someone is following you.</a:t>
            </a:r>
            <a:endParaRPr lang="en-US" sz="650" b="0" i="0">
              <a:solidFill>
                <a:srgbClr val="1A1A1A"/>
              </a:solidFill>
              <a:latin typeface="Arial" panose="020B0604020202020204"/>
            </a:endParaRPr>
          </a:p>
        </p:txBody>
      </p:sp>
      <p:sp>
        <p:nvSpPr>
          <p:cNvPr id="117" name="Rounded Rectangle 116"/>
          <p:cNvSpPr/>
          <p:nvPr/>
        </p:nvSpPr>
        <p:spPr>
          <a:xfrm>
            <a:off x="4146803" y="2866644"/>
            <a:ext cx="1024128" cy="274320"/>
          </a:xfrm>
          <a:prstGeom prst="roundRect">
            <a:avLst>
              <a:gd name="adj" fmla="val 15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lnSpc>
                <a:spcPct val="112000"/>
              </a:lnSpc>
            </a:pPr>
            <a:r>
              <a:rPr lang="en-US" sz="650" b="0" i="0">
                <a:solidFill>
                  <a:srgbClr val="1A1A1A"/>
                </a:solidFill>
                <a:latin typeface="Arial" panose="020B0604020202020204"/>
              </a:rPr>
              <a:t>Yes, garlic bread please.</a:t>
            </a:r>
            <a:endParaRPr lang="en-US" sz="650" b="0" i="0">
              <a:solidFill>
                <a:srgbClr val="1A1A1A"/>
              </a:solidFill>
              <a:latin typeface="Arial" panose="020B0604020202020204"/>
            </a:endParaRPr>
          </a:p>
        </p:txBody>
      </p:sp>
      <p:sp>
        <p:nvSpPr>
          <p:cNvPr id="118" name="Rounded Rectangle 117"/>
          <p:cNvSpPr/>
          <p:nvPr/>
        </p:nvSpPr>
        <p:spPr>
          <a:xfrm>
            <a:off x="3936491" y="3204972"/>
            <a:ext cx="1024128" cy="457200"/>
          </a:xfrm>
          <a:prstGeom prst="roundRect">
            <a:avLst>
              <a:gd name="adj" fmla="val 15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lnSpc>
                <a:spcPct val="112000"/>
              </a:lnSpc>
            </a:pPr>
            <a:r>
              <a:rPr lang="en-US" sz="650" b="0" i="0">
                <a:solidFill>
                  <a:srgbClr val="1A1A1A"/>
                </a:solidFill>
                <a:latin typeface="Arial" panose="020B0604020202020204"/>
              </a:rPr>
              <a:t>One pizza or two? Two means two people near you.</a:t>
            </a:r>
            <a:endParaRPr lang="en-US" sz="650" b="0" i="0">
              <a:solidFill>
                <a:srgbClr val="1A1A1A"/>
              </a:solidFill>
              <a:latin typeface="Arial" panose="020B0604020202020204"/>
            </a:endParaRPr>
          </a:p>
        </p:txBody>
      </p:sp>
      <p:sp>
        <p:nvSpPr>
          <p:cNvPr id="119" name="Oval 118"/>
          <p:cNvSpPr/>
          <p:nvPr/>
        </p:nvSpPr>
        <p:spPr>
          <a:xfrm>
            <a:off x="4325112" y="3854196"/>
            <a:ext cx="457200"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700" b="1" i="0">
                <a:solidFill>
                  <a:srgbClr val="FFFFFF"/>
                </a:solidFill>
                <a:latin typeface="Arial" panose="020B0604020202020204"/>
              </a:rPr>
              <a:t>End</a:t>
            </a:r>
            <a:endParaRPr lang="en-US" sz="700" b="1" i="0">
              <a:solidFill>
                <a:srgbClr val="FFFFFF"/>
              </a:solidFill>
              <a:latin typeface="Arial" panose="020B0604020202020204"/>
            </a:endParaRPr>
          </a:p>
        </p:txBody>
      </p:sp>
      <p:sp>
        <p:nvSpPr>
          <p:cNvPr id="120" name="Rounded Rectangle 119"/>
          <p:cNvSpPr/>
          <p:nvPr/>
        </p:nvSpPr>
        <p:spPr>
          <a:xfrm>
            <a:off x="5541264"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5591555" y="1376172"/>
            <a:ext cx="1362456" cy="293522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664707" y="1485900"/>
            <a:ext cx="1216152" cy="201168"/>
          </a:xfrm>
          <a:prstGeom prst="rect">
            <a:avLst/>
          </a:prstGeom>
          <a:noFill/>
        </p:spPr>
        <p:txBody>
          <a:bodyPr wrap="square" lIns="0" tIns="0" rIns="0" bIns="0" anchor="t"/>
          <a:lstStyle/>
          <a:p>
            <a:pPr algn="l">
              <a:lnSpc>
                <a:spcPct val="112000"/>
              </a:lnSpc>
            </a:pPr>
            <a:r>
              <a:rPr lang="en-US" sz="800" b="1" i="0">
                <a:solidFill>
                  <a:srgbClr val="1A1A1A"/>
                </a:solidFill>
                <a:latin typeface="Arial" panose="020B0604020202020204"/>
              </a:rPr>
              <a:t>Delivery instructions</a:t>
            </a:r>
            <a:endParaRPr lang="en-US" sz="800" b="1" i="0">
              <a:solidFill>
                <a:srgbClr val="1A1A1A"/>
              </a:solidFill>
              <a:latin typeface="Arial" panose="020B0604020202020204"/>
            </a:endParaRPr>
          </a:p>
        </p:txBody>
      </p:sp>
      <p:sp>
        <p:nvSpPr>
          <p:cNvPr id="123" name="Rounded Rectangle 122"/>
          <p:cNvSpPr/>
          <p:nvPr/>
        </p:nvSpPr>
        <p:spPr>
          <a:xfrm>
            <a:off x="5655564" y="1760219"/>
            <a:ext cx="1234440" cy="246888"/>
          </a:xfrm>
          <a:prstGeom prst="roundRect">
            <a:avLst>
              <a:gd name="adj" fmla="val 2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lnSpc>
                <a:spcPct val="112000"/>
              </a:lnSpc>
            </a:pPr>
            <a:r>
              <a:rPr lang="en-US" sz="650" b="0" i="0">
                <a:solidFill>
                  <a:srgbClr val="1A1A1A"/>
                </a:solidFill>
                <a:latin typeface="Arial" panose="020B0604020202020204"/>
              </a:rPr>
              <a:t>Ring the bell</a:t>
            </a:r>
            <a:endParaRPr lang="en-US" sz="650" b="0" i="0">
              <a:solidFill>
                <a:srgbClr val="1A1A1A"/>
              </a:solidFill>
              <a:latin typeface="Arial" panose="020B0604020202020204"/>
            </a:endParaRPr>
          </a:p>
        </p:txBody>
      </p:sp>
      <p:sp>
        <p:nvSpPr>
          <p:cNvPr id="124" name="Rounded Rectangle 123"/>
          <p:cNvSpPr/>
          <p:nvPr/>
        </p:nvSpPr>
        <p:spPr>
          <a:xfrm>
            <a:off x="5655564" y="2043684"/>
            <a:ext cx="1234440" cy="246888"/>
          </a:xfrm>
          <a:prstGeom prst="roundRect">
            <a:avLst>
              <a:gd name="adj" fmla="val 2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lnSpc>
                <a:spcPct val="112000"/>
              </a:lnSpc>
            </a:pPr>
            <a:r>
              <a:rPr lang="en-US" sz="650" b="0" i="0">
                <a:solidFill>
                  <a:srgbClr val="1A1A1A"/>
                </a:solidFill>
                <a:latin typeface="Arial" panose="020B0604020202020204"/>
              </a:rPr>
              <a:t>Leave at the door</a:t>
            </a:r>
            <a:endParaRPr lang="en-US" sz="650" b="0" i="0">
              <a:solidFill>
                <a:srgbClr val="1A1A1A"/>
              </a:solidFill>
              <a:latin typeface="Arial" panose="020B0604020202020204"/>
            </a:endParaRPr>
          </a:p>
        </p:txBody>
      </p:sp>
      <p:sp>
        <p:nvSpPr>
          <p:cNvPr id="125" name="Rounded Rectangle 124"/>
          <p:cNvSpPr/>
          <p:nvPr/>
        </p:nvSpPr>
        <p:spPr>
          <a:xfrm>
            <a:off x="5655564" y="2327148"/>
            <a:ext cx="1234440" cy="246888"/>
          </a:xfrm>
          <a:prstGeom prst="roundRect">
            <a:avLst>
              <a:gd name="adj" fmla="val 2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lnSpc>
                <a:spcPct val="112000"/>
              </a:lnSpc>
            </a:pPr>
            <a:r>
              <a:rPr lang="en-US" sz="650" b="0" i="0">
                <a:solidFill>
                  <a:srgbClr val="1A1A1A"/>
                </a:solidFill>
                <a:latin typeface="Arial" panose="020B0604020202020204"/>
              </a:rPr>
              <a:t>Call on arrival</a:t>
            </a:r>
            <a:endParaRPr lang="en-US" sz="650" b="0" i="0">
              <a:solidFill>
                <a:srgbClr val="1A1A1A"/>
              </a:solidFill>
              <a:latin typeface="Arial" panose="020B0604020202020204"/>
            </a:endParaRPr>
          </a:p>
        </p:txBody>
      </p:sp>
      <p:sp>
        <p:nvSpPr>
          <p:cNvPr id="126" name="Rounded Rectangle 125"/>
          <p:cNvSpPr/>
          <p:nvPr/>
        </p:nvSpPr>
        <p:spPr>
          <a:xfrm>
            <a:off x="5655564" y="2610612"/>
            <a:ext cx="1234440" cy="246888"/>
          </a:xfrm>
          <a:prstGeom prst="roundRect">
            <a:avLst>
              <a:gd name="adj" fmla="val 2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lnSpc>
                <a:spcPct val="112000"/>
              </a:lnSpc>
            </a:pPr>
            <a:r>
              <a:rPr lang="en-US" sz="650" b="0" i="0">
                <a:solidFill>
                  <a:srgbClr val="1A1A1A"/>
                </a:solidFill>
                <a:latin typeface="Arial" panose="020B0604020202020204"/>
              </a:rPr>
              <a:t>Handle with care — fragile</a:t>
            </a:r>
            <a:endParaRPr lang="en-US" sz="650" b="0" i="0">
              <a:solidFill>
                <a:srgbClr val="1A1A1A"/>
              </a:solidFill>
              <a:latin typeface="Arial" panose="020B0604020202020204"/>
            </a:endParaRPr>
          </a:p>
        </p:txBody>
      </p:sp>
      <p:sp>
        <p:nvSpPr>
          <p:cNvPr id="127" name="Rounded Rectangle 126"/>
          <p:cNvSpPr/>
          <p:nvPr/>
        </p:nvSpPr>
        <p:spPr>
          <a:xfrm>
            <a:off x="5655564" y="2894076"/>
            <a:ext cx="1234440" cy="512064"/>
          </a:xfrm>
          <a:prstGeom prst="roundRect">
            <a:avLst>
              <a:gd name="adj" fmla="val 12000"/>
            </a:avLst>
          </a:prstGeom>
          <a:solidFill>
            <a:srgbClr val="FDEBDF"/>
          </a:solidFill>
          <a:ln w="9525">
            <a:solidFill>
              <a:srgbClr val="E8590C"/>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lnSpc>
                <a:spcPct val="112000"/>
              </a:lnSpc>
            </a:pPr>
            <a:r>
              <a:rPr lang="en-US" sz="650" b="1" i="0">
                <a:solidFill>
                  <a:srgbClr val="1A1A1A"/>
                </a:solidFill>
                <a:latin typeface="Arial" panose="020B0604020202020204"/>
              </a:rPr>
              <a:t>Don't ring, leave silently</a:t>
            </a:r>
            <a:endParaRPr lang="en-US" sz="650" b="1" i="0">
              <a:solidFill>
                <a:srgbClr val="1A1A1A"/>
              </a:solidFill>
              <a:latin typeface="Arial" panose="020B0604020202020204"/>
            </a:endParaRPr>
          </a:p>
          <a:p>
            <a:pPr algn="l">
              <a:lnSpc>
                <a:spcPct val="112000"/>
              </a:lnSpc>
            </a:pPr>
            <a:r>
              <a:rPr lang="en-US" sz="650" b="1" i="0">
                <a:solidFill>
                  <a:srgbClr val="E8590C"/>
                </a:solidFill>
                <a:latin typeface="Arial" panose="020B0604020202020204"/>
              </a:rPr>
              <a:t>A weapon is present: send help urgently</a:t>
            </a:r>
            <a:endParaRPr lang="en-US" sz="650" b="1" i="0">
              <a:solidFill>
                <a:srgbClr val="E8590C"/>
              </a:solidFill>
              <a:latin typeface="Arial" panose="020B0604020202020204"/>
            </a:endParaRPr>
          </a:p>
        </p:txBody>
      </p:sp>
      <p:sp>
        <p:nvSpPr>
          <p:cNvPr id="128" name="Rounded Rectangle 127"/>
          <p:cNvSpPr/>
          <p:nvPr/>
        </p:nvSpPr>
        <p:spPr>
          <a:xfrm>
            <a:off x="5655564" y="3479292"/>
            <a:ext cx="1234440" cy="237744"/>
          </a:xfrm>
          <a:prstGeom prst="roundRect">
            <a:avLst>
              <a:gd name="adj" fmla="val 20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lnSpc>
                <a:spcPct val="112000"/>
              </a:lnSpc>
            </a:pPr>
            <a:r>
              <a:rPr lang="en-US" sz="650" b="0" i="0">
                <a:solidFill>
                  <a:srgbClr val="1A1A1A"/>
                </a:solidFill>
                <a:latin typeface="Arial" panose="020B0604020202020204"/>
              </a:rPr>
              <a:t>+ Add a photo</a:t>
            </a:r>
            <a:endParaRPr lang="en-US" sz="650" b="0" i="0">
              <a:solidFill>
                <a:srgbClr val="1A1A1A"/>
              </a:solidFill>
              <a:latin typeface="Arial" panose="020B0604020202020204"/>
            </a:endParaRPr>
          </a:p>
        </p:txBody>
      </p:sp>
      <p:sp>
        <p:nvSpPr>
          <p:cNvPr id="129" name="Rounded Rectangle 128"/>
          <p:cNvSpPr/>
          <p:nvPr/>
        </p:nvSpPr>
        <p:spPr>
          <a:xfrm>
            <a:off x="5655564" y="3963924"/>
            <a:ext cx="1234440" cy="256032"/>
          </a:xfrm>
          <a:prstGeom prst="roundRect">
            <a:avLst>
              <a:gd name="adj" fmla="val 25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lnSpc>
                <a:spcPct val="112000"/>
              </a:lnSpc>
            </a:pPr>
            <a:r>
              <a:rPr lang="en-US" sz="700" b="1" i="0">
                <a:solidFill>
                  <a:srgbClr val="FFFFFF"/>
                </a:solidFill>
                <a:latin typeface="Arial" panose="020B0604020202020204"/>
              </a:rPr>
              <a:t>Save instructions</a:t>
            </a:r>
            <a:endParaRPr lang="en-US" sz="700" b="1" i="0">
              <a:solidFill>
                <a:srgbClr val="FFFFFF"/>
              </a:solidFill>
              <a:latin typeface="Arial" panose="020B0604020202020204"/>
            </a:endParaRPr>
          </a:p>
        </p:txBody>
      </p:sp>
      <p:sp>
        <p:nvSpPr>
          <p:cNvPr id="130" name="Rounded Rectangle 129"/>
          <p:cNvSpPr/>
          <p:nvPr/>
        </p:nvSpPr>
        <p:spPr>
          <a:xfrm>
            <a:off x="7260336"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7310628" y="1376172"/>
            <a:ext cx="1362456" cy="2935224"/>
          </a:xfrm>
          <a:prstGeom prst="roundRect">
            <a:avLst>
              <a:gd name="adj" fmla="val 9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7310628" y="3927348"/>
            <a:ext cx="1362456" cy="274320"/>
          </a:xfrm>
          <a:prstGeom prst="rect">
            <a:avLst/>
          </a:prstGeom>
          <a:noFill/>
        </p:spPr>
        <p:txBody>
          <a:bodyPr wrap="square" lIns="0" tIns="0" rIns="0" bIns="0" anchor="t"/>
          <a:lstStyle/>
          <a:p>
            <a:pPr algn="ctr">
              <a:lnSpc>
                <a:spcPct val="112000"/>
              </a:lnSpc>
            </a:pPr>
            <a:r>
              <a:rPr lang="en-US" sz="600" b="0" i="0">
                <a:solidFill>
                  <a:srgbClr val="3A3A3A"/>
                </a:solidFill>
                <a:latin typeface="Arial" panose="020B0604020202020204"/>
              </a:rPr>
              <a:t>(three quick taps anywhere to exit)</a:t>
            </a:r>
            <a:endParaRPr lang="en-US" sz="600" b="0" i="0">
              <a:solidFill>
                <a:srgbClr val="3A3A3A"/>
              </a:solidFill>
              <a:latin typeface="Arial" panose="020B0604020202020204"/>
            </a:endParaRPr>
          </a:p>
        </p:txBody>
      </p:sp>
      <p:sp>
        <p:nvSpPr>
          <p:cNvPr id="133" name="TextBox 132"/>
          <p:cNvSpPr txBox="1"/>
          <p:nvPr/>
        </p:nvSpPr>
        <p:spPr>
          <a:xfrm>
            <a:off x="338328" y="4416551"/>
            <a:ext cx="1554480" cy="457200"/>
          </a:xfrm>
          <a:prstGeom prst="rect">
            <a:avLst/>
          </a:prstGeom>
          <a:noFill/>
        </p:spPr>
        <p:txBody>
          <a:bodyPr wrap="square" lIns="0" tIns="0" rIns="0" bIns="0" anchor="t"/>
          <a:lstStyle/>
          <a:p>
            <a:pPr algn="ctr">
              <a:lnSpc>
                <a:spcPct val="112000"/>
              </a:lnSpc>
            </a:pPr>
            <a:r>
              <a:rPr lang="en-US" sz="850" b="1" i="0">
                <a:solidFill>
                  <a:srgbClr val="1A1A1A"/>
                </a:solidFill>
                <a:latin typeface="Arial" panose="020B0604020202020204"/>
              </a:rPr>
              <a:t>Home</a:t>
            </a:r>
            <a:endParaRPr lang="en-US" sz="850" b="1" i="0">
              <a:solidFill>
                <a:srgbClr val="1A1A1A"/>
              </a:solidFill>
              <a:latin typeface="Arial" panose="020B0604020202020204"/>
            </a:endParaRPr>
          </a:p>
          <a:p>
            <a:pPr algn="ctr">
              <a:lnSpc>
                <a:spcPct val="112000"/>
              </a:lnSpc>
            </a:pPr>
            <a:r>
              <a:rPr lang="en-US" sz="750" b="0" i="0">
                <a:solidFill>
                  <a:srgbClr val="5F6368"/>
                </a:solidFill>
                <a:latin typeface="Arial" panose="020B0604020202020204"/>
              </a:rPr>
              <a:t>Looks like any delivery app. The heart hides the SOS.</a:t>
            </a:r>
            <a:endParaRPr lang="en-US" sz="750" b="0" i="0">
              <a:solidFill>
                <a:srgbClr val="5F6368"/>
              </a:solidFill>
              <a:latin typeface="Arial" panose="020B0604020202020204"/>
            </a:endParaRPr>
          </a:p>
        </p:txBody>
      </p:sp>
      <p:sp>
        <p:nvSpPr>
          <p:cNvPr id="134" name="TextBox 133"/>
          <p:cNvSpPr txBox="1"/>
          <p:nvPr/>
        </p:nvSpPr>
        <p:spPr>
          <a:xfrm>
            <a:off x="2057400" y="4416551"/>
            <a:ext cx="1554480" cy="457200"/>
          </a:xfrm>
          <a:prstGeom prst="rect">
            <a:avLst/>
          </a:prstGeom>
          <a:noFill/>
        </p:spPr>
        <p:txBody>
          <a:bodyPr wrap="square" lIns="0" tIns="0" rIns="0" bIns="0" anchor="t"/>
          <a:lstStyle/>
          <a:p>
            <a:pPr algn="ctr">
              <a:lnSpc>
                <a:spcPct val="112000"/>
              </a:lnSpc>
            </a:pPr>
            <a:r>
              <a:rPr lang="en-US" sz="850" b="1" i="0">
                <a:solidFill>
                  <a:srgbClr val="1A1A1A"/>
                </a:solidFill>
                <a:latin typeface="Arial" panose="020B0604020202020204"/>
              </a:rPr>
              <a:t>Item sheet</a:t>
            </a:r>
            <a:endParaRPr lang="en-US" sz="850" b="1" i="0">
              <a:solidFill>
                <a:srgbClr val="1A1A1A"/>
              </a:solidFill>
              <a:latin typeface="Arial" panose="020B0604020202020204"/>
            </a:endParaRPr>
          </a:p>
          <a:p>
            <a:pPr algn="ctr">
              <a:lnSpc>
                <a:spcPct val="112000"/>
              </a:lnSpc>
            </a:pPr>
            <a:r>
              <a:rPr lang="en-US" sz="750" b="0" i="0">
                <a:solidFill>
                  <a:srgbClr val="5F6368"/>
                </a:solidFill>
                <a:latin typeface="Arial" panose="020B0604020202020204"/>
              </a:rPr>
              <a:t>Long-press a coded item to see what it really means.</a:t>
            </a:r>
            <a:endParaRPr lang="en-US" sz="750" b="0" i="0">
              <a:solidFill>
                <a:srgbClr val="5F6368"/>
              </a:solidFill>
              <a:latin typeface="Arial" panose="020B0604020202020204"/>
            </a:endParaRPr>
          </a:p>
        </p:txBody>
      </p:sp>
      <p:sp>
        <p:nvSpPr>
          <p:cNvPr id="135" name="TextBox 134"/>
          <p:cNvSpPr txBox="1"/>
          <p:nvPr/>
        </p:nvSpPr>
        <p:spPr>
          <a:xfrm>
            <a:off x="3776472" y="4416551"/>
            <a:ext cx="1554480" cy="457200"/>
          </a:xfrm>
          <a:prstGeom prst="rect">
            <a:avLst/>
          </a:prstGeom>
          <a:noFill/>
        </p:spPr>
        <p:txBody>
          <a:bodyPr wrap="square" lIns="0" tIns="0" rIns="0" bIns="0" anchor="t"/>
          <a:lstStyle/>
          <a:p>
            <a:pPr algn="ctr">
              <a:lnSpc>
                <a:spcPct val="112000"/>
              </a:lnSpc>
            </a:pPr>
            <a:r>
              <a:rPr lang="en-US" sz="850" b="1" i="0">
                <a:solidFill>
                  <a:srgbClr val="1A1A1A"/>
                </a:solidFill>
                <a:latin typeface="Arial" panose="020B0604020202020204"/>
              </a:rPr>
              <a:t>Call to order (mock)</a:t>
            </a:r>
            <a:endParaRPr lang="en-US" sz="850" b="1" i="0">
              <a:solidFill>
                <a:srgbClr val="1A1A1A"/>
              </a:solidFill>
              <a:latin typeface="Arial" panose="020B0604020202020204"/>
            </a:endParaRPr>
          </a:p>
          <a:p>
            <a:pPr algn="ctr">
              <a:lnSpc>
                <a:spcPct val="112000"/>
              </a:lnSpc>
            </a:pPr>
            <a:r>
              <a:rPr lang="en-US" sz="750" b="0" i="0">
                <a:solidFill>
                  <a:srgbClr val="5F6368"/>
                </a:solidFill>
                <a:latin typeface="Arial" panose="020B0604020202020204"/>
              </a:rPr>
              <a:t>Mia speaks every code’s meaning with it.</a:t>
            </a:r>
            <a:endParaRPr lang="en-US" sz="750" b="0" i="0">
              <a:solidFill>
                <a:srgbClr val="5F6368"/>
              </a:solidFill>
              <a:latin typeface="Arial" panose="020B0604020202020204"/>
            </a:endParaRPr>
          </a:p>
        </p:txBody>
      </p:sp>
      <p:sp>
        <p:nvSpPr>
          <p:cNvPr id="136" name="TextBox 135"/>
          <p:cNvSpPr txBox="1"/>
          <p:nvPr/>
        </p:nvSpPr>
        <p:spPr>
          <a:xfrm>
            <a:off x="5495544" y="4416551"/>
            <a:ext cx="1554480" cy="457200"/>
          </a:xfrm>
          <a:prstGeom prst="rect">
            <a:avLst/>
          </a:prstGeom>
          <a:noFill/>
        </p:spPr>
        <p:txBody>
          <a:bodyPr wrap="square" lIns="0" tIns="0" rIns="0" bIns="0" anchor="t"/>
          <a:lstStyle/>
          <a:p>
            <a:pPr algn="ctr">
              <a:lnSpc>
                <a:spcPct val="112000"/>
              </a:lnSpc>
            </a:pPr>
            <a:r>
              <a:rPr lang="en-US" sz="850" b="1" i="0">
                <a:solidFill>
                  <a:srgbClr val="1A1A1A"/>
                </a:solidFill>
                <a:latin typeface="Arial" panose="020B0604020202020204"/>
              </a:rPr>
              <a:t>Delivery instructions (mock)</a:t>
            </a:r>
            <a:endParaRPr lang="en-US" sz="850" b="1" i="0">
              <a:solidFill>
                <a:srgbClr val="1A1A1A"/>
              </a:solidFill>
              <a:latin typeface="Arial" panose="020B0604020202020204"/>
            </a:endParaRPr>
          </a:p>
          <a:p>
            <a:pPr algn="ctr">
              <a:lnSpc>
                <a:spcPct val="112000"/>
              </a:lnSpc>
            </a:pPr>
            <a:r>
              <a:rPr lang="en-US" sz="750" b="0" i="0">
                <a:solidFill>
                  <a:srgbClr val="5F6368"/>
                </a:solidFill>
                <a:latin typeface="Arial" panose="020B0604020202020204"/>
              </a:rPr>
              <a:t>No sound needed: long-press reveals meaning.</a:t>
            </a:r>
            <a:endParaRPr lang="en-US" sz="750" b="0" i="0">
              <a:solidFill>
                <a:srgbClr val="5F6368"/>
              </a:solidFill>
              <a:latin typeface="Arial" panose="020B0604020202020204"/>
            </a:endParaRPr>
          </a:p>
        </p:txBody>
      </p:sp>
      <p:sp>
        <p:nvSpPr>
          <p:cNvPr id="137" name="TextBox 136"/>
          <p:cNvSpPr txBox="1"/>
          <p:nvPr/>
        </p:nvSpPr>
        <p:spPr>
          <a:xfrm>
            <a:off x="7214616" y="4416551"/>
            <a:ext cx="1554480" cy="457200"/>
          </a:xfrm>
          <a:prstGeom prst="rect">
            <a:avLst/>
          </a:prstGeom>
          <a:noFill/>
        </p:spPr>
        <p:txBody>
          <a:bodyPr wrap="square" lIns="0" tIns="0" rIns="0" bIns="0" anchor="t"/>
          <a:lstStyle/>
          <a:p>
            <a:pPr algn="ctr">
              <a:lnSpc>
                <a:spcPct val="112000"/>
              </a:lnSpc>
            </a:pPr>
            <a:r>
              <a:rPr lang="en-US" sz="850" b="1" i="0">
                <a:solidFill>
                  <a:srgbClr val="1A1A1A"/>
                </a:solidFill>
                <a:latin typeface="Arial" panose="020B0604020202020204"/>
              </a:rPr>
              <a:t>Silent SOS (mock)</a:t>
            </a:r>
            <a:endParaRPr lang="en-US" sz="850" b="1" i="0">
              <a:solidFill>
                <a:srgbClr val="1A1A1A"/>
              </a:solidFill>
              <a:latin typeface="Arial" panose="020B0604020202020204"/>
            </a:endParaRPr>
          </a:p>
          <a:p>
            <a:pPr algn="ctr">
              <a:lnSpc>
                <a:spcPct val="112000"/>
              </a:lnSpc>
            </a:pPr>
            <a:r>
              <a:rPr lang="en-US" sz="750" b="0" i="0">
                <a:solidFill>
                  <a:srgbClr val="5F6368"/>
                </a:solidFill>
                <a:latin typeface="Arial" panose="020B0604020202020204"/>
              </a:rPr>
              <a:t>Screen looks off; cameras + AI observer run.</a:t>
            </a:r>
            <a:endParaRPr lang="en-US" sz="750" b="0" i="0">
              <a:solidFill>
                <a:srgbClr val="5F6368"/>
              </a:solidFill>
              <a:latin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11" name="Google Shape;111;p20"/>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Architecture diagram of the proposed solution</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112"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Serverless by design: the phone, Gemini and Firestore do all the work</a:t>
            </a:r>
            <a:endParaRPr lang="en-US" sz="1300" b="1" i="0">
              <a:solidFill>
                <a:srgbClr val="E8590C"/>
              </a:solidFill>
              <a:latin typeface="Arial" panose="020B0604020202020204"/>
            </a:endParaRPr>
          </a:p>
        </p:txBody>
      </p:sp>
      <p:sp>
        <p:nvSpPr>
          <p:cNvPr id="113" name="TextBox 112"/>
          <p:cNvSpPr txBox="1"/>
          <p:nvPr/>
        </p:nvSpPr>
        <p:spPr>
          <a:xfrm>
            <a:off x="365760" y="1325880"/>
            <a:ext cx="1965960" cy="201168"/>
          </a:xfrm>
          <a:prstGeom prst="rect">
            <a:avLst/>
          </a:prstGeom>
          <a:noFill/>
        </p:spPr>
        <p:txBody>
          <a:bodyPr wrap="square" lIns="0" tIns="0" rIns="0" bIns="0" anchor="t"/>
          <a:lstStyle/>
          <a:p>
            <a:pPr algn="l">
              <a:lnSpc>
                <a:spcPct val="112000"/>
              </a:lnSpc>
            </a:pPr>
            <a:r>
              <a:rPr lang="en-US" sz="800" b="1" i="0">
                <a:solidFill>
                  <a:srgbClr val="E8590C"/>
                </a:solidFill>
                <a:latin typeface="Arial" panose="020B0604020202020204"/>
              </a:rPr>
              <a:t>CALLER CLIENTS</a:t>
            </a:r>
            <a:endParaRPr lang="en-US" sz="800" b="1" i="0">
              <a:solidFill>
                <a:srgbClr val="E8590C"/>
              </a:solidFill>
              <a:latin typeface="Arial" panose="020B0604020202020204"/>
            </a:endParaRPr>
          </a:p>
        </p:txBody>
      </p:sp>
      <p:sp>
        <p:nvSpPr>
          <p:cNvPr id="114" name="Rounded Rectangle 113"/>
          <p:cNvSpPr/>
          <p:nvPr/>
        </p:nvSpPr>
        <p:spPr>
          <a:xfrm>
            <a:off x="365760" y="1554480"/>
            <a:ext cx="1783080" cy="713232"/>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1A1A1A"/>
                </a:solidFill>
                <a:latin typeface="Arial" panose="020B0604020202020204"/>
              </a:rPr>
              <a:t>QuickBite web app</a:t>
            </a:r>
            <a:endParaRPr lang="en-US" sz="950" b="1" i="0">
              <a:solidFill>
                <a:srgbClr val="1A1A1A"/>
              </a:solidFill>
              <a:latin typeface="Arial" panose="020B0604020202020204"/>
            </a:endParaRPr>
          </a:p>
          <a:p>
            <a:pPr algn="l">
              <a:lnSpc>
                <a:spcPct val="112000"/>
              </a:lnSpc>
            </a:pPr>
            <a:r>
              <a:rPr lang="en-US" sz="750" b="0" i="0">
                <a:solidFill>
                  <a:srgbClr val="5F6368"/>
                </a:solidFill>
                <a:latin typeface="Arial" panose="020B0604020202020204"/>
              </a:rPr>
              <a:t>React + Vite + TS · Firebase Hosting · no install</a:t>
            </a:r>
            <a:endParaRPr lang="en-US" sz="750" b="0" i="0">
              <a:solidFill>
                <a:srgbClr val="5F6368"/>
              </a:solidFill>
              <a:latin typeface="Arial" panose="020B0604020202020204"/>
            </a:endParaRPr>
          </a:p>
        </p:txBody>
      </p:sp>
      <p:sp>
        <p:nvSpPr>
          <p:cNvPr id="115" name="Rounded Rectangle 114"/>
          <p:cNvSpPr/>
          <p:nvPr/>
        </p:nvSpPr>
        <p:spPr>
          <a:xfrm>
            <a:off x="365760" y="2359152"/>
            <a:ext cx="1783080" cy="713232"/>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1A1A1A"/>
                </a:solidFill>
                <a:latin typeface="Arial" panose="020B0604020202020204"/>
              </a:rPr>
              <a:t>Four hidden ways in</a:t>
            </a:r>
            <a:endParaRPr lang="en-US" sz="950" b="1" i="0">
              <a:solidFill>
                <a:srgbClr val="1A1A1A"/>
              </a:solidFill>
              <a:latin typeface="Arial" panose="020B0604020202020204"/>
            </a:endParaRPr>
          </a:p>
          <a:p>
            <a:pPr algn="l">
              <a:lnSpc>
                <a:spcPct val="112000"/>
              </a:lnSpc>
            </a:pPr>
            <a:r>
              <a:rPr lang="en-US" sz="750" b="0" i="0">
                <a:solidFill>
                  <a:srgbClr val="5F6368"/>
                </a:solidFill>
                <a:latin typeface="Arial" panose="020B0604020202020204"/>
              </a:rPr>
              <a:t>Call to order · coded cart · silent taps + photo · heart double-tap SOS</a:t>
            </a:r>
            <a:endParaRPr lang="en-US" sz="750" b="0" i="0">
              <a:solidFill>
                <a:srgbClr val="5F6368"/>
              </a:solidFill>
              <a:latin typeface="Arial" panose="020B0604020202020204"/>
            </a:endParaRPr>
          </a:p>
        </p:txBody>
      </p:sp>
      <p:sp>
        <p:nvSpPr>
          <p:cNvPr id="116" name="TextBox 115"/>
          <p:cNvSpPr txBox="1"/>
          <p:nvPr/>
        </p:nvSpPr>
        <p:spPr>
          <a:xfrm>
            <a:off x="2788920" y="1325880"/>
            <a:ext cx="2194560" cy="201168"/>
          </a:xfrm>
          <a:prstGeom prst="rect">
            <a:avLst/>
          </a:prstGeom>
          <a:noFill/>
        </p:spPr>
        <p:txBody>
          <a:bodyPr wrap="square" lIns="0" tIns="0" rIns="0" bIns="0" anchor="t"/>
          <a:lstStyle/>
          <a:p>
            <a:pPr algn="l">
              <a:lnSpc>
                <a:spcPct val="112000"/>
              </a:lnSpc>
            </a:pPr>
            <a:r>
              <a:rPr lang="en-US" sz="800" b="1" i="0">
                <a:solidFill>
                  <a:srgbClr val="1A73E8"/>
                </a:solidFill>
                <a:latin typeface="Arial" panose="020B0604020202020204"/>
              </a:rPr>
              <a:t>GEMINI API (FREE → PAID KEY POOL)</a:t>
            </a:r>
            <a:endParaRPr lang="en-US" sz="800" b="1" i="0">
              <a:solidFill>
                <a:srgbClr val="1A73E8"/>
              </a:solidFill>
              <a:latin typeface="Arial" panose="020B0604020202020204"/>
            </a:endParaRPr>
          </a:p>
        </p:txBody>
      </p:sp>
      <p:sp>
        <p:nvSpPr>
          <p:cNvPr id="117" name="Rounded Rectangle 116"/>
          <p:cNvSpPr/>
          <p:nvPr/>
        </p:nvSpPr>
        <p:spPr>
          <a:xfrm>
            <a:off x="2788920" y="1554480"/>
            <a:ext cx="2148840" cy="1938528"/>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2862072" y="1627632"/>
            <a:ext cx="2002536" cy="548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850" b="1" i="0">
                <a:solidFill>
                  <a:srgbClr val="1A73E8"/>
                </a:solidFill>
                <a:latin typeface="Arial" panose="020B0604020202020204"/>
              </a:rPr>
              <a:t>gemini-3.8-live</a:t>
            </a:r>
            <a:endParaRPr lang="en-US" sz="85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voice + camera frames + 12 tools</a:t>
            </a:r>
            <a:endParaRPr lang="en-US" sz="750" b="0" i="0">
              <a:solidFill>
                <a:srgbClr val="1A1A1A"/>
              </a:solidFill>
              <a:latin typeface="Arial" panose="020B0604020202020204"/>
            </a:endParaRPr>
          </a:p>
        </p:txBody>
      </p:sp>
      <p:sp>
        <p:nvSpPr>
          <p:cNvPr id="119" name="Rounded Rectangle 118"/>
          <p:cNvSpPr/>
          <p:nvPr/>
        </p:nvSpPr>
        <p:spPr>
          <a:xfrm>
            <a:off x="2862072" y="2231136"/>
            <a:ext cx="2002536" cy="548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850" b="1" i="0">
                <a:solidFill>
                  <a:srgbClr val="1A73E8"/>
                </a:solidFill>
                <a:latin typeface="Arial" panose="020B0604020202020204"/>
              </a:rPr>
              <a:t>gemini-3.5-flash-lite</a:t>
            </a:r>
            <a:endParaRPr lang="en-US" sz="85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case summary, bulletin, redaction</a:t>
            </a:r>
            <a:endParaRPr lang="en-US" sz="750" b="0" i="0">
              <a:solidFill>
                <a:srgbClr val="1A1A1A"/>
              </a:solidFill>
              <a:latin typeface="Arial" panose="020B0604020202020204"/>
            </a:endParaRPr>
          </a:p>
        </p:txBody>
      </p:sp>
      <p:sp>
        <p:nvSpPr>
          <p:cNvPr id="120" name="Rounded Rectangle 119"/>
          <p:cNvSpPr/>
          <p:nvPr/>
        </p:nvSpPr>
        <p:spPr>
          <a:xfrm>
            <a:off x="2862072" y="2834640"/>
            <a:ext cx="2002536" cy="548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850" b="1" i="0">
                <a:solidFill>
                  <a:srgbClr val="1A73E8"/>
                </a:solidFill>
                <a:latin typeface="Arial" panose="020B0604020202020204"/>
              </a:rPr>
              <a:t>gemini-3.1-flash-lite</a:t>
            </a:r>
            <a:endParaRPr lang="en-US" sz="85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photo vision, case linking, search, credibility, insights</a:t>
            </a:r>
            <a:endParaRPr lang="en-US" sz="750" b="0" i="0">
              <a:solidFill>
                <a:srgbClr val="1A1A1A"/>
              </a:solidFill>
              <a:latin typeface="Arial" panose="020B0604020202020204"/>
            </a:endParaRPr>
          </a:p>
        </p:txBody>
      </p:sp>
      <p:sp>
        <p:nvSpPr>
          <p:cNvPr id="121" name="TextBox 120"/>
          <p:cNvSpPr txBox="1"/>
          <p:nvPr/>
        </p:nvSpPr>
        <p:spPr>
          <a:xfrm>
            <a:off x="5303520" y="1325880"/>
            <a:ext cx="1645920" cy="201168"/>
          </a:xfrm>
          <a:prstGeom prst="rect">
            <a:avLst/>
          </a:prstGeom>
          <a:noFill/>
        </p:spPr>
        <p:txBody>
          <a:bodyPr wrap="square" lIns="0" tIns="0" rIns="0" bIns="0" anchor="t"/>
          <a:lstStyle/>
          <a:p>
            <a:pPr algn="l">
              <a:lnSpc>
                <a:spcPct val="112000"/>
              </a:lnSpc>
            </a:pPr>
            <a:r>
              <a:rPr lang="en-US" sz="800" b="1" i="0">
                <a:solidFill>
                  <a:srgbClr val="5F6368"/>
                </a:solidFill>
                <a:latin typeface="Arial" panose="020B0604020202020204"/>
              </a:rPr>
              <a:t>REALTIME DATA</a:t>
            </a:r>
            <a:endParaRPr lang="en-US" sz="800" b="1" i="0">
              <a:solidFill>
                <a:srgbClr val="5F6368"/>
              </a:solidFill>
              <a:latin typeface="Arial" panose="020B0604020202020204"/>
            </a:endParaRPr>
          </a:p>
        </p:txBody>
      </p:sp>
      <p:sp>
        <p:nvSpPr>
          <p:cNvPr id="122" name="Rounded Rectangle 121"/>
          <p:cNvSpPr/>
          <p:nvPr/>
        </p:nvSpPr>
        <p:spPr>
          <a:xfrm>
            <a:off x="5303520" y="1554480"/>
            <a:ext cx="1645920" cy="1938528"/>
          </a:xfrm>
          <a:prstGeom prst="roundRect">
            <a:avLst>
              <a:gd name="adj" fmla="val 8000"/>
            </a:avLst>
          </a:prstGeom>
          <a:solidFill>
            <a:srgbClr val="F4F5F7"/>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spcAft>
                <a:spcPts val="400"/>
              </a:spcAft>
            </a:pPr>
            <a:r>
              <a:rPr lang="en-US" sz="950" b="1" i="0">
                <a:solidFill>
                  <a:srgbClr val="1A1A1A"/>
                </a:solidFill>
                <a:latin typeface="Arial" panose="020B0604020202020204"/>
              </a:rPr>
              <a:t>Cloud Firestore</a:t>
            </a:r>
            <a:endParaRPr lang="en-US" sz="950" b="1" i="0">
              <a:solidFill>
                <a:srgbClr val="1A1A1A"/>
              </a:solidFill>
              <a:latin typeface="Arial" panose="020B0604020202020204"/>
            </a:endParaRPr>
          </a:p>
          <a:p>
            <a:pPr algn="l">
              <a:lnSpc>
                <a:spcPct val="112000"/>
              </a:lnSpc>
              <a:spcAft>
                <a:spcPts val="400"/>
              </a:spcAft>
            </a:pPr>
            <a:r>
              <a:rPr lang="en-US" sz="750" b="0" i="0">
                <a:solidFill>
                  <a:srgbClr val="5F6368"/>
                </a:solidFill>
                <a:latin typeface="Arial" panose="020B0604020202020204"/>
              </a:rPr>
              <a:t>asia-south1</a:t>
            </a:r>
            <a:endParaRPr lang="en-US" sz="750" b="0" i="0">
              <a:solidFill>
                <a:srgbClr val="5F6368"/>
              </a:solidFill>
              <a:latin typeface="Arial" panose="020B0604020202020204"/>
            </a:endParaRPr>
          </a:p>
          <a:p>
            <a:pPr algn="l">
              <a:lnSpc>
                <a:spcPct val="112000"/>
              </a:lnSpc>
              <a:spcAft>
                <a:spcPts val="400"/>
              </a:spcAft>
            </a:pPr>
            <a:r>
              <a:rPr lang="en-US" sz="750" b="0" i="0">
                <a:solidFill>
                  <a:srgbClr val="1A1A1A"/>
                </a:solidFill>
                <a:latin typeface="Arial" panose="020B0604020202020204"/>
              </a:rPr>
              <a:t>incidents · live fields · GPS trail · messages · WebRTC signalling · security rules</a:t>
            </a:r>
            <a:endParaRPr lang="en-US" sz="750" b="0" i="0">
              <a:solidFill>
                <a:srgbClr val="1A1A1A"/>
              </a:solidFill>
              <a:latin typeface="Arial" panose="020B0604020202020204"/>
            </a:endParaRPr>
          </a:p>
          <a:p>
            <a:pPr algn="l">
              <a:lnSpc>
                <a:spcPct val="112000"/>
              </a:lnSpc>
              <a:spcAft>
                <a:spcPts val="400"/>
              </a:spcAft>
            </a:pPr>
            <a:r>
              <a:rPr lang="en-US" sz="750" b="1" i="0">
                <a:solidFill>
                  <a:srgbClr val="2F9E44"/>
                </a:solidFill>
                <a:latin typeface="Arial" panose="020B0604020202020204"/>
              </a:rPr>
              <a:t>Realtime listeners replace a server</a:t>
            </a:r>
            <a:endParaRPr lang="en-US" sz="750" b="1" i="0">
              <a:solidFill>
                <a:srgbClr val="2F9E44"/>
              </a:solidFill>
              <a:latin typeface="Arial" panose="020B0604020202020204"/>
            </a:endParaRPr>
          </a:p>
        </p:txBody>
      </p:sp>
      <p:sp>
        <p:nvSpPr>
          <p:cNvPr id="123" name="TextBox 122"/>
          <p:cNvSpPr txBox="1"/>
          <p:nvPr/>
        </p:nvSpPr>
        <p:spPr>
          <a:xfrm>
            <a:off x="7269480" y="1325880"/>
            <a:ext cx="1508760" cy="201168"/>
          </a:xfrm>
          <a:prstGeom prst="rect">
            <a:avLst/>
          </a:prstGeom>
          <a:noFill/>
        </p:spPr>
        <p:txBody>
          <a:bodyPr wrap="square" lIns="0" tIns="0" rIns="0" bIns="0" anchor="t"/>
          <a:lstStyle/>
          <a:p>
            <a:pPr algn="l">
              <a:lnSpc>
                <a:spcPct val="112000"/>
              </a:lnSpc>
            </a:pPr>
            <a:r>
              <a:rPr lang="en-US" sz="800" b="1" i="0">
                <a:solidFill>
                  <a:srgbClr val="2F9E44"/>
                </a:solidFill>
                <a:latin typeface="Arial" panose="020B0604020202020204"/>
              </a:rPr>
              <a:t>RESPONDERS</a:t>
            </a:r>
            <a:endParaRPr lang="en-US" sz="800" b="1" i="0">
              <a:solidFill>
                <a:srgbClr val="2F9E44"/>
              </a:solidFill>
              <a:latin typeface="Arial" panose="020B0604020202020204"/>
            </a:endParaRPr>
          </a:p>
        </p:txBody>
      </p:sp>
      <p:sp>
        <p:nvSpPr>
          <p:cNvPr id="124" name="Rounded Rectangle 123"/>
          <p:cNvSpPr/>
          <p:nvPr/>
        </p:nvSpPr>
        <p:spPr>
          <a:xfrm>
            <a:off x="7269480" y="1554480"/>
            <a:ext cx="1508760" cy="1097280"/>
          </a:xfrm>
          <a:prstGeom prst="roundRect">
            <a:avLst>
              <a:gd name="adj" fmla="val 8000"/>
            </a:avLst>
          </a:prstGeom>
          <a:solidFill>
            <a:srgbClr val="E3F4E6"/>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1A1A1A"/>
                </a:solidFill>
                <a:latin typeface="Arial" panose="020B0604020202020204"/>
              </a:rPr>
              <a:t>Responder console</a:t>
            </a:r>
            <a:endParaRPr lang="en-US" sz="950" b="1" i="0">
              <a:solidFill>
                <a:srgbClr val="1A1A1A"/>
              </a:solidFill>
              <a:latin typeface="Arial" panose="020B0604020202020204"/>
            </a:endParaRPr>
          </a:p>
          <a:p>
            <a:pPr algn="l">
              <a:lnSpc>
                <a:spcPct val="112000"/>
              </a:lnSpc>
            </a:pPr>
            <a:r>
              <a:rPr lang="en-US" sz="750" b="0" i="0">
                <a:solidFill>
                  <a:srgbClr val="5F6368"/>
                </a:solidFill>
                <a:latin typeface="Arial" panose="020B0604020202020204"/>
              </a:rPr>
              <a:t>React + Vite, Firebase Auth, Hosting, ECharts, Maps</a:t>
            </a:r>
            <a:endParaRPr lang="en-US" sz="750" b="0" i="0">
              <a:solidFill>
                <a:srgbClr val="5F6368"/>
              </a:solidFill>
              <a:latin typeface="Arial" panose="020B0604020202020204"/>
            </a:endParaRPr>
          </a:p>
        </p:txBody>
      </p:sp>
      <p:sp>
        <p:nvSpPr>
          <p:cNvPr id="125" name="Rounded Rectangle 124"/>
          <p:cNvSpPr/>
          <p:nvPr/>
        </p:nvSpPr>
        <p:spPr>
          <a:xfrm>
            <a:off x="7269480" y="2743200"/>
            <a:ext cx="1508760" cy="749808"/>
          </a:xfrm>
          <a:prstGeom prst="roundRect">
            <a:avLst>
              <a:gd name="adj" fmla="val 8000"/>
            </a:avLst>
          </a:prstGeom>
          <a:solidFill>
            <a:srgbClr val="E3F4E6"/>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00" b="1" i="0">
                <a:solidFill>
                  <a:srgbClr val="1A1A1A"/>
                </a:solidFill>
                <a:latin typeface="Arial" panose="020B0604020202020204"/>
              </a:rPr>
              <a:t>Analytics + AI insights</a:t>
            </a:r>
            <a:endParaRPr lang="en-US" sz="900" b="1" i="0">
              <a:solidFill>
                <a:srgbClr val="1A1A1A"/>
              </a:solidFill>
              <a:latin typeface="Arial" panose="020B0604020202020204"/>
            </a:endParaRPr>
          </a:p>
          <a:p>
            <a:pPr algn="l">
              <a:lnSpc>
                <a:spcPct val="112000"/>
              </a:lnSpc>
            </a:pPr>
            <a:r>
              <a:rPr lang="en-US" sz="750" b="0" i="0">
                <a:solidFill>
                  <a:srgbClr val="5F6368"/>
                </a:solidFill>
                <a:latin typeface="Arial" panose="020B0604020202020204"/>
              </a:rPr>
              <a:t>ECharts dashboards, Gemini-written next steps</a:t>
            </a:r>
            <a:endParaRPr lang="en-US" sz="750" b="0" i="0">
              <a:solidFill>
                <a:srgbClr val="5F6368"/>
              </a:solidFill>
              <a:latin typeface="Arial" panose="020B0604020202020204"/>
            </a:endParaRPr>
          </a:p>
        </p:txBody>
      </p:sp>
      <p:cxnSp>
        <p:nvCxnSpPr>
          <p:cNvPr id="126" name="Connector 125"/>
          <p:cNvCxnSpPr/>
          <p:nvPr/>
        </p:nvCxnSpPr>
        <p:spPr>
          <a:xfrm>
            <a:off x="2148840" y="1920240"/>
            <a:ext cx="640080" cy="0"/>
          </a:xfrm>
          <a:prstGeom prst="line">
            <a:avLst/>
          </a:prstGeom>
          <a:ln w="19050">
            <a:solidFill>
              <a:srgbClr val="1A73E8"/>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130552" y="1975104"/>
            <a:ext cx="676656" cy="310896"/>
          </a:xfrm>
          <a:prstGeom prst="rect">
            <a:avLst/>
          </a:prstGeom>
          <a:noFill/>
        </p:spPr>
        <p:txBody>
          <a:bodyPr wrap="square" lIns="0" tIns="0" rIns="0" bIns="0" anchor="t"/>
          <a:lstStyle/>
          <a:p>
            <a:pPr algn="ctr">
              <a:lnSpc>
                <a:spcPct val="112000"/>
              </a:lnSpc>
            </a:pPr>
            <a:r>
              <a:rPr lang="en-US" sz="550" b="0" i="0">
                <a:solidFill>
                  <a:srgbClr val="1A73E8"/>
                </a:solidFill>
                <a:latin typeface="Arial" panose="020B0604020202020204"/>
              </a:rPr>
              <a:t>audio, frames →</a:t>
            </a:r>
            <a:endParaRPr lang="en-US" sz="550" b="0" i="0">
              <a:solidFill>
                <a:srgbClr val="1A73E8"/>
              </a:solidFill>
              <a:latin typeface="Arial" panose="020B0604020202020204"/>
            </a:endParaRPr>
          </a:p>
          <a:p>
            <a:pPr algn="ctr">
              <a:lnSpc>
                <a:spcPct val="112000"/>
              </a:lnSpc>
            </a:pPr>
            <a:r>
              <a:rPr lang="en-US" sz="550" b="0" i="0">
                <a:solidFill>
                  <a:srgbClr val="1A73E8"/>
                </a:solidFill>
                <a:latin typeface="Arial" panose="020B0604020202020204"/>
              </a:rPr>
              <a:t>← voice, tool calls</a:t>
            </a:r>
            <a:endParaRPr lang="en-US" sz="550" b="0" i="0">
              <a:solidFill>
                <a:srgbClr val="1A73E8"/>
              </a:solidFill>
              <a:latin typeface="Arial" panose="020B0604020202020204"/>
            </a:endParaRPr>
          </a:p>
        </p:txBody>
      </p:sp>
      <p:cxnSp>
        <p:nvCxnSpPr>
          <p:cNvPr id="128" name="Connector 127"/>
          <p:cNvCxnSpPr/>
          <p:nvPr/>
        </p:nvCxnSpPr>
        <p:spPr>
          <a:xfrm>
            <a:off x="1261872" y="3072384"/>
            <a:ext cx="0" cy="585216"/>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1261872" y="3657600"/>
            <a:ext cx="486460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126480" y="3493008"/>
            <a:ext cx="0" cy="164592"/>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TextBox 130"/>
          <p:cNvSpPr txBox="1"/>
          <p:nvPr/>
        </p:nvSpPr>
        <p:spPr>
          <a:xfrm>
            <a:off x="1828800" y="3502152"/>
            <a:ext cx="3291840" cy="164592"/>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tool results written as live fields (shared incident client)</a:t>
            </a:r>
            <a:endParaRPr lang="en-US" sz="650" b="0" i="0">
              <a:solidFill>
                <a:srgbClr val="5F6368"/>
              </a:solidFill>
              <a:latin typeface="Arial" panose="020B0604020202020204"/>
            </a:endParaRPr>
          </a:p>
        </p:txBody>
      </p:sp>
      <p:cxnSp>
        <p:nvCxnSpPr>
          <p:cNvPr id="132" name="Connector 131"/>
          <p:cNvCxnSpPr/>
          <p:nvPr/>
        </p:nvCxnSpPr>
        <p:spPr>
          <a:xfrm>
            <a:off x="6949440" y="2103120"/>
            <a:ext cx="320040" cy="0"/>
          </a:xfrm>
          <a:prstGeom prst="line">
            <a:avLst/>
          </a:prstGeom>
          <a:ln w="19050">
            <a:solidFill>
              <a:srgbClr val="2F9E44"/>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6876288" y="2176272"/>
            <a:ext cx="457200" cy="274320"/>
          </a:xfrm>
          <a:prstGeom prst="rect">
            <a:avLst/>
          </a:prstGeom>
          <a:noFill/>
        </p:spPr>
        <p:txBody>
          <a:bodyPr wrap="square" lIns="0" tIns="0" rIns="0" bIns="0" anchor="t"/>
          <a:lstStyle/>
          <a:p>
            <a:pPr algn="ctr">
              <a:lnSpc>
                <a:spcPct val="112000"/>
              </a:lnSpc>
            </a:pPr>
            <a:r>
              <a:rPr lang="en-US" sz="550" b="0" i="0">
                <a:solidFill>
                  <a:srgbClr val="2F9E44"/>
                </a:solidFill>
                <a:latin typeface="Arial" panose="020B0604020202020204"/>
              </a:rPr>
              <a:t>live sync</a:t>
            </a:r>
            <a:endParaRPr lang="en-US" sz="550" b="0" i="0">
              <a:solidFill>
                <a:srgbClr val="2F9E44"/>
              </a:solidFill>
              <a:latin typeface="Arial" panose="020B0604020202020204"/>
            </a:endParaRPr>
          </a:p>
        </p:txBody>
      </p:sp>
      <p:sp>
        <p:nvSpPr>
          <p:cNvPr id="134" name="Rounded Rectangle 133"/>
          <p:cNvSpPr/>
          <p:nvPr/>
        </p:nvSpPr>
        <p:spPr>
          <a:xfrm>
            <a:off x="365760" y="3840480"/>
            <a:ext cx="1600200" cy="548640"/>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800" b="1" i="0">
                <a:solidFill>
                  <a:srgbClr val="1A1A1A"/>
                </a:solidFill>
                <a:latin typeface="Arial" panose="020B0604020202020204"/>
              </a:rPr>
              <a:t>Live video + listen-in</a:t>
            </a:r>
            <a:endParaRPr lang="en-US" sz="80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P2P WebRTC, Google STUN</a:t>
            </a:r>
            <a:endParaRPr lang="en-US" sz="700" b="0" i="0">
              <a:solidFill>
                <a:srgbClr val="5F6368"/>
              </a:solidFill>
              <a:latin typeface="Arial" panose="020B0604020202020204"/>
            </a:endParaRPr>
          </a:p>
        </p:txBody>
      </p:sp>
      <p:sp>
        <p:nvSpPr>
          <p:cNvPr id="135" name="Rounded Rectangle 134"/>
          <p:cNvSpPr/>
          <p:nvPr/>
        </p:nvSpPr>
        <p:spPr>
          <a:xfrm>
            <a:off x="2057400" y="3840480"/>
            <a:ext cx="1600200" cy="548640"/>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800" b="1" i="0">
                <a:solidFill>
                  <a:srgbClr val="1A1A1A"/>
                </a:solidFill>
                <a:latin typeface="Arial" panose="020B0604020202020204"/>
              </a:rPr>
              <a:t>Evidence</a:t>
            </a:r>
            <a:endParaRPr lang="en-US" sz="80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Apps Script → Google Drive</a:t>
            </a:r>
            <a:endParaRPr lang="en-US" sz="700" b="0" i="0">
              <a:solidFill>
                <a:srgbClr val="5F6368"/>
              </a:solidFill>
              <a:latin typeface="Arial" panose="020B0604020202020204"/>
            </a:endParaRPr>
          </a:p>
        </p:txBody>
      </p:sp>
      <p:sp>
        <p:nvSpPr>
          <p:cNvPr id="136" name="Rounded Rectangle 135"/>
          <p:cNvSpPr/>
          <p:nvPr/>
        </p:nvSpPr>
        <p:spPr>
          <a:xfrm>
            <a:off x="3749039" y="3840480"/>
            <a:ext cx="1600200" cy="548640"/>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800" b="1" i="0">
                <a:solidFill>
                  <a:srgbClr val="1A1A1A"/>
                </a:solidFill>
                <a:latin typeface="Arial" panose="020B0604020202020204"/>
              </a:rPr>
              <a:t>Case report + alerts</a:t>
            </a:r>
            <a:endParaRPr lang="en-US" sz="80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Apps Script mail, PDF</a:t>
            </a:r>
            <a:endParaRPr lang="en-US" sz="700" b="0" i="0">
              <a:solidFill>
                <a:srgbClr val="5F6368"/>
              </a:solidFill>
              <a:latin typeface="Arial" panose="020B0604020202020204"/>
            </a:endParaRPr>
          </a:p>
        </p:txBody>
      </p:sp>
      <p:sp>
        <p:nvSpPr>
          <p:cNvPr id="137" name="Rounded Rectangle 136"/>
          <p:cNvSpPr/>
          <p:nvPr/>
        </p:nvSpPr>
        <p:spPr>
          <a:xfrm>
            <a:off x="5440679" y="3840480"/>
            <a:ext cx="1600200" cy="548640"/>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800" b="1" i="0">
                <a:solidFill>
                  <a:srgbClr val="1A1A1A"/>
                </a:solidFill>
                <a:latin typeface="Arial" panose="020B0604020202020204"/>
              </a:rPr>
              <a:t>Location</a:t>
            </a:r>
            <a:endParaRPr lang="en-US" sz="80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GPS or IP, Nominatim, Photon, OSRM</a:t>
            </a:r>
            <a:endParaRPr lang="en-US" sz="700" b="0" i="0">
              <a:solidFill>
                <a:srgbClr val="5F6368"/>
              </a:solidFill>
              <a:latin typeface="Arial" panose="020B0604020202020204"/>
            </a:endParaRPr>
          </a:p>
        </p:txBody>
      </p:sp>
      <p:sp>
        <p:nvSpPr>
          <p:cNvPr id="138" name="Rounded Rectangle 137"/>
          <p:cNvSpPr/>
          <p:nvPr/>
        </p:nvSpPr>
        <p:spPr>
          <a:xfrm>
            <a:off x="7132320" y="3840480"/>
            <a:ext cx="1645920" cy="548640"/>
          </a:xfrm>
          <a:prstGeom prst="roundRect">
            <a:avLst>
              <a:gd name="adj" fmla="val 8000"/>
            </a:avLst>
          </a:prstGeom>
          <a:noFill/>
          <a:ln w="9525">
            <a:solidFill>
              <a:srgbClr val="5F6368"/>
            </a:solidFill>
            <a:prstDash val="dash"/>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800" b="1" i="0">
                <a:solidFill>
                  <a:srgbClr val="1A1A1A"/>
                </a:solidFill>
                <a:latin typeface="Arial" panose="020B0604020202020204"/>
              </a:rPr>
              <a:t>Next: Cloud Run + ADK</a:t>
            </a:r>
            <a:endParaRPr lang="en-US" sz="80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dispatch &amp; verification agents</a:t>
            </a:r>
            <a:endParaRPr lang="en-US" sz="700" b="0" i="0">
              <a:solidFill>
                <a:srgbClr val="5F6368"/>
              </a:solidFill>
              <a:latin typeface="Arial" panose="020B0604020202020204"/>
            </a:endParaRPr>
          </a:p>
        </p:txBody>
      </p:sp>
      <p:sp>
        <p:nvSpPr>
          <p:cNvPr id="139" name="TextBox 138"/>
          <p:cNvSpPr txBox="1"/>
          <p:nvPr/>
        </p:nvSpPr>
        <p:spPr>
          <a:xfrm>
            <a:off x="365760" y="4480560"/>
            <a:ext cx="8412480" cy="320040"/>
          </a:xfrm>
          <a:prstGeom prst="rect">
            <a:avLst/>
          </a:prstGeom>
          <a:noFill/>
        </p:spPr>
        <p:txBody>
          <a:bodyPr wrap="square" lIns="0" tIns="0" rIns="0" bIns="0" anchor="t"/>
          <a:lstStyle/>
          <a:p>
            <a:pPr algn="l">
              <a:lnSpc>
                <a:spcPct val="112000"/>
              </a:lnSpc>
            </a:pPr>
            <a:r>
              <a:rPr lang="en-US" sz="750" b="0" i="0">
                <a:solidFill>
                  <a:srgbClr val="5F6368"/>
                </a:solidFill>
                <a:latin typeface="Arial" panose="020B0604020202020204"/>
              </a:rPr>
              <a:t>Free → paid key pool per model · per-call AI usage metering · GitHub Actions: gitleaks secret scan · 4 Firebase Hosting sites (app, console, landing, staging)</a:t>
            </a:r>
            <a:endParaRPr lang="en-US" sz="750" b="0" i="0">
              <a:solidFill>
                <a:srgbClr val="5F6368"/>
              </a:solidFill>
              <a:latin typeface="Arial" panose="020B060402020202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71" name="Google Shape;71;p15"/>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How Gemini powers QuickBite</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167"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Not a chatbot wrapper: a real-time multimodal agent with 12 tools</a:t>
            </a:r>
            <a:endParaRPr lang="en-US" sz="1300" b="1" i="0">
              <a:solidFill>
                <a:srgbClr val="E8590C"/>
              </a:solidFill>
              <a:latin typeface="Arial" panose="020B0604020202020204"/>
            </a:endParaRPr>
          </a:p>
        </p:txBody>
      </p:sp>
      <p:sp>
        <p:nvSpPr>
          <p:cNvPr id="168" name="TextBox 167"/>
          <p:cNvSpPr txBox="1"/>
          <p:nvPr/>
        </p:nvSpPr>
        <p:spPr>
          <a:xfrm>
            <a:off x="365760" y="1325880"/>
            <a:ext cx="3657600" cy="182880"/>
          </a:xfrm>
          <a:prstGeom prst="rect">
            <a:avLst/>
          </a:prstGeom>
          <a:noFill/>
        </p:spPr>
        <p:txBody>
          <a:bodyPr wrap="square" lIns="0" tIns="0" rIns="0" bIns="0" anchor="t"/>
          <a:lstStyle/>
          <a:p>
            <a:pPr algn="l">
              <a:lnSpc>
                <a:spcPct val="112000"/>
              </a:lnSpc>
            </a:pPr>
            <a:r>
              <a:rPr lang="en-US" sz="800" b="1" i="0">
                <a:solidFill>
                  <a:srgbClr val="1A73E8"/>
                </a:solidFill>
                <a:latin typeface="Arial" panose="020B0604020202020204"/>
              </a:rPr>
              <a:t>DURING THE CALL</a:t>
            </a:r>
            <a:endParaRPr lang="en-US" sz="800" b="1" i="0">
              <a:solidFill>
                <a:srgbClr val="1A73E8"/>
              </a:solidFill>
              <a:latin typeface="Arial" panose="020B0604020202020204"/>
            </a:endParaRPr>
          </a:p>
        </p:txBody>
      </p:sp>
      <p:sp>
        <p:nvSpPr>
          <p:cNvPr id="169" name="Rounded Rectangle 168"/>
          <p:cNvSpPr/>
          <p:nvPr/>
        </p:nvSpPr>
        <p:spPr>
          <a:xfrm>
            <a:off x="365760" y="1554480"/>
            <a:ext cx="1143000" cy="11887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950" b="1" i="0">
                <a:solidFill>
                  <a:srgbClr val="1A1A1A"/>
                </a:solidFill>
                <a:latin typeface="Arial" panose="020B0604020202020204"/>
              </a:rPr>
              <a:t>Senses</a:t>
            </a:r>
            <a:endParaRPr lang="en-US" sz="950" b="1"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mic 16 kHz PCM</a:t>
            </a:r>
            <a:endParaRPr lang="en-US" sz="750" b="0"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camera 0.5 fps (low res)</a:t>
            </a:r>
            <a:endParaRPr lang="en-US" sz="750" b="0"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motion + GPS</a:t>
            </a:r>
            <a:endParaRPr lang="en-US" sz="750" b="0" i="0">
              <a:solidFill>
                <a:srgbClr val="1A1A1A"/>
              </a:solidFill>
              <a:latin typeface="Arial" panose="020B0604020202020204"/>
            </a:endParaRPr>
          </a:p>
        </p:txBody>
      </p:sp>
      <p:sp>
        <p:nvSpPr>
          <p:cNvPr id="170" name="Rounded Rectangle 169"/>
          <p:cNvSpPr/>
          <p:nvPr/>
        </p:nvSpPr>
        <p:spPr>
          <a:xfrm>
            <a:off x="1655064" y="1554480"/>
            <a:ext cx="1325880" cy="118872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950" b="1" i="0">
                <a:solidFill>
                  <a:srgbClr val="1A73E8"/>
                </a:solidFill>
                <a:latin typeface="Arial" panose="020B0604020202020204"/>
              </a:rPr>
              <a:t>Gemini Live 3.8</a:t>
            </a:r>
            <a:endParaRPr lang="en-US" sz="95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Mia persona</a:t>
            </a:r>
            <a:endParaRPr lang="en-US" sz="750" b="0"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covert / open modes</a:t>
            </a:r>
            <a:endParaRPr lang="en-US" sz="750" b="0"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6 languages, voice stress</a:t>
            </a:r>
            <a:endParaRPr lang="en-US" sz="750" b="0" i="0">
              <a:solidFill>
                <a:srgbClr val="1A1A1A"/>
              </a:solidFill>
              <a:latin typeface="Arial" panose="020B0604020202020204"/>
            </a:endParaRPr>
          </a:p>
        </p:txBody>
      </p:sp>
      <p:sp>
        <p:nvSpPr>
          <p:cNvPr id="171" name="Rounded Rectangle 170"/>
          <p:cNvSpPr/>
          <p:nvPr/>
        </p:nvSpPr>
        <p:spPr>
          <a:xfrm>
            <a:off x="5788152" y="1554480"/>
            <a:ext cx="1371600" cy="11887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950" b="1" i="0">
                <a:solidFill>
                  <a:srgbClr val="1A1A1A"/>
                </a:solidFill>
                <a:latin typeface="Arial" panose="020B0604020202020204"/>
              </a:rPr>
              <a:t>App logic</a:t>
            </a:r>
            <a:endParaRPr lang="en-US" sz="950" b="1"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severity rules in code</a:t>
            </a:r>
            <a:endParaRPr lang="en-US" sz="750" b="0"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geocode + OSRM route</a:t>
            </a:r>
            <a:endParaRPr lang="en-US" sz="750" b="0"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nearby police/hospital</a:t>
            </a:r>
            <a:endParaRPr lang="en-US" sz="750" b="0" i="0">
              <a:solidFill>
                <a:srgbClr val="1A1A1A"/>
              </a:solidFill>
              <a:latin typeface="Arial" panose="020B0604020202020204"/>
            </a:endParaRPr>
          </a:p>
        </p:txBody>
      </p:sp>
      <p:sp>
        <p:nvSpPr>
          <p:cNvPr id="172" name="Rounded Rectangle 171"/>
          <p:cNvSpPr/>
          <p:nvPr/>
        </p:nvSpPr>
        <p:spPr>
          <a:xfrm>
            <a:off x="7306056" y="1554480"/>
            <a:ext cx="1472184" cy="11887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950" b="1" i="0">
                <a:solidFill>
                  <a:srgbClr val="2F9E44"/>
                </a:solidFill>
                <a:latin typeface="Arial" panose="020B0604020202020204"/>
              </a:rPr>
              <a:t>Firestore → console</a:t>
            </a:r>
            <a:endParaRPr lang="en-US" sz="950" b="1" i="0">
              <a:solidFill>
                <a:srgbClr val="2F9E44"/>
              </a:solidFill>
              <a:latin typeface="Arial" panose="020B0604020202020204"/>
            </a:endParaRPr>
          </a:p>
          <a:p>
            <a:pPr algn="l">
              <a:lnSpc>
                <a:spcPct val="112000"/>
              </a:lnSpc>
            </a:pPr>
            <a:r>
              <a:rPr lang="en-US" sz="750" b="0" i="0">
                <a:solidFill>
                  <a:srgbClr val="1A1A1A"/>
                </a:solidFill>
                <a:latin typeface="Arial" panose="020B0604020202020204"/>
              </a:rPr>
              <a:t>field-by-field</a:t>
            </a:r>
            <a:endParaRPr lang="en-US" sz="750" b="0" i="0">
              <a:solidFill>
                <a:srgbClr val="1A1A1A"/>
              </a:solidFill>
              <a:latin typeface="Arial" panose="020B0604020202020204"/>
            </a:endParaRPr>
          </a:p>
          <a:p>
            <a:pPr algn="l">
              <a:lnSpc>
                <a:spcPct val="112000"/>
              </a:lnSpc>
            </a:pPr>
            <a:r>
              <a:rPr lang="en-US" sz="750" b="0" i="0">
                <a:solidFill>
                  <a:srgbClr val="1A1A1A"/>
                </a:solidFill>
                <a:latin typeface="Arial" panose="020B0604020202020204"/>
              </a:rPr>
              <a:t>in real time</a:t>
            </a:r>
            <a:endParaRPr lang="en-US" sz="750" b="0" i="0">
              <a:solidFill>
                <a:srgbClr val="1A1A1A"/>
              </a:solidFill>
              <a:latin typeface="Arial" panose="020B0604020202020204"/>
            </a:endParaRPr>
          </a:p>
        </p:txBody>
      </p:sp>
      <p:sp>
        <p:nvSpPr>
          <p:cNvPr id="173" name="Rounded Rectangle 172"/>
          <p:cNvSpPr/>
          <p:nvPr/>
        </p:nvSpPr>
        <p:spPr>
          <a:xfrm>
            <a:off x="3127248" y="1554480"/>
            <a:ext cx="2514600" cy="1188720"/>
          </a:xfrm>
          <a:prstGeom prst="roundRect">
            <a:avLst>
              <a:gd name="adj" fmla="val 8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200400" y="1581912"/>
            <a:ext cx="2423160" cy="182880"/>
          </a:xfrm>
          <a:prstGeom prst="rect">
            <a:avLst/>
          </a:prstGeom>
          <a:noFill/>
        </p:spPr>
        <p:txBody>
          <a:bodyPr wrap="square" lIns="0" tIns="0" rIns="0" bIns="0" anchor="t"/>
          <a:lstStyle/>
          <a:p>
            <a:pPr algn="l">
              <a:lnSpc>
                <a:spcPct val="112000"/>
              </a:lnSpc>
            </a:pPr>
            <a:r>
              <a:rPr lang="en-US" sz="850" b="1" i="0">
                <a:solidFill>
                  <a:srgbClr val="1A73E8"/>
                </a:solidFill>
                <a:latin typeface="Arial" panose="020B0604020202020204"/>
              </a:rPr>
              <a:t>12 function-calling tools</a:t>
            </a:r>
            <a:endParaRPr lang="en-US" sz="850" b="1" i="0">
              <a:solidFill>
                <a:srgbClr val="1A73E8"/>
              </a:solidFill>
              <a:latin typeface="Arial" panose="020B0604020202020204"/>
            </a:endParaRPr>
          </a:p>
        </p:txBody>
      </p:sp>
      <p:sp>
        <p:nvSpPr>
          <p:cNvPr id="175" name="TextBox 174"/>
          <p:cNvSpPr txBox="1"/>
          <p:nvPr/>
        </p:nvSpPr>
        <p:spPr>
          <a:xfrm>
            <a:off x="3200400" y="1783080"/>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report_situation</a:t>
            </a:r>
            <a:endParaRPr lang="en-US" sz="580" b="0" i="0">
              <a:solidFill>
                <a:srgbClr val="1A1A1A"/>
              </a:solidFill>
              <a:latin typeface="Courier New" panose="02070309020205020404"/>
            </a:endParaRPr>
          </a:p>
        </p:txBody>
      </p:sp>
      <p:sp>
        <p:nvSpPr>
          <p:cNvPr id="176" name="TextBox 175"/>
          <p:cNvSpPr txBox="1"/>
          <p:nvPr/>
        </p:nvSpPr>
        <p:spPr>
          <a:xfrm>
            <a:off x="3200400" y="1938528"/>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confirm_address</a:t>
            </a:r>
            <a:endParaRPr lang="en-US" sz="580" b="0" i="0">
              <a:solidFill>
                <a:srgbClr val="1A1A1A"/>
              </a:solidFill>
              <a:latin typeface="Courier New" panose="02070309020205020404"/>
            </a:endParaRPr>
          </a:p>
        </p:txBody>
      </p:sp>
      <p:sp>
        <p:nvSpPr>
          <p:cNvPr id="177" name="TextBox 176"/>
          <p:cNvSpPr txBox="1"/>
          <p:nvPr/>
        </p:nvSpPr>
        <p:spPr>
          <a:xfrm>
            <a:off x="3200400" y="2093976"/>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report_stress_level</a:t>
            </a:r>
            <a:endParaRPr lang="en-US" sz="580" b="0" i="0">
              <a:solidFill>
                <a:srgbClr val="1A1A1A"/>
              </a:solidFill>
              <a:latin typeface="Courier New" panose="02070309020205020404"/>
            </a:endParaRPr>
          </a:p>
        </p:txBody>
      </p:sp>
      <p:sp>
        <p:nvSpPr>
          <p:cNvPr id="178" name="TextBox 177"/>
          <p:cNvSpPr txBox="1"/>
          <p:nvPr/>
        </p:nvSpPr>
        <p:spPr>
          <a:xfrm>
            <a:off x="3200400" y="2249424"/>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report_scene_observation</a:t>
            </a:r>
            <a:endParaRPr lang="en-US" sz="580" b="0" i="0">
              <a:solidFill>
                <a:srgbClr val="1A1A1A"/>
              </a:solidFill>
              <a:latin typeface="Courier New" panose="02070309020205020404"/>
            </a:endParaRPr>
          </a:p>
        </p:txBody>
      </p:sp>
      <p:sp>
        <p:nvSpPr>
          <p:cNvPr id="179" name="TextBox 178"/>
          <p:cNvSpPr txBox="1"/>
          <p:nvPr/>
        </p:nvSpPr>
        <p:spPr>
          <a:xfrm>
            <a:off x="3200400" y="2404872"/>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report_caller_estimate</a:t>
            </a:r>
            <a:endParaRPr lang="en-US" sz="580" b="0" i="0">
              <a:solidFill>
                <a:srgbClr val="1A1A1A"/>
              </a:solidFill>
              <a:latin typeface="Courier New" panose="02070309020205020404"/>
            </a:endParaRPr>
          </a:p>
        </p:txBody>
      </p:sp>
      <p:sp>
        <p:nvSpPr>
          <p:cNvPr id="180" name="TextBox 179"/>
          <p:cNvSpPr txBox="1"/>
          <p:nvPr/>
        </p:nvSpPr>
        <p:spPr>
          <a:xfrm>
            <a:off x="3200400" y="2560320"/>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report_advice</a:t>
            </a:r>
            <a:endParaRPr lang="en-US" sz="580" b="0" i="0">
              <a:solidFill>
                <a:srgbClr val="1A1A1A"/>
              </a:solidFill>
              <a:latin typeface="Courier New" panose="02070309020205020404"/>
            </a:endParaRPr>
          </a:p>
        </p:txBody>
      </p:sp>
      <p:sp>
        <p:nvSpPr>
          <p:cNvPr id="181" name="TextBox 180"/>
          <p:cNvSpPr txBox="1"/>
          <p:nvPr/>
        </p:nvSpPr>
        <p:spPr>
          <a:xfrm>
            <a:off x="4416552" y="1783080"/>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get_route_guidance</a:t>
            </a:r>
            <a:endParaRPr lang="en-US" sz="580" b="0" i="0">
              <a:solidFill>
                <a:srgbClr val="1A1A1A"/>
              </a:solidFill>
              <a:latin typeface="Courier New" panose="02070309020205020404"/>
            </a:endParaRPr>
          </a:p>
        </p:txBody>
      </p:sp>
      <p:sp>
        <p:nvSpPr>
          <p:cNvPr id="182" name="TextBox 181"/>
          <p:cNvSpPr txBox="1"/>
          <p:nvPr/>
        </p:nvSpPr>
        <p:spPr>
          <a:xfrm>
            <a:off x="4416552" y="1938528"/>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report_vehicle_number</a:t>
            </a:r>
            <a:endParaRPr lang="en-US" sz="580" b="0" i="0">
              <a:solidFill>
                <a:srgbClr val="1A1A1A"/>
              </a:solidFill>
              <a:latin typeface="Courier New" panose="02070309020205020404"/>
            </a:endParaRPr>
          </a:p>
        </p:txBody>
      </p:sp>
      <p:sp>
        <p:nvSpPr>
          <p:cNvPr id="183" name="TextBox 182"/>
          <p:cNvSpPr txBox="1"/>
          <p:nvPr/>
        </p:nvSpPr>
        <p:spPr>
          <a:xfrm>
            <a:off x="4416552" y="2093976"/>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report_coercion_signal</a:t>
            </a:r>
            <a:endParaRPr lang="en-US" sz="580" b="0" i="0">
              <a:solidFill>
                <a:srgbClr val="1A1A1A"/>
              </a:solidFill>
              <a:latin typeface="Courier New" panose="02070309020205020404"/>
            </a:endParaRPr>
          </a:p>
        </p:txBody>
      </p:sp>
      <p:sp>
        <p:nvSpPr>
          <p:cNvPr id="184" name="TextBox 183"/>
          <p:cNvSpPr txBox="1"/>
          <p:nvPr/>
        </p:nvSpPr>
        <p:spPr>
          <a:xfrm>
            <a:off x="4416552" y="2249424"/>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confirm_message_delivered</a:t>
            </a:r>
            <a:endParaRPr lang="en-US" sz="580" b="0" i="0">
              <a:solidFill>
                <a:srgbClr val="1A1A1A"/>
              </a:solidFill>
              <a:latin typeface="Courier New" panose="02070309020205020404"/>
            </a:endParaRPr>
          </a:p>
        </p:txBody>
      </p:sp>
      <p:sp>
        <p:nvSpPr>
          <p:cNvPr id="185" name="TextBox 184"/>
          <p:cNvSpPr txBox="1"/>
          <p:nvPr/>
        </p:nvSpPr>
        <p:spPr>
          <a:xfrm>
            <a:off x="4416552" y="2404872"/>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send_case_report</a:t>
            </a:r>
            <a:endParaRPr lang="en-US" sz="580" b="0" i="0">
              <a:solidFill>
                <a:srgbClr val="1A1A1A"/>
              </a:solidFill>
              <a:latin typeface="Courier New" panose="02070309020205020404"/>
            </a:endParaRPr>
          </a:p>
        </p:txBody>
      </p:sp>
      <p:sp>
        <p:nvSpPr>
          <p:cNvPr id="186" name="TextBox 185"/>
          <p:cNvSpPr txBox="1"/>
          <p:nvPr/>
        </p:nvSpPr>
        <p:spPr>
          <a:xfrm>
            <a:off x="4416552" y="2560320"/>
            <a:ext cx="1234440" cy="155448"/>
          </a:xfrm>
          <a:prstGeom prst="rect">
            <a:avLst/>
          </a:prstGeom>
          <a:noFill/>
        </p:spPr>
        <p:txBody>
          <a:bodyPr wrap="square" lIns="0" tIns="0" rIns="0" bIns="0" anchor="t"/>
          <a:lstStyle/>
          <a:p>
            <a:pPr algn="l">
              <a:lnSpc>
                <a:spcPct val="112000"/>
              </a:lnSpc>
            </a:pPr>
            <a:r>
              <a:rPr lang="en-US" sz="580" b="0" i="0">
                <a:solidFill>
                  <a:srgbClr val="1A1A1A"/>
                </a:solidFill>
                <a:latin typeface="Courier New" panose="02070309020205020404"/>
              </a:rPr>
              <a:t>end_call</a:t>
            </a:r>
            <a:endParaRPr lang="en-US" sz="580" b="0" i="0">
              <a:solidFill>
                <a:srgbClr val="1A1A1A"/>
              </a:solidFill>
              <a:latin typeface="Courier New" panose="02070309020205020404"/>
            </a:endParaRPr>
          </a:p>
        </p:txBody>
      </p:sp>
      <p:cxnSp>
        <p:nvCxnSpPr>
          <p:cNvPr id="187" name="Connector 186"/>
          <p:cNvCxnSpPr/>
          <p:nvPr/>
        </p:nvCxnSpPr>
        <p:spPr>
          <a:xfrm>
            <a:off x="1508760" y="2148840"/>
            <a:ext cx="146304" cy="0"/>
          </a:xfrm>
          <a:prstGeom prst="line">
            <a:avLst/>
          </a:prstGeom>
          <a:ln w="1905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2980944" y="2148840"/>
            <a:ext cx="146304" cy="0"/>
          </a:xfrm>
          <a:prstGeom prst="line">
            <a:avLst/>
          </a:prstGeom>
          <a:ln w="1905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5641848" y="2148840"/>
            <a:ext cx="146304" cy="0"/>
          </a:xfrm>
          <a:prstGeom prst="line">
            <a:avLst/>
          </a:prstGeom>
          <a:ln w="1905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7159752" y="2148840"/>
            <a:ext cx="146304" cy="0"/>
          </a:xfrm>
          <a:prstGeom prst="line">
            <a:avLst/>
          </a:prstGeom>
          <a:ln w="1905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6473952" y="2743200"/>
            <a:ext cx="0" cy="164592"/>
          </a:xfrm>
          <a:prstGeom prst="line">
            <a:avLst/>
          </a:prstGeom>
          <a:ln w="15875">
            <a:solidFill>
              <a:srgbClr val="E8590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2318004" y="2907792"/>
            <a:ext cx="4155948" cy="0"/>
          </a:xfrm>
          <a:prstGeom prst="line">
            <a:avLst/>
          </a:prstGeom>
          <a:ln w="15875">
            <a:solidFill>
              <a:srgbClr val="E8590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318004" y="2743200"/>
            <a:ext cx="0" cy="164592"/>
          </a:xfrm>
          <a:prstGeom prst="line">
            <a:avLst/>
          </a:prstGeom>
          <a:ln w="15875">
            <a:solidFill>
              <a:srgbClr val="E8590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TextBox 193"/>
          <p:cNvSpPr txBox="1"/>
          <p:nvPr/>
        </p:nvSpPr>
        <p:spPr>
          <a:xfrm>
            <a:off x="2514600" y="2926080"/>
            <a:ext cx="3566160" cy="182880"/>
          </a:xfrm>
          <a:prstGeom prst="rect">
            <a:avLst/>
          </a:prstGeom>
          <a:noFill/>
        </p:spPr>
        <p:txBody>
          <a:bodyPr wrap="square" lIns="0" tIns="0" rIns="0" bIns="0" anchor="t"/>
          <a:lstStyle/>
          <a:p>
            <a:pPr algn="ctr">
              <a:lnSpc>
                <a:spcPct val="112000"/>
              </a:lnSpc>
            </a:pPr>
            <a:r>
              <a:rPr lang="en-US" sz="700" b="0" i="0">
                <a:solidFill>
                  <a:srgbClr val="E8590C"/>
                </a:solidFill>
                <a:latin typeface="Arial" panose="020B0604020202020204"/>
              </a:rPr>
              <a:t>tool responses feed known facts, route turns and responder messages back to Mia</a:t>
            </a:r>
            <a:endParaRPr lang="en-US" sz="700" b="0" i="0">
              <a:solidFill>
                <a:srgbClr val="E8590C"/>
              </a:solidFill>
              <a:latin typeface="Arial" panose="020B0604020202020204"/>
            </a:endParaRPr>
          </a:p>
        </p:txBody>
      </p:sp>
      <p:sp>
        <p:nvSpPr>
          <p:cNvPr id="195" name="TextBox 194"/>
          <p:cNvSpPr txBox="1"/>
          <p:nvPr/>
        </p:nvSpPr>
        <p:spPr>
          <a:xfrm>
            <a:off x="365760" y="3154680"/>
            <a:ext cx="3657600" cy="182880"/>
          </a:xfrm>
          <a:prstGeom prst="rect">
            <a:avLst/>
          </a:prstGeom>
          <a:noFill/>
        </p:spPr>
        <p:txBody>
          <a:bodyPr wrap="square" lIns="0" tIns="0" rIns="0" bIns="0" anchor="t"/>
          <a:lstStyle/>
          <a:p>
            <a:pPr algn="l">
              <a:lnSpc>
                <a:spcPct val="112000"/>
              </a:lnSpc>
            </a:pPr>
            <a:r>
              <a:rPr lang="en-US" sz="800" b="1" i="0">
                <a:solidFill>
                  <a:srgbClr val="1A73E8"/>
                </a:solidFill>
                <a:latin typeface="Arial" panose="020B0604020202020204"/>
              </a:rPr>
              <a:t>AFTER THE CALL</a:t>
            </a:r>
            <a:endParaRPr lang="en-US" sz="800" b="1" i="0">
              <a:solidFill>
                <a:srgbClr val="1A73E8"/>
              </a:solidFill>
              <a:latin typeface="Arial" panose="020B0604020202020204"/>
            </a:endParaRPr>
          </a:p>
        </p:txBody>
      </p:sp>
      <p:sp>
        <p:nvSpPr>
          <p:cNvPr id="196" name="Rounded Rectangle 195"/>
          <p:cNvSpPr/>
          <p:nvPr/>
        </p:nvSpPr>
        <p:spPr>
          <a:xfrm>
            <a:off x="365760" y="3364992"/>
            <a:ext cx="2697480" cy="5029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850" b="1" i="0">
                <a:solidFill>
                  <a:srgbClr val="1A73E8"/>
                </a:solidFill>
                <a:latin typeface="Arial" panose="020B0604020202020204"/>
              </a:rPr>
              <a:t>3.5 Flash-Lite  </a:t>
            </a:r>
            <a:r>
              <a:rPr lang="en-US" sz="750" b="0" i="0">
                <a:solidFill>
                  <a:srgbClr val="1A1A1A"/>
                </a:solidFill>
                <a:latin typeface="Arial" panose="020B0604020202020204"/>
              </a:rPr>
              <a:t>case summary, field confidence, dispatch bulletin, third-party redaction</a:t>
            </a:r>
            <a:endParaRPr lang="en-US" sz="750" b="0" i="0">
              <a:solidFill>
                <a:srgbClr val="1A1A1A"/>
              </a:solidFill>
              <a:latin typeface="Arial" panose="020B0604020202020204"/>
            </a:endParaRPr>
          </a:p>
        </p:txBody>
      </p:sp>
      <p:cxnSp>
        <p:nvCxnSpPr>
          <p:cNvPr id="197" name="Connector 196"/>
          <p:cNvCxnSpPr/>
          <p:nvPr/>
        </p:nvCxnSpPr>
        <p:spPr>
          <a:xfrm>
            <a:off x="3063240" y="3616452"/>
            <a:ext cx="137160"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8" name="Rounded Rectangle 197"/>
          <p:cNvSpPr/>
          <p:nvPr/>
        </p:nvSpPr>
        <p:spPr>
          <a:xfrm>
            <a:off x="3200400" y="3364992"/>
            <a:ext cx="2697480" cy="5029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850" b="1" i="0">
                <a:solidFill>
                  <a:srgbClr val="1A73E8"/>
                </a:solidFill>
                <a:latin typeface="Arial" panose="020B0604020202020204"/>
              </a:rPr>
              <a:t>3.1 Flash-Lite  </a:t>
            </a:r>
            <a:r>
              <a:rPr lang="en-US" sz="750" b="0" i="0">
                <a:solidFill>
                  <a:srgbClr val="1A1A1A"/>
                </a:solidFill>
                <a:latin typeface="Arial" panose="020B0604020202020204"/>
              </a:rPr>
              <a:t>links the case to recent ones: same person, place or vehicle</a:t>
            </a:r>
            <a:endParaRPr lang="en-US" sz="750" b="0" i="0">
              <a:solidFill>
                <a:srgbClr val="1A1A1A"/>
              </a:solidFill>
              <a:latin typeface="Arial" panose="020B0604020202020204"/>
            </a:endParaRPr>
          </a:p>
        </p:txBody>
      </p:sp>
      <p:cxnSp>
        <p:nvCxnSpPr>
          <p:cNvPr id="199" name="Connector 198"/>
          <p:cNvCxnSpPr/>
          <p:nvPr/>
        </p:nvCxnSpPr>
        <p:spPr>
          <a:xfrm>
            <a:off x="5897880" y="3616452"/>
            <a:ext cx="137160"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0" name="Rounded Rectangle 199"/>
          <p:cNvSpPr/>
          <p:nvPr/>
        </p:nvSpPr>
        <p:spPr>
          <a:xfrm>
            <a:off x="6035040" y="3364992"/>
            <a:ext cx="2697480" cy="5029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850" b="1" i="0">
                <a:solidFill>
                  <a:srgbClr val="1A73E8"/>
                </a:solidFill>
                <a:latin typeface="Arial" panose="020B0604020202020204"/>
              </a:rPr>
              <a:t>Apps Script  </a:t>
            </a:r>
            <a:r>
              <a:rPr lang="en-US" sz="750" b="0" i="0">
                <a:solidFill>
                  <a:srgbClr val="1A1A1A"/>
                </a:solidFill>
                <a:latin typeface="Arial" panose="020B0604020202020204"/>
              </a:rPr>
              <a:t>case-report email with PDF, scene sketch and map</a:t>
            </a:r>
            <a:endParaRPr lang="en-US" sz="750" b="0" i="0">
              <a:solidFill>
                <a:srgbClr val="1A1A1A"/>
              </a:solidFill>
              <a:latin typeface="Arial" panose="020B0604020202020204"/>
            </a:endParaRPr>
          </a:p>
        </p:txBody>
      </p:sp>
      <p:sp>
        <p:nvSpPr>
          <p:cNvPr id="201" name="Rounded Rectangle 200"/>
          <p:cNvSpPr/>
          <p:nvPr/>
        </p:nvSpPr>
        <p:spPr>
          <a:xfrm>
            <a:off x="365760" y="3977639"/>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750" b="1" i="0">
                <a:solidFill>
                  <a:srgbClr val="1A1A1A"/>
                </a:solidFill>
                <a:latin typeface="Arial" panose="020B0604020202020204"/>
              </a:rPr>
              <a:t>One reply per tool batch: </a:t>
            </a:r>
            <a:r>
              <a:rPr lang="en-US" sz="700" b="0" i="0">
                <a:solidFill>
                  <a:srgbClr val="5F6368"/>
                </a:solidFill>
                <a:latin typeface="Arial" panose="020B0604020202020204"/>
              </a:rPr>
              <a:t>record-only tools answer SILENT; one WHEN_IDLE starts Mia’s next line</a:t>
            </a:r>
            <a:endParaRPr lang="en-US" sz="700" b="0" i="0">
              <a:solidFill>
                <a:srgbClr val="5F6368"/>
              </a:solidFill>
              <a:latin typeface="Arial" panose="020B0604020202020204"/>
            </a:endParaRPr>
          </a:p>
        </p:txBody>
      </p:sp>
      <p:sp>
        <p:nvSpPr>
          <p:cNvPr id="202" name="Rounded Rectangle 201"/>
          <p:cNvSpPr/>
          <p:nvPr/>
        </p:nvSpPr>
        <p:spPr>
          <a:xfrm>
            <a:off x="3200400" y="3977639"/>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750" b="1" i="0">
                <a:solidFill>
                  <a:srgbClr val="1A1A1A"/>
                </a:solidFill>
                <a:latin typeface="Arial" panose="020B0604020202020204"/>
              </a:rPr>
              <a:t>Long, stable sessions: </a:t>
            </a:r>
            <a:r>
              <a:rPr lang="en-US" sz="700" b="0" i="0">
                <a:solidFill>
                  <a:srgbClr val="5F6368"/>
                </a:solidFill>
                <a:latin typeface="Arial" panose="020B0604020202020204"/>
              </a:rPr>
              <a:t>session resumption, context compression, capped reconnects</a:t>
            </a:r>
            <a:endParaRPr lang="en-US" sz="700" b="0" i="0">
              <a:solidFill>
                <a:srgbClr val="5F6368"/>
              </a:solidFill>
              <a:latin typeface="Arial" panose="020B0604020202020204"/>
            </a:endParaRPr>
          </a:p>
        </p:txBody>
      </p:sp>
      <p:sp>
        <p:nvSpPr>
          <p:cNvPr id="203" name="Rounded Rectangle 202"/>
          <p:cNvSpPr/>
          <p:nvPr/>
        </p:nvSpPr>
        <p:spPr>
          <a:xfrm>
            <a:off x="6035040" y="3977639"/>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750" b="1" i="0">
                <a:solidFill>
                  <a:srgbClr val="1A1A1A"/>
                </a:solidFill>
                <a:latin typeface="Arial" panose="020B0604020202020204"/>
              </a:rPr>
              <a:t>Never goes quiet: </a:t>
            </a:r>
            <a:r>
              <a:rPr lang="en-US" sz="700" b="0" i="0">
                <a:solidFill>
                  <a:srgbClr val="5F6368"/>
                </a:solidFill>
                <a:latin typeface="Arial" panose="020B0604020202020204"/>
              </a:rPr>
              <a:t>silence and reply watchdogs; 6 s route budget with a holding line</a:t>
            </a:r>
            <a:endParaRPr lang="en-US" sz="700" b="0" i="0">
              <a:solidFill>
                <a:srgbClr val="5F6368"/>
              </a:solidFill>
              <a:latin typeface="Arial" panose="020B0604020202020204"/>
            </a:endParaRPr>
          </a:p>
        </p:txBody>
      </p:sp>
      <p:sp>
        <p:nvSpPr>
          <p:cNvPr id="204" name="Rounded Rectangle 203"/>
          <p:cNvSpPr/>
          <p:nvPr/>
        </p:nvSpPr>
        <p:spPr>
          <a:xfrm>
            <a:off x="365760" y="4416552"/>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750" b="1" i="0">
                <a:solidFill>
                  <a:srgbClr val="1A1A1A"/>
                </a:solidFill>
                <a:latin typeface="Arial" panose="020B0604020202020204"/>
              </a:rPr>
              <a:t>Right-sized models: </a:t>
            </a:r>
            <a:r>
              <a:rPr lang="en-US" sz="700" b="0" i="0">
                <a:solidFill>
                  <a:srgbClr val="5F6368"/>
                </a:solidFill>
                <a:latin typeface="Arial" panose="020B0604020202020204"/>
              </a:rPr>
              <a:t>smallest model per task; free key first, paid fallback</a:t>
            </a:r>
            <a:endParaRPr lang="en-US" sz="700" b="0" i="0">
              <a:solidFill>
                <a:srgbClr val="5F6368"/>
              </a:solidFill>
              <a:latin typeface="Arial" panose="020B0604020202020204"/>
            </a:endParaRPr>
          </a:p>
        </p:txBody>
      </p:sp>
      <p:sp>
        <p:nvSpPr>
          <p:cNvPr id="205" name="Rounded Rectangle 204"/>
          <p:cNvSpPr/>
          <p:nvPr/>
        </p:nvSpPr>
        <p:spPr>
          <a:xfrm>
            <a:off x="3200400" y="4416552"/>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750" b="1" i="0">
                <a:solidFill>
                  <a:srgbClr val="1A1A1A"/>
                </a:solidFill>
                <a:latin typeface="Arial" panose="020B0604020202020204"/>
              </a:rPr>
              <a:t>Metered: </a:t>
            </a:r>
            <a:r>
              <a:rPr lang="en-US" sz="700" b="0" i="0">
                <a:solidFill>
                  <a:srgbClr val="5F6368"/>
                </a:solidFill>
                <a:latin typeface="Arial" panose="020B0604020202020204"/>
              </a:rPr>
              <a:t>tokens per task recorded on every incident</a:t>
            </a:r>
            <a:endParaRPr lang="en-US" sz="700" b="0" i="0">
              <a:solidFill>
                <a:srgbClr val="5F6368"/>
              </a:solidFill>
              <a:latin typeface="Arial" panose="020B0604020202020204"/>
            </a:endParaRPr>
          </a:p>
        </p:txBody>
      </p:sp>
      <p:sp>
        <p:nvSpPr>
          <p:cNvPr id="206" name="Rounded Rectangle 205"/>
          <p:cNvSpPr/>
          <p:nvPr/>
        </p:nvSpPr>
        <p:spPr>
          <a:xfrm>
            <a:off x="6035040" y="4416552"/>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lnSpc>
                <a:spcPct val="112000"/>
              </a:lnSpc>
            </a:pPr>
            <a:r>
              <a:rPr lang="en-US" sz="750" b="1" i="0">
                <a:solidFill>
                  <a:srgbClr val="1A1A1A"/>
                </a:solidFill>
                <a:latin typeface="Arial" panose="020B0604020202020204"/>
              </a:rPr>
              <a:t>Tested like a product: </a:t>
            </a:r>
            <a:r>
              <a:rPr lang="en-US" sz="700" b="0" i="0">
                <a:solidFill>
                  <a:srgbClr val="5F6368"/>
                </a:solidFill>
                <a:latin typeface="Arial" panose="020B0604020202020204"/>
              </a:rPr>
              <a:t>8 real voice calls, timings and cost measured from each incident record</a:t>
            </a:r>
            <a:endParaRPr lang="en-US" sz="700" b="0" i="0">
              <a:solidFill>
                <a:srgbClr val="5F6368"/>
              </a:solidFill>
              <a:latin typeface="Arial" panose="020B060402020202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19" name="Google Shape;119;p21"/>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Technologies to be used in the solution</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120"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Built on Google: Gemini for intelligence, Firebase for realtime, the web for reach</a:t>
            </a:r>
            <a:endParaRPr lang="en-US" sz="1300" b="1" i="0">
              <a:solidFill>
                <a:srgbClr val="E8590C"/>
              </a:solidFill>
              <a:latin typeface="Arial" panose="020B0604020202020204"/>
            </a:endParaRPr>
          </a:p>
        </p:txBody>
      </p:sp>
      <p:sp>
        <p:nvSpPr>
          <p:cNvPr id="121" name="Rounded Rectangle 120"/>
          <p:cNvSpPr/>
          <p:nvPr/>
        </p:nvSpPr>
        <p:spPr>
          <a:xfrm>
            <a:off x="365760" y="1353312"/>
            <a:ext cx="1600200" cy="676656"/>
          </a:xfrm>
          <a:prstGeom prst="roundRect">
            <a:avLst>
              <a:gd name="adj" fmla="val 1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FFFFFF"/>
                </a:solidFill>
                <a:latin typeface="Arial" panose="020B0604020202020204"/>
              </a:rPr>
              <a:t>Google AI</a:t>
            </a:r>
            <a:endParaRPr lang="en-US" sz="950" b="1" i="0">
              <a:solidFill>
                <a:srgbClr val="FFFFFF"/>
              </a:solidFill>
              <a:latin typeface="Arial" panose="020B0604020202020204"/>
            </a:endParaRPr>
          </a:p>
        </p:txBody>
      </p:sp>
      <p:sp>
        <p:nvSpPr>
          <p:cNvPr id="122" name="Rounded Rectangle 121"/>
          <p:cNvSpPr/>
          <p:nvPr/>
        </p:nvSpPr>
        <p:spPr>
          <a:xfrm>
            <a:off x="2057400" y="1353312"/>
            <a:ext cx="6720840" cy="676656"/>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2176272" y="1417320"/>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Gemini Live API (gemini-3.8-live)</a:t>
            </a:r>
            <a:r>
              <a:rPr lang="en-US" sz="750" b="0" i="0">
                <a:solidFill>
                  <a:srgbClr val="5F6368"/>
                </a:solidFill>
                <a:latin typeface="Arial" panose="020B0604020202020204"/>
              </a:rPr>
              <a:t>  the only model doing realtime voice + vision + tools</a:t>
            </a:r>
            <a:endParaRPr lang="en-US" sz="750" b="0" i="0">
              <a:solidFill>
                <a:srgbClr val="5F6368"/>
              </a:solidFill>
              <a:latin typeface="Arial" panose="020B0604020202020204"/>
            </a:endParaRPr>
          </a:p>
        </p:txBody>
      </p:sp>
      <p:sp>
        <p:nvSpPr>
          <p:cNvPr id="124" name="TextBox 123"/>
          <p:cNvSpPr txBox="1"/>
          <p:nvPr/>
        </p:nvSpPr>
        <p:spPr>
          <a:xfrm>
            <a:off x="2176272" y="1709928"/>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Gemini 3.5 / 3.1 Flash-Lite</a:t>
            </a:r>
            <a:r>
              <a:rPr lang="en-US" sz="750" b="0" i="0">
                <a:solidFill>
                  <a:srgbClr val="5F6368"/>
                </a:solidFill>
                <a:latin typeface="Arial" panose="020B0604020202020204"/>
              </a:rPr>
              <a:t>  summaries, vision, linking, search, insights</a:t>
            </a:r>
            <a:endParaRPr lang="en-US" sz="750" b="0" i="0">
              <a:solidFill>
                <a:srgbClr val="5F6368"/>
              </a:solidFill>
              <a:latin typeface="Arial" panose="020B0604020202020204"/>
            </a:endParaRPr>
          </a:p>
        </p:txBody>
      </p:sp>
      <p:sp>
        <p:nvSpPr>
          <p:cNvPr id="125" name="TextBox 124"/>
          <p:cNvSpPr txBox="1"/>
          <p:nvPr/>
        </p:nvSpPr>
        <p:spPr>
          <a:xfrm>
            <a:off x="5513831" y="1417320"/>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Gemini key pool</a:t>
            </a:r>
            <a:r>
              <a:rPr lang="en-US" sz="750" b="0" i="0">
                <a:solidFill>
                  <a:srgbClr val="5F6368"/>
                </a:solidFill>
                <a:latin typeface="Arial" panose="020B0604020202020204"/>
              </a:rPr>
              <a:t>  free key first, paid fallback, per model</a:t>
            </a:r>
            <a:endParaRPr lang="en-US" sz="750" b="0" i="0">
              <a:solidFill>
                <a:srgbClr val="5F6368"/>
              </a:solidFill>
              <a:latin typeface="Arial" panose="020B0604020202020204"/>
            </a:endParaRPr>
          </a:p>
        </p:txBody>
      </p:sp>
      <p:sp>
        <p:nvSpPr>
          <p:cNvPr id="126" name="TextBox 125"/>
          <p:cNvSpPr txBox="1"/>
          <p:nvPr/>
        </p:nvSpPr>
        <p:spPr>
          <a:xfrm>
            <a:off x="5513831" y="1709928"/>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Gemma 4 31B</a:t>
            </a:r>
            <a:r>
              <a:rPr lang="en-US" sz="750" b="0" i="0">
                <a:solidFill>
                  <a:srgbClr val="5F6368"/>
                </a:solidFill>
                <a:latin typeface="Arial" panose="020B0604020202020204"/>
              </a:rPr>
              <a:t>  free judge in the eval harness</a:t>
            </a:r>
            <a:endParaRPr lang="en-US" sz="750" b="0" i="0">
              <a:solidFill>
                <a:srgbClr val="5F6368"/>
              </a:solidFill>
              <a:latin typeface="Arial" panose="020B0604020202020204"/>
            </a:endParaRPr>
          </a:p>
        </p:txBody>
      </p:sp>
      <p:sp>
        <p:nvSpPr>
          <p:cNvPr id="127" name="Rounded Rectangle 126"/>
          <p:cNvSpPr/>
          <p:nvPr/>
        </p:nvSpPr>
        <p:spPr>
          <a:xfrm>
            <a:off x="365760" y="2103120"/>
            <a:ext cx="1600200" cy="676656"/>
          </a:xfrm>
          <a:prstGeom prst="roundRect">
            <a:avLst>
              <a:gd name="adj" fmla="val 10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FFFFFF"/>
                </a:solidFill>
                <a:latin typeface="Arial" panose="020B0604020202020204"/>
              </a:rPr>
              <a:t>Firebase &amp; Google Cloud</a:t>
            </a:r>
            <a:endParaRPr lang="en-US" sz="950" b="1" i="0">
              <a:solidFill>
                <a:srgbClr val="FFFFFF"/>
              </a:solidFill>
              <a:latin typeface="Arial" panose="020B0604020202020204"/>
            </a:endParaRPr>
          </a:p>
        </p:txBody>
      </p:sp>
      <p:sp>
        <p:nvSpPr>
          <p:cNvPr id="128" name="Rounded Rectangle 127"/>
          <p:cNvSpPr/>
          <p:nvPr/>
        </p:nvSpPr>
        <p:spPr>
          <a:xfrm>
            <a:off x="2057400" y="2103120"/>
            <a:ext cx="6720840" cy="676656"/>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2176272" y="2167127"/>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Hosting (4 sites), Cloud Firestore, Auth</a:t>
            </a:r>
            <a:r>
              <a:rPr lang="en-US" sz="750" b="0" i="0">
                <a:solidFill>
                  <a:srgbClr val="5F6368"/>
                </a:solidFill>
                <a:latin typeface="Arial" panose="020B0604020202020204"/>
              </a:rPr>
              <a:t>  email, device ID, phone OTP</a:t>
            </a:r>
            <a:endParaRPr lang="en-US" sz="750" b="0" i="0">
              <a:solidFill>
                <a:srgbClr val="5F6368"/>
              </a:solidFill>
              <a:latin typeface="Arial" panose="020B0604020202020204"/>
            </a:endParaRPr>
          </a:p>
        </p:txBody>
      </p:sp>
      <p:sp>
        <p:nvSpPr>
          <p:cNvPr id="130" name="TextBox 129"/>
          <p:cNvSpPr txBox="1"/>
          <p:nvPr/>
        </p:nvSpPr>
        <p:spPr>
          <a:xfrm>
            <a:off x="2176272" y="2459735"/>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Firestore security rules</a:t>
            </a:r>
            <a:r>
              <a:rPr lang="en-US" sz="750" b="0" i="0">
                <a:solidFill>
                  <a:srgbClr val="5F6368"/>
                </a:solidFill>
                <a:latin typeface="Arial" panose="020B0604020202020204"/>
              </a:rPr>
              <a:t>  role-based responder access</a:t>
            </a:r>
            <a:endParaRPr lang="en-US" sz="750" b="0" i="0">
              <a:solidFill>
                <a:srgbClr val="5F6368"/>
              </a:solidFill>
              <a:latin typeface="Arial" panose="020B0604020202020204"/>
            </a:endParaRPr>
          </a:p>
        </p:txBody>
      </p:sp>
      <p:sp>
        <p:nvSpPr>
          <p:cNvPr id="131" name="TextBox 130"/>
          <p:cNvSpPr txBox="1"/>
          <p:nvPr/>
        </p:nvSpPr>
        <p:spPr>
          <a:xfrm>
            <a:off x="5513831" y="2167127"/>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Apps Script + Drive</a:t>
            </a:r>
            <a:r>
              <a:rPr lang="en-US" sz="750" b="0" i="0">
                <a:solidFill>
                  <a:srgbClr val="5F6368"/>
                </a:solidFill>
                <a:latin typeface="Arial" panose="020B0604020202020204"/>
              </a:rPr>
              <a:t>  evidence and mail, no billing</a:t>
            </a:r>
            <a:endParaRPr lang="en-US" sz="750" b="0" i="0">
              <a:solidFill>
                <a:srgbClr val="5F6368"/>
              </a:solidFill>
              <a:latin typeface="Arial" panose="020B0604020202020204"/>
            </a:endParaRPr>
          </a:p>
        </p:txBody>
      </p:sp>
      <p:sp>
        <p:nvSpPr>
          <p:cNvPr id="132" name="TextBox 131"/>
          <p:cNvSpPr txBox="1"/>
          <p:nvPr/>
        </p:nvSpPr>
        <p:spPr>
          <a:xfrm>
            <a:off x="5513831" y="2459735"/>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Maps JS, STUN</a:t>
            </a:r>
            <a:r>
              <a:rPr lang="en-US" sz="750" b="0" i="0">
                <a:solidFill>
                  <a:srgbClr val="5F6368"/>
                </a:solidFill>
                <a:latin typeface="Arial" panose="020B0604020202020204"/>
              </a:rPr>
              <a:t>  maps, WebRTC</a:t>
            </a:r>
            <a:endParaRPr lang="en-US" sz="750" b="0" i="0">
              <a:solidFill>
                <a:srgbClr val="5F6368"/>
              </a:solidFill>
              <a:latin typeface="Arial" panose="020B0604020202020204"/>
            </a:endParaRPr>
          </a:p>
        </p:txBody>
      </p:sp>
      <p:sp>
        <p:nvSpPr>
          <p:cNvPr id="133" name="Rounded Rectangle 132"/>
          <p:cNvSpPr/>
          <p:nvPr/>
        </p:nvSpPr>
        <p:spPr>
          <a:xfrm>
            <a:off x="365760" y="2852927"/>
            <a:ext cx="1600200" cy="676656"/>
          </a:xfrm>
          <a:prstGeom prst="roundRect">
            <a:avLst>
              <a:gd name="adj" fmla="val 10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FFFFFF"/>
                </a:solidFill>
                <a:latin typeface="Arial" panose="020B0604020202020204"/>
              </a:rPr>
              <a:t>Apps</a:t>
            </a:r>
            <a:endParaRPr lang="en-US" sz="950" b="1" i="0">
              <a:solidFill>
                <a:srgbClr val="FFFFFF"/>
              </a:solidFill>
              <a:latin typeface="Arial" panose="020B0604020202020204"/>
            </a:endParaRPr>
          </a:p>
        </p:txBody>
      </p:sp>
      <p:sp>
        <p:nvSpPr>
          <p:cNvPr id="134" name="Rounded Rectangle 133"/>
          <p:cNvSpPr/>
          <p:nvPr/>
        </p:nvSpPr>
        <p:spPr>
          <a:xfrm>
            <a:off x="2057400" y="2852927"/>
            <a:ext cx="6720840" cy="676656"/>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2176272" y="2916935"/>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React + Vite + TypeScript</a:t>
            </a:r>
            <a:r>
              <a:rPr lang="en-US" sz="750" b="0" i="0">
                <a:solidFill>
                  <a:srgbClr val="5F6368"/>
                </a:solidFill>
                <a:latin typeface="Arial" panose="020B0604020202020204"/>
              </a:rPr>
              <a:t>  caller app, console, landing</a:t>
            </a:r>
            <a:endParaRPr lang="en-US" sz="750" b="0" i="0">
              <a:solidFill>
                <a:srgbClr val="5F6368"/>
              </a:solidFill>
              <a:latin typeface="Arial" panose="020B0604020202020204"/>
            </a:endParaRPr>
          </a:p>
        </p:txBody>
      </p:sp>
      <p:sp>
        <p:nvSpPr>
          <p:cNvPr id="136" name="TextBox 135"/>
          <p:cNvSpPr txBox="1"/>
          <p:nvPr/>
        </p:nvSpPr>
        <p:spPr>
          <a:xfrm>
            <a:off x="2176272" y="3209543"/>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WebRTC (browser)</a:t>
            </a:r>
            <a:r>
              <a:rPr lang="en-US" sz="750" b="0" i="0">
                <a:solidFill>
                  <a:srgbClr val="5F6368"/>
                </a:solidFill>
                <a:latin typeface="Arial" panose="020B0604020202020204"/>
              </a:rPr>
              <a:t>  live video + listen-in, P2P</a:t>
            </a:r>
            <a:endParaRPr lang="en-US" sz="750" b="0" i="0">
              <a:solidFill>
                <a:srgbClr val="5F6368"/>
              </a:solidFill>
              <a:latin typeface="Arial" panose="020B0604020202020204"/>
            </a:endParaRPr>
          </a:p>
        </p:txBody>
      </p:sp>
      <p:sp>
        <p:nvSpPr>
          <p:cNvPr id="137" name="TextBox 136"/>
          <p:cNvSpPr txBox="1"/>
          <p:nvPr/>
        </p:nvSpPr>
        <p:spPr>
          <a:xfrm>
            <a:off x="5513831" y="2916935"/>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Web Audio + getUserMedia</a:t>
            </a:r>
            <a:r>
              <a:rPr lang="en-US" sz="750" b="0" i="0">
                <a:solidFill>
                  <a:srgbClr val="5F6368"/>
                </a:solidFill>
                <a:latin typeface="Arial" panose="020B0604020202020204"/>
              </a:rPr>
              <a:t>  mic, camera frames, audio mixing</a:t>
            </a:r>
            <a:endParaRPr lang="en-US" sz="750" b="0" i="0">
              <a:solidFill>
                <a:srgbClr val="5F6368"/>
              </a:solidFill>
              <a:latin typeface="Arial" panose="020B0604020202020204"/>
            </a:endParaRPr>
          </a:p>
        </p:txBody>
      </p:sp>
      <p:sp>
        <p:nvSpPr>
          <p:cNvPr id="138" name="TextBox 137"/>
          <p:cNvSpPr txBox="1"/>
          <p:nvPr/>
        </p:nvSpPr>
        <p:spPr>
          <a:xfrm>
            <a:off x="5513831" y="3209543"/>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ECharts, Leaflet</a:t>
            </a:r>
            <a:r>
              <a:rPr lang="en-US" sz="750" b="0" i="0">
                <a:solidFill>
                  <a:srgbClr val="5F6368"/>
                </a:solidFill>
                <a:latin typeface="Arial" panose="020B0604020202020204"/>
              </a:rPr>
              <a:t>  analytics</a:t>
            </a:r>
            <a:endParaRPr lang="en-US" sz="750" b="0" i="0">
              <a:solidFill>
                <a:srgbClr val="5F6368"/>
              </a:solidFill>
              <a:latin typeface="Arial" panose="020B0604020202020204"/>
            </a:endParaRPr>
          </a:p>
        </p:txBody>
      </p:sp>
      <p:sp>
        <p:nvSpPr>
          <p:cNvPr id="139" name="Rounded Rectangle 138"/>
          <p:cNvSpPr/>
          <p:nvPr/>
        </p:nvSpPr>
        <p:spPr>
          <a:xfrm>
            <a:off x="365760" y="3602735"/>
            <a:ext cx="1600200" cy="457200"/>
          </a:xfrm>
          <a:prstGeom prst="roundRect">
            <a:avLst>
              <a:gd name="adj" fmla="val 10000"/>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FFFFFF"/>
                </a:solidFill>
                <a:latin typeface="Arial" panose="020B0604020202020204"/>
              </a:rPr>
              <a:t>Open map data</a:t>
            </a:r>
            <a:endParaRPr lang="en-US" sz="950" b="1" i="0">
              <a:solidFill>
                <a:srgbClr val="FFFFFF"/>
              </a:solidFill>
              <a:latin typeface="Arial" panose="020B0604020202020204"/>
            </a:endParaRPr>
          </a:p>
        </p:txBody>
      </p:sp>
      <p:sp>
        <p:nvSpPr>
          <p:cNvPr id="140" name="Rounded Rectangle 139"/>
          <p:cNvSpPr/>
          <p:nvPr/>
        </p:nvSpPr>
        <p:spPr>
          <a:xfrm>
            <a:off x="2057400" y="3602735"/>
            <a:ext cx="6720840" cy="457200"/>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2176272" y="3712463"/>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OpenStreetMap, Nominatim, Photon</a:t>
            </a:r>
            <a:r>
              <a:rPr lang="en-US" sz="750" b="0" i="0">
                <a:solidFill>
                  <a:srgbClr val="5F6368"/>
                </a:solidFill>
                <a:latin typeface="Arial" panose="020B0604020202020204"/>
              </a:rPr>
              <a:t>  geocoding, landmarks, nearby help</a:t>
            </a:r>
            <a:endParaRPr lang="en-US" sz="750" b="0" i="0">
              <a:solidFill>
                <a:srgbClr val="5F6368"/>
              </a:solidFill>
              <a:latin typeface="Arial" panose="020B0604020202020204"/>
            </a:endParaRPr>
          </a:p>
        </p:txBody>
      </p:sp>
      <p:sp>
        <p:nvSpPr>
          <p:cNvPr id="142" name="TextBox 141"/>
          <p:cNvSpPr txBox="1"/>
          <p:nvPr/>
        </p:nvSpPr>
        <p:spPr>
          <a:xfrm>
            <a:off x="5513831" y="3712463"/>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OSRM</a:t>
            </a:r>
            <a:r>
              <a:rPr lang="en-US" sz="750" b="0" i="0">
                <a:solidFill>
                  <a:srgbClr val="5F6368"/>
                </a:solidFill>
                <a:latin typeface="Arial" panose="020B0604020202020204"/>
              </a:rPr>
              <a:t>  turn-by-turn routing</a:t>
            </a:r>
            <a:endParaRPr lang="en-US" sz="750" b="0" i="0">
              <a:solidFill>
                <a:srgbClr val="5F6368"/>
              </a:solidFill>
              <a:latin typeface="Arial" panose="020B0604020202020204"/>
            </a:endParaRPr>
          </a:p>
        </p:txBody>
      </p:sp>
      <p:sp>
        <p:nvSpPr>
          <p:cNvPr id="143" name="Rounded Rectangle 142"/>
          <p:cNvSpPr/>
          <p:nvPr/>
        </p:nvSpPr>
        <p:spPr>
          <a:xfrm>
            <a:off x="365760" y="4133087"/>
            <a:ext cx="1600200" cy="676656"/>
          </a:xfrm>
          <a:prstGeom prst="roundRect">
            <a:avLst>
              <a:gd name="adj" fmla="val 10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FFFFFF"/>
                </a:solidFill>
                <a:latin typeface="Arial" panose="020B0604020202020204"/>
              </a:rPr>
              <a:t>Quality &amp; DevOps</a:t>
            </a:r>
            <a:endParaRPr lang="en-US" sz="950" b="1" i="0">
              <a:solidFill>
                <a:srgbClr val="FFFFFF"/>
              </a:solidFill>
              <a:latin typeface="Arial" panose="020B0604020202020204"/>
            </a:endParaRPr>
          </a:p>
        </p:txBody>
      </p:sp>
      <p:sp>
        <p:nvSpPr>
          <p:cNvPr id="144" name="Rounded Rectangle 143"/>
          <p:cNvSpPr/>
          <p:nvPr/>
        </p:nvSpPr>
        <p:spPr>
          <a:xfrm>
            <a:off x="2057400" y="4133087"/>
            <a:ext cx="6720840" cy="676656"/>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2176272" y="4197096"/>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GitHub Actions</a:t>
            </a:r>
            <a:r>
              <a:rPr lang="en-US" sz="750" b="0" i="0">
                <a:solidFill>
                  <a:srgbClr val="5F6368"/>
                </a:solidFill>
                <a:latin typeface="Arial" panose="020B0604020202020204"/>
              </a:rPr>
              <a:t>  gitleaks secret scan</a:t>
            </a:r>
            <a:endParaRPr lang="en-US" sz="750" b="0" i="0">
              <a:solidFill>
                <a:srgbClr val="5F6368"/>
              </a:solidFill>
              <a:latin typeface="Arial" panose="020B0604020202020204"/>
            </a:endParaRPr>
          </a:p>
        </p:txBody>
      </p:sp>
      <p:sp>
        <p:nvSpPr>
          <p:cNvPr id="146" name="TextBox 145"/>
          <p:cNvSpPr txBox="1"/>
          <p:nvPr/>
        </p:nvSpPr>
        <p:spPr>
          <a:xfrm>
            <a:off x="2176272" y="4489704"/>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Performance test (Node + Python)</a:t>
            </a:r>
            <a:r>
              <a:rPr lang="en-US" sz="750" b="0" i="0">
                <a:solidFill>
                  <a:srgbClr val="5F6368"/>
                </a:solidFill>
                <a:latin typeface="Arial" panose="020B0604020202020204"/>
              </a:rPr>
              <a:t>  8 real calls measured from incident records, Excel report</a:t>
            </a:r>
            <a:endParaRPr lang="en-US" sz="750" b="0" i="0">
              <a:solidFill>
                <a:srgbClr val="5F6368"/>
              </a:solidFill>
              <a:latin typeface="Arial" panose="020B0604020202020204"/>
            </a:endParaRPr>
          </a:p>
        </p:txBody>
      </p:sp>
      <p:sp>
        <p:nvSpPr>
          <p:cNvPr id="147" name="TextBox 146"/>
          <p:cNvSpPr txBox="1"/>
          <p:nvPr/>
        </p:nvSpPr>
        <p:spPr>
          <a:xfrm>
            <a:off x="5513831" y="4197096"/>
            <a:ext cx="3246120" cy="274320"/>
          </a:xfrm>
          <a:prstGeom prst="rect">
            <a:avLst/>
          </a:prstGeom>
          <a:noFill/>
        </p:spPr>
        <p:txBody>
          <a:bodyPr wrap="square" lIns="0" tIns="0" rIns="0" bIns="0" anchor="t"/>
          <a:lstStyle/>
          <a:p>
            <a:pPr algn="l">
              <a:lnSpc>
                <a:spcPct val="112000"/>
              </a:lnSpc>
            </a:pPr>
            <a:r>
              <a:rPr lang="en-US" sz="850" b="1" i="0">
                <a:solidFill>
                  <a:srgbClr val="1A1A1A"/>
                </a:solidFill>
                <a:latin typeface="Arial" panose="020B0604020202020204"/>
              </a:rPr>
              <a:t>Staging site + preview channels</a:t>
            </a:r>
            <a:r>
              <a:rPr lang="en-US" sz="750" b="0" i="0">
                <a:solidFill>
                  <a:srgbClr val="5F6368"/>
                </a:solidFill>
                <a:latin typeface="Arial" panose="020B0604020202020204"/>
              </a:rPr>
              <a:t>  safe testing before production</a:t>
            </a:r>
            <a:endParaRPr lang="en-US" sz="750" b="0" i="0">
              <a:solidFill>
                <a:srgbClr val="5F6368"/>
              </a:solidFill>
              <a:latin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27" name="Google Shape;127;p22"/>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Estimated implementation cost (optional)</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301" name="Cost 301"/>
          <p:cNvSpPr txBox="1"/>
          <p:nvPr/>
        </p:nvSpPr>
        <p:spPr>
          <a:xfrm>
            <a:off x="365760" y="969264"/>
            <a:ext cx="8412480" cy="292608"/>
          </a:xfrm>
          <a:prstGeom prst="rect">
            <a:avLst/>
          </a:prstGeom>
          <a:noFill/>
        </p:spPr>
        <p:txBody>
          <a:bodyPr wrap="square" lIns="0" tIns="0" rIns="0" bIns="0" anchor="t"/>
          <a:lstStyle/>
          <a:p>
            <a:pPr algn="l">
              <a:spcAft>
                <a:spcPts val="0"/>
              </a:spcAft>
            </a:pPr>
            <a:r>
              <a:rPr lang="en-US" sz="1300" b="1" i="0" dirty="0">
                <a:solidFill>
                  <a:srgbClr val="E8590C"/>
                </a:solidFill>
                <a:latin typeface="Arial" panose="020B0604020202020204"/>
              </a:rPr>
              <a:t>Built on free tiers for $0, about $120–180 a month to run a district pilot</a:t>
            </a:r>
            <a:endParaRPr lang="en-US" sz="1300" b="1" i="0" dirty="0">
              <a:solidFill>
                <a:srgbClr val="E8590C"/>
              </a:solidFill>
              <a:latin typeface="Arial" panose="020B0604020202020204"/>
            </a:endParaRPr>
          </a:p>
        </p:txBody>
      </p:sp>
      <p:sp>
        <p:nvSpPr>
          <p:cNvPr id="302" name="Card 302"/>
          <p:cNvSpPr/>
          <p:nvPr/>
        </p:nvSpPr>
        <p:spPr>
          <a:xfrm>
            <a:off x="365760" y="1353312"/>
            <a:ext cx="2706624" cy="2148840"/>
          </a:xfrm>
          <a:prstGeom prst="roundRect">
            <a:avLst>
              <a:gd name="adj" fmla="val 6000"/>
            </a:avLst>
          </a:prstGeom>
          <a:solidFill>
            <a:srgbClr val="F3F4F6"/>
          </a:solidFill>
          <a:ln>
            <a:noFill/>
          </a:ln>
        </p:spPr>
        <p:txBody>
          <a:bodyPr anchor="ctr"/>
          <a:lstStyle/>
          <a:p>
            <a:endParaRPr lang="en-US"/>
          </a:p>
        </p:txBody>
      </p:sp>
      <p:sp>
        <p:nvSpPr>
          <p:cNvPr id="303" name="Cost 303"/>
          <p:cNvSpPr txBox="1"/>
          <p:nvPr/>
        </p:nvSpPr>
        <p:spPr>
          <a:xfrm>
            <a:off x="502920" y="1472184"/>
            <a:ext cx="2432304" cy="1948840"/>
          </a:xfrm>
          <a:prstGeom prst="rect">
            <a:avLst/>
          </a:prstGeom>
          <a:noFill/>
        </p:spPr>
        <p:txBody>
          <a:bodyPr wrap="square" lIns="0" tIns="0" rIns="0" bIns="0" anchor="t"/>
          <a:lstStyle/>
          <a:p>
            <a:pPr algn="l">
              <a:lnSpc>
                <a:spcPct val="112000"/>
              </a:lnSpc>
              <a:spcAft>
                <a:spcPts val="400"/>
              </a:spcAft>
            </a:pPr>
            <a:r>
              <a:rPr lang="en-US" sz="800" b="1" i="0" dirty="0">
                <a:solidFill>
                  <a:srgbClr val="E8590C"/>
                </a:solidFill>
                <a:latin typeface="Arial" panose="020B0604020202020204"/>
              </a:rPr>
              <a:t>1 · PROTOTYPE (DONE)</a:t>
            </a:r>
            <a:endParaRPr lang="en-US" sz="800" b="1" i="0" dirty="0">
              <a:solidFill>
                <a:srgbClr val="E8590C"/>
              </a:solidFill>
              <a:latin typeface="Arial" panose="020B0604020202020204"/>
            </a:endParaRPr>
          </a:p>
          <a:p>
            <a:pPr algn="l">
              <a:spcAft>
                <a:spcPts val="0"/>
              </a:spcAft>
            </a:pPr>
            <a:r>
              <a:rPr lang="en-US" sz="1800" b="1" i="0" dirty="0">
                <a:solidFill>
                  <a:srgbClr val="1A1A1A"/>
                </a:solidFill>
                <a:latin typeface="Arial" panose="020B0604020202020204"/>
              </a:rPr>
              <a:t>$0</a:t>
            </a:r>
            <a:endParaRPr lang="en-US" sz="1800" b="1" i="0" dirty="0">
              <a:solidFill>
                <a:srgbClr val="1A1A1A"/>
              </a:solidFill>
              <a:latin typeface="Arial" panose="020B0604020202020204"/>
            </a:endParaRPr>
          </a:p>
          <a:p>
            <a:pPr algn="l">
              <a:lnSpc>
                <a:spcPct val="112000"/>
              </a:lnSpc>
              <a:spcAft>
                <a:spcPts val="600"/>
              </a:spcAft>
            </a:pPr>
            <a:r>
              <a:rPr lang="en-US" sz="750" b="0" i="0" dirty="0">
                <a:solidFill>
                  <a:srgbClr val="5F6368"/>
                </a:solidFill>
                <a:latin typeface="Arial" panose="020B0604020202020204"/>
              </a:rPr>
              <a:t>infrastructure spend to build</a:t>
            </a:r>
            <a:endParaRPr lang="en-US" sz="750" b="0" i="0" dirty="0">
              <a:solidFill>
                <a:srgbClr val="5F6368"/>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Team: </a:t>
            </a:r>
            <a:r>
              <a:rPr lang="en-US" sz="850" b="0" i="0" dirty="0">
                <a:solidFill>
                  <a:srgbClr val="1A1A1A"/>
                </a:solidFill>
                <a:latin typeface="Arial" panose="020B0604020202020204"/>
              </a:rPr>
              <a:t>2 developers, ~4 weeks</a:t>
            </a:r>
            <a:endParaRPr lang="en-US" sz="850" b="0" i="0" dirty="0">
              <a:solidFill>
                <a:srgbClr val="1A1A1A"/>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Hosting, Firestore, Auth: </a:t>
            </a:r>
            <a:r>
              <a:rPr lang="en-US" sz="850" b="0" i="0" dirty="0">
                <a:solidFill>
                  <a:srgbClr val="1A1A1A"/>
                </a:solidFill>
                <a:latin typeface="Arial" panose="020B0604020202020204"/>
              </a:rPr>
              <a:t>Firebase free tier</a:t>
            </a:r>
            <a:endParaRPr lang="en-US" sz="850" b="0" i="0" dirty="0">
              <a:solidFill>
                <a:srgbClr val="1A1A1A"/>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AI: </a:t>
            </a:r>
            <a:r>
              <a:rPr lang="en-US" sz="850" b="0" i="0" dirty="0">
                <a:solidFill>
                  <a:srgbClr val="1A1A1A"/>
                </a:solidFill>
                <a:latin typeface="Arial" panose="020B0604020202020204"/>
              </a:rPr>
              <a:t>Gemini free key; $0 billed across 59 real test calls</a:t>
            </a:r>
            <a:endParaRPr lang="en-US" sz="850" b="0" i="0" dirty="0">
              <a:solidFill>
                <a:srgbClr val="1A1A1A"/>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Maps, routing, mail: </a:t>
            </a:r>
            <a:r>
              <a:rPr lang="en-US" sz="850" b="0" i="0" dirty="0">
                <a:solidFill>
                  <a:srgbClr val="1A1A1A"/>
                </a:solidFill>
                <a:latin typeface="Arial" panose="020B0604020202020204"/>
              </a:rPr>
              <a:t>OpenStreetMap, OSRM, Apps Script, all free</a:t>
            </a:r>
            <a:endParaRPr lang="en-US" sz="850" b="0" i="0" dirty="0">
              <a:solidFill>
                <a:srgbClr val="1A1A1A"/>
              </a:solidFill>
              <a:latin typeface="Arial" panose="020B0604020202020204"/>
            </a:endParaRPr>
          </a:p>
        </p:txBody>
      </p:sp>
      <p:sp>
        <p:nvSpPr>
          <p:cNvPr id="304" name="Card 304"/>
          <p:cNvSpPr/>
          <p:nvPr/>
        </p:nvSpPr>
        <p:spPr>
          <a:xfrm>
            <a:off x="3218688" y="1353312"/>
            <a:ext cx="2706624" cy="2148840"/>
          </a:xfrm>
          <a:prstGeom prst="roundRect">
            <a:avLst>
              <a:gd name="adj" fmla="val 6000"/>
            </a:avLst>
          </a:prstGeom>
          <a:solidFill>
            <a:srgbClr val="F3F4F6"/>
          </a:solidFill>
          <a:ln>
            <a:noFill/>
          </a:ln>
        </p:spPr>
        <p:txBody>
          <a:bodyPr anchor="ctr"/>
          <a:lstStyle/>
          <a:p>
            <a:endParaRPr lang="en-US"/>
          </a:p>
        </p:txBody>
      </p:sp>
      <p:sp>
        <p:nvSpPr>
          <p:cNvPr id="305" name="Cost 305"/>
          <p:cNvSpPr txBox="1"/>
          <p:nvPr/>
        </p:nvSpPr>
        <p:spPr>
          <a:xfrm>
            <a:off x="3355848" y="1472184"/>
            <a:ext cx="2432304" cy="1948840"/>
          </a:xfrm>
          <a:prstGeom prst="rect">
            <a:avLst/>
          </a:prstGeom>
          <a:noFill/>
        </p:spPr>
        <p:txBody>
          <a:bodyPr wrap="square" lIns="0" tIns="0" rIns="0" bIns="0" anchor="t"/>
          <a:lstStyle/>
          <a:p>
            <a:pPr algn="l">
              <a:lnSpc>
                <a:spcPct val="112000"/>
              </a:lnSpc>
              <a:spcAft>
                <a:spcPts val="400"/>
              </a:spcAft>
            </a:pPr>
            <a:r>
              <a:rPr lang="en-US" sz="800" b="1" i="0" dirty="0">
                <a:solidFill>
                  <a:srgbClr val="E8590C"/>
                </a:solidFill>
                <a:latin typeface="Arial" panose="020B0604020202020204"/>
              </a:rPr>
              <a:t>2 · PRODUCTION SCALE-UP (EST.)</a:t>
            </a:r>
            <a:endParaRPr lang="en-US" sz="800" b="1" i="0" dirty="0">
              <a:solidFill>
                <a:srgbClr val="E8590C"/>
              </a:solidFill>
              <a:latin typeface="Arial" panose="020B0604020202020204"/>
            </a:endParaRPr>
          </a:p>
          <a:p>
            <a:pPr algn="l">
              <a:spcAft>
                <a:spcPts val="0"/>
              </a:spcAft>
            </a:pPr>
            <a:r>
              <a:rPr lang="en-US" sz="1800" b="1" i="0" dirty="0">
                <a:solidFill>
                  <a:srgbClr val="1A1A1A"/>
                </a:solidFill>
                <a:latin typeface="Arial" panose="020B0604020202020204"/>
              </a:rPr>
              <a:t>≈ $60–120</a:t>
            </a:r>
            <a:endParaRPr lang="en-US" sz="1800" b="1" i="0" dirty="0">
              <a:solidFill>
                <a:srgbClr val="1A1A1A"/>
              </a:solidFill>
              <a:latin typeface="Arial" panose="020B0604020202020204"/>
            </a:endParaRPr>
          </a:p>
          <a:p>
            <a:pPr algn="l">
              <a:lnSpc>
                <a:spcPct val="112000"/>
              </a:lnSpc>
              <a:spcAft>
                <a:spcPts val="600"/>
              </a:spcAft>
            </a:pPr>
            <a:r>
              <a:rPr lang="en-US" sz="750" b="0" i="0" dirty="0">
                <a:solidFill>
                  <a:srgbClr val="5F6368"/>
                </a:solidFill>
                <a:latin typeface="Arial" panose="020B0604020202020204"/>
              </a:rPr>
              <a:t>per month, fixed</a:t>
            </a:r>
            <a:endParaRPr lang="en-US" sz="750" b="0" i="0" dirty="0">
              <a:solidFill>
                <a:srgbClr val="5F6368"/>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Firebase Blaze: </a:t>
            </a:r>
            <a:r>
              <a:rPr lang="en-US" sz="850" b="0" i="0" dirty="0">
                <a:solidFill>
                  <a:srgbClr val="1A1A1A"/>
                </a:solidFill>
                <a:latin typeface="Arial" panose="020B0604020202020204"/>
              </a:rPr>
              <a:t>paid Firestore + Hosting</a:t>
            </a:r>
            <a:endParaRPr lang="en-US" sz="850" b="0" i="0" dirty="0">
              <a:solidFill>
                <a:srgbClr val="1A1A1A"/>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Cloud Run + ADK: </a:t>
            </a:r>
            <a:r>
              <a:rPr lang="en-US" sz="850" b="0" i="0" dirty="0">
                <a:solidFill>
                  <a:srgbClr val="1A1A1A"/>
                </a:solidFill>
                <a:latin typeface="Arial" panose="020B0604020202020204"/>
              </a:rPr>
              <a:t>keys server-side, dispatch agents</a:t>
            </a:r>
            <a:endParaRPr lang="en-US" sz="850" b="0" i="0" dirty="0">
              <a:solidFill>
                <a:srgbClr val="1A1A1A"/>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Google Maps Platform: </a:t>
            </a:r>
            <a:r>
              <a:rPr lang="en-US" sz="850" b="0" i="0" dirty="0">
                <a:solidFill>
                  <a:srgbClr val="1A1A1A"/>
                </a:solidFill>
                <a:latin typeface="Arial" panose="020B0604020202020204"/>
              </a:rPr>
              <a:t>geocoding, places, routes</a:t>
            </a:r>
            <a:endParaRPr lang="en-US" sz="850" b="0" i="0" dirty="0">
              <a:solidFill>
                <a:srgbClr val="1A1A1A"/>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TURN relay: </a:t>
            </a:r>
            <a:r>
              <a:rPr lang="en-US" sz="850" b="0" i="0" dirty="0">
                <a:solidFill>
                  <a:srgbClr val="1A1A1A"/>
                </a:solidFill>
                <a:latin typeface="Arial" panose="020B0604020202020204"/>
              </a:rPr>
              <a:t>video on strict networks</a:t>
            </a:r>
            <a:endParaRPr lang="en-US" sz="850" b="0" i="0" dirty="0">
              <a:solidFill>
                <a:srgbClr val="1A1A1A"/>
              </a:solidFill>
              <a:latin typeface="Arial" panose="020B0604020202020204"/>
            </a:endParaRPr>
          </a:p>
        </p:txBody>
      </p:sp>
      <p:sp>
        <p:nvSpPr>
          <p:cNvPr id="306" name="Card 306"/>
          <p:cNvSpPr/>
          <p:nvPr/>
        </p:nvSpPr>
        <p:spPr>
          <a:xfrm>
            <a:off x="6071616" y="1353312"/>
            <a:ext cx="2706624" cy="2148840"/>
          </a:xfrm>
          <a:prstGeom prst="roundRect">
            <a:avLst>
              <a:gd name="adj" fmla="val 6000"/>
            </a:avLst>
          </a:prstGeom>
          <a:solidFill>
            <a:srgbClr val="F3F4F6"/>
          </a:solidFill>
          <a:ln>
            <a:noFill/>
          </a:ln>
        </p:spPr>
        <p:txBody>
          <a:bodyPr anchor="ctr"/>
          <a:lstStyle/>
          <a:p>
            <a:endParaRPr lang="en-US"/>
          </a:p>
        </p:txBody>
      </p:sp>
      <p:sp>
        <p:nvSpPr>
          <p:cNvPr id="307" name="Cost 307"/>
          <p:cNvSpPr txBox="1"/>
          <p:nvPr/>
        </p:nvSpPr>
        <p:spPr>
          <a:xfrm>
            <a:off x="6208776" y="1472184"/>
            <a:ext cx="2432304" cy="1948840"/>
          </a:xfrm>
          <a:prstGeom prst="rect">
            <a:avLst/>
          </a:prstGeom>
          <a:noFill/>
        </p:spPr>
        <p:txBody>
          <a:bodyPr wrap="square" lIns="0" tIns="0" rIns="0" bIns="0" anchor="t"/>
          <a:lstStyle/>
          <a:p>
            <a:pPr algn="l">
              <a:lnSpc>
                <a:spcPct val="112000"/>
              </a:lnSpc>
              <a:spcAft>
                <a:spcPts val="400"/>
              </a:spcAft>
            </a:pPr>
            <a:r>
              <a:rPr lang="en-US" sz="800" b="1" i="0" dirty="0">
                <a:solidFill>
                  <a:srgbClr val="E8590C"/>
                </a:solidFill>
                <a:latin typeface="Arial" panose="020B0604020202020204"/>
              </a:rPr>
              <a:t>3 · RUNNING COST (EST.)</a:t>
            </a:r>
            <a:endParaRPr lang="en-US" sz="800" b="1" i="0" dirty="0">
              <a:solidFill>
                <a:srgbClr val="E8590C"/>
              </a:solidFill>
              <a:latin typeface="Arial" panose="020B0604020202020204"/>
            </a:endParaRPr>
          </a:p>
          <a:p>
            <a:pPr algn="l">
              <a:spcAft>
                <a:spcPts val="0"/>
              </a:spcAft>
            </a:pPr>
            <a:r>
              <a:rPr lang="en-US" sz="1800" b="1" i="0" dirty="0">
                <a:solidFill>
                  <a:srgbClr val="1A1A1A"/>
                </a:solidFill>
                <a:latin typeface="Arial" panose="020B0604020202020204"/>
              </a:rPr>
              <a:t>≈ $0.20</a:t>
            </a:r>
            <a:endParaRPr lang="en-US" sz="1800" b="1" i="0" dirty="0">
              <a:solidFill>
                <a:srgbClr val="1A1A1A"/>
              </a:solidFill>
              <a:latin typeface="Arial" panose="020B0604020202020204"/>
            </a:endParaRPr>
          </a:p>
          <a:p>
            <a:pPr algn="l">
              <a:lnSpc>
                <a:spcPct val="112000"/>
              </a:lnSpc>
              <a:spcAft>
                <a:spcPts val="600"/>
              </a:spcAft>
            </a:pPr>
            <a:r>
              <a:rPr lang="en-US" sz="750" b="0" i="0" dirty="0">
                <a:solidFill>
                  <a:srgbClr val="5F6368"/>
                </a:solidFill>
                <a:latin typeface="Arial" panose="020B0604020202020204"/>
              </a:rPr>
              <a:t>of AI per call, paid prices</a:t>
            </a:r>
            <a:endParaRPr lang="en-US" sz="750" b="0" i="0" dirty="0">
              <a:solidFill>
                <a:srgbClr val="5F6368"/>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Measured: </a:t>
            </a:r>
            <a:r>
              <a:rPr lang="en-US" sz="850" b="0" i="0" dirty="0">
                <a:solidFill>
                  <a:srgbClr val="1A1A1A"/>
                </a:solidFill>
                <a:latin typeface="Arial" panose="020B0604020202020204"/>
              </a:rPr>
              <a:t>app usage meter, 59 real calls; 98% is the live call</a:t>
            </a:r>
            <a:endParaRPr lang="en-US" sz="850" b="0" i="0" dirty="0">
              <a:solidFill>
                <a:srgbClr val="1A1A1A"/>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District pilot (rough estimate): </a:t>
            </a:r>
            <a:r>
              <a:rPr lang="en-US" sz="850" b="0" i="0" dirty="0">
                <a:solidFill>
                  <a:srgbClr val="1A1A1A"/>
                </a:solidFill>
                <a:latin typeface="Arial" panose="020B0604020202020204"/>
              </a:rPr>
              <a:t>assuming ~300 calls a month (10/day) × $0.20 ≈ $60 a month</a:t>
            </a:r>
            <a:endParaRPr lang="en-US" sz="850" b="0" i="0" dirty="0">
              <a:solidFill>
                <a:srgbClr val="1A1A1A"/>
              </a:solidFill>
              <a:latin typeface="Arial" panose="020B0604020202020204"/>
            </a:endParaRPr>
          </a:p>
          <a:p>
            <a:pPr marL="114300" indent="-114300" algn="l">
              <a:lnSpc>
                <a:spcPct val="112000"/>
              </a:lnSpc>
              <a:spcAft>
                <a:spcPts val="300"/>
              </a:spcAft>
              <a:buClr>
                <a:srgbClr val="E8590C"/>
              </a:buClr>
              <a:buFont typeface="Arial" panose="020B0604020202020204"/>
              <a:buChar char="•"/>
            </a:pPr>
            <a:r>
              <a:rPr lang="en-US" sz="850" b="1" i="0" dirty="0">
                <a:solidFill>
                  <a:srgbClr val="1A1A1A"/>
                </a:solidFill>
                <a:latin typeface="Arial" panose="020B0604020202020204"/>
              </a:rPr>
              <a:t>No new staff: </a:t>
            </a:r>
            <a:r>
              <a:rPr lang="en-US" sz="850" b="0" i="0" dirty="0">
                <a:solidFill>
                  <a:srgbClr val="1A1A1A"/>
                </a:solidFill>
                <a:latin typeface="Arial" panose="020B0604020202020204"/>
              </a:rPr>
              <a:t>incidents go to existing 112 / helpline responders</a:t>
            </a:r>
            <a:endParaRPr lang="en-US" sz="850" b="0" i="0" dirty="0">
              <a:solidFill>
                <a:srgbClr val="1A1A1A"/>
              </a:solidFill>
              <a:latin typeface="Arial" panose="020B0604020202020204"/>
            </a:endParaRPr>
          </a:p>
        </p:txBody>
      </p:sp>
      <p:sp>
        <p:nvSpPr>
          <p:cNvPr id="151" name="TextBox 150"/>
          <p:cNvSpPr txBox="1"/>
          <p:nvPr/>
        </p:nvSpPr>
        <p:spPr>
          <a:xfrm>
            <a:off x="365760" y="3657600"/>
            <a:ext cx="5486400" cy="201168"/>
          </a:xfrm>
          <a:prstGeom prst="rect">
            <a:avLst/>
          </a:prstGeom>
          <a:noFill/>
        </p:spPr>
        <p:txBody>
          <a:bodyPr wrap="square" lIns="0" tIns="0" rIns="0" bIns="0" anchor="t"/>
          <a:lstStyle/>
          <a:p>
            <a:pPr algn="l">
              <a:lnSpc>
                <a:spcPct val="112000"/>
              </a:lnSpc>
            </a:pPr>
            <a:r>
              <a:rPr lang="en-US" sz="800" b="1" i="0">
                <a:solidFill>
                  <a:srgbClr val="5F6368"/>
                </a:solidFill>
                <a:latin typeface="Arial" panose="020B0604020202020204"/>
              </a:rPr>
              <a:t>COST LEVERS ALREADY BUILT</a:t>
            </a:r>
            <a:endParaRPr lang="en-US" sz="800" b="1" i="0">
              <a:solidFill>
                <a:srgbClr val="5F6368"/>
              </a:solidFill>
              <a:latin typeface="Arial" panose="020B0604020202020204"/>
            </a:endParaRPr>
          </a:p>
        </p:txBody>
      </p:sp>
      <p:sp>
        <p:nvSpPr>
          <p:cNvPr id="152" name="Rounded Rectangle 151"/>
          <p:cNvSpPr/>
          <p:nvPr/>
        </p:nvSpPr>
        <p:spPr>
          <a:xfrm>
            <a:off x="365760" y="3886200"/>
            <a:ext cx="2029968" cy="7772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lang="en-US" sz="1400" b="1" i="0">
                <a:solidFill>
                  <a:srgbClr val="1A73E8"/>
                </a:solidFill>
                <a:latin typeface="Arial" panose="020B0604020202020204"/>
              </a:rPr>
              <a:t>~22 → 5</a:t>
            </a:r>
            <a:endParaRPr lang="en-US" sz="140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model inferences per call, now 5–6 for 4 turns (silent tool replies)</a:t>
            </a:r>
            <a:endParaRPr lang="en-US" sz="750" b="0" i="0">
              <a:solidFill>
                <a:srgbClr val="1A1A1A"/>
              </a:solidFill>
              <a:latin typeface="Arial" panose="020B0604020202020204"/>
            </a:endParaRPr>
          </a:p>
        </p:txBody>
      </p:sp>
      <p:sp>
        <p:nvSpPr>
          <p:cNvPr id="153" name="Rounded Rectangle 152"/>
          <p:cNvSpPr/>
          <p:nvPr/>
        </p:nvSpPr>
        <p:spPr>
          <a:xfrm>
            <a:off x="2496312" y="3886200"/>
            <a:ext cx="2029968" cy="7772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lang="en-US" sz="1400" b="1" i="0">
                <a:solidFill>
                  <a:srgbClr val="1A73E8"/>
                </a:solidFill>
                <a:latin typeface="Arial" panose="020B0604020202020204"/>
              </a:rPr>
              <a:t>0.5 fps</a:t>
            </a:r>
            <a:endParaRPr lang="en-US" sz="140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low-res camera frames (~70 tokens each)</a:t>
            </a:r>
            <a:endParaRPr lang="en-US" sz="750" b="0" i="0">
              <a:solidFill>
                <a:srgbClr val="1A1A1A"/>
              </a:solidFill>
              <a:latin typeface="Arial" panose="020B0604020202020204"/>
            </a:endParaRPr>
          </a:p>
        </p:txBody>
      </p:sp>
      <p:sp>
        <p:nvSpPr>
          <p:cNvPr id="154" name="Rounded Rectangle 153"/>
          <p:cNvSpPr/>
          <p:nvPr/>
        </p:nvSpPr>
        <p:spPr>
          <a:xfrm>
            <a:off x="4626864" y="3886200"/>
            <a:ext cx="2029968" cy="7772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lang="en-US" sz="1400" b="1" i="0">
                <a:solidFill>
                  <a:srgbClr val="1A73E8"/>
                </a:solidFill>
                <a:latin typeface="Arial" panose="020B0604020202020204"/>
              </a:rPr>
              <a:t>Per task</a:t>
            </a:r>
            <a:endParaRPr lang="en-US" sz="140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smallest model; free tier first</a:t>
            </a:r>
            <a:endParaRPr lang="en-US" sz="750" b="0" i="0">
              <a:solidFill>
                <a:srgbClr val="1A1A1A"/>
              </a:solidFill>
              <a:latin typeface="Arial" panose="020B0604020202020204"/>
            </a:endParaRPr>
          </a:p>
        </p:txBody>
      </p:sp>
      <p:sp>
        <p:nvSpPr>
          <p:cNvPr id="155" name="Rounded Rectangle 154"/>
          <p:cNvSpPr/>
          <p:nvPr/>
        </p:nvSpPr>
        <p:spPr>
          <a:xfrm>
            <a:off x="6757416" y="3886200"/>
            <a:ext cx="2029968" cy="7772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lang="en-US" sz="1400" b="1" i="0">
                <a:solidFill>
                  <a:srgbClr val="1A73E8"/>
                </a:solidFill>
                <a:latin typeface="Arial" panose="020B0604020202020204"/>
              </a:rPr>
              <a:t>52 → 25 KB</a:t>
            </a:r>
            <a:endParaRPr lang="en-US" sz="140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Mia’s prompt rewritten: about half the tokens per reply</a:t>
            </a:r>
            <a:endParaRPr lang="en-US" sz="750" b="0" i="0">
              <a:solidFill>
                <a:srgbClr val="1A1A1A"/>
              </a:solidFill>
              <a:latin typeface="Arial" panose="020B0604020202020204"/>
            </a:endParaRPr>
          </a:p>
        </p:txBody>
      </p:sp>
      <p:sp>
        <p:nvSpPr>
          <p:cNvPr id="156" name="Footnote"/>
          <p:cNvSpPr txBox="1"/>
          <p:nvPr/>
        </p:nvSpPr>
        <p:spPr>
          <a:xfrm>
            <a:off x="365760" y="4846320"/>
            <a:ext cx="8412480" cy="182880"/>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AI cost: QuickBite’s per-call usage meter (tokens Gemini reported) × Gemini paid-tier prices, Oct 2026 (USD). Scale-up and pilot figures are rough estimates.</a:t>
            </a:r>
            <a:r>
              <a:rPr lang="en-US" sz="650" b="0" i="0" dirty="0">
                <a:solidFill>
                  <a:srgbClr val="5F6368"/>
                </a:solidFill>
                <a:latin typeface="Arial" panose="020B0604020202020204"/>
              </a:rPr>
              <a:t> Data + calculations: </a:t>
            </a:r>
            <a:r>
              <a:rPr lang="en-US" sz="650" b="1" i="0" u="sng" dirty="0">
                <a:solidFill>
                  <a:srgbClr val="1A73E8"/>
                </a:solidFill>
                <a:latin typeface="Arial" panose="020B0604020202020204"/>
                <a:hlinkClick r:id="rId3"/>
              </a:rPr>
              <a:t>QuickBite AI cost workbook (Google Sheets)</a:t>
            </a:r>
            <a:endParaRPr lang="en-US" sz="650" b="0" i="0">
              <a:solidFill>
                <a:srgbClr val="5F6368"/>
              </a:solidFill>
              <a:latin typeface="Arial" panose="020B06040202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35" name="Google Shape;135;p23"/>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Snapshots of the prototype</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136"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Live and deployed: what a responder sees while Priya is still on the call</a:t>
            </a:r>
            <a:endParaRPr lang="en-US" sz="1300" b="1" i="0">
              <a:solidFill>
                <a:srgbClr val="E8590C"/>
              </a:solidFill>
              <a:latin typeface="Arial" panose="020B0604020202020204"/>
            </a:endParaRPr>
          </a:p>
        </p:txBody>
      </p:sp>
      <p:pic>
        <p:nvPicPr>
          <p:cNvPr id="137" name="Picture 136" descr="route.png"/>
          <p:cNvPicPr>
            <a:picLocks noChangeAspect="1"/>
          </p:cNvPicPr>
          <p:nvPr/>
        </p:nvPicPr>
        <p:blipFill>
          <a:blip r:embed="rId3"/>
          <a:stretch>
            <a:fillRect/>
          </a:stretch>
        </p:blipFill>
        <p:spPr>
          <a:xfrm>
            <a:off x="365760" y="1353312"/>
            <a:ext cx="5074920" cy="2652462"/>
          </a:xfrm>
          <a:prstGeom prst="rect">
            <a:avLst/>
          </a:prstGeom>
        </p:spPr>
      </p:pic>
      <p:sp>
        <p:nvSpPr>
          <p:cNvPr id="138" name="Rounded Rectangle 137"/>
          <p:cNvSpPr/>
          <p:nvPr/>
        </p:nvSpPr>
        <p:spPr>
          <a:xfrm>
            <a:off x="365760" y="1353312"/>
            <a:ext cx="5074920" cy="2652462"/>
          </a:xfrm>
          <a:prstGeom prst="roundRect">
            <a:avLst>
              <a:gd name="adj" fmla="val 8000"/>
            </a:avLst>
          </a:prstGeom>
          <a:no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365760" y="4051493"/>
            <a:ext cx="5074920" cy="384048"/>
          </a:xfrm>
          <a:prstGeom prst="rect">
            <a:avLst/>
          </a:prstGeom>
          <a:noFill/>
        </p:spPr>
        <p:txBody>
          <a:bodyPr wrap="square" lIns="0" tIns="0" rIns="0" bIns="0" anchor="t"/>
          <a:lstStyle/>
          <a:p>
            <a:pPr algn="l">
              <a:lnSpc>
                <a:spcPct val="112000"/>
              </a:lnSpc>
            </a:pPr>
            <a:r>
              <a:rPr lang="en-US" sz="800" b="1" i="0">
                <a:solidFill>
                  <a:srgbClr val="1A1A1A"/>
                </a:solidFill>
                <a:latin typeface="Arial" panose="020B0604020202020204"/>
              </a:rPr>
              <a:t>Case board: </a:t>
            </a:r>
            <a:r>
              <a:rPr lang="en-US" sz="800" b="0" i="0">
                <a:solidFill>
                  <a:srgbClr val="1A1A1A"/>
                </a:solidFill>
                <a:latin typeface="Arial" panose="020B0604020202020204"/>
              </a:rPr>
              <a:t>threat, voice stress, linked cases and a live route to the nearest hospital, all filled in by Gemini during the call.</a:t>
            </a:r>
            <a:endParaRPr lang="en-US" sz="800" b="0" i="0">
              <a:solidFill>
                <a:srgbClr val="1A1A1A"/>
              </a:solidFill>
              <a:latin typeface="Arial" panose="020B0604020202020204"/>
            </a:endParaRPr>
          </a:p>
        </p:txBody>
      </p:sp>
      <p:pic>
        <p:nvPicPr>
          <p:cNvPr id="140" name="Picture 139" descr="queue_c.png"/>
          <p:cNvPicPr>
            <a:picLocks noChangeAspect="1"/>
          </p:cNvPicPr>
          <p:nvPr/>
        </p:nvPicPr>
        <p:blipFill>
          <a:blip r:embed="rId4"/>
          <a:stretch>
            <a:fillRect/>
          </a:stretch>
        </p:blipFill>
        <p:spPr>
          <a:xfrm>
            <a:off x="5623560" y="1353312"/>
            <a:ext cx="3154680" cy="1311683"/>
          </a:xfrm>
          <a:prstGeom prst="rect">
            <a:avLst/>
          </a:prstGeom>
        </p:spPr>
      </p:pic>
      <p:sp>
        <p:nvSpPr>
          <p:cNvPr id="141" name="Rounded Rectangle 140"/>
          <p:cNvSpPr/>
          <p:nvPr/>
        </p:nvSpPr>
        <p:spPr>
          <a:xfrm>
            <a:off x="5623560" y="1353312"/>
            <a:ext cx="3154680" cy="1311683"/>
          </a:xfrm>
          <a:prstGeom prst="roundRect">
            <a:avLst>
              <a:gd name="adj" fmla="val 8000"/>
            </a:avLst>
          </a:prstGeom>
          <a:no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5623560" y="2692427"/>
            <a:ext cx="3154680" cy="182880"/>
          </a:xfrm>
          <a:prstGeom prst="rect">
            <a:avLst/>
          </a:prstGeom>
          <a:noFill/>
        </p:spPr>
        <p:txBody>
          <a:bodyPr wrap="square" lIns="0" tIns="0" rIns="0" bIns="0" anchor="t"/>
          <a:lstStyle/>
          <a:p>
            <a:pPr algn="l">
              <a:lnSpc>
                <a:spcPct val="112000"/>
              </a:lnSpc>
            </a:pPr>
            <a:r>
              <a:rPr lang="en-US" sz="750" b="1" i="0">
                <a:solidFill>
                  <a:srgbClr val="1A1A1A"/>
                </a:solidFill>
                <a:latin typeface="Arial" panose="020B0604020202020204"/>
              </a:rPr>
              <a:t>Live queue: </a:t>
            </a:r>
            <a:r>
              <a:rPr lang="en-US" sz="750" b="0" i="0">
                <a:solidFill>
                  <a:srgbClr val="1A1A1A"/>
                </a:solidFill>
                <a:latin typeface="Arial" panose="020B0604020202020204"/>
              </a:rPr>
              <a:t>ranked by severity, AI search</a:t>
            </a:r>
            <a:endParaRPr lang="en-US" sz="750" b="0" i="0">
              <a:solidFill>
                <a:srgbClr val="1A1A1A"/>
              </a:solidFill>
              <a:latin typeface="Arial" panose="020B0604020202020204"/>
            </a:endParaRPr>
          </a:p>
        </p:txBody>
      </p:sp>
      <p:pic>
        <p:nvPicPr>
          <p:cNvPr id="143" name="Picture 142" descr="seen.png"/>
          <p:cNvPicPr>
            <a:picLocks noChangeAspect="1"/>
          </p:cNvPicPr>
          <p:nvPr/>
        </p:nvPicPr>
        <p:blipFill>
          <a:blip r:embed="rId5"/>
          <a:stretch>
            <a:fillRect/>
          </a:stretch>
        </p:blipFill>
        <p:spPr>
          <a:xfrm>
            <a:off x="5623560" y="2939315"/>
            <a:ext cx="3154680" cy="1642760"/>
          </a:xfrm>
          <a:prstGeom prst="rect">
            <a:avLst/>
          </a:prstGeom>
        </p:spPr>
      </p:pic>
      <p:sp>
        <p:nvSpPr>
          <p:cNvPr id="144" name="Rounded Rectangle 143"/>
          <p:cNvSpPr/>
          <p:nvPr/>
        </p:nvSpPr>
        <p:spPr>
          <a:xfrm>
            <a:off x="5623560" y="2939315"/>
            <a:ext cx="3154680" cy="1642760"/>
          </a:xfrm>
          <a:prstGeom prst="roundRect">
            <a:avLst>
              <a:gd name="adj" fmla="val 8000"/>
            </a:avLst>
          </a:prstGeom>
          <a:no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5623560" y="4609507"/>
            <a:ext cx="3154680" cy="182880"/>
          </a:xfrm>
          <a:prstGeom prst="rect">
            <a:avLst/>
          </a:prstGeom>
          <a:noFill/>
        </p:spPr>
        <p:txBody>
          <a:bodyPr wrap="square" lIns="0" tIns="0" rIns="0" bIns="0" anchor="t"/>
          <a:lstStyle/>
          <a:p>
            <a:pPr algn="l">
              <a:lnSpc>
                <a:spcPct val="112000"/>
              </a:lnSpc>
            </a:pPr>
            <a:r>
              <a:rPr lang="en-US" sz="750" b="1" i="0">
                <a:solidFill>
                  <a:srgbClr val="1A1A1A"/>
                </a:solidFill>
                <a:latin typeface="Arial" panose="020B0604020202020204"/>
              </a:rPr>
              <a:t>Seen &amp; heard: </a:t>
            </a:r>
            <a:r>
              <a:rPr lang="en-US" sz="750" b="0" i="0">
                <a:solidFill>
                  <a:srgbClr val="1A1A1A"/>
                </a:solidFill>
                <a:latin typeface="Arial" panose="020B0604020202020204"/>
              </a:rPr>
              <a:t>background voices logged as evidence</a:t>
            </a:r>
            <a:endParaRPr lang="en-US" sz="750" b="0" i="0">
              <a:solidFill>
                <a:srgbClr val="1A1A1A"/>
              </a:solidFill>
              <a:latin typeface="Arial" panose="020B0604020202020204"/>
            </a:endParaRPr>
          </a:p>
        </p:txBody>
      </p:sp>
      <p:sp>
        <p:nvSpPr>
          <p:cNvPr id="146" name="Footnote"/>
          <p:cNvSpPr txBox="1"/>
          <p:nvPr/>
        </p:nvSpPr>
        <p:spPr>
          <a:xfrm>
            <a:off x="365760" y="4846320"/>
            <a:ext cx="8412480" cy="182880"/>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Screenshots from the deployed responder console (quickbite-5cde0-dashboard.web.app) during test calls in Alappuzha, Kerala. Caller app: quickbite-5cde0.web.app.</a:t>
            </a:r>
            <a:endParaRPr lang="en-US" sz="650" b="0" i="0">
              <a:solidFill>
                <a:srgbClr val="5F6368"/>
              </a:solidFill>
              <a:latin typeface="Arial" panose="020B06040202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2"/>
          <a:srcRect b="98001"/>
          <a:stretch>
            <a:fillRect/>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3"/>
          <a:stretch>
            <a:fillRect/>
          </a:stretch>
        </p:blipFill>
        <p:spPr>
          <a:xfrm>
            <a:off x="0" y="3649"/>
            <a:ext cx="9144000" cy="500062"/>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43" name="Google Shape;143;p24"/>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Prototype Performance report/Benchmarking</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701" name="Perf 701"/>
          <p:cNvSpPr txBox="1"/>
          <p:nvPr/>
        </p:nvSpPr>
        <p:spPr>
          <a:xfrm>
            <a:off x="365760" y="969264"/>
            <a:ext cx="8412480" cy="292608"/>
          </a:xfrm>
          <a:prstGeom prst="rect">
            <a:avLst/>
          </a:prstGeom>
          <a:noFill/>
        </p:spPr>
        <p:txBody>
          <a:bodyPr wrap="square" lIns="0" tIns="0" rIns="0" bIns="0" anchor="t"/>
          <a:lstStyle/>
          <a:p>
            <a:pPr algn="l">
              <a:lnSpc>
                <a:spcPct val="108000"/>
              </a:lnSpc>
              <a:spcAft>
                <a:spcPts val="0"/>
              </a:spcAft>
            </a:pPr>
            <a:r>
              <a:rPr lang="en-US" sz="1300" b="1" i="0" dirty="0">
                <a:solidFill>
                  <a:srgbClr val="E8590C"/>
                </a:solidFill>
                <a:latin typeface="Arial"/>
              </a:rPr>
              <a:t xml:space="preserve">8 real voice calls on the deployed app: danger is flagged while the caller is still speaking</a:t>
            </a:r>
          </a:p>
        </p:txBody>
      </p:sp>
      <p:sp>
        <p:nvSpPr>
          <p:cNvPr id="702" name="Viz 702"/>
          <p:cNvSpPr/>
          <p:nvPr/>
        </p:nvSpPr>
        <p:spPr>
          <a:xfrm>
            <a:off x="365760" y="1335000"/>
            <a:ext cx="2000250" cy="860000"/>
          </a:xfrm>
          <a:prstGeom prst="roundRect">
            <a:avLst>
              <a:gd name="adj" fmla="val 7000"/>
            </a:avLst>
          </a:prstGeom>
          <a:solidFill>
            <a:srgbClr val="F3F4F6"/>
          </a:solidFill>
          <a:ln>
            <a:noFill/>
          </a:ln>
        </p:spPr>
        <p:txBody>
          <a:bodyPr/>
          <a:lstStyle/>
          <a:p>
            <a:endParaRPr lang="en-US"/>
          </a:p>
        </p:txBody>
      </p:sp>
      <p:sp>
        <p:nvSpPr>
          <p:cNvPr id="703" name="Perf 703"/>
          <p:cNvSpPr txBox="1"/>
          <p:nvPr/>
        </p:nvSpPr>
        <p:spPr>
          <a:xfrm>
            <a:off x="485760" y="1425000"/>
            <a:ext cx="1760250" cy="720000"/>
          </a:xfrm>
          <a:prstGeom prst="rect">
            <a:avLst/>
          </a:prstGeom>
          <a:noFill/>
        </p:spPr>
        <p:txBody>
          <a:bodyPr wrap="square" lIns="0" tIns="0" rIns="0" bIns="0" anchor="t"/>
          <a:lstStyle/>
          <a:p>
            <a:pPr algn="l">
              <a:lnSpc>
                <a:spcPct val="108000"/>
              </a:lnSpc>
              <a:spcAft>
                <a:spcPts val="150"/>
              </a:spcAft>
            </a:pPr>
            <a:r>
              <a:rPr lang="en-US" sz="1800" b="1" i="0" dirty="0">
                <a:solidFill>
                  <a:srgbClr val="1E8E3E"/>
                </a:solidFill>
                <a:latin typeface="Arial"/>
              </a:rPr>
              <a:t xml:space="preserve">2–3.5 s early</a:t>
            </a:r>
          </a:p>
          <a:p>
            <a:pPr algn="l">
              <a:lnSpc>
                <a:spcPct val="108000"/>
              </a:lnSpc>
              <a:spcAft>
                <a:spcPts val="0"/>
              </a:spcAft>
            </a:pPr>
            <a:r>
              <a:rPr lang="en-US" sz="720" b="0" i="0" dirty="0">
                <a:solidFill>
                  <a:srgbClr val="5F6368"/>
                </a:solidFill>
                <a:latin typeface="Arial"/>
              </a:rPr>
              <a:t xml:space="preserve">danger and coercion tags reach the dashboard before the caller’s line is transcribed</a:t>
            </a:r>
          </a:p>
        </p:txBody>
      </p:sp>
      <p:sp>
        <p:nvSpPr>
          <p:cNvPr id="704" name="Viz 704"/>
          <p:cNvSpPr/>
          <p:nvPr/>
        </p:nvSpPr>
        <p:spPr>
          <a:xfrm>
            <a:off x="2503170" y="1335000"/>
            <a:ext cx="2000250" cy="860000"/>
          </a:xfrm>
          <a:prstGeom prst="roundRect">
            <a:avLst>
              <a:gd name="adj" fmla="val 7000"/>
            </a:avLst>
          </a:prstGeom>
          <a:solidFill>
            <a:srgbClr val="F3F4F6"/>
          </a:solidFill>
          <a:ln>
            <a:noFill/>
          </a:ln>
        </p:spPr>
        <p:txBody>
          <a:bodyPr/>
          <a:lstStyle/>
          <a:p>
            <a:endParaRPr lang="en-US"/>
          </a:p>
        </p:txBody>
      </p:sp>
      <p:sp>
        <p:nvSpPr>
          <p:cNvPr id="705" name="Perf 705"/>
          <p:cNvSpPr txBox="1"/>
          <p:nvPr/>
        </p:nvSpPr>
        <p:spPr>
          <a:xfrm>
            <a:off x="2623170" y="1425000"/>
            <a:ext cx="1760250" cy="720000"/>
          </a:xfrm>
          <a:prstGeom prst="rect">
            <a:avLst/>
          </a:prstGeom>
          <a:noFill/>
        </p:spPr>
        <p:txBody>
          <a:bodyPr wrap="square" lIns="0" tIns="0" rIns="0" bIns="0" anchor="t"/>
          <a:lstStyle/>
          <a:p>
            <a:pPr algn="l">
              <a:lnSpc>
                <a:spcPct val="108000"/>
              </a:lnSpc>
              <a:spcAft>
                <a:spcPts val="150"/>
              </a:spcAft>
            </a:pPr>
            <a:r>
              <a:rPr lang="en-US" sz="1800" b="1" i="0" dirty="0">
                <a:solidFill>
                  <a:srgbClr val="1E8E3E"/>
                </a:solidFill>
                <a:latin typeface="Arial"/>
              </a:rPr>
              <a:t xml:space="preserve">~535 m</a:t>
            </a:r>
          </a:p>
          <a:p>
            <a:pPr algn="l">
              <a:lnSpc>
                <a:spcPct val="108000"/>
              </a:lnSpc>
              <a:spcAft>
                <a:spcPts val="0"/>
              </a:spcAft>
            </a:pPr>
            <a:r>
              <a:rPr lang="en-US" sz="720" b="0" i="0" dirty="0">
                <a:solidFill>
                  <a:srgbClr val="5F6368"/>
                </a:solidFill>
                <a:latin typeface="Arial"/>
              </a:rPr>
              <a:t xml:space="preserve">route to the police station tracked live in every chase run</a:t>
            </a:r>
          </a:p>
        </p:txBody>
      </p:sp>
      <p:sp>
        <p:nvSpPr>
          <p:cNvPr id="706" name="Viz 706"/>
          <p:cNvSpPr/>
          <p:nvPr/>
        </p:nvSpPr>
        <p:spPr>
          <a:xfrm>
            <a:off x="4640580" y="1335000"/>
            <a:ext cx="2000250" cy="860000"/>
          </a:xfrm>
          <a:prstGeom prst="roundRect">
            <a:avLst>
              <a:gd name="adj" fmla="val 7000"/>
            </a:avLst>
          </a:prstGeom>
          <a:solidFill>
            <a:srgbClr val="F3F4F6"/>
          </a:solidFill>
          <a:ln>
            <a:noFill/>
          </a:ln>
        </p:spPr>
        <p:txBody>
          <a:bodyPr/>
          <a:lstStyle/>
          <a:p>
            <a:endParaRPr lang="en-US"/>
          </a:p>
        </p:txBody>
      </p:sp>
      <p:sp>
        <p:nvSpPr>
          <p:cNvPr id="707" name="Perf 707"/>
          <p:cNvSpPr txBox="1"/>
          <p:nvPr/>
        </p:nvSpPr>
        <p:spPr>
          <a:xfrm>
            <a:off x="4760580" y="1425000"/>
            <a:ext cx="1760250" cy="720000"/>
          </a:xfrm>
          <a:prstGeom prst="rect">
            <a:avLst/>
          </a:prstGeom>
          <a:noFill/>
        </p:spPr>
        <p:txBody>
          <a:bodyPr wrap="square" lIns="0" tIns="0" rIns="0" bIns="0" anchor="t"/>
          <a:lstStyle/>
          <a:p>
            <a:pPr algn="l">
              <a:lnSpc>
                <a:spcPct val="108000"/>
              </a:lnSpc>
              <a:spcAft>
                <a:spcPts val="150"/>
              </a:spcAft>
            </a:pPr>
            <a:r>
              <a:rPr lang="en-US" sz="1800" b="1" i="0" dirty="0">
                <a:solidFill>
                  <a:srgbClr val="1E8E3E"/>
                </a:solidFill>
                <a:latin typeface="Arial"/>
              </a:rPr>
              <a:t xml:space="preserve">$0.35</a:t>
            </a:r>
          </a:p>
          <a:p>
            <a:pPr algn="l">
              <a:lnSpc>
                <a:spcPct val="108000"/>
              </a:lnSpc>
              <a:spcAft>
                <a:spcPts val="0"/>
              </a:spcAft>
            </a:pPr>
            <a:r>
              <a:rPr lang="en-US" sz="720" b="0" i="0" dirty="0">
                <a:solidFill>
                  <a:srgbClr val="5F6368"/>
                </a:solidFill>
                <a:latin typeface="Arial"/>
              </a:rPr>
              <a:t xml:space="preserve">AI cost per call (median, paid-tier prices)</a:t>
            </a:r>
          </a:p>
        </p:txBody>
      </p:sp>
      <p:sp>
        <p:nvSpPr>
          <p:cNvPr id="708" name="Viz 708"/>
          <p:cNvSpPr/>
          <p:nvPr/>
        </p:nvSpPr>
        <p:spPr>
          <a:xfrm>
            <a:off x="6777990" y="1335000"/>
            <a:ext cx="2000250" cy="860000"/>
          </a:xfrm>
          <a:prstGeom prst="roundRect">
            <a:avLst>
              <a:gd name="adj" fmla="val 7000"/>
            </a:avLst>
          </a:prstGeom>
          <a:solidFill>
            <a:srgbClr val="F3F4F6"/>
          </a:solidFill>
          <a:ln>
            <a:noFill/>
          </a:ln>
        </p:spPr>
        <p:txBody>
          <a:bodyPr/>
          <a:lstStyle/>
          <a:p>
            <a:endParaRPr lang="en-US"/>
          </a:p>
        </p:txBody>
      </p:sp>
      <p:sp>
        <p:nvSpPr>
          <p:cNvPr id="709" name="Perf 709"/>
          <p:cNvSpPr txBox="1"/>
          <p:nvPr/>
        </p:nvSpPr>
        <p:spPr>
          <a:xfrm>
            <a:off x="6897990" y="1425000"/>
            <a:ext cx="1760250" cy="720000"/>
          </a:xfrm>
          <a:prstGeom prst="rect">
            <a:avLst/>
          </a:prstGeom>
          <a:noFill/>
        </p:spPr>
        <p:txBody>
          <a:bodyPr wrap="square" lIns="0" tIns="0" rIns="0" bIns="0" anchor="t"/>
          <a:lstStyle/>
          <a:p>
            <a:pPr algn="l">
              <a:lnSpc>
                <a:spcPct val="108000"/>
              </a:lnSpc>
              <a:spcAft>
                <a:spcPts val="150"/>
              </a:spcAft>
            </a:pPr>
            <a:r>
              <a:rPr lang="en-US" sz="1800" b="1" i="0" dirty="0">
                <a:solidFill>
                  <a:srgbClr val="1A73E8"/>
                </a:solidFill>
                <a:latin typeface="Arial"/>
              </a:rPr>
              <a:t xml:space="preserve">16.8 s</a:t>
            </a:r>
          </a:p>
          <a:p>
            <a:pPr algn="l">
              <a:lnSpc>
                <a:spcPct val="108000"/>
              </a:lnSpc>
              <a:spcAft>
                <a:spcPts val="0"/>
              </a:spcAft>
            </a:pPr>
            <a:r>
              <a:rPr lang="en-US" sz="720" b="0" i="0" dirty="0">
                <a:solidFill>
                  <a:srgbClr val="5F6368"/>
                </a:solidFill>
                <a:latin typeface="Arial"/>
              </a:rPr>
              <a:t xml:space="preserve">from “being followed” to Mia’s first turn-by-turn direction (median)</a:t>
            </a:r>
          </a:p>
        </p:txBody>
      </p:sp>
      <p:sp>
        <p:nvSpPr>
          <p:cNvPr id="710" name="Viz 710"/>
          <p:cNvSpPr/>
          <p:nvPr/>
        </p:nvSpPr>
        <p:spPr>
          <a:xfrm>
            <a:off x="365760" y="2330000"/>
            <a:ext cx="2712720" cy="2360000"/>
          </a:xfrm>
          <a:prstGeom prst="roundRect">
            <a:avLst>
              <a:gd name="adj" fmla="val 5000"/>
            </a:avLst>
          </a:prstGeom>
          <a:solidFill>
            <a:srgbClr val="FFFFFF"/>
          </a:solidFill>
          <a:ln w="12700">
            <a:solidFill>
              <a:srgbClr val="E5E7EB"/>
            </a:solidFill>
          </a:ln>
        </p:spPr>
        <p:txBody>
          <a:bodyPr/>
          <a:lstStyle/>
          <a:p>
            <a:endParaRPr lang="en-US"/>
          </a:p>
        </p:txBody>
      </p:sp>
      <p:sp>
        <p:nvSpPr>
          <p:cNvPr id="711" name="Viz 711"/>
          <p:cNvSpPr/>
          <p:nvPr/>
        </p:nvSpPr>
        <p:spPr>
          <a:xfrm>
            <a:off x="3215640" y="2330000"/>
            <a:ext cx="2712720" cy="2360000"/>
          </a:xfrm>
          <a:prstGeom prst="roundRect">
            <a:avLst>
              <a:gd name="adj" fmla="val 5000"/>
            </a:avLst>
          </a:prstGeom>
          <a:solidFill>
            <a:srgbClr val="FFFFFF"/>
          </a:solidFill>
          <a:ln w="12700">
            <a:solidFill>
              <a:srgbClr val="E5E7EB"/>
            </a:solidFill>
          </a:ln>
        </p:spPr>
        <p:txBody>
          <a:bodyPr/>
          <a:lstStyle/>
          <a:p>
            <a:endParaRPr lang="en-US"/>
          </a:p>
        </p:txBody>
      </p:sp>
      <p:sp>
        <p:nvSpPr>
          <p:cNvPr id="712" name="Viz 712"/>
          <p:cNvSpPr/>
          <p:nvPr/>
        </p:nvSpPr>
        <p:spPr>
          <a:xfrm>
            <a:off x="6065520" y="2330000"/>
            <a:ext cx="2712720" cy="2360000"/>
          </a:xfrm>
          <a:prstGeom prst="roundRect">
            <a:avLst>
              <a:gd name="adj" fmla="val 5000"/>
            </a:avLst>
          </a:prstGeom>
          <a:solidFill>
            <a:srgbClr val="FFFFFF"/>
          </a:solidFill>
          <a:ln w="12700">
            <a:solidFill>
              <a:srgbClr val="E5E7EB"/>
            </a:solidFill>
          </a:ln>
        </p:spPr>
        <p:txBody>
          <a:bodyPr/>
          <a:lstStyle/>
          <a:p>
            <a:endParaRPr lang="en-US"/>
          </a:p>
        </p:txBody>
      </p:sp>
      <p:sp>
        <p:nvSpPr>
          <p:cNvPr id="713" name="Perf 713"/>
          <p:cNvSpPr txBox="1"/>
          <p:nvPr/>
        </p:nvSpPr>
        <p:spPr>
          <a:xfrm>
            <a:off x="495760" y="2440000"/>
            <a:ext cx="2452720" cy="220000"/>
          </a:xfrm>
          <a:prstGeom prst="rect">
            <a:avLst/>
          </a:prstGeom>
          <a:noFill/>
        </p:spPr>
        <p:txBody>
          <a:bodyPr wrap="square" lIns="0" tIns="0" rIns="0" bIns="0" anchor="t"/>
          <a:lstStyle/>
          <a:p>
            <a:pPr algn="l">
              <a:lnSpc>
                <a:spcPct val="108000"/>
              </a:lnSpc>
              <a:spcAft>
                <a:spcPts val="0"/>
              </a:spcAft>
            </a:pPr>
            <a:r>
              <a:rPr lang="en-US" sz="900" b="1" i="0" dirty="0">
                <a:solidFill>
                  <a:srgbClr val="1A1A1A"/>
                </a:solidFill>
                <a:latin typeface="Arial"/>
              </a:rPr>
              <a:t xml:space="preserve">Danger flagged before the words appear</a:t>
            </a:r>
          </a:p>
        </p:txBody>
      </p:sp>
      <p:sp>
        <p:nvSpPr>
          <p:cNvPr id="714" name="Perf 714"/>
          <p:cNvSpPr txBox="1"/>
          <p:nvPr/>
        </p:nvSpPr>
        <p:spPr>
          <a:xfrm>
            <a:off x="495760" y="2660000"/>
            <a:ext cx="2452720" cy="200000"/>
          </a:xfrm>
          <a:prstGeom prst="rect">
            <a:avLst/>
          </a:prstGeom>
          <a:noFill/>
        </p:spPr>
        <p:txBody>
          <a:bodyPr wrap="square" lIns="0" tIns="0" rIns="0" bIns="0" anchor="t"/>
          <a:lstStyle/>
          <a:p>
            <a:pPr algn="l">
              <a:lnSpc>
                <a:spcPct val="108000"/>
              </a:lnSpc>
              <a:spcAft>
                <a:spcPts val="0"/>
              </a:spcAft>
            </a:pPr>
            <a:r>
              <a:rPr lang="en-US" sz="700" b="0" i="0" dirty="0">
                <a:solidFill>
                  <a:srgbClr val="5F6368"/>
                </a:solidFill>
                <a:latin typeface="Arial"/>
              </a:rPr>
              <a:t xml:space="preserve">Seconds the danger tag beat the transcript, covert calls</a:t>
            </a:r>
          </a:p>
        </p:txBody>
      </p:sp>
      <p:sp>
        <p:nvSpPr>
          <p:cNvPr id="715" name="Perf 715"/>
          <p:cNvSpPr txBox="1"/>
          <p:nvPr/>
        </p:nvSpPr>
        <p:spPr>
          <a:xfrm>
            <a:off x="495760" y="2970000"/>
            <a:ext cx="520000" cy="200000"/>
          </a:xfrm>
          <a:prstGeom prst="rect">
            <a:avLst/>
          </a:prstGeom>
          <a:noFill/>
        </p:spPr>
        <p:txBody>
          <a:bodyPr wrap="square" lIns="0" tIns="0" rIns="0" bIns="0" anchor="ctr"/>
          <a:lstStyle/>
          <a:p>
            <a:pPr algn="l">
              <a:lnSpc>
                <a:spcPct val="108000"/>
              </a:lnSpc>
              <a:spcAft>
                <a:spcPts val="0"/>
              </a:spcAft>
            </a:pPr>
            <a:r>
              <a:rPr lang="en-US" sz="750" b="0" i="0" dirty="0">
                <a:solidFill>
                  <a:srgbClr val="5F6368"/>
                </a:solidFill>
                <a:latin typeface="Arial"/>
              </a:rPr>
              <a:t xml:space="preserve">Call 1</a:t>
            </a:r>
          </a:p>
        </p:txBody>
      </p:sp>
      <p:sp>
        <p:nvSpPr>
          <p:cNvPr id="716" name="Viz 716"/>
          <p:cNvSpPr/>
          <p:nvPr/>
        </p:nvSpPr>
        <p:spPr>
          <a:xfrm>
            <a:off x="1015760" y="2970000"/>
            <a:ext cx="1552720" cy="200000"/>
          </a:xfrm>
          <a:prstGeom prst="roundRect">
            <a:avLst>
              <a:gd name="adj" fmla="val 30000"/>
            </a:avLst>
          </a:prstGeom>
          <a:solidFill>
            <a:srgbClr val="F1F3F4"/>
          </a:solidFill>
          <a:ln>
            <a:noFill/>
          </a:ln>
        </p:spPr>
        <p:txBody>
          <a:bodyPr/>
          <a:lstStyle/>
          <a:p>
            <a:endParaRPr lang="en-US"/>
          </a:p>
        </p:txBody>
      </p:sp>
      <p:sp>
        <p:nvSpPr>
          <p:cNvPr id="717" name="Viz 717"/>
          <p:cNvSpPr/>
          <p:nvPr/>
        </p:nvSpPr>
        <p:spPr>
          <a:xfrm>
            <a:off x="1015760" y="2970000"/>
            <a:ext cx="1358630" cy="200000"/>
          </a:xfrm>
          <a:prstGeom prst="roundRect">
            <a:avLst>
              <a:gd name="adj" fmla="val 30000"/>
            </a:avLst>
          </a:prstGeom>
          <a:solidFill>
            <a:srgbClr val="1E8E3E"/>
          </a:solidFill>
          <a:ln>
            <a:noFill/>
          </a:ln>
        </p:spPr>
        <p:txBody>
          <a:bodyPr/>
          <a:lstStyle/>
          <a:p>
            <a:endParaRPr lang="en-US"/>
          </a:p>
        </p:txBody>
      </p:sp>
      <p:sp>
        <p:nvSpPr>
          <p:cNvPr id="718" name="Perf 718"/>
          <p:cNvSpPr txBox="1"/>
          <p:nvPr/>
        </p:nvSpPr>
        <p:spPr>
          <a:xfrm>
            <a:off x="2434390" y="2970000"/>
            <a:ext cx="360000" cy="200000"/>
          </a:xfrm>
          <a:prstGeom prst="rect">
            <a:avLst/>
          </a:prstGeom>
          <a:noFill/>
        </p:spPr>
        <p:txBody>
          <a:bodyPr wrap="square" lIns="0" tIns="0" rIns="0" bIns="0" anchor="ctr"/>
          <a:lstStyle/>
          <a:p>
            <a:pPr algn="l">
              <a:lnSpc>
                <a:spcPct val="108000"/>
              </a:lnSpc>
              <a:spcAft>
                <a:spcPts val="0"/>
              </a:spcAft>
            </a:pPr>
            <a:r>
              <a:rPr lang="en-US" sz="800" b="1" i="0" dirty="0">
                <a:solidFill>
                  <a:srgbClr val="1E8E3E"/>
                </a:solidFill>
                <a:latin typeface="Arial"/>
              </a:rPr>
              <a:t xml:space="preserve">3.5 s</a:t>
            </a:r>
          </a:p>
        </p:txBody>
      </p:sp>
      <p:sp>
        <p:nvSpPr>
          <p:cNvPr id="719" name="Perf 719"/>
          <p:cNvSpPr txBox="1"/>
          <p:nvPr/>
        </p:nvSpPr>
        <p:spPr>
          <a:xfrm>
            <a:off x="495760" y="3300000"/>
            <a:ext cx="520000" cy="200000"/>
          </a:xfrm>
          <a:prstGeom prst="rect">
            <a:avLst/>
          </a:prstGeom>
          <a:noFill/>
        </p:spPr>
        <p:txBody>
          <a:bodyPr wrap="square" lIns="0" tIns="0" rIns="0" bIns="0" anchor="ctr"/>
          <a:lstStyle/>
          <a:p>
            <a:pPr algn="l">
              <a:lnSpc>
                <a:spcPct val="108000"/>
              </a:lnSpc>
              <a:spcAft>
                <a:spcPts val="0"/>
              </a:spcAft>
            </a:pPr>
            <a:r>
              <a:rPr lang="en-US" sz="750" b="0" i="0" dirty="0">
                <a:solidFill>
                  <a:srgbClr val="5F6368"/>
                </a:solidFill>
                <a:latin typeface="Arial"/>
              </a:rPr>
              <a:t xml:space="preserve">Call 2</a:t>
            </a:r>
          </a:p>
        </p:txBody>
      </p:sp>
      <p:sp>
        <p:nvSpPr>
          <p:cNvPr id="720" name="Viz 720"/>
          <p:cNvSpPr/>
          <p:nvPr/>
        </p:nvSpPr>
        <p:spPr>
          <a:xfrm>
            <a:off x="1015760" y="3300000"/>
            <a:ext cx="1552720" cy="200000"/>
          </a:xfrm>
          <a:prstGeom prst="roundRect">
            <a:avLst>
              <a:gd name="adj" fmla="val 30000"/>
            </a:avLst>
          </a:prstGeom>
          <a:solidFill>
            <a:srgbClr val="F1F3F4"/>
          </a:solidFill>
          <a:ln>
            <a:noFill/>
          </a:ln>
        </p:spPr>
        <p:txBody>
          <a:bodyPr/>
          <a:lstStyle/>
          <a:p>
            <a:endParaRPr lang="en-US"/>
          </a:p>
        </p:txBody>
      </p:sp>
      <p:sp>
        <p:nvSpPr>
          <p:cNvPr id="721" name="Viz 721"/>
          <p:cNvSpPr/>
          <p:nvPr/>
        </p:nvSpPr>
        <p:spPr>
          <a:xfrm>
            <a:off x="1015760" y="3300000"/>
            <a:ext cx="1125722" cy="200000"/>
          </a:xfrm>
          <a:prstGeom prst="roundRect">
            <a:avLst>
              <a:gd name="adj" fmla="val 30000"/>
            </a:avLst>
          </a:prstGeom>
          <a:solidFill>
            <a:srgbClr val="1E8E3E"/>
          </a:solidFill>
          <a:ln>
            <a:noFill/>
          </a:ln>
        </p:spPr>
        <p:txBody>
          <a:bodyPr/>
          <a:lstStyle/>
          <a:p>
            <a:endParaRPr lang="en-US"/>
          </a:p>
        </p:txBody>
      </p:sp>
      <p:sp>
        <p:nvSpPr>
          <p:cNvPr id="722" name="Perf 722"/>
          <p:cNvSpPr txBox="1"/>
          <p:nvPr/>
        </p:nvSpPr>
        <p:spPr>
          <a:xfrm>
            <a:off x="2201482" y="3300000"/>
            <a:ext cx="360000" cy="200000"/>
          </a:xfrm>
          <a:prstGeom prst="rect">
            <a:avLst/>
          </a:prstGeom>
          <a:noFill/>
        </p:spPr>
        <p:txBody>
          <a:bodyPr wrap="square" lIns="0" tIns="0" rIns="0" bIns="0" anchor="ctr"/>
          <a:lstStyle/>
          <a:p>
            <a:pPr algn="l">
              <a:lnSpc>
                <a:spcPct val="108000"/>
              </a:lnSpc>
              <a:spcAft>
                <a:spcPts val="0"/>
              </a:spcAft>
            </a:pPr>
            <a:r>
              <a:rPr lang="en-US" sz="800" b="1" i="0" dirty="0">
                <a:solidFill>
                  <a:srgbClr val="1E8E3E"/>
                </a:solidFill>
                <a:latin typeface="Arial"/>
              </a:rPr>
              <a:t xml:space="preserve">2.9 s</a:t>
            </a:r>
          </a:p>
        </p:txBody>
      </p:sp>
      <p:sp>
        <p:nvSpPr>
          <p:cNvPr id="723" name="Perf 723"/>
          <p:cNvSpPr txBox="1"/>
          <p:nvPr/>
        </p:nvSpPr>
        <p:spPr>
          <a:xfrm>
            <a:off x="495760" y="3630000"/>
            <a:ext cx="520000" cy="200000"/>
          </a:xfrm>
          <a:prstGeom prst="rect">
            <a:avLst/>
          </a:prstGeom>
          <a:noFill/>
        </p:spPr>
        <p:txBody>
          <a:bodyPr wrap="square" lIns="0" tIns="0" rIns="0" bIns="0" anchor="ctr"/>
          <a:lstStyle/>
          <a:p>
            <a:pPr algn="l">
              <a:lnSpc>
                <a:spcPct val="108000"/>
              </a:lnSpc>
              <a:spcAft>
                <a:spcPts val="0"/>
              </a:spcAft>
            </a:pPr>
            <a:r>
              <a:rPr lang="en-US" sz="750" b="0" i="0" dirty="0">
                <a:solidFill>
                  <a:srgbClr val="5F6368"/>
                </a:solidFill>
                <a:latin typeface="Arial"/>
              </a:rPr>
              <a:t xml:space="preserve">Call 3</a:t>
            </a:r>
          </a:p>
        </p:txBody>
      </p:sp>
      <p:sp>
        <p:nvSpPr>
          <p:cNvPr id="724" name="Viz 724"/>
          <p:cNvSpPr/>
          <p:nvPr/>
        </p:nvSpPr>
        <p:spPr>
          <a:xfrm>
            <a:off x="1015760" y="3630000"/>
            <a:ext cx="1552720" cy="200000"/>
          </a:xfrm>
          <a:prstGeom prst="roundRect">
            <a:avLst>
              <a:gd name="adj" fmla="val 30000"/>
            </a:avLst>
          </a:prstGeom>
          <a:solidFill>
            <a:srgbClr val="F1F3F4"/>
          </a:solidFill>
          <a:ln>
            <a:noFill/>
          </a:ln>
        </p:spPr>
        <p:txBody>
          <a:bodyPr/>
          <a:lstStyle/>
          <a:p>
            <a:endParaRPr lang="en-US"/>
          </a:p>
        </p:txBody>
      </p:sp>
      <p:sp>
        <p:nvSpPr>
          <p:cNvPr id="725" name="Viz 725"/>
          <p:cNvSpPr/>
          <p:nvPr/>
        </p:nvSpPr>
        <p:spPr>
          <a:xfrm>
            <a:off x="1015760" y="3630000"/>
            <a:ext cx="931632" cy="200000"/>
          </a:xfrm>
          <a:prstGeom prst="roundRect">
            <a:avLst>
              <a:gd name="adj" fmla="val 30000"/>
            </a:avLst>
          </a:prstGeom>
          <a:solidFill>
            <a:srgbClr val="1E8E3E"/>
          </a:solidFill>
          <a:ln>
            <a:noFill/>
          </a:ln>
        </p:spPr>
        <p:txBody>
          <a:bodyPr/>
          <a:lstStyle/>
          <a:p>
            <a:endParaRPr lang="en-US"/>
          </a:p>
        </p:txBody>
      </p:sp>
      <p:sp>
        <p:nvSpPr>
          <p:cNvPr id="726" name="Perf 726"/>
          <p:cNvSpPr txBox="1"/>
          <p:nvPr/>
        </p:nvSpPr>
        <p:spPr>
          <a:xfrm>
            <a:off x="2007392" y="3630000"/>
            <a:ext cx="360000" cy="200000"/>
          </a:xfrm>
          <a:prstGeom prst="rect">
            <a:avLst/>
          </a:prstGeom>
          <a:noFill/>
        </p:spPr>
        <p:txBody>
          <a:bodyPr wrap="square" lIns="0" tIns="0" rIns="0" bIns="0" anchor="ctr"/>
          <a:lstStyle/>
          <a:p>
            <a:pPr algn="l">
              <a:lnSpc>
                <a:spcPct val="108000"/>
              </a:lnSpc>
              <a:spcAft>
                <a:spcPts val="0"/>
              </a:spcAft>
            </a:pPr>
            <a:r>
              <a:rPr lang="en-US" sz="800" b="1" i="0" dirty="0">
                <a:solidFill>
                  <a:srgbClr val="1E8E3E"/>
                </a:solidFill>
                <a:latin typeface="Arial"/>
              </a:rPr>
              <a:t xml:space="preserve">2.4 s</a:t>
            </a:r>
          </a:p>
        </p:txBody>
      </p:sp>
      <p:sp>
        <p:nvSpPr>
          <p:cNvPr id="727" name="Perf 727"/>
          <p:cNvSpPr txBox="1"/>
          <p:nvPr/>
        </p:nvSpPr>
        <p:spPr>
          <a:xfrm>
            <a:off x="495760" y="3960000"/>
            <a:ext cx="520000" cy="200000"/>
          </a:xfrm>
          <a:prstGeom prst="rect">
            <a:avLst/>
          </a:prstGeom>
          <a:noFill/>
        </p:spPr>
        <p:txBody>
          <a:bodyPr wrap="square" lIns="0" tIns="0" rIns="0" bIns="0" anchor="ctr"/>
          <a:lstStyle/>
          <a:p>
            <a:pPr algn="l">
              <a:lnSpc>
                <a:spcPct val="108000"/>
              </a:lnSpc>
              <a:spcAft>
                <a:spcPts val="0"/>
              </a:spcAft>
            </a:pPr>
            <a:r>
              <a:rPr lang="en-US" sz="750" b="0" i="0" dirty="0">
                <a:solidFill>
                  <a:srgbClr val="5F6368"/>
                </a:solidFill>
                <a:latin typeface="Arial"/>
              </a:rPr>
              <a:t xml:space="preserve">Call 4</a:t>
            </a:r>
          </a:p>
        </p:txBody>
      </p:sp>
      <p:sp>
        <p:nvSpPr>
          <p:cNvPr id="728" name="Viz 728"/>
          <p:cNvSpPr/>
          <p:nvPr/>
        </p:nvSpPr>
        <p:spPr>
          <a:xfrm>
            <a:off x="1015760" y="3960000"/>
            <a:ext cx="1552720" cy="200000"/>
          </a:xfrm>
          <a:prstGeom prst="roundRect">
            <a:avLst>
              <a:gd name="adj" fmla="val 30000"/>
            </a:avLst>
          </a:prstGeom>
          <a:solidFill>
            <a:srgbClr val="F1F3F4"/>
          </a:solidFill>
          <a:ln>
            <a:noFill/>
          </a:ln>
        </p:spPr>
        <p:txBody>
          <a:bodyPr/>
          <a:lstStyle/>
          <a:p>
            <a:endParaRPr lang="en-US"/>
          </a:p>
        </p:txBody>
      </p:sp>
      <p:sp>
        <p:nvSpPr>
          <p:cNvPr id="729" name="Viz 729"/>
          <p:cNvSpPr/>
          <p:nvPr/>
        </p:nvSpPr>
        <p:spPr>
          <a:xfrm>
            <a:off x="1015760" y="3960000"/>
            <a:ext cx="1125722" cy="200000"/>
          </a:xfrm>
          <a:prstGeom prst="roundRect">
            <a:avLst>
              <a:gd name="adj" fmla="val 30000"/>
            </a:avLst>
          </a:prstGeom>
          <a:solidFill>
            <a:srgbClr val="1E8E3E"/>
          </a:solidFill>
          <a:ln>
            <a:noFill/>
          </a:ln>
        </p:spPr>
        <p:txBody>
          <a:bodyPr/>
          <a:lstStyle/>
          <a:p>
            <a:endParaRPr lang="en-US"/>
          </a:p>
        </p:txBody>
      </p:sp>
      <p:sp>
        <p:nvSpPr>
          <p:cNvPr id="730" name="Perf 730"/>
          <p:cNvSpPr txBox="1"/>
          <p:nvPr/>
        </p:nvSpPr>
        <p:spPr>
          <a:xfrm>
            <a:off x="2201482" y="3960000"/>
            <a:ext cx="360000" cy="200000"/>
          </a:xfrm>
          <a:prstGeom prst="rect">
            <a:avLst/>
          </a:prstGeom>
          <a:noFill/>
        </p:spPr>
        <p:txBody>
          <a:bodyPr wrap="square" lIns="0" tIns="0" rIns="0" bIns="0" anchor="ctr"/>
          <a:lstStyle/>
          <a:p>
            <a:pPr algn="l">
              <a:lnSpc>
                <a:spcPct val="108000"/>
              </a:lnSpc>
              <a:spcAft>
                <a:spcPts val="0"/>
              </a:spcAft>
            </a:pPr>
            <a:r>
              <a:rPr lang="en-US" sz="800" b="1" i="0" dirty="0">
                <a:solidFill>
                  <a:srgbClr val="1E8E3E"/>
                </a:solidFill>
                <a:latin typeface="Arial"/>
              </a:rPr>
              <a:t xml:space="preserve">2.9 s</a:t>
            </a:r>
          </a:p>
        </p:txBody>
      </p:sp>
      <p:sp>
        <p:nvSpPr>
          <p:cNvPr id="731" name="Perf 731"/>
          <p:cNvSpPr txBox="1"/>
          <p:nvPr/>
        </p:nvSpPr>
        <p:spPr>
          <a:xfrm>
            <a:off x="495760" y="4360000"/>
            <a:ext cx="2452720" cy="220000"/>
          </a:xfrm>
          <a:prstGeom prst="rect">
            <a:avLst/>
          </a:prstGeom>
          <a:noFill/>
        </p:spPr>
        <p:txBody>
          <a:bodyPr wrap="square" lIns="0" tIns="0" rIns="0" bIns="0" anchor="t"/>
          <a:lstStyle/>
          <a:p>
            <a:pPr algn="l">
              <a:lnSpc>
                <a:spcPct val="108000"/>
              </a:lnSpc>
              <a:spcAft>
                <a:spcPts val="0"/>
              </a:spcAft>
            </a:pPr>
            <a:r>
              <a:rPr lang="en-US" sz="700" b="0" i="0" dirty="0">
                <a:solidFill>
                  <a:srgbClr val="5F6368"/>
                </a:solidFill>
                <a:latin typeface="Arial"/>
              </a:rPr>
              <a:t xml:space="preserve">Coercion (husband’s voice) flagged the same way in all 4 calls.</a:t>
            </a:r>
          </a:p>
        </p:txBody>
      </p:sp>
      <p:sp>
        <p:nvSpPr>
          <p:cNvPr id="732" name="Perf 732"/>
          <p:cNvSpPr txBox="1"/>
          <p:nvPr/>
        </p:nvSpPr>
        <p:spPr>
          <a:xfrm>
            <a:off x="3345640" y="2440000"/>
            <a:ext cx="2452720" cy="220000"/>
          </a:xfrm>
          <a:prstGeom prst="rect">
            <a:avLst/>
          </a:prstGeom>
          <a:noFill/>
        </p:spPr>
        <p:txBody>
          <a:bodyPr wrap="square" lIns="0" tIns="0" rIns="0" bIns="0" anchor="t"/>
          <a:lstStyle/>
          <a:p>
            <a:pPr algn="l">
              <a:lnSpc>
                <a:spcPct val="108000"/>
              </a:lnSpc>
              <a:spcAft>
                <a:spcPts val="0"/>
              </a:spcAft>
            </a:pPr>
            <a:r>
              <a:rPr lang="en-US" sz="900" b="1" i="0" dirty="0">
                <a:solidFill>
                  <a:srgbClr val="1A1A1A"/>
                </a:solidFill>
                <a:latin typeface="Arial"/>
              </a:rPr>
              <a:t xml:space="preserve">Chase: followed → guided to safety</a:t>
            </a:r>
          </a:p>
        </p:txBody>
      </p:sp>
      <p:sp>
        <p:nvSpPr>
          <p:cNvPr id="733" name="Perf 733"/>
          <p:cNvSpPr txBox="1"/>
          <p:nvPr/>
        </p:nvSpPr>
        <p:spPr>
          <a:xfrm>
            <a:off x="3345640" y="2660000"/>
            <a:ext cx="2452720" cy="200000"/>
          </a:xfrm>
          <a:prstGeom prst="rect">
            <a:avLst/>
          </a:prstGeom>
          <a:noFill/>
        </p:spPr>
        <p:txBody>
          <a:bodyPr wrap="square" lIns="0" tIns="0" rIns="0" bIns="0" anchor="t"/>
          <a:lstStyle/>
          <a:p>
            <a:pPr algn="l">
              <a:lnSpc>
                <a:spcPct val="108000"/>
              </a:lnSpc>
              <a:spcAft>
                <a:spcPts val="0"/>
              </a:spcAft>
            </a:pPr>
            <a:r>
              <a:rPr lang="en-US" sz="700" b="0" i="0" dirty="0">
                <a:solidFill>
                  <a:srgbClr val="5F6368"/>
                </a:solidFill>
                <a:latin typeface="Arial"/>
              </a:rPr>
              <a:t xml:space="preserve">Median of 4 chase calls, from the incident timeline</a:t>
            </a:r>
          </a:p>
        </p:txBody>
      </p:sp>
      <p:cxnSp>
        <p:nvCxnSpPr>
          <p:cNvPr id="734" name="Line 734"/>
          <p:cNvCxnSpPr/>
          <p:nvPr/>
        </p:nvCxnSpPr>
        <p:spPr>
          <a:xfrm>
            <a:off x="3725640" y="3330000"/>
            <a:ext cx="1692720" cy="0"/>
          </a:xfrm>
          <a:prstGeom prst="line">
            <a:avLst/>
          </a:prstGeom>
          <a:ln w="38100">
            <a:solidFill>
              <a:srgbClr val="D1D5DB"/>
            </a:solidFill>
          </a:ln>
        </p:spPr>
      </p:cxnSp>
      <p:cxnSp>
        <p:nvCxnSpPr>
          <p:cNvPr id="735" name="Line 735"/>
          <p:cNvCxnSpPr/>
          <p:nvPr/>
        </p:nvCxnSpPr>
        <p:spPr>
          <a:xfrm>
            <a:off x="3725640" y="3330000"/>
            <a:ext cx="1129044" cy="0"/>
          </a:xfrm>
          <a:prstGeom prst="line">
            <a:avLst/>
          </a:prstGeom>
          <a:ln w="38100">
            <a:solidFill>
              <a:srgbClr val="1A73E8"/>
            </a:solidFill>
          </a:ln>
        </p:spPr>
      </p:cxnSp>
      <p:sp>
        <p:nvSpPr>
          <p:cNvPr id="736" name="Viz 736"/>
          <p:cNvSpPr/>
          <p:nvPr/>
        </p:nvSpPr>
        <p:spPr>
          <a:xfrm>
            <a:off x="3625640" y="3230000"/>
            <a:ext cx="200000" cy="200000"/>
          </a:xfrm>
          <a:prstGeom prst="ellipse">
            <a:avLst/>
          </a:prstGeom>
          <a:solidFill>
            <a:srgbClr val="5F6368"/>
          </a:solidFill>
          <a:ln>
            <a:noFill/>
          </a:ln>
        </p:spPr>
        <p:txBody>
          <a:bodyPr/>
          <a:lstStyle/>
          <a:p>
            <a:endParaRPr lang="en-US"/>
          </a:p>
        </p:txBody>
      </p:sp>
      <p:sp>
        <p:nvSpPr>
          <p:cNvPr id="737" name="Perf 737"/>
          <p:cNvSpPr txBox="1"/>
          <p:nvPr/>
        </p:nvSpPr>
        <p:spPr>
          <a:xfrm>
            <a:off x="3305640" y="3500000"/>
            <a:ext cx="840000" cy="220000"/>
          </a:xfrm>
          <a:prstGeom prst="rect">
            <a:avLst/>
          </a:prstGeom>
          <a:noFill/>
        </p:spPr>
        <p:txBody>
          <a:bodyPr wrap="square" lIns="0" tIns="0" rIns="0" bIns="0" anchor="t"/>
          <a:lstStyle/>
          <a:p>
            <a:pPr algn="ctr">
              <a:lnSpc>
                <a:spcPct val="108000"/>
              </a:lnSpc>
              <a:spcAft>
                <a:spcPts val="0"/>
              </a:spcAft>
            </a:pPr>
            <a:r>
              <a:rPr lang="en-US" sz="900" b="1" i="0" dirty="0">
                <a:solidFill>
                  <a:srgbClr val="5F6368"/>
                </a:solidFill>
                <a:latin typeface="Arial"/>
              </a:rPr>
              <a:t xml:space="preserve">0 s</a:t>
            </a:r>
          </a:p>
        </p:txBody>
      </p:sp>
      <p:sp>
        <p:nvSpPr>
          <p:cNvPr id="738" name="Perf 738"/>
          <p:cNvSpPr txBox="1"/>
          <p:nvPr/>
        </p:nvSpPr>
        <p:spPr>
          <a:xfrm>
            <a:off x="3345640" y="3720000"/>
            <a:ext cx="760000" cy="340000"/>
          </a:xfrm>
          <a:prstGeom prst="rect">
            <a:avLst/>
          </a:prstGeom>
          <a:noFill/>
        </p:spPr>
        <p:txBody>
          <a:bodyPr wrap="square" lIns="0" tIns="0" rIns="0" bIns="0" anchor="t"/>
          <a:lstStyle/>
          <a:p>
            <a:pPr algn="ctr">
              <a:lnSpc>
                <a:spcPct val="108000"/>
              </a:lnSpc>
              <a:spcAft>
                <a:spcPts val="0"/>
              </a:spcAft>
            </a:pPr>
            <a:r>
              <a:rPr lang="en-US" sz="680" b="0" i="0" dirty="0">
                <a:solidFill>
                  <a:srgbClr val="5F6368"/>
                </a:solidFill>
                <a:latin typeface="Arial"/>
              </a:rPr>
              <a:t xml:space="preserve">Call</a:t>
            </a:r>
          </a:p>
          <a:p>
            <a:pPr algn="ctr">
              <a:lnSpc>
                <a:spcPct val="108000"/>
              </a:lnSpc>
              <a:spcAft>
                <a:spcPts val="0"/>
              </a:spcAft>
            </a:pPr>
            <a:r>
              <a:rPr lang="en-US" sz="680" b="0" i="0" dirty="0">
                <a:solidFill>
                  <a:srgbClr val="5F6368"/>
                </a:solidFill>
                <a:latin typeface="Arial"/>
              </a:rPr>
              <a:t xml:space="preserve">starts</a:t>
            </a:r>
          </a:p>
        </p:txBody>
      </p:sp>
      <p:sp>
        <p:nvSpPr>
          <p:cNvPr id="739" name="Viz 739"/>
          <p:cNvSpPr/>
          <p:nvPr/>
        </p:nvSpPr>
        <p:spPr>
          <a:xfrm>
            <a:off x="4189315" y="3230000"/>
            <a:ext cx="200000" cy="200000"/>
          </a:xfrm>
          <a:prstGeom prst="ellipse">
            <a:avLst/>
          </a:prstGeom>
          <a:solidFill>
            <a:srgbClr val="E8590C"/>
          </a:solidFill>
          <a:ln>
            <a:noFill/>
          </a:ln>
        </p:spPr>
        <p:txBody>
          <a:bodyPr/>
          <a:lstStyle/>
          <a:p>
            <a:endParaRPr lang="en-US"/>
          </a:p>
        </p:txBody>
      </p:sp>
      <p:sp>
        <p:nvSpPr>
          <p:cNvPr id="740" name="Perf 740"/>
          <p:cNvSpPr txBox="1"/>
          <p:nvPr/>
        </p:nvSpPr>
        <p:spPr>
          <a:xfrm>
            <a:off x="3869315" y="3500000"/>
            <a:ext cx="840000" cy="220000"/>
          </a:xfrm>
          <a:prstGeom prst="rect">
            <a:avLst/>
          </a:prstGeom>
          <a:noFill/>
        </p:spPr>
        <p:txBody>
          <a:bodyPr wrap="square" lIns="0" tIns="0" rIns="0" bIns="0" anchor="t"/>
          <a:lstStyle/>
          <a:p>
            <a:pPr algn="ctr">
              <a:lnSpc>
                <a:spcPct val="108000"/>
              </a:lnSpc>
              <a:spcAft>
                <a:spcPts val="0"/>
              </a:spcAft>
            </a:pPr>
            <a:r>
              <a:rPr lang="en-US" sz="900" b="1" i="0" dirty="0">
                <a:solidFill>
                  <a:srgbClr val="E8590C"/>
                </a:solidFill>
                <a:latin typeface="Arial"/>
              </a:rPr>
              <a:t xml:space="preserve">22.8 s</a:t>
            </a:r>
          </a:p>
        </p:txBody>
      </p:sp>
      <p:sp>
        <p:nvSpPr>
          <p:cNvPr id="741" name="Perf 741"/>
          <p:cNvSpPr txBox="1"/>
          <p:nvPr/>
        </p:nvSpPr>
        <p:spPr>
          <a:xfrm>
            <a:off x="3909315" y="3720000"/>
            <a:ext cx="760000" cy="340000"/>
          </a:xfrm>
          <a:prstGeom prst="rect">
            <a:avLst/>
          </a:prstGeom>
          <a:noFill/>
        </p:spPr>
        <p:txBody>
          <a:bodyPr wrap="square" lIns="0" tIns="0" rIns="0" bIns="0" anchor="t"/>
          <a:lstStyle/>
          <a:p>
            <a:pPr algn="ctr">
              <a:lnSpc>
                <a:spcPct val="108000"/>
              </a:lnSpc>
              <a:spcAft>
                <a:spcPts val="0"/>
              </a:spcAft>
            </a:pPr>
            <a:r>
              <a:rPr lang="en-US" sz="680" b="0" i="0" dirty="0">
                <a:solidFill>
                  <a:srgbClr val="5F6368"/>
                </a:solidFill>
                <a:latin typeface="Arial"/>
              </a:rPr>
              <a:t xml:space="preserve">“Followed”</a:t>
            </a:r>
          </a:p>
          <a:p>
            <a:pPr algn="ctr">
              <a:lnSpc>
                <a:spcPct val="108000"/>
              </a:lnSpc>
              <a:spcAft>
                <a:spcPts val="0"/>
              </a:spcAft>
            </a:pPr>
            <a:r>
              <a:rPr lang="en-US" sz="680" b="0" i="0" dirty="0">
                <a:solidFill>
                  <a:srgbClr val="5F6368"/>
                </a:solidFill>
                <a:latin typeface="Arial"/>
              </a:rPr>
              <a:t xml:space="preserve">flagged</a:t>
            </a:r>
          </a:p>
        </p:txBody>
      </p:sp>
      <p:sp>
        <p:nvSpPr>
          <p:cNvPr id="742" name="Viz 742"/>
          <p:cNvSpPr/>
          <p:nvPr/>
        </p:nvSpPr>
        <p:spPr>
          <a:xfrm>
            <a:off x="4754684" y="3230000"/>
            <a:ext cx="200000" cy="200000"/>
          </a:xfrm>
          <a:prstGeom prst="ellipse">
            <a:avLst/>
          </a:prstGeom>
          <a:solidFill>
            <a:srgbClr val="1A73E8"/>
          </a:solidFill>
          <a:ln>
            <a:noFill/>
          </a:ln>
        </p:spPr>
        <p:txBody>
          <a:bodyPr/>
          <a:lstStyle/>
          <a:p>
            <a:endParaRPr lang="en-US"/>
          </a:p>
        </p:txBody>
      </p:sp>
      <p:sp>
        <p:nvSpPr>
          <p:cNvPr id="743" name="Perf 743"/>
          <p:cNvSpPr txBox="1"/>
          <p:nvPr/>
        </p:nvSpPr>
        <p:spPr>
          <a:xfrm>
            <a:off x="4434684" y="3500000"/>
            <a:ext cx="840000" cy="220000"/>
          </a:xfrm>
          <a:prstGeom prst="rect">
            <a:avLst/>
          </a:prstGeom>
          <a:noFill/>
        </p:spPr>
        <p:txBody>
          <a:bodyPr wrap="square" lIns="0" tIns="0" rIns="0" bIns="0" anchor="t"/>
          <a:lstStyle/>
          <a:p>
            <a:pPr algn="ctr">
              <a:lnSpc>
                <a:spcPct val="108000"/>
              </a:lnSpc>
              <a:spcAft>
                <a:spcPts val="0"/>
              </a:spcAft>
            </a:pPr>
            <a:r>
              <a:rPr lang="en-US" sz="900" b="1" i="0" dirty="0">
                <a:solidFill>
                  <a:srgbClr val="1A73E8"/>
                </a:solidFill>
                <a:latin typeface="Arial"/>
              </a:rPr>
              <a:t xml:space="preserve">+16.8 s</a:t>
            </a:r>
          </a:p>
        </p:txBody>
      </p:sp>
      <p:sp>
        <p:nvSpPr>
          <p:cNvPr id="744" name="Perf 744"/>
          <p:cNvSpPr txBox="1"/>
          <p:nvPr/>
        </p:nvSpPr>
        <p:spPr>
          <a:xfrm>
            <a:off x="4474684" y="3720000"/>
            <a:ext cx="760000" cy="340000"/>
          </a:xfrm>
          <a:prstGeom prst="rect">
            <a:avLst/>
          </a:prstGeom>
          <a:noFill/>
        </p:spPr>
        <p:txBody>
          <a:bodyPr wrap="square" lIns="0" tIns="0" rIns="0" bIns="0" anchor="t"/>
          <a:lstStyle/>
          <a:p>
            <a:pPr algn="ctr">
              <a:lnSpc>
                <a:spcPct val="108000"/>
              </a:lnSpc>
              <a:spcAft>
                <a:spcPts val="0"/>
              </a:spcAft>
            </a:pPr>
            <a:r>
              <a:rPr lang="en-US" sz="680" b="0" i="0" dirty="0">
                <a:solidFill>
                  <a:srgbClr val="5F6368"/>
                </a:solidFill>
                <a:latin typeface="Arial"/>
              </a:rPr>
              <a:t xml:space="preserve">First</a:t>
            </a:r>
          </a:p>
          <a:p>
            <a:pPr algn="ctr">
              <a:lnSpc>
                <a:spcPct val="108000"/>
              </a:lnSpc>
              <a:spcAft>
                <a:spcPts val="0"/>
              </a:spcAft>
            </a:pPr>
            <a:r>
              <a:rPr lang="en-US" sz="680" b="0" i="0" dirty="0">
                <a:solidFill>
                  <a:srgbClr val="5F6368"/>
                </a:solidFill>
                <a:latin typeface="Arial"/>
              </a:rPr>
              <a:t xml:space="preserve">direction</a:t>
            </a:r>
          </a:p>
        </p:txBody>
      </p:sp>
      <p:sp>
        <p:nvSpPr>
          <p:cNvPr id="745" name="Viz 745"/>
          <p:cNvSpPr/>
          <p:nvPr/>
        </p:nvSpPr>
        <p:spPr>
          <a:xfrm>
            <a:off x="5318360" y="3230000"/>
            <a:ext cx="200000" cy="200000"/>
          </a:xfrm>
          <a:prstGeom prst="ellipse">
            <a:avLst/>
          </a:prstGeom>
          <a:solidFill>
            <a:srgbClr val="1E8E3E"/>
          </a:solidFill>
          <a:ln>
            <a:noFill/>
          </a:ln>
        </p:spPr>
        <p:txBody>
          <a:bodyPr/>
          <a:lstStyle/>
          <a:p>
            <a:endParaRPr lang="en-US"/>
          </a:p>
        </p:txBody>
      </p:sp>
      <p:sp>
        <p:nvSpPr>
          <p:cNvPr id="746" name="Perf 746"/>
          <p:cNvSpPr txBox="1"/>
          <p:nvPr/>
        </p:nvSpPr>
        <p:spPr>
          <a:xfrm>
            <a:off x="4998360" y="3500000"/>
            <a:ext cx="840000" cy="220000"/>
          </a:xfrm>
          <a:prstGeom prst="rect">
            <a:avLst/>
          </a:prstGeom>
          <a:noFill/>
        </p:spPr>
        <p:txBody>
          <a:bodyPr wrap="square" lIns="0" tIns="0" rIns="0" bIns="0" anchor="t"/>
          <a:lstStyle/>
          <a:p>
            <a:pPr algn="ctr">
              <a:lnSpc>
                <a:spcPct val="108000"/>
              </a:lnSpc>
              <a:spcAft>
                <a:spcPts val="0"/>
              </a:spcAft>
            </a:pPr>
            <a:r>
              <a:rPr lang="en-US" sz="900" b="1" i="0" dirty="0">
                <a:solidFill>
                  <a:srgbClr val="1E8E3E"/>
                </a:solidFill>
                <a:latin typeface="Arial"/>
              </a:rPr>
              <a:t xml:space="preserve">~535 m</a:t>
            </a:r>
          </a:p>
        </p:txBody>
      </p:sp>
      <p:sp>
        <p:nvSpPr>
          <p:cNvPr id="747" name="Perf 747"/>
          <p:cNvSpPr txBox="1"/>
          <p:nvPr/>
        </p:nvSpPr>
        <p:spPr>
          <a:xfrm>
            <a:off x="5038360" y="3720000"/>
            <a:ext cx="760000" cy="340000"/>
          </a:xfrm>
          <a:prstGeom prst="rect">
            <a:avLst/>
          </a:prstGeom>
          <a:noFill/>
        </p:spPr>
        <p:txBody>
          <a:bodyPr wrap="square" lIns="0" tIns="0" rIns="0" bIns="0" anchor="t"/>
          <a:lstStyle/>
          <a:p>
            <a:pPr algn="ctr">
              <a:lnSpc>
                <a:spcPct val="108000"/>
              </a:lnSpc>
              <a:spcAft>
                <a:spcPts val="0"/>
              </a:spcAft>
            </a:pPr>
            <a:r>
              <a:rPr lang="en-US" sz="680" b="0" i="0" dirty="0">
                <a:solidFill>
                  <a:srgbClr val="5F6368"/>
                </a:solidFill>
                <a:latin typeface="Arial"/>
              </a:rPr>
              <a:t xml:space="preserve">Police</a:t>
            </a:r>
          </a:p>
          <a:p>
            <a:pPr algn="ctr">
              <a:lnSpc>
                <a:spcPct val="108000"/>
              </a:lnSpc>
              <a:spcAft>
                <a:spcPts val="0"/>
              </a:spcAft>
            </a:pPr>
            <a:r>
              <a:rPr lang="en-US" sz="680" b="0" i="0" dirty="0">
                <a:solidFill>
                  <a:srgbClr val="5F6368"/>
                </a:solidFill>
                <a:latin typeface="Arial"/>
              </a:rPr>
              <a:t xml:space="preserve">station</a:t>
            </a:r>
          </a:p>
        </p:txBody>
      </p:sp>
      <p:sp>
        <p:nvSpPr>
          <p:cNvPr id="748" name="Perf 748"/>
          <p:cNvSpPr txBox="1"/>
          <p:nvPr/>
        </p:nvSpPr>
        <p:spPr>
          <a:xfrm>
            <a:off x="3345640" y="4170000"/>
            <a:ext cx="2452720" cy="400000"/>
          </a:xfrm>
          <a:prstGeom prst="rect">
            <a:avLst/>
          </a:prstGeom>
          <a:noFill/>
        </p:spPr>
        <p:txBody>
          <a:bodyPr wrap="square" lIns="0" tIns="0" rIns="0" bIns="0" anchor="t"/>
          <a:lstStyle/>
          <a:p>
            <a:pPr algn="l">
              <a:lnSpc>
                <a:spcPct val="108000"/>
              </a:lnSpc>
              <a:spcAft>
                <a:spcPts val="0"/>
              </a:spcAft>
            </a:pPr>
            <a:r>
              <a:rPr lang="en-US" sz="700" b="0" i="0" dirty="0">
                <a:solidFill>
                  <a:srgbClr val="5F6368"/>
                </a:solidFill>
                <a:latin typeface="Arial"/>
              </a:rPr>
              <a:t xml:space="preserve">Every run: route drawn live, turn-by-turn directions, arrival on the map.</a:t>
            </a:r>
          </a:p>
        </p:txBody>
      </p:sp>
      <p:sp>
        <p:nvSpPr>
          <p:cNvPr id="749" name="Perf 749"/>
          <p:cNvSpPr txBox="1"/>
          <p:nvPr/>
        </p:nvSpPr>
        <p:spPr>
          <a:xfrm>
            <a:off x="6195520" y="2440000"/>
            <a:ext cx="2452720" cy="220000"/>
          </a:xfrm>
          <a:prstGeom prst="rect">
            <a:avLst/>
          </a:prstGeom>
          <a:noFill/>
        </p:spPr>
        <p:txBody>
          <a:bodyPr wrap="square" lIns="0" tIns="0" rIns="0" bIns="0" anchor="t"/>
          <a:lstStyle/>
          <a:p>
            <a:pPr algn="l">
              <a:lnSpc>
                <a:spcPct val="108000"/>
              </a:lnSpc>
              <a:spcAft>
                <a:spcPts val="0"/>
              </a:spcAft>
            </a:pPr>
            <a:r>
              <a:rPr lang="en-US" sz="900" b="1" i="0" dirty="0">
                <a:solidFill>
                  <a:srgbClr val="1A1A1A"/>
                </a:solidFill>
                <a:latin typeface="Arial"/>
              </a:rPr>
              <a:t xml:space="preserve">AI cost per call</a:t>
            </a:r>
          </a:p>
        </p:txBody>
      </p:sp>
      <p:sp>
        <p:nvSpPr>
          <p:cNvPr id="750" name="Perf 750"/>
          <p:cNvSpPr txBox="1"/>
          <p:nvPr/>
        </p:nvSpPr>
        <p:spPr>
          <a:xfrm>
            <a:off x="6195520" y="2660000"/>
            <a:ext cx="2452720" cy="200000"/>
          </a:xfrm>
          <a:prstGeom prst="rect">
            <a:avLst/>
          </a:prstGeom>
          <a:noFill/>
        </p:spPr>
        <p:txBody>
          <a:bodyPr wrap="square" lIns="0" tIns="0" rIns="0" bIns="0" anchor="t"/>
          <a:lstStyle/>
          <a:p>
            <a:pPr algn="l">
              <a:lnSpc>
                <a:spcPct val="108000"/>
              </a:lnSpc>
              <a:spcAft>
                <a:spcPts val="0"/>
              </a:spcAft>
            </a:pPr>
            <a:r>
              <a:rPr lang="en-US" sz="700" b="0" i="0" dirty="0">
                <a:solidFill>
                  <a:srgbClr val="5F6368"/>
                </a:solidFill>
                <a:latin typeface="Arial"/>
              </a:rPr>
              <a:t xml:space="preserve">Paid-tier prices; median $0.35</a:t>
            </a:r>
          </a:p>
        </p:txBody>
      </p:sp>
      <p:cxnSp>
        <p:nvCxnSpPr>
          <p:cNvPr id="751" name="Line 751"/>
          <p:cNvCxnSpPr/>
          <p:nvPr/>
        </p:nvCxnSpPr>
        <p:spPr>
          <a:xfrm>
            <a:off x="6195520" y="3365160"/>
            <a:ext cx="2452720" cy="0"/>
          </a:xfrm>
          <a:prstGeom prst="line">
            <a:avLst/>
          </a:prstGeom>
          <a:ln w="9525">
            <a:solidFill>
              <a:srgbClr val="1A1A1A"/>
            </a:solidFill>
            <a:prstDash val="dash"/>
          </a:ln>
        </p:spPr>
      </p:cxnSp>
      <p:sp>
        <p:nvSpPr>
          <p:cNvPr id="752" name="Viz 752"/>
          <p:cNvSpPr/>
          <p:nvPr/>
        </p:nvSpPr>
        <p:spPr>
          <a:xfrm>
            <a:off x="6301397" y="3344640"/>
            <a:ext cx="182335" cy="825360"/>
          </a:xfrm>
          <a:prstGeom prst="rect">
            <a:avLst/>
          </a:prstGeom>
          <a:solidFill>
            <a:srgbClr val="E8590C"/>
          </a:solidFill>
          <a:ln>
            <a:noFill/>
          </a:ln>
        </p:spPr>
        <p:txBody>
          <a:bodyPr/>
          <a:lstStyle/>
          <a:p>
            <a:endParaRPr lang="en-US"/>
          </a:p>
        </p:txBody>
      </p:sp>
      <p:sp>
        <p:nvSpPr>
          <p:cNvPr id="753" name="Perf 753"/>
          <p:cNvSpPr txBox="1"/>
          <p:nvPr/>
        </p:nvSpPr>
        <p:spPr>
          <a:xfrm>
            <a:off x="6241397" y="3384640"/>
            <a:ext cx="302335" cy="160000"/>
          </a:xfrm>
          <a:prstGeom prst="rect">
            <a:avLst/>
          </a:prstGeom>
          <a:noFill/>
        </p:spPr>
        <p:txBody>
          <a:bodyPr wrap="square" lIns="0" tIns="0" rIns="0" bIns="0" anchor="t"/>
          <a:lstStyle/>
          <a:p>
            <a:pPr algn="ctr">
              <a:lnSpc>
                <a:spcPct val="108000"/>
              </a:lnSpc>
              <a:spcAft>
                <a:spcPts val="0"/>
              </a:spcAft>
            </a:pPr>
            <a:r>
              <a:rPr lang="en-US" sz="560" b="1" i="0" dirty="0">
                <a:solidFill>
                  <a:srgbClr val="FFFFFF"/>
                </a:solidFill>
                <a:latin typeface="Arial"/>
              </a:rPr>
              <a:t xml:space="preserve">0.36</a:t>
            </a:r>
          </a:p>
        </p:txBody>
      </p:sp>
      <p:sp>
        <p:nvSpPr>
          <p:cNvPr id="754" name="Viz 754"/>
          <p:cNvSpPr/>
          <p:nvPr/>
        </p:nvSpPr>
        <p:spPr>
          <a:xfrm>
            <a:off x="6595487" y="3283080"/>
            <a:ext cx="182335" cy="886920"/>
          </a:xfrm>
          <a:prstGeom prst="rect">
            <a:avLst/>
          </a:prstGeom>
          <a:solidFill>
            <a:srgbClr val="E8590C"/>
          </a:solidFill>
          <a:ln>
            <a:noFill/>
          </a:ln>
        </p:spPr>
        <p:txBody>
          <a:bodyPr/>
          <a:lstStyle/>
          <a:p>
            <a:endParaRPr lang="en-US"/>
          </a:p>
        </p:txBody>
      </p:sp>
      <p:sp>
        <p:nvSpPr>
          <p:cNvPr id="755" name="Perf 755"/>
          <p:cNvSpPr txBox="1"/>
          <p:nvPr/>
        </p:nvSpPr>
        <p:spPr>
          <a:xfrm>
            <a:off x="6535487" y="3323080"/>
            <a:ext cx="302335" cy="160000"/>
          </a:xfrm>
          <a:prstGeom prst="rect">
            <a:avLst/>
          </a:prstGeom>
          <a:noFill/>
        </p:spPr>
        <p:txBody>
          <a:bodyPr wrap="square" lIns="0" tIns="0" rIns="0" bIns="0" anchor="t"/>
          <a:lstStyle/>
          <a:p>
            <a:pPr algn="ctr">
              <a:lnSpc>
                <a:spcPct val="108000"/>
              </a:lnSpc>
              <a:spcAft>
                <a:spcPts val="0"/>
              </a:spcAft>
            </a:pPr>
            <a:r>
              <a:rPr lang="en-US" sz="560" b="1" i="0" dirty="0">
                <a:solidFill>
                  <a:srgbClr val="FFFFFF"/>
                </a:solidFill>
                <a:latin typeface="Arial"/>
              </a:rPr>
              <a:t xml:space="preserve">0.39</a:t>
            </a:r>
          </a:p>
        </p:txBody>
      </p:sp>
      <p:sp>
        <p:nvSpPr>
          <p:cNvPr id="756" name="Viz 756"/>
          <p:cNvSpPr/>
          <p:nvPr/>
        </p:nvSpPr>
        <p:spPr>
          <a:xfrm>
            <a:off x="6889577" y="3125760"/>
            <a:ext cx="182335" cy="1044240"/>
          </a:xfrm>
          <a:prstGeom prst="rect">
            <a:avLst/>
          </a:prstGeom>
          <a:solidFill>
            <a:srgbClr val="E8590C"/>
          </a:solidFill>
          <a:ln>
            <a:noFill/>
          </a:ln>
        </p:spPr>
        <p:txBody>
          <a:bodyPr/>
          <a:lstStyle/>
          <a:p>
            <a:endParaRPr lang="en-US"/>
          </a:p>
        </p:txBody>
      </p:sp>
      <p:sp>
        <p:nvSpPr>
          <p:cNvPr id="757" name="Perf 757"/>
          <p:cNvSpPr txBox="1"/>
          <p:nvPr/>
        </p:nvSpPr>
        <p:spPr>
          <a:xfrm>
            <a:off x="6829577" y="3165760"/>
            <a:ext cx="302335" cy="160000"/>
          </a:xfrm>
          <a:prstGeom prst="rect">
            <a:avLst/>
          </a:prstGeom>
          <a:noFill/>
        </p:spPr>
        <p:txBody>
          <a:bodyPr wrap="square" lIns="0" tIns="0" rIns="0" bIns="0" anchor="t"/>
          <a:lstStyle/>
          <a:p>
            <a:pPr algn="ctr">
              <a:lnSpc>
                <a:spcPct val="108000"/>
              </a:lnSpc>
              <a:spcAft>
                <a:spcPts val="0"/>
              </a:spcAft>
            </a:pPr>
            <a:r>
              <a:rPr lang="en-US" sz="560" b="1" i="0" dirty="0">
                <a:solidFill>
                  <a:srgbClr val="FFFFFF"/>
                </a:solidFill>
                <a:latin typeface="Arial"/>
              </a:rPr>
              <a:t xml:space="preserve">0.46</a:t>
            </a:r>
          </a:p>
        </p:txBody>
      </p:sp>
      <p:sp>
        <p:nvSpPr>
          <p:cNvPr id="758" name="Viz 758"/>
          <p:cNvSpPr/>
          <p:nvPr/>
        </p:nvSpPr>
        <p:spPr>
          <a:xfrm>
            <a:off x="7183667" y="3479160"/>
            <a:ext cx="182335" cy="690840"/>
          </a:xfrm>
          <a:prstGeom prst="rect">
            <a:avLst/>
          </a:prstGeom>
          <a:solidFill>
            <a:srgbClr val="E8590C"/>
          </a:solidFill>
          <a:ln>
            <a:noFill/>
          </a:ln>
        </p:spPr>
        <p:txBody>
          <a:bodyPr/>
          <a:lstStyle/>
          <a:p>
            <a:endParaRPr lang="en-US"/>
          </a:p>
        </p:txBody>
      </p:sp>
      <p:sp>
        <p:nvSpPr>
          <p:cNvPr id="759" name="Perf 759"/>
          <p:cNvSpPr txBox="1"/>
          <p:nvPr/>
        </p:nvSpPr>
        <p:spPr>
          <a:xfrm>
            <a:off x="7123667" y="3519160"/>
            <a:ext cx="302335" cy="160000"/>
          </a:xfrm>
          <a:prstGeom prst="rect">
            <a:avLst/>
          </a:prstGeom>
          <a:noFill/>
        </p:spPr>
        <p:txBody>
          <a:bodyPr wrap="square" lIns="0" tIns="0" rIns="0" bIns="0" anchor="t"/>
          <a:lstStyle/>
          <a:p>
            <a:pPr algn="ctr">
              <a:lnSpc>
                <a:spcPct val="108000"/>
              </a:lnSpc>
              <a:spcAft>
                <a:spcPts val="0"/>
              </a:spcAft>
            </a:pPr>
            <a:r>
              <a:rPr lang="en-US" sz="560" b="1" i="0" dirty="0">
                <a:solidFill>
                  <a:srgbClr val="FFFFFF"/>
                </a:solidFill>
                <a:latin typeface="Arial"/>
              </a:rPr>
              <a:t xml:space="preserve">0.30</a:t>
            </a:r>
          </a:p>
        </p:txBody>
      </p:sp>
      <p:sp>
        <p:nvSpPr>
          <p:cNvPr id="760" name="Viz 760"/>
          <p:cNvSpPr/>
          <p:nvPr/>
        </p:nvSpPr>
        <p:spPr>
          <a:xfrm>
            <a:off x="7477757" y="3408480"/>
            <a:ext cx="182335" cy="761520"/>
          </a:xfrm>
          <a:prstGeom prst="rect">
            <a:avLst/>
          </a:prstGeom>
          <a:solidFill>
            <a:srgbClr val="1A73E8"/>
          </a:solidFill>
          <a:ln>
            <a:noFill/>
          </a:ln>
        </p:spPr>
        <p:txBody>
          <a:bodyPr/>
          <a:lstStyle/>
          <a:p>
            <a:endParaRPr lang="en-US"/>
          </a:p>
        </p:txBody>
      </p:sp>
      <p:sp>
        <p:nvSpPr>
          <p:cNvPr id="761" name="Perf 761"/>
          <p:cNvSpPr txBox="1"/>
          <p:nvPr/>
        </p:nvSpPr>
        <p:spPr>
          <a:xfrm>
            <a:off x="7417757" y="3448480"/>
            <a:ext cx="302335" cy="160000"/>
          </a:xfrm>
          <a:prstGeom prst="rect">
            <a:avLst/>
          </a:prstGeom>
          <a:noFill/>
        </p:spPr>
        <p:txBody>
          <a:bodyPr wrap="square" lIns="0" tIns="0" rIns="0" bIns="0" anchor="t"/>
          <a:lstStyle/>
          <a:p>
            <a:pPr algn="ctr">
              <a:lnSpc>
                <a:spcPct val="108000"/>
              </a:lnSpc>
              <a:spcAft>
                <a:spcPts val="0"/>
              </a:spcAft>
            </a:pPr>
            <a:r>
              <a:rPr lang="en-US" sz="560" b="1" i="0" dirty="0">
                <a:solidFill>
                  <a:srgbClr val="FFFFFF"/>
                </a:solidFill>
                <a:latin typeface="Arial"/>
              </a:rPr>
              <a:t xml:space="preserve">0.33</a:t>
            </a:r>
          </a:p>
        </p:txBody>
      </p:sp>
      <p:sp>
        <p:nvSpPr>
          <p:cNvPr id="762" name="Viz 762"/>
          <p:cNvSpPr/>
          <p:nvPr/>
        </p:nvSpPr>
        <p:spPr>
          <a:xfrm>
            <a:off x="7771847" y="3369720"/>
            <a:ext cx="182335" cy="800280"/>
          </a:xfrm>
          <a:prstGeom prst="rect">
            <a:avLst/>
          </a:prstGeom>
          <a:solidFill>
            <a:srgbClr val="1A73E8"/>
          </a:solidFill>
          <a:ln>
            <a:noFill/>
          </a:ln>
        </p:spPr>
        <p:txBody>
          <a:bodyPr/>
          <a:lstStyle/>
          <a:p>
            <a:endParaRPr lang="en-US"/>
          </a:p>
        </p:txBody>
      </p:sp>
      <p:sp>
        <p:nvSpPr>
          <p:cNvPr id="763" name="Perf 763"/>
          <p:cNvSpPr txBox="1"/>
          <p:nvPr/>
        </p:nvSpPr>
        <p:spPr>
          <a:xfrm>
            <a:off x="7711847" y="3409720"/>
            <a:ext cx="302335" cy="160000"/>
          </a:xfrm>
          <a:prstGeom prst="rect">
            <a:avLst/>
          </a:prstGeom>
          <a:noFill/>
        </p:spPr>
        <p:txBody>
          <a:bodyPr wrap="square" lIns="0" tIns="0" rIns="0" bIns="0" anchor="t"/>
          <a:lstStyle/>
          <a:p>
            <a:pPr algn="ctr">
              <a:lnSpc>
                <a:spcPct val="108000"/>
              </a:lnSpc>
              <a:spcAft>
                <a:spcPts val="0"/>
              </a:spcAft>
            </a:pPr>
            <a:r>
              <a:rPr lang="en-US" sz="560" b="1" i="0" dirty="0">
                <a:solidFill>
                  <a:srgbClr val="FFFFFF"/>
                </a:solidFill>
                <a:latin typeface="Arial"/>
              </a:rPr>
              <a:t xml:space="preserve">0.35</a:t>
            </a:r>
          </a:p>
        </p:txBody>
      </p:sp>
      <p:sp>
        <p:nvSpPr>
          <p:cNvPr id="764" name="Viz 764"/>
          <p:cNvSpPr/>
          <p:nvPr/>
        </p:nvSpPr>
        <p:spPr>
          <a:xfrm>
            <a:off x="8065937" y="3579480"/>
            <a:ext cx="182335" cy="590520"/>
          </a:xfrm>
          <a:prstGeom prst="rect">
            <a:avLst/>
          </a:prstGeom>
          <a:solidFill>
            <a:srgbClr val="1A73E8"/>
          </a:solidFill>
          <a:ln>
            <a:noFill/>
          </a:ln>
        </p:spPr>
        <p:txBody>
          <a:bodyPr/>
          <a:lstStyle/>
          <a:p>
            <a:endParaRPr lang="en-US"/>
          </a:p>
        </p:txBody>
      </p:sp>
      <p:sp>
        <p:nvSpPr>
          <p:cNvPr id="765" name="Perf 765"/>
          <p:cNvSpPr txBox="1"/>
          <p:nvPr/>
        </p:nvSpPr>
        <p:spPr>
          <a:xfrm>
            <a:off x="8005937" y="3619480"/>
            <a:ext cx="302335" cy="160000"/>
          </a:xfrm>
          <a:prstGeom prst="rect">
            <a:avLst/>
          </a:prstGeom>
          <a:noFill/>
        </p:spPr>
        <p:txBody>
          <a:bodyPr wrap="square" lIns="0" tIns="0" rIns="0" bIns="0" anchor="t"/>
          <a:lstStyle/>
          <a:p>
            <a:pPr algn="ctr">
              <a:lnSpc>
                <a:spcPct val="108000"/>
              </a:lnSpc>
              <a:spcAft>
                <a:spcPts val="0"/>
              </a:spcAft>
            </a:pPr>
            <a:r>
              <a:rPr lang="en-US" sz="560" b="1" i="0" dirty="0">
                <a:solidFill>
                  <a:srgbClr val="FFFFFF"/>
                </a:solidFill>
                <a:latin typeface="Arial"/>
              </a:rPr>
              <a:t xml:space="preserve">0.26</a:t>
            </a:r>
          </a:p>
        </p:txBody>
      </p:sp>
      <p:sp>
        <p:nvSpPr>
          <p:cNvPr id="766" name="Viz 766"/>
          <p:cNvSpPr/>
          <p:nvPr/>
        </p:nvSpPr>
        <p:spPr>
          <a:xfrm>
            <a:off x="8360027" y="3358320"/>
            <a:ext cx="182335" cy="811680"/>
          </a:xfrm>
          <a:prstGeom prst="rect">
            <a:avLst/>
          </a:prstGeom>
          <a:solidFill>
            <a:srgbClr val="1A73E8"/>
          </a:solidFill>
          <a:ln>
            <a:noFill/>
          </a:ln>
        </p:spPr>
        <p:txBody>
          <a:bodyPr/>
          <a:lstStyle/>
          <a:p>
            <a:endParaRPr lang="en-US"/>
          </a:p>
        </p:txBody>
      </p:sp>
      <p:sp>
        <p:nvSpPr>
          <p:cNvPr id="767" name="Perf 767"/>
          <p:cNvSpPr txBox="1"/>
          <p:nvPr/>
        </p:nvSpPr>
        <p:spPr>
          <a:xfrm>
            <a:off x="8300027" y="3398320"/>
            <a:ext cx="302335" cy="160000"/>
          </a:xfrm>
          <a:prstGeom prst="rect">
            <a:avLst/>
          </a:prstGeom>
          <a:noFill/>
        </p:spPr>
        <p:txBody>
          <a:bodyPr wrap="square" lIns="0" tIns="0" rIns="0" bIns="0" anchor="t"/>
          <a:lstStyle/>
          <a:p>
            <a:pPr algn="ctr">
              <a:lnSpc>
                <a:spcPct val="108000"/>
              </a:lnSpc>
              <a:spcAft>
                <a:spcPts val="0"/>
              </a:spcAft>
            </a:pPr>
            <a:r>
              <a:rPr lang="en-US" sz="560" b="1" i="0" dirty="0">
                <a:solidFill>
                  <a:srgbClr val="FFFFFF"/>
                </a:solidFill>
                <a:latin typeface="Arial"/>
              </a:rPr>
              <a:t xml:space="preserve">0.36</a:t>
            </a:r>
          </a:p>
        </p:txBody>
      </p:sp>
      <p:cxnSp>
        <p:nvCxnSpPr>
          <p:cNvPr id="768" name="Line 768"/>
          <p:cNvCxnSpPr/>
          <p:nvPr/>
        </p:nvCxnSpPr>
        <p:spPr>
          <a:xfrm>
            <a:off x="6195520" y="4170000"/>
            <a:ext cx="2452720" cy="0"/>
          </a:xfrm>
          <a:prstGeom prst="line">
            <a:avLst/>
          </a:prstGeom>
          <a:ln w="12700">
            <a:solidFill>
              <a:srgbClr val="D1D5DB"/>
            </a:solidFill>
          </a:ln>
        </p:spPr>
      </p:cxnSp>
      <p:sp>
        <p:nvSpPr>
          <p:cNvPr id="769" name="Viz 769"/>
          <p:cNvSpPr/>
          <p:nvPr/>
        </p:nvSpPr>
        <p:spPr>
          <a:xfrm>
            <a:off x="6195520" y="4300000"/>
            <a:ext cx="110000" cy="110000"/>
          </a:xfrm>
          <a:prstGeom prst="rect">
            <a:avLst/>
          </a:prstGeom>
          <a:solidFill>
            <a:srgbClr val="E8590C"/>
          </a:solidFill>
          <a:ln>
            <a:noFill/>
          </a:ln>
        </p:spPr>
        <p:txBody>
          <a:bodyPr/>
          <a:lstStyle/>
          <a:p>
            <a:endParaRPr lang="en-US"/>
          </a:p>
        </p:txBody>
      </p:sp>
      <p:sp>
        <p:nvSpPr>
          <p:cNvPr id="770" name="Perf 770"/>
          <p:cNvSpPr txBox="1"/>
          <p:nvPr/>
        </p:nvSpPr>
        <p:spPr>
          <a:xfrm>
            <a:off x="6345520" y="4260000"/>
            <a:ext cx="800000" cy="190000"/>
          </a:xfrm>
          <a:prstGeom prst="rect">
            <a:avLst/>
          </a:prstGeom>
          <a:noFill/>
        </p:spPr>
        <p:txBody>
          <a:bodyPr wrap="square" lIns="0" tIns="0" rIns="0" bIns="0" anchor="ctr"/>
          <a:lstStyle/>
          <a:p>
            <a:pPr algn="l">
              <a:lnSpc>
                <a:spcPct val="108000"/>
              </a:lnSpc>
              <a:spcAft>
                <a:spcPts val="0"/>
              </a:spcAft>
            </a:pPr>
            <a:r>
              <a:rPr lang="en-US" sz="700" b="0" i="0" dirty="0">
                <a:solidFill>
                  <a:srgbClr val="5F6368"/>
                </a:solidFill>
                <a:latin typeface="Arial"/>
              </a:rPr>
              <a:t xml:space="preserve">Covert</a:t>
            </a:r>
          </a:p>
        </p:txBody>
      </p:sp>
      <p:sp>
        <p:nvSpPr>
          <p:cNvPr id="771" name="Viz 771"/>
          <p:cNvSpPr/>
          <p:nvPr/>
        </p:nvSpPr>
        <p:spPr>
          <a:xfrm>
            <a:off x="7145520" y="4300000"/>
            <a:ext cx="110000" cy="110000"/>
          </a:xfrm>
          <a:prstGeom prst="rect">
            <a:avLst/>
          </a:prstGeom>
          <a:solidFill>
            <a:srgbClr val="1A73E8"/>
          </a:solidFill>
          <a:ln>
            <a:noFill/>
          </a:ln>
        </p:spPr>
        <p:txBody>
          <a:bodyPr/>
          <a:lstStyle/>
          <a:p>
            <a:endParaRPr lang="en-US"/>
          </a:p>
        </p:txBody>
      </p:sp>
      <p:sp>
        <p:nvSpPr>
          <p:cNvPr id="772" name="Perf 772"/>
          <p:cNvSpPr txBox="1"/>
          <p:nvPr/>
        </p:nvSpPr>
        <p:spPr>
          <a:xfrm>
            <a:off x="7295520" y="4260000"/>
            <a:ext cx="800000" cy="190000"/>
          </a:xfrm>
          <a:prstGeom prst="rect">
            <a:avLst/>
          </a:prstGeom>
          <a:noFill/>
        </p:spPr>
        <p:txBody>
          <a:bodyPr wrap="square" lIns="0" tIns="0" rIns="0" bIns="0" anchor="ctr"/>
          <a:lstStyle/>
          <a:p>
            <a:pPr algn="l">
              <a:lnSpc>
                <a:spcPct val="108000"/>
              </a:lnSpc>
              <a:spcAft>
                <a:spcPts val="0"/>
              </a:spcAft>
            </a:pPr>
            <a:r>
              <a:rPr lang="en-US" sz="700" b="0" i="0" dirty="0">
                <a:solidFill>
                  <a:srgbClr val="5F6368"/>
                </a:solidFill>
                <a:latin typeface="Arial"/>
              </a:rPr>
              <a:t xml:space="preserve">Chase</a:t>
            </a:r>
          </a:p>
        </p:txBody>
      </p:sp>
      <p:sp>
        <p:nvSpPr>
          <p:cNvPr id="773" name="Perf 773"/>
          <p:cNvSpPr txBox="1"/>
          <p:nvPr/>
        </p:nvSpPr>
        <p:spPr>
          <a:xfrm>
            <a:off x="365760" y="4790000"/>
            <a:ext cx="8412480" cy="230000"/>
          </a:xfrm>
          <a:prstGeom prst="rect">
            <a:avLst/>
          </a:prstGeom>
          <a:noFill/>
        </p:spPr>
        <p:txBody>
          <a:bodyPr wrap="square" lIns="0" tIns="0" rIns="0" bIns="0" anchor="t"/>
          <a:lstStyle/>
          <a:p>
            <a:pPr algn="l">
              <a:lnSpc>
                <a:spcPct val="108000"/>
              </a:lnSpc>
              <a:spcAft>
                <a:spcPts val="0"/>
              </a:spcAft>
            </a:pPr>
            <a:r>
              <a:rPr lang="en-US" sz="650" b="0" i="0" dirty="0">
                <a:solidFill>
                  <a:srgbClr val="5F6368"/>
                </a:solidFill>
                <a:latin typeface="Arial"/>
              </a:rPr>
              <a:t xml:space="preserve">Method: 8 voice calls on the deployed app (Gemini Live), 8–9 Oct 2026: 4 covert (husband in the room) and 4 chase (followed, guided to a police station), scripted AI caller voice. Every number is read from the incident record (transcript, field history, GPS trail, AI usage).</a:t>
            </a:r>
            <a:r>
              <a:rPr lang="en-US" sz="650" b="0" i="0" dirty="0">
                <a:solidFill>
                  <a:srgbClr val="5F6368"/>
                </a:solidFill>
                <a:latin typeface="Arial"/>
              </a:rPr>
              <a:t xml:space="preserve"> Data + calculations: </a:t>
            </a:r>
            <a:r>
              <a:rPr lang="en-US" sz="650" b="1" i="0" u="sng" dirty="0">
                <a:solidFill>
                  <a:srgbClr val="1A73E8"/>
                </a:solidFill>
                <a:latin typeface="Arial"/>
                <a:hlinkClick r:id="rId90"/>
              </a:rPr>
              <a:t>QuickBite performance test (Google Sheets)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51" name="Google Shape;151;p25"/>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Additional Details/Future Development (if any)</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152"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From prototype to pilot to platform</a:t>
            </a:r>
            <a:endParaRPr lang="en-US" sz="1300" b="1" i="0">
              <a:solidFill>
                <a:srgbClr val="E8590C"/>
              </a:solidFill>
              <a:latin typeface="Arial" panose="020B0604020202020204"/>
            </a:endParaRPr>
          </a:p>
        </p:txBody>
      </p:sp>
      <p:sp>
        <p:nvSpPr>
          <p:cNvPr id="153" name="Pentagon 152"/>
          <p:cNvSpPr/>
          <p:nvPr/>
        </p:nvSpPr>
        <p:spPr>
          <a:xfrm>
            <a:off x="365760" y="1353312"/>
            <a:ext cx="2697480" cy="566928"/>
          </a:xfrm>
          <a:prstGeom prst="homePlat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lnSpc>
                <a:spcPct val="112000"/>
              </a:lnSpc>
            </a:pPr>
            <a:r>
              <a:rPr lang="en-US" sz="1100" b="1" i="0">
                <a:solidFill>
                  <a:srgbClr val="FFFFFF"/>
                </a:solidFill>
                <a:latin typeface="Arial" panose="020B0604020202020204"/>
              </a:rPr>
              <a:t>Next 3 months</a:t>
            </a:r>
            <a:endParaRPr lang="en-US" sz="1100" b="1" i="0">
              <a:solidFill>
                <a:srgbClr val="FFFFFF"/>
              </a:solidFill>
              <a:latin typeface="Arial" panose="020B0604020202020204"/>
            </a:endParaRPr>
          </a:p>
          <a:p>
            <a:pPr algn="l">
              <a:lnSpc>
                <a:spcPct val="112000"/>
              </a:lnSpc>
            </a:pPr>
            <a:r>
              <a:rPr lang="en-US" sz="850" b="0" i="0">
                <a:solidFill>
                  <a:srgbClr val="FFFFFF"/>
                </a:solidFill>
                <a:latin typeface="Arial" panose="020B0604020202020204"/>
              </a:rPr>
              <a:t>Pilot-ready</a:t>
            </a:r>
            <a:endParaRPr lang="en-US" sz="850" b="0" i="0">
              <a:solidFill>
                <a:srgbClr val="FFFFFF"/>
              </a:solidFill>
              <a:latin typeface="Arial" panose="020B0604020202020204"/>
            </a:endParaRPr>
          </a:p>
        </p:txBody>
      </p:sp>
      <p:sp>
        <p:nvSpPr>
          <p:cNvPr id="154" name="Rounded Rectangle 153"/>
          <p:cNvSpPr/>
          <p:nvPr/>
        </p:nvSpPr>
        <p:spPr>
          <a:xfrm>
            <a:off x="365760" y="2011680"/>
            <a:ext cx="2697480" cy="182880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493776" y="2103120"/>
            <a:ext cx="2468880" cy="1691640"/>
          </a:xfrm>
          <a:prstGeom prst="rect">
            <a:avLst/>
          </a:prstGeom>
          <a:noFill/>
        </p:spPr>
        <p:txBody>
          <a:bodyPr wrap="square" lIns="0" tIns="0" rIns="0" bIns="0" anchor="t"/>
          <a:lstStyle/>
          <a:p>
            <a:pPr algn="l">
              <a:lnSpc>
                <a:spcPct val="112000"/>
              </a:lnSpc>
              <a:spcAft>
                <a:spcPts val="500"/>
              </a:spcAft>
            </a:pPr>
            <a:r>
              <a:rPr lang="en-US" sz="900" b="1" i="0">
                <a:solidFill>
                  <a:srgbClr val="E8590C"/>
                </a:solidFill>
                <a:latin typeface="Arial" panose="020B0604020202020204"/>
              </a:rPr>
              <a:t>• </a:t>
            </a:r>
            <a:r>
              <a:rPr lang="en-US" sz="900" b="0" i="0">
                <a:solidFill>
                  <a:srgbClr val="1A1A1A"/>
                </a:solidFill>
                <a:latin typeface="Arial" panose="020B0604020202020204"/>
              </a:rPr>
              <a:t>Even faster voice: pre-connect Gemini, per-turn latency metering</a:t>
            </a:r>
            <a:endParaRPr lang="en-US" sz="900" b="0" i="0">
              <a:solidFill>
                <a:srgbClr val="1A1A1A"/>
              </a:solidFill>
              <a:latin typeface="Arial" panose="020B0604020202020204"/>
            </a:endParaRPr>
          </a:p>
          <a:p>
            <a:pPr algn="l">
              <a:lnSpc>
                <a:spcPct val="112000"/>
              </a:lnSpc>
              <a:spcAft>
                <a:spcPts val="500"/>
              </a:spcAft>
            </a:pPr>
            <a:r>
              <a:rPr lang="en-US" sz="900" b="1" i="0">
                <a:solidFill>
                  <a:srgbClr val="E8590C"/>
                </a:solidFill>
                <a:latin typeface="Arial" panose="020B0604020202020204"/>
              </a:rPr>
              <a:t>• </a:t>
            </a:r>
            <a:r>
              <a:rPr lang="en-US" sz="900" b="0" i="0">
                <a:solidFill>
                  <a:srgbClr val="1A1A1A"/>
                </a:solidFill>
                <a:latin typeface="Arial" panose="020B0604020202020204"/>
              </a:rPr>
              <a:t>Cloud Run + ADK agents: dispatch, verification; keys server-side</a:t>
            </a:r>
            <a:endParaRPr lang="en-US" sz="900" b="0" i="0">
              <a:solidFill>
                <a:srgbClr val="1A1A1A"/>
              </a:solidFill>
              <a:latin typeface="Arial" panose="020B0604020202020204"/>
            </a:endParaRPr>
          </a:p>
          <a:p>
            <a:pPr algn="l">
              <a:lnSpc>
                <a:spcPct val="112000"/>
              </a:lnSpc>
              <a:spcAft>
                <a:spcPts val="500"/>
              </a:spcAft>
            </a:pPr>
            <a:r>
              <a:rPr lang="en-US" sz="900" b="1" i="0">
                <a:solidFill>
                  <a:srgbClr val="E8590C"/>
                </a:solidFill>
                <a:latin typeface="Arial" panose="020B0604020202020204"/>
              </a:rPr>
              <a:t>• </a:t>
            </a:r>
            <a:r>
              <a:rPr lang="en-US" sz="900" b="0" i="0">
                <a:solidFill>
                  <a:srgbClr val="1A1A1A"/>
                </a:solidFill>
                <a:latin typeface="Arial" panose="020B0604020202020204"/>
              </a:rPr>
              <a:t>Google Maps Platform for geocoding, places and routing, worldwide</a:t>
            </a:r>
            <a:endParaRPr lang="en-US" sz="900" b="0" i="0">
              <a:solidFill>
                <a:srgbClr val="1A1A1A"/>
              </a:solidFill>
              <a:latin typeface="Arial" panose="020B0604020202020204"/>
            </a:endParaRPr>
          </a:p>
          <a:p>
            <a:pPr algn="l">
              <a:lnSpc>
                <a:spcPct val="112000"/>
              </a:lnSpc>
              <a:spcAft>
                <a:spcPts val="500"/>
              </a:spcAft>
            </a:pPr>
            <a:r>
              <a:rPr lang="en-US" sz="900" b="1" i="0">
                <a:solidFill>
                  <a:srgbClr val="E8590C"/>
                </a:solidFill>
                <a:latin typeface="Arial" panose="020B0604020202020204"/>
              </a:rPr>
              <a:t>• </a:t>
            </a:r>
            <a:r>
              <a:rPr lang="en-US" sz="900" b="0" i="0">
                <a:solidFill>
                  <a:srgbClr val="1A1A1A"/>
                </a:solidFill>
                <a:latin typeface="Arial" panose="020B0604020202020204"/>
              </a:rPr>
              <a:t>TURN relay for video on strict networks</a:t>
            </a:r>
            <a:endParaRPr lang="en-US" sz="900" b="0" i="0">
              <a:solidFill>
                <a:srgbClr val="1A1A1A"/>
              </a:solidFill>
              <a:latin typeface="Arial" panose="020B0604020202020204"/>
            </a:endParaRPr>
          </a:p>
          <a:p>
            <a:pPr algn="l">
              <a:lnSpc>
                <a:spcPct val="112000"/>
              </a:lnSpc>
              <a:spcAft>
                <a:spcPts val="500"/>
              </a:spcAft>
            </a:pPr>
            <a:r>
              <a:rPr lang="en-US" sz="900" b="1" i="0">
                <a:solidFill>
                  <a:srgbClr val="E8590C"/>
                </a:solidFill>
                <a:latin typeface="Arial" panose="020B0604020202020204"/>
              </a:rPr>
              <a:t>• </a:t>
            </a:r>
            <a:r>
              <a:rPr lang="en-US" sz="900" b="0" i="0">
                <a:solidFill>
                  <a:srgbClr val="1A1A1A"/>
                </a:solidFill>
                <a:latin typeface="Arial" panose="020B0604020202020204"/>
              </a:rPr>
              <a:t>Full Android parity, then iOS</a:t>
            </a:r>
            <a:endParaRPr lang="en-US" sz="900" b="0" i="0">
              <a:solidFill>
                <a:srgbClr val="1A1A1A"/>
              </a:solidFill>
              <a:latin typeface="Arial" panose="020B0604020202020204"/>
            </a:endParaRPr>
          </a:p>
        </p:txBody>
      </p:sp>
      <p:sp>
        <p:nvSpPr>
          <p:cNvPr id="156" name="Chevron 155"/>
          <p:cNvSpPr/>
          <p:nvPr/>
        </p:nvSpPr>
        <p:spPr>
          <a:xfrm>
            <a:off x="3200400" y="1353312"/>
            <a:ext cx="2697480" cy="566928"/>
          </a:xfrm>
          <a:prstGeom prst="chevron">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l">
              <a:lnSpc>
                <a:spcPct val="112000"/>
              </a:lnSpc>
            </a:pPr>
            <a:r>
              <a:rPr lang="en-US" sz="1100" b="1" i="0">
                <a:solidFill>
                  <a:srgbClr val="FFFFFF"/>
                </a:solidFill>
                <a:latin typeface="Arial" panose="020B0604020202020204"/>
              </a:rPr>
              <a:t>6–12 months</a:t>
            </a:r>
            <a:endParaRPr lang="en-US" sz="1100" b="1" i="0">
              <a:solidFill>
                <a:srgbClr val="FFFFFF"/>
              </a:solidFill>
              <a:latin typeface="Arial" panose="020B0604020202020204"/>
            </a:endParaRPr>
          </a:p>
          <a:p>
            <a:pPr algn="l">
              <a:lnSpc>
                <a:spcPct val="112000"/>
              </a:lnSpc>
            </a:pPr>
            <a:r>
              <a:rPr lang="en-US" sz="850" b="0" i="0">
                <a:solidFill>
                  <a:srgbClr val="FFFFFF"/>
                </a:solidFill>
                <a:latin typeface="Arial" panose="020B0604020202020204"/>
              </a:rPr>
              <a:t>Real dispatch</a:t>
            </a:r>
            <a:endParaRPr lang="en-US" sz="850" b="0" i="0">
              <a:solidFill>
                <a:srgbClr val="FFFFFF"/>
              </a:solidFill>
              <a:latin typeface="Arial" panose="020B0604020202020204"/>
            </a:endParaRPr>
          </a:p>
        </p:txBody>
      </p:sp>
      <p:sp>
        <p:nvSpPr>
          <p:cNvPr id="157" name="Rounded Rectangle 156"/>
          <p:cNvSpPr/>
          <p:nvPr/>
        </p:nvSpPr>
        <p:spPr>
          <a:xfrm>
            <a:off x="3200400" y="2011680"/>
            <a:ext cx="2697480" cy="182880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3328416" y="2103120"/>
            <a:ext cx="2468880" cy="1691640"/>
          </a:xfrm>
          <a:prstGeom prst="rect">
            <a:avLst/>
          </a:prstGeom>
          <a:noFill/>
        </p:spPr>
        <p:txBody>
          <a:bodyPr wrap="square" lIns="0" tIns="0" rIns="0" bIns="0" anchor="t"/>
          <a:lstStyle/>
          <a:p>
            <a:pPr algn="l">
              <a:lnSpc>
                <a:spcPct val="112000"/>
              </a:lnSpc>
              <a:spcAft>
                <a:spcPts val="500"/>
              </a:spcAft>
            </a:pPr>
            <a:r>
              <a:rPr lang="en-US" sz="900" b="1" i="0">
                <a:solidFill>
                  <a:srgbClr val="1A73E8"/>
                </a:solidFill>
                <a:latin typeface="Arial" panose="020B0604020202020204"/>
              </a:rPr>
              <a:t>• </a:t>
            </a:r>
            <a:r>
              <a:rPr lang="en-US" sz="900" b="0" i="0">
                <a:solidFill>
                  <a:srgbClr val="1A1A1A"/>
                </a:solidFill>
                <a:latin typeface="Arial" panose="020B0604020202020204"/>
              </a:rPr>
              <a:t>112 / ERSS integration: hand decoded incidents to the state response centre</a:t>
            </a:r>
            <a:endParaRPr lang="en-US" sz="900" b="0" i="0">
              <a:solidFill>
                <a:srgbClr val="1A1A1A"/>
              </a:solidFill>
              <a:latin typeface="Arial" panose="020B0604020202020204"/>
            </a:endParaRPr>
          </a:p>
          <a:p>
            <a:pPr algn="l">
              <a:lnSpc>
                <a:spcPct val="112000"/>
              </a:lnSpc>
              <a:spcAft>
                <a:spcPts val="500"/>
              </a:spcAft>
            </a:pPr>
            <a:r>
              <a:rPr lang="en-US" sz="900" b="1" i="0">
                <a:solidFill>
                  <a:srgbClr val="1A73E8"/>
                </a:solidFill>
                <a:latin typeface="Arial" panose="020B0604020202020204"/>
              </a:rPr>
              <a:t>• </a:t>
            </a:r>
            <a:r>
              <a:rPr lang="en-US" sz="900" b="0" i="0">
                <a:solidFill>
                  <a:srgbClr val="1A1A1A"/>
                </a:solidFill>
                <a:latin typeface="Arial" panose="020B0604020202020204"/>
              </a:rPr>
              <a:t>Pilot with an NGO and police (e.g. Kerala Police Pol-App context)</a:t>
            </a:r>
            <a:endParaRPr lang="en-US" sz="900" b="0" i="0">
              <a:solidFill>
                <a:srgbClr val="1A1A1A"/>
              </a:solidFill>
              <a:latin typeface="Arial" panose="020B0604020202020204"/>
            </a:endParaRPr>
          </a:p>
          <a:p>
            <a:pPr algn="l">
              <a:lnSpc>
                <a:spcPct val="112000"/>
              </a:lnSpc>
              <a:spcAft>
                <a:spcPts val="500"/>
              </a:spcAft>
            </a:pPr>
            <a:r>
              <a:rPr lang="en-US" sz="900" b="1" i="0">
                <a:solidFill>
                  <a:srgbClr val="1A73E8"/>
                </a:solidFill>
                <a:latin typeface="Arial" panose="020B0604020202020204"/>
              </a:rPr>
              <a:t>• </a:t>
            </a:r>
            <a:r>
              <a:rPr lang="en-US" sz="900" b="0" i="0">
                <a:solidFill>
                  <a:srgbClr val="1A1A1A"/>
                </a:solidFill>
                <a:latin typeface="Arial" panose="020B0604020202020204"/>
              </a:rPr>
              <a:t>More languages for new regions</a:t>
            </a:r>
            <a:endParaRPr lang="en-US" sz="900" b="0" i="0">
              <a:solidFill>
                <a:srgbClr val="1A1A1A"/>
              </a:solidFill>
              <a:latin typeface="Arial" panose="020B0604020202020204"/>
            </a:endParaRPr>
          </a:p>
          <a:p>
            <a:pPr algn="l">
              <a:lnSpc>
                <a:spcPct val="112000"/>
              </a:lnSpc>
              <a:spcAft>
                <a:spcPts val="500"/>
              </a:spcAft>
            </a:pPr>
            <a:r>
              <a:rPr lang="en-US" sz="900" b="1" i="0">
                <a:solidFill>
                  <a:srgbClr val="1A73E8"/>
                </a:solidFill>
                <a:latin typeface="Arial" panose="020B0604020202020204"/>
              </a:rPr>
              <a:t>• </a:t>
            </a:r>
            <a:r>
              <a:rPr lang="en-US" sz="900" b="0" i="0">
                <a:solidFill>
                  <a:srgbClr val="1A1A1A"/>
                </a:solidFill>
                <a:latin typeface="Arial" panose="020B0604020202020204"/>
              </a:rPr>
              <a:t>Responder mobile app for field units</a:t>
            </a:r>
            <a:endParaRPr lang="en-US" sz="900" b="0" i="0">
              <a:solidFill>
                <a:srgbClr val="1A1A1A"/>
              </a:solidFill>
              <a:latin typeface="Arial" panose="020B0604020202020204"/>
            </a:endParaRPr>
          </a:p>
        </p:txBody>
      </p:sp>
      <p:sp>
        <p:nvSpPr>
          <p:cNvPr id="159" name="Chevron 158"/>
          <p:cNvSpPr/>
          <p:nvPr/>
        </p:nvSpPr>
        <p:spPr>
          <a:xfrm>
            <a:off x="6035040" y="1353312"/>
            <a:ext cx="2697480" cy="566928"/>
          </a:xfrm>
          <a:prstGeom prst="chevron">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l">
              <a:lnSpc>
                <a:spcPct val="112000"/>
              </a:lnSpc>
            </a:pPr>
            <a:r>
              <a:rPr lang="en-US" sz="1100" b="1" i="0">
                <a:solidFill>
                  <a:srgbClr val="FFFFFF"/>
                </a:solidFill>
                <a:latin typeface="Arial" panose="020B0604020202020204"/>
              </a:rPr>
              <a:t>Platform</a:t>
            </a:r>
            <a:endParaRPr lang="en-US" sz="1100" b="1" i="0">
              <a:solidFill>
                <a:srgbClr val="FFFFFF"/>
              </a:solidFill>
              <a:latin typeface="Arial" panose="020B0604020202020204"/>
            </a:endParaRPr>
          </a:p>
          <a:p>
            <a:pPr algn="l">
              <a:lnSpc>
                <a:spcPct val="112000"/>
              </a:lnSpc>
            </a:pPr>
            <a:r>
              <a:rPr lang="en-US" sz="850" b="0" i="0">
                <a:solidFill>
                  <a:srgbClr val="FFFFFF"/>
                </a:solidFill>
                <a:latin typeface="Arial" panose="020B0604020202020204"/>
              </a:rPr>
              <a:t>Beyond calls</a:t>
            </a:r>
            <a:endParaRPr lang="en-US" sz="850" b="0" i="0">
              <a:solidFill>
                <a:srgbClr val="FFFFFF"/>
              </a:solidFill>
              <a:latin typeface="Arial" panose="020B0604020202020204"/>
            </a:endParaRPr>
          </a:p>
        </p:txBody>
      </p:sp>
      <p:sp>
        <p:nvSpPr>
          <p:cNvPr id="160" name="Rounded Rectangle 159"/>
          <p:cNvSpPr/>
          <p:nvPr/>
        </p:nvSpPr>
        <p:spPr>
          <a:xfrm>
            <a:off x="6035040" y="2011680"/>
            <a:ext cx="2697480" cy="182880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163056" y="2103120"/>
            <a:ext cx="2468880" cy="1691640"/>
          </a:xfrm>
          <a:prstGeom prst="rect">
            <a:avLst/>
          </a:prstGeom>
          <a:noFill/>
        </p:spPr>
        <p:txBody>
          <a:bodyPr wrap="square" lIns="0" tIns="0" rIns="0" bIns="0" anchor="t"/>
          <a:lstStyle/>
          <a:p>
            <a:pPr algn="l">
              <a:lnSpc>
                <a:spcPct val="112000"/>
              </a:lnSpc>
              <a:spcAft>
                <a:spcPts val="500"/>
              </a:spcAft>
            </a:pPr>
            <a:r>
              <a:rPr lang="en-US" sz="900" b="1" i="0">
                <a:solidFill>
                  <a:srgbClr val="2F9E44"/>
                </a:solidFill>
                <a:latin typeface="Arial" panose="020B0604020202020204"/>
              </a:rPr>
              <a:t>• </a:t>
            </a:r>
            <a:r>
              <a:rPr lang="en-US" sz="900" b="0" i="0">
                <a:solidFill>
                  <a:srgbClr val="1A1A1A"/>
                </a:solidFill>
                <a:latin typeface="Arial" panose="020B0604020202020204"/>
              </a:rPr>
              <a:t>Bluetooth mesh relay for no-signal areas</a:t>
            </a:r>
            <a:endParaRPr lang="en-US" sz="900" b="0" i="0">
              <a:solidFill>
                <a:srgbClr val="1A1A1A"/>
              </a:solidFill>
              <a:latin typeface="Arial" panose="020B0604020202020204"/>
            </a:endParaRPr>
          </a:p>
          <a:p>
            <a:pPr algn="l">
              <a:lnSpc>
                <a:spcPct val="112000"/>
              </a:lnSpc>
              <a:spcAft>
                <a:spcPts val="500"/>
              </a:spcAft>
            </a:pPr>
            <a:r>
              <a:rPr lang="en-US" sz="900" b="1" i="0">
                <a:solidFill>
                  <a:srgbClr val="2F9E44"/>
                </a:solidFill>
                <a:latin typeface="Arial" panose="020B0604020202020204"/>
              </a:rPr>
              <a:t>• </a:t>
            </a:r>
            <a:r>
              <a:rPr lang="en-US" sz="900" b="0" i="0">
                <a:solidFill>
                  <a:srgbClr val="1A1A1A"/>
                </a:solidFill>
                <a:latin typeface="Arial" panose="020B0604020202020204"/>
              </a:rPr>
              <a:t>On-device Gemini Nano extraction for privacy and offline</a:t>
            </a:r>
            <a:endParaRPr lang="en-US" sz="900" b="0" i="0">
              <a:solidFill>
                <a:srgbClr val="1A1A1A"/>
              </a:solidFill>
              <a:latin typeface="Arial" panose="020B0604020202020204"/>
            </a:endParaRPr>
          </a:p>
          <a:p>
            <a:pPr algn="l">
              <a:lnSpc>
                <a:spcPct val="112000"/>
              </a:lnSpc>
              <a:spcAft>
                <a:spcPts val="500"/>
              </a:spcAft>
            </a:pPr>
            <a:r>
              <a:rPr lang="en-US" sz="900" b="1" i="0">
                <a:solidFill>
                  <a:srgbClr val="2F9E44"/>
                </a:solidFill>
                <a:latin typeface="Arial" panose="020B0604020202020204"/>
              </a:rPr>
              <a:t>• </a:t>
            </a:r>
            <a:r>
              <a:rPr lang="en-US" sz="900" b="0" i="0">
                <a:solidFill>
                  <a:srgbClr val="1A1A1A"/>
                </a:solidFill>
                <a:latin typeface="Arial" panose="020B0604020202020204"/>
              </a:rPr>
              <a:t>Anonymous whistleblowing channel on the same AI backbone</a:t>
            </a:r>
            <a:endParaRPr lang="en-US" sz="900" b="0" i="0">
              <a:solidFill>
                <a:srgbClr val="1A1A1A"/>
              </a:solidFill>
              <a:latin typeface="Arial" panose="020B0604020202020204"/>
            </a:endParaRPr>
          </a:p>
          <a:p>
            <a:pPr algn="l">
              <a:lnSpc>
                <a:spcPct val="112000"/>
              </a:lnSpc>
              <a:spcAft>
                <a:spcPts val="500"/>
              </a:spcAft>
            </a:pPr>
            <a:r>
              <a:rPr lang="en-US" sz="900" b="1" i="0">
                <a:solidFill>
                  <a:srgbClr val="2F9E44"/>
                </a:solidFill>
                <a:latin typeface="Arial" panose="020B0604020202020204"/>
              </a:rPr>
              <a:t>• </a:t>
            </a:r>
            <a:r>
              <a:rPr lang="en-US" sz="900" b="0" i="0">
                <a:solidFill>
                  <a:srgbClr val="1A1A1A"/>
                </a:solidFill>
                <a:latin typeface="Arial" panose="020B0604020202020204"/>
              </a:rPr>
              <a:t>Integration path into Android (next slide)</a:t>
            </a:r>
            <a:endParaRPr lang="en-US" sz="900" b="0" i="0">
              <a:solidFill>
                <a:srgbClr val="1A1A1A"/>
              </a:solidFill>
              <a:latin typeface="Arial" panose="020B0604020202020204"/>
            </a:endParaRPr>
          </a:p>
        </p:txBody>
      </p:sp>
      <p:sp>
        <p:nvSpPr>
          <p:cNvPr id="162" name="Rounded Rectangle 161"/>
          <p:cNvSpPr/>
          <p:nvPr/>
        </p:nvSpPr>
        <p:spPr>
          <a:xfrm>
            <a:off x="365760" y="3950208"/>
            <a:ext cx="8412480" cy="777240"/>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28016" rIns="128016" bIns="128016" rtlCol="0" anchor="ctr"/>
          <a:lstStyle/>
          <a:p>
            <a:pPr algn="l">
              <a:lnSpc>
                <a:spcPct val="112000"/>
              </a:lnSpc>
            </a:pPr>
            <a:r>
              <a:rPr lang="en-US" sz="1050" b="1" i="0">
                <a:solidFill>
                  <a:srgbClr val="E8590C"/>
                </a:solidFill>
                <a:latin typeface="Arial" panose="020B0604020202020204"/>
              </a:rPr>
              <a:t>What we need next</a:t>
            </a:r>
            <a:endParaRPr lang="en-US" sz="1050" b="1" i="0">
              <a:solidFill>
                <a:srgbClr val="E8590C"/>
              </a:solidFill>
              <a:latin typeface="Arial" panose="020B0604020202020204"/>
            </a:endParaRPr>
          </a:p>
          <a:p>
            <a:pPr algn="l">
              <a:lnSpc>
                <a:spcPct val="112000"/>
              </a:lnSpc>
            </a:pPr>
            <a:r>
              <a:rPr lang="en-US" sz="900" b="0" i="0">
                <a:solidFill>
                  <a:srgbClr val="1A1A1A"/>
                </a:solidFill>
                <a:latin typeface="Arial" panose="020B0604020202020204"/>
              </a:rPr>
              <a:t>A public-safety pilot partner (NGO or police unit)  ·  Gemini API credits for a district pilot  ·  Android Personal Safety team feedback on a Discreet mode  ·  mentorship to take it to 112 integration</a:t>
            </a:r>
            <a:endParaRPr lang="en-US" sz="900" b="0" i="0">
              <a:solidFill>
                <a:srgbClr val="1A1A1A"/>
              </a:solidFill>
              <a:latin typeface="Arial" panose="020B0604020202020204"/>
            </a:endParaRPr>
          </a:p>
        </p:txBody>
      </p:sp>
      <p:sp>
        <p:nvSpPr>
          <p:cNvPr id="163" name="Footnote"/>
          <p:cNvSpPr txBox="1"/>
          <p:nvPr/>
        </p:nvSpPr>
        <p:spPr>
          <a:xfrm>
            <a:off x="365760" y="4846320"/>
            <a:ext cx="8412480" cy="182880"/>
          </a:xfrm>
          <a:prstGeom prst="rect">
            <a:avLst/>
          </a:prstGeom>
          <a:noFill/>
        </p:spPr>
        <p:txBody>
          <a:bodyPr wrap="square" lIns="0" tIns="0" rIns="0" bIns="0" anchor="t"/>
          <a:lstStyle/>
          <a:p>
            <a:pPr algn="l">
              <a:lnSpc>
                <a:spcPct val="112000"/>
              </a:lnSpc>
            </a:pPr>
            <a:r>
              <a:rPr lang="en-US" sz="650" b="0" i="0">
                <a:solidFill>
                  <a:srgbClr val="5F6368"/>
                </a:solidFill>
                <a:latin typeface="Arial" panose="020B0604020202020204"/>
              </a:rPr>
              <a:t>Kerala Police Pol-App and Nirbhaya Nisha are existing state programmes we would pilot alongside; no partnership exists yet.</a:t>
            </a:r>
            <a:endParaRPr lang="en-US" sz="650" b="0" i="0">
              <a:solidFill>
                <a:srgbClr val="5F6368"/>
              </a:solidFill>
              <a:latin typeface="Arial" panose="020B060402020202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71" name="Google Shape;71;p15"/>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Built for Android: the path to a Google product</a:t>
            </a:r>
            <a:endParaRPr lang="en-US"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167" name="Takeaway"/>
          <p:cNvSpPr txBox="1"/>
          <p:nvPr/>
        </p:nvSpPr>
        <p:spPr>
          <a:xfrm>
            <a:off x="365760" y="969264"/>
            <a:ext cx="8412480" cy="292608"/>
          </a:xfrm>
          <a:prstGeom prst="rect">
            <a:avLst/>
          </a:prstGeom>
          <a:noFill/>
        </p:spPr>
        <p:txBody>
          <a:bodyPr wrap="square" lIns="0" tIns="0" rIns="0" bIns="0" anchor="t"/>
          <a:lstStyle/>
          <a:p>
            <a:pPr algn="l"/>
            <a:r>
              <a:rPr lang="en-US" sz="1300" b="1" i="0">
                <a:solidFill>
                  <a:srgbClr val="E8590C"/>
                </a:solidFill>
                <a:latin typeface="Arial" panose="020B0604020202020204"/>
              </a:rPr>
              <a:t>Android can call for help silently. It can’t yet call for help covertly.</a:t>
            </a:r>
            <a:endParaRPr lang="en-US" sz="1300" b="1" i="0">
              <a:solidFill>
                <a:srgbClr val="E8590C"/>
              </a:solidFill>
              <a:latin typeface="Arial" panose="020B0604020202020204"/>
            </a:endParaRPr>
          </a:p>
        </p:txBody>
      </p:sp>
      <p:sp>
        <p:nvSpPr>
          <p:cNvPr id="168" name="TextBox 167"/>
          <p:cNvSpPr txBox="1"/>
          <p:nvPr/>
        </p:nvSpPr>
        <p:spPr>
          <a:xfrm>
            <a:off x="365760" y="1325880"/>
            <a:ext cx="3840480" cy="201168"/>
          </a:xfrm>
          <a:prstGeom prst="rect">
            <a:avLst/>
          </a:prstGeom>
          <a:noFill/>
        </p:spPr>
        <p:txBody>
          <a:bodyPr wrap="square" lIns="0" tIns="0" rIns="0" bIns="0" anchor="t"/>
          <a:lstStyle/>
          <a:p>
            <a:pPr algn="l">
              <a:lnSpc>
                <a:spcPct val="112000"/>
              </a:lnSpc>
            </a:pPr>
            <a:r>
              <a:rPr lang="en-US" sz="800" b="1" i="0">
                <a:solidFill>
                  <a:srgbClr val="5F6368"/>
                </a:solidFill>
                <a:latin typeface="Arial" panose="020B0604020202020204"/>
              </a:rPr>
              <a:t>WHAT ANDROID ALREADY SHIPS</a:t>
            </a:r>
            <a:endParaRPr lang="en-US" sz="800" b="1" i="0">
              <a:solidFill>
                <a:srgbClr val="5F6368"/>
              </a:solidFill>
              <a:latin typeface="Arial" panose="020B0604020202020204"/>
            </a:endParaRPr>
          </a:p>
        </p:txBody>
      </p:sp>
      <p:sp>
        <p:nvSpPr>
          <p:cNvPr id="169" name="Rounded Rectangle 168"/>
          <p:cNvSpPr/>
          <p:nvPr/>
        </p:nvSpPr>
        <p:spPr>
          <a:xfrm>
            <a:off x="365760" y="1554480"/>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457200" y="1668780"/>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Box 170"/>
          <p:cNvSpPr txBox="1"/>
          <p:nvPr/>
        </p:nvSpPr>
        <p:spPr>
          <a:xfrm>
            <a:off x="658368" y="1563624"/>
            <a:ext cx="3520440" cy="320040"/>
          </a:xfrm>
          <a:prstGeom prst="rect">
            <a:avLst/>
          </a:prstGeom>
          <a:noFill/>
        </p:spPr>
        <p:txBody>
          <a:bodyPr wrap="square" lIns="0" tIns="0" rIns="0" bIns="0" anchor="ctr"/>
          <a:lstStyle/>
          <a:p>
            <a:pPr algn="l">
              <a:lnSpc>
                <a:spcPct val="112000"/>
              </a:lnSpc>
            </a:pPr>
            <a:r>
              <a:rPr lang="en-US" sz="850" b="1" i="0">
                <a:solidFill>
                  <a:srgbClr val="1A1A1A"/>
                </a:solidFill>
                <a:latin typeface="Arial" panose="020B0604020202020204"/>
              </a:rPr>
              <a:t>Emergency SOS</a:t>
            </a:r>
            <a:endParaRPr lang="en-US" sz="85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power ×5; alarm can be silent, but the SOS screen is visible</a:t>
            </a:r>
            <a:endParaRPr lang="en-US" sz="700" b="0" i="0">
              <a:solidFill>
                <a:srgbClr val="5F6368"/>
              </a:solidFill>
              <a:latin typeface="Arial" panose="020B0604020202020204"/>
            </a:endParaRPr>
          </a:p>
        </p:txBody>
      </p:sp>
      <p:sp>
        <p:nvSpPr>
          <p:cNvPr id="172" name="Rounded Rectangle 171"/>
          <p:cNvSpPr/>
          <p:nvPr/>
        </p:nvSpPr>
        <p:spPr>
          <a:xfrm>
            <a:off x="365760" y="1929384"/>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457200" y="2043684"/>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58368" y="1938527"/>
            <a:ext cx="3520440" cy="320040"/>
          </a:xfrm>
          <a:prstGeom prst="rect">
            <a:avLst/>
          </a:prstGeom>
          <a:noFill/>
        </p:spPr>
        <p:txBody>
          <a:bodyPr wrap="square" lIns="0" tIns="0" rIns="0" bIns="0" anchor="ctr"/>
          <a:lstStyle/>
          <a:p>
            <a:pPr algn="l">
              <a:lnSpc>
                <a:spcPct val="112000"/>
              </a:lnSpc>
            </a:pPr>
            <a:r>
              <a:rPr lang="en-US" sz="850" b="1" i="0">
                <a:solidFill>
                  <a:srgbClr val="1A1A1A"/>
                </a:solidFill>
                <a:latin typeface="Arial" panose="020B0604020202020204"/>
              </a:rPr>
              <a:t>Emergency Location Service</a:t>
            </a:r>
            <a:endParaRPr lang="en-US" sz="85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location straight to 112; India: live with UP 112 since Dec 2025</a:t>
            </a:r>
            <a:endParaRPr lang="en-US" sz="700" b="0" i="0">
              <a:solidFill>
                <a:srgbClr val="5F6368"/>
              </a:solidFill>
              <a:latin typeface="Arial" panose="020B0604020202020204"/>
            </a:endParaRPr>
          </a:p>
        </p:txBody>
      </p:sp>
      <p:sp>
        <p:nvSpPr>
          <p:cNvPr id="175" name="Rounded Rectangle 174"/>
          <p:cNvSpPr/>
          <p:nvPr/>
        </p:nvSpPr>
        <p:spPr>
          <a:xfrm>
            <a:off x="365760" y="2304288"/>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457200" y="2418588"/>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658368" y="2313432"/>
            <a:ext cx="3520440" cy="320040"/>
          </a:xfrm>
          <a:prstGeom prst="rect">
            <a:avLst/>
          </a:prstGeom>
          <a:noFill/>
        </p:spPr>
        <p:txBody>
          <a:bodyPr wrap="square" lIns="0" tIns="0" rIns="0" bIns="0" anchor="ctr"/>
          <a:lstStyle/>
          <a:p>
            <a:pPr algn="l">
              <a:lnSpc>
                <a:spcPct val="112000"/>
              </a:lnSpc>
            </a:pPr>
            <a:r>
              <a:rPr lang="en-US" sz="850" b="1" i="0">
                <a:solidFill>
                  <a:srgbClr val="1A1A1A"/>
                </a:solidFill>
                <a:latin typeface="Arial" panose="020B0604020202020204"/>
              </a:rPr>
              <a:t>Emergency Live Video</a:t>
            </a:r>
            <a:endParaRPr lang="en-US" sz="85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dispatcher-requested video stream (Dec 2025)</a:t>
            </a:r>
            <a:endParaRPr lang="en-US" sz="700" b="0" i="0">
              <a:solidFill>
                <a:srgbClr val="5F6368"/>
              </a:solidFill>
              <a:latin typeface="Arial" panose="020B0604020202020204"/>
            </a:endParaRPr>
          </a:p>
        </p:txBody>
      </p:sp>
      <p:sp>
        <p:nvSpPr>
          <p:cNvPr id="178" name="Rounded Rectangle 177"/>
          <p:cNvSpPr/>
          <p:nvPr/>
        </p:nvSpPr>
        <p:spPr>
          <a:xfrm>
            <a:off x="365760" y="2679192"/>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457200" y="2793492"/>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658368" y="2688336"/>
            <a:ext cx="3520440" cy="320040"/>
          </a:xfrm>
          <a:prstGeom prst="rect">
            <a:avLst/>
          </a:prstGeom>
          <a:noFill/>
        </p:spPr>
        <p:txBody>
          <a:bodyPr wrap="square" lIns="0" tIns="0" rIns="0" bIns="0" anchor="ctr"/>
          <a:lstStyle/>
          <a:p>
            <a:pPr algn="l">
              <a:lnSpc>
                <a:spcPct val="112000"/>
              </a:lnSpc>
            </a:pPr>
            <a:r>
              <a:rPr lang="en-US" sz="850" b="1" i="0">
                <a:solidFill>
                  <a:srgbClr val="1A1A1A"/>
                </a:solidFill>
                <a:latin typeface="Arial" panose="020B0604020202020204"/>
              </a:rPr>
              <a:t>Theft Detection Lock</a:t>
            </a:r>
            <a:endParaRPr lang="en-US" sz="85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on-device ML spots a phone being snatched</a:t>
            </a:r>
            <a:endParaRPr lang="en-US" sz="700" b="0" i="0">
              <a:solidFill>
                <a:srgbClr val="5F6368"/>
              </a:solidFill>
              <a:latin typeface="Arial" panose="020B0604020202020204"/>
            </a:endParaRPr>
          </a:p>
        </p:txBody>
      </p:sp>
      <p:sp>
        <p:nvSpPr>
          <p:cNvPr id="181" name="Rounded Rectangle 180"/>
          <p:cNvSpPr/>
          <p:nvPr/>
        </p:nvSpPr>
        <p:spPr>
          <a:xfrm>
            <a:off x="365760" y="3054096"/>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457200" y="3168396"/>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Box 182"/>
          <p:cNvSpPr txBox="1"/>
          <p:nvPr/>
        </p:nvSpPr>
        <p:spPr>
          <a:xfrm>
            <a:off x="658368" y="3063240"/>
            <a:ext cx="3520440" cy="320040"/>
          </a:xfrm>
          <a:prstGeom prst="rect">
            <a:avLst/>
          </a:prstGeom>
          <a:noFill/>
        </p:spPr>
        <p:txBody>
          <a:bodyPr wrap="square" lIns="0" tIns="0" rIns="0" bIns="0" anchor="ctr"/>
          <a:lstStyle/>
          <a:p>
            <a:pPr algn="l">
              <a:lnSpc>
                <a:spcPct val="112000"/>
              </a:lnSpc>
            </a:pPr>
            <a:r>
              <a:rPr lang="en-US" sz="850" b="1" i="0">
                <a:solidFill>
                  <a:srgbClr val="1A1A1A"/>
                </a:solidFill>
                <a:latin typeface="Arial" panose="020B0604020202020204"/>
              </a:rPr>
              <a:t>Private Space</a:t>
            </a:r>
            <a:endParaRPr lang="en-US" sz="85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hides apps in a locked space</a:t>
            </a:r>
            <a:endParaRPr lang="en-US" sz="700" b="0" i="0">
              <a:solidFill>
                <a:srgbClr val="5F6368"/>
              </a:solidFill>
              <a:latin typeface="Arial" panose="020B0604020202020204"/>
            </a:endParaRPr>
          </a:p>
        </p:txBody>
      </p:sp>
      <p:sp>
        <p:nvSpPr>
          <p:cNvPr id="184" name="Rounded Rectangle 183"/>
          <p:cNvSpPr/>
          <p:nvPr/>
        </p:nvSpPr>
        <p:spPr>
          <a:xfrm>
            <a:off x="365760" y="3429000"/>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457200" y="3543300"/>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58368" y="3438144"/>
            <a:ext cx="3520440" cy="320040"/>
          </a:xfrm>
          <a:prstGeom prst="rect">
            <a:avLst/>
          </a:prstGeom>
          <a:noFill/>
        </p:spPr>
        <p:txBody>
          <a:bodyPr wrap="square" lIns="0" tIns="0" rIns="0" bIns="0" anchor="ctr"/>
          <a:lstStyle/>
          <a:p>
            <a:pPr algn="l">
              <a:lnSpc>
                <a:spcPct val="112000"/>
              </a:lnSpc>
            </a:pPr>
            <a:r>
              <a:rPr lang="en-US" sz="850" b="1" i="0">
                <a:solidFill>
                  <a:srgbClr val="1A1A1A"/>
                </a:solidFill>
                <a:latin typeface="Arial" panose="020B0604020202020204"/>
              </a:rPr>
              <a:t>Pixel Watch + Emergency Sharing</a:t>
            </a:r>
            <a:endParaRPr lang="en-US" sz="85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fall / loss-of-pulse alerts (Jun 2026)</a:t>
            </a:r>
            <a:endParaRPr lang="en-US" sz="700" b="0" i="0">
              <a:solidFill>
                <a:srgbClr val="5F6368"/>
              </a:solidFill>
              <a:latin typeface="Arial" panose="020B0604020202020204"/>
            </a:endParaRPr>
          </a:p>
        </p:txBody>
      </p:sp>
      <p:sp>
        <p:nvSpPr>
          <p:cNvPr id="187" name="Rounded Rectangle 186"/>
          <p:cNvSpPr/>
          <p:nvPr/>
        </p:nvSpPr>
        <p:spPr>
          <a:xfrm>
            <a:off x="365760" y="3803904"/>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457200" y="3918204"/>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Box 188"/>
          <p:cNvSpPr txBox="1"/>
          <p:nvPr/>
        </p:nvSpPr>
        <p:spPr>
          <a:xfrm>
            <a:off x="658368" y="3813048"/>
            <a:ext cx="3520440" cy="320040"/>
          </a:xfrm>
          <a:prstGeom prst="rect">
            <a:avLst/>
          </a:prstGeom>
          <a:noFill/>
        </p:spPr>
        <p:txBody>
          <a:bodyPr wrap="square" lIns="0" tIns="0" rIns="0" bIns="0" anchor="ctr"/>
          <a:lstStyle/>
          <a:p>
            <a:pPr algn="l">
              <a:lnSpc>
                <a:spcPct val="112000"/>
              </a:lnSpc>
            </a:pPr>
            <a:r>
              <a:rPr lang="en-US" sz="850" b="1" i="0">
                <a:solidFill>
                  <a:srgbClr val="1A1A1A"/>
                </a:solidFill>
                <a:latin typeface="Arial" panose="020B0604020202020204"/>
              </a:rPr>
              <a:t>Gemini Live API on Android</a:t>
            </a:r>
            <a:endParaRPr lang="en-US" sz="850" b="1" i="0">
              <a:solidFill>
                <a:srgbClr val="1A1A1A"/>
              </a:solidFill>
              <a:latin typeface="Arial" panose="020B0604020202020204"/>
            </a:endParaRPr>
          </a:p>
          <a:p>
            <a:pPr algn="l">
              <a:lnSpc>
                <a:spcPct val="112000"/>
              </a:lnSpc>
            </a:pPr>
            <a:r>
              <a:rPr lang="en-US" sz="700" b="0" i="0">
                <a:solidFill>
                  <a:srgbClr val="5F6368"/>
                </a:solidFill>
                <a:latin typeface="Arial" panose="020B0604020202020204"/>
              </a:rPr>
              <a:t>via Firebase AI Logic + App Check (Google’s supported path)</a:t>
            </a:r>
            <a:endParaRPr lang="en-US" sz="700" b="0" i="0">
              <a:solidFill>
                <a:srgbClr val="5F6368"/>
              </a:solidFill>
              <a:latin typeface="Arial" panose="020B0604020202020204"/>
            </a:endParaRPr>
          </a:p>
        </p:txBody>
      </p:sp>
      <p:sp>
        <p:nvSpPr>
          <p:cNvPr id="190" name="Rounded Rectangle 189"/>
          <p:cNvSpPr/>
          <p:nvPr/>
        </p:nvSpPr>
        <p:spPr>
          <a:xfrm>
            <a:off x="365760" y="4197096"/>
            <a:ext cx="3840480" cy="310896"/>
          </a:xfrm>
          <a:prstGeom prst="roundRect">
            <a:avLst>
              <a:gd name="adj" fmla="val 8000"/>
            </a:avLst>
          </a:prstGeom>
          <a:solidFill>
            <a:srgbClr val="FBE4E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lnSpc>
                <a:spcPct val="112000"/>
              </a:lnSpc>
            </a:pPr>
            <a:r>
              <a:rPr lang="en-US" sz="800" b="1" i="0">
                <a:solidFill>
                  <a:srgbClr val="D6336C"/>
                </a:solidFill>
                <a:latin typeface="Arial" panose="020B0604020202020204"/>
              </a:rPr>
              <a:t>Gap: </a:t>
            </a:r>
            <a:r>
              <a:rPr lang="en-US" sz="800" b="0" i="0">
                <a:solidFill>
                  <a:srgbClr val="1A1A1A"/>
                </a:solidFill>
                <a:latin typeface="Arial" panose="020B0604020202020204"/>
              </a:rPr>
              <a:t>no disguise, no AI holding a cover story with the attacker in the room.</a:t>
            </a:r>
            <a:endParaRPr lang="en-US" sz="800" b="0" i="0">
              <a:solidFill>
                <a:srgbClr val="1A1A1A"/>
              </a:solidFill>
              <a:latin typeface="Arial" panose="020B0604020202020204"/>
            </a:endParaRPr>
          </a:p>
        </p:txBody>
      </p:sp>
      <p:sp>
        <p:nvSpPr>
          <p:cNvPr id="191" name="TextBox 190"/>
          <p:cNvSpPr txBox="1"/>
          <p:nvPr/>
        </p:nvSpPr>
        <p:spPr>
          <a:xfrm>
            <a:off x="4526280" y="1325880"/>
            <a:ext cx="4251960" cy="201168"/>
          </a:xfrm>
          <a:prstGeom prst="rect">
            <a:avLst/>
          </a:prstGeom>
          <a:noFill/>
        </p:spPr>
        <p:txBody>
          <a:bodyPr wrap="square" lIns="0" tIns="0" rIns="0" bIns="0" anchor="t"/>
          <a:lstStyle/>
          <a:p>
            <a:pPr algn="l">
              <a:lnSpc>
                <a:spcPct val="112000"/>
              </a:lnSpc>
            </a:pPr>
            <a:r>
              <a:rPr lang="en-US" sz="800" b="1" i="0">
                <a:solidFill>
                  <a:srgbClr val="5F6368"/>
                </a:solidFill>
                <a:latin typeface="Arial" panose="020B0604020202020204"/>
              </a:rPr>
              <a:t>HOW QUICKBITE BECOMES AN ANDROID FEATURE</a:t>
            </a:r>
            <a:endParaRPr lang="en-US" sz="800" b="1" i="0">
              <a:solidFill>
                <a:srgbClr val="5F6368"/>
              </a:solidFill>
              <a:latin typeface="Arial" panose="020B0604020202020204"/>
            </a:endParaRPr>
          </a:p>
        </p:txBody>
      </p:sp>
      <p:sp>
        <p:nvSpPr>
          <p:cNvPr id="192" name="Oval 191"/>
          <p:cNvSpPr/>
          <p:nvPr/>
        </p:nvSpPr>
        <p:spPr>
          <a:xfrm>
            <a:off x="4526280" y="1645920"/>
            <a:ext cx="329184" cy="32918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1100" b="1" i="0">
                <a:solidFill>
                  <a:srgbClr val="FFFFFF"/>
                </a:solidFill>
                <a:latin typeface="Arial" panose="020B0604020202020204"/>
              </a:rPr>
              <a:t>1</a:t>
            </a:r>
            <a:endParaRPr lang="en-US" sz="1100" b="1" i="0">
              <a:solidFill>
                <a:srgbClr val="FFFFFF"/>
              </a:solidFill>
              <a:latin typeface="Arial" panose="020B0604020202020204"/>
            </a:endParaRPr>
          </a:p>
        </p:txBody>
      </p:sp>
      <p:sp>
        <p:nvSpPr>
          <p:cNvPr id="193" name="Rounded Rectangle 192"/>
          <p:cNvSpPr/>
          <p:nvPr/>
        </p:nvSpPr>
        <p:spPr>
          <a:xfrm>
            <a:off x="4956048" y="1554480"/>
            <a:ext cx="3822191" cy="7132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E8590C"/>
                </a:solidFill>
                <a:latin typeface="Arial" panose="020B0604020202020204"/>
              </a:rPr>
              <a:t>Discreet mode in Personal Safety</a:t>
            </a:r>
            <a:endParaRPr lang="en-US" sz="950" b="1" i="0">
              <a:solidFill>
                <a:srgbClr val="E8590C"/>
              </a:solidFill>
              <a:latin typeface="Arial" panose="020B0604020202020204"/>
            </a:endParaRPr>
          </a:p>
          <a:p>
            <a:pPr algn="l">
              <a:lnSpc>
                <a:spcPct val="112000"/>
              </a:lnSpc>
            </a:pPr>
            <a:r>
              <a:rPr lang="en-US" sz="750" b="0" i="0">
                <a:solidFill>
                  <a:srgbClr val="1A1A1A"/>
                </a:solidFill>
                <a:latin typeface="Arial" panose="020B0604020202020204"/>
              </a:rPr>
              <a:t>An option inside Emergency SOS: a Gemini Live covert persona takes over. QuickBite’s persona, codes and 12 tools are the working blueprint.</a:t>
            </a:r>
            <a:endParaRPr lang="en-US" sz="750" b="0" i="0">
              <a:solidFill>
                <a:srgbClr val="1A1A1A"/>
              </a:solidFill>
              <a:latin typeface="Arial" panose="020B0604020202020204"/>
            </a:endParaRPr>
          </a:p>
        </p:txBody>
      </p:sp>
      <p:sp>
        <p:nvSpPr>
          <p:cNvPr id="194" name="Oval 193"/>
          <p:cNvSpPr/>
          <p:nvPr/>
        </p:nvSpPr>
        <p:spPr>
          <a:xfrm>
            <a:off x="4526280" y="2423160"/>
            <a:ext cx="329184" cy="32918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1100" b="1" i="0">
                <a:solidFill>
                  <a:srgbClr val="FFFFFF"/>
                </a:solidFill>
                <a:latin typeface="Arial" panose="020B0604020202020204"/>
              </a:rPr>
              <a:t>2</a:t>
            </a:r>
            <a:endParaRPr lang="en-US" sz="1100" b="1" i="0">
              <a:solidFill>
                <a:srgbClr val="FFFFFF"/>
              </a:solidFill>
              <a:latin typeface="Arial" panose="020B0604020202020204"/>
            </a:endParaRPr>
          </a:p>
        </p:txBody>
      </p:sp>
      <p:sp>
        <p:nvSpPr>
          <p:cNvPr id="195" name="Rounded Rectangle 194"/>
          <p:cNvSpPr/>
          <p:nvPr/>
        </p:nvSpPr>
        <p:spPr>
          <a:xfrm>
            <a:off x="4956048" y="2331720"/>
            <a:ext cx="3822191" cy="7132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1A73E8"/>
                </a:solidFill>
                <a:latin typeface="Arial" panose="020B0604020202020204"/>
              </a:rPr>
              <a:t>Decoded incidents to 112 via ELS</a:t>
            </a:r>
            <a:endParaRPr lang="en-US" sz="950" b="1" i="0">
              <a:solidFill>
                <a:srgbClr val="1A73E8"/>
              </a:solidFill>
              <a:latin typeface="Arial" panose="020B0604020202020204"/>
            </a:endParaRPr>
          </a:p>
          <a:p>
            <a:pPr algn="l">
              <a:lnSpc>
                <a:spcPct val="112000"/>
              </a:lnSpc>
            </a:pPr>
            <a:r>
              <a:rPr lang="en-US" sz="750" b="0" i="0">
                <a:solidFill>
                  <a:srgbClr val="1A1A1A"/>
                </a:solidFill>
                <a:latin typeface="Arial" panose="020B0604020202020204"/>
              </a:rPr>
              <a:t>Send structured facts (danger, people, route, stress) with ELS location and Emergency Live Video, not a silent open line.</a:t>
            </a:r>
            <a:endParaRPr lang="en-US" sz="750" b="0" i="0">
              <a:solidFill>
                <a:srgbClr val="1A1A1A"/>
              </a:solidFill>
              <a:latin typeface="Arial" panose="020B0604020202020204"/>
            </a:endParaRPr>
          </a:p>
        </p:txBody>
      </p:sp>
      <p:sp>
        <p:nvSpPr>
          <p:cNvPr id="196" name="Oval 195"/>
          <p:cNvSpPr/>
          <p:nvPr/>
        </p:nvSpPr>
        <p:spPr>
          <a:xfrm>
            <a:off x="4526280" y="3200400"/>
            <a:ext cx="329184" cy="329184"/>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1100" b="1" i="0">
                <a:solidFill>
                  <a:srgbClr val="FFFFFF"/>
                </a:solidFill>
                <a:latin typeface="Arial" panose="020B0604020202020204"/>
              </a:rPr>
              <a:t>3</a:t>
            </a:r>
            <a:endParaRPr lang="en-US" sz="1100" b="1" i="0">
              <a:solidFill>
                <a:srgbClr val="FFFFFF"/>
              </a:solidFill>
              <a:latin typeface="Arial" panose="020B0604020202020204"/>
            </a:endParaRPr>
          </a:p>
        </p:txBody>
      </p:sp>
      <p:sp>
        <p:nvSpPr>
          <p:cNvPr id="197" name="Rounded Rectangle 196"/>
          <p:cNvSpPr/>
          <p:nvPr/>
        </p:nvSpPr>
        <p:spPr>
          <a:xfrm>
            <a:off x="4956048" y="3108960"/>
            <a:ext cx="3822191" cy="7132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950" b="1" i="0">
                <a:solidFill>
                  <a:srgbClr val="2F9E44"/>
                </a:solidFill>
                <a:latin typeface="Arial" panose="020B0604020202020204"/>
              </a:rPr>
              <a:t>On-device and wearable</a:t>
            </a:r>
            <a:endParaRPr lang="en-US" sz="950" b="1" i="0">
              <a:solidFill>
                <a:srgbClr val="2F9E44"/>
              </a:solidFill>
              <a:latin typeface="Arial" panose="020B0604020202020204"/>
            </a:endParaRPr>
          </a:p>
          <a:p>
            <a:pPr algn="l">
              <a:lnSpc>
                <a:spcPct val="112000"/>
              </a:lnSpc>
            </a:pPr>
            <a:r>
              <a:rPr lang="en-US" sz="750" b="0" i="0">
                <a:solidFill>
                  <a:srgbClr val="1A1A1A"/>
                </a:solidFill>
                <a:latin typeface="Arial" panose="020B0604020202020204"/>
              </a:rPr>
              <a:t>Gemini Nano for private extraction; a snatch-motion trigger like Theft Detection Lock; a Pixel Watch covert gesture; disguised entry via Private Space.</a:t>
            </a:r>
            <a:endParaRPr lang="en-US" sz="750" b="0" i="0">
              <a:solidFill>
                <a:srgbClr val="1A1A1A"/>
              </a:solidFill>
              <a:latin typeface="Arial" panose="020B0604020202020204"/>
            </a:endParaRPr>
          </a:p>
        </p:txBody>
      </p:sp>
      <p:sp>
        <p:nvSpPr>
          <p:cNvPr id="198" name="Rounded Rectangle 197"/>
          <p:cNvSpPr/>
          <p:nvPr/>
        </p:nvSpPr>
        <p:spPr>
          <a:xfrm>
            <a:off x="4526280" y="3886200"/>
            <a:ext cx="4251960" cy="5486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lnSpc>
                <a:spcPct val="112000"/>
              </a:lnSpc>
            </a:pPr>
            <a:r>
              <a:rPr lang="en-US" sz="750" b="1" i="0">
                <a:solidFill>
                  <a:srgbClr val="1A1A1A"/>
                </a:solidFill>
                <a:latin typeface="Arial" panose="020B0604020202020204"/>
              </a:rPr>
              <a:t>Already proven on Google’s stack: </a:t>
            </a:r>
            <a:r>
              <a:rPr lang="en-US" sz="750" b="0" i="0">
                <a:solidFill>
                  <a:srgbClr val="1A1A1A"/>
                </a:solidFill>
                <a:latin typeface="Arial" panose="020B0604020202020204"/>
              </a:rPr>
              <a:t>RapidSOS HARMONY runs Gemini Live API + ADK in 911 centres (Jun 2026). Firebase + Google Cloud can be the responder backend for public-safety agencies.</a:t>
            </a:r>
            <a:endParaRPr lang="en-US" sz="750" b="0" i="0">
              <a:solidFill>
                <a:srgbClr val="1A1A1A"/>
              </a:solidFill>
              <a:latin typeface="Arial" panose="020B0604020202020204"/>
            </a:endParaRPr>
          </a:p>
        </p:txBody>
      </p:sp>
      <p:sp>
        <p:nvSpPr>
          <p:cNvPr id="199" name="Rounded Rectangle 198"/>
          <p:cNvSpPr/>
          <p:nvPr/>
        </p:nvSpPr>
        <p:spPr>
          <a:xfrm>
            <a:off x="365760" y="4626864"/>
            <a:ext cx="8412480" cy="219456"/>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2000"/>
              </a:lnSpc>
            </a:pPr>
            <a:r>
              <a:rPr lang="en-US" sz="800" b="1" i="0">
                <a:solidFill>
                  <a:srgbClr val="1A1A1A"/>
                </a:solidFill>
                <a:latin typeface="Arial" panose="020B0604020202020204"/>
              </a:rPr>
              <a:t>Designed to complement 112, never to delay it: when the caller can talk freely, Mia also suggests dialling 112.</a:t>
            </a:r>
            <a:endParaRPr lang="en-US" sz="800" b="1" i="0">
              <a:solidFill>
                <a:srgbClr val="1A1A1A"/>
              </a:solidFill>
              <a:latin typeface="Arial" panose="020B060402020202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2"/>
          <a:stretch>
            <a:fillRect/>
          </a:stretch>
        </p:blipFill>
        <p:spPr>
          <a:xfrm>
            <a:off x="0" y="3649"/>
            <a:ext cx="9144000" cy="500062"/>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59" name="Google Shape;159;p26"/>
          <p:cNvSpPr txBox="1"/>
          <p:nvPr/>
        </p:nvSpPr>
        <p:spPr>
          <a:xfrm>
            <a:off x="265350" y="603504"/>
            <a:ext cx="8112420" cy="3459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panose="020B0503030502040204"/>
                <a:ea typeface="Google Sans Flex Medium" panose="020B0503030502040204"/>
                <a:cs typeface="Google Sans Flex Medium" panose="020B0503030502040204"/>
                <a:sym typeface="Google Sans Flex Medium" panose="020B0503030502040204"/>
              </a:rPr>
              <a:t>Provide links to your:</a:t>
            </a:r>
            <a:endParaRPr sz="1600">
              <a:latin typeface="Google Sans Flex Medium" panose="020B0503030502040204"/>
              <a:ea typeface="Google Sans Flex Medium" panose="020B0503030502040204"/>
              <a:cs typeface="Google Sans Flex Medium" panose="020B0503030502040204"/>
              <a:sym typeface="Google Sans Flex Medium" panose="020B0503030502040204"/>
            </a:endParaRPr>
          </a:p>
        </p:txBody>
      </p:sp>
      <p:sp>
        <p:nvSpPr>
          <p:cNvPr id="401" name="Links 401"/>
          <p:cNvSpPr txBox="1"/>
          <p:nvPr/>
        </p:nvSpPr>
        <p:spPr>
          <a:xfrm>
            <a:off x="365760" y="990000"/>
            <a:ext cx="4480560" cy="230000"/>
          </a:xfrm>
          <a:prstGeom prst="rect">
            <a:avLst/>
          </a:prstGeom>
          <a:noFill/>
        </p:spPr>
        <p:txBody>
          <a:bodyPr wrap="square" lIns="0" tIns="0" rIns="0" bIns="0" anchor="t"/>
          <a:lstStyle/>
          <a:p>
            <a:pPr algn="l">
              <a:spcAft>
                <a:spcPts val="0"/>
              </a:spcAft>
            </a:pPr>
            <a:r>
              <a:rPr lang="en-US" sz="1000" b="1" i="0" dirty="0">
                <a:solidFill>
                  <a:srgbClr val="E8590C"/>
                </a:solidFill>
                <a:latin typeface="Arial"/>
              </a:rPr>
              <a:t xml:space="preserve">Submission links</a:t>
            </a:r>
          </a:p>
        </p:txBody>
      </p:sp>
      <p:cxnSp>
        <p:nvCxnSpPr>
          <p:cNvPr id="402" name="Rule 402"/>
          <p:cNvCxnSpPr/>
          <p:nvPr/>
        </p:nvCxnSpPr>
        <p:spPr>
          <a:xfrm>
            <a:off x="365760" y="1240000"/>
            <a:ext cx="4480560" cy="0"/>
          </a:xfrm>
          <a:prstGeom prst="line">
            <a:avLst/>
          </a:prstGeom>
          <a:ln w="6350">
            <a:solidFill>
              <a:srgbClr val="E5E7EB"/>
            </a:solidFill>
          </a:ln>
        </p:spPr>
      </p:cxnSp>
      <p:sp>
        <p:nvSpPr>
          <p:cNvPr id="403" name="Links 403"/>
          <p:cNvSpPr txBox="1"/>
          <p:nvPr/>
        </p:nvSpPr>
        <p:spPr>
          <a:xfrm>
            <a:off x="365760" y="1260000"/>
            <a:ext cx="1463040" cy="25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GitHub repository</a:t>
            </a:r>
          </a:p>
        </p:txBody>
      </p:sp>
      <p:sp>
        <p:nvSpPr>
          <p:cNvPr id="404" name="Links 404"/>
          <p:cNvSpPr txBox="1"/>
          <p:nvPr/>
        </p:nvSpPr>
        <p:spPr>
          <a:xfrm>
            <a:off x="1828800" y="1260000"/>
            <a:ext cx="3017520" cy="250000"/>
          </a:xfrm>
          <a:prstGeom prst="rect">
            <a:avLst/>
          </a:prstGeom>
          <a:noFill/>
        </p:spPr>
        <p:txBody>
          <a:bodyPr wrap="square" lIns="0" tIns="0" rIns="0" bIns="0" anchor="ctr"/>
          <a:lstStyle/>
          <a:p>
            <a:pPr algn="l">
              <a:spcAft>
                <a:spcPts val="100"/>
              </a:spcAft>
            </a:pPr>
            <a:r>
              <a:rPr lang="en-US" sz="900" b="0" i="0" u="sng" dirty="0">
                <a:solidFill>
                  <a:srgbClr val="1A73E8"/>
                </a:solidFill>
                <a:latin typeface="Arial"/>
                <a:hlinkClick r:id="rId3"/>
              </a:rPr>
              <a:t xml:space="preserve">github.com/Jeevanvsan/ai_builder_hack</a:t>
            </a:r>
          </a:p>
        </p:txBody>
      </p:sp>
      <p:sp>
        <p:nvSpPr>
          <p:cNvPr id="405" name="Links 405"/>
          <p:cNvSpPr txBox="1"/>
          <p:nvPr/>
        </p:nvSpPr>
        <p:spPr>
          <a:xfrm>
            <a:off x="365760" y="1510000"/>
            <a:ext cx="1463040" cy="40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Demo video</a:t>
            </a:r>
          </a:p>
        </p:txBody>
      </p:sp>
      <p:sp>
        <p:nvSpPr>
          <p:cNvPr id="406" name="Links 406"/>
          <p:cNvSpPr txBox="1"/>
          <p:nvPr/>
        </p:nvSpPr>
        <p:spPr>
          <a:xfrm>
            <a:off x="1828800" y="1510000"/>
            <a:ext cx="3017520" cy="400000"/>
          </a:xfrm>
          <a:prstGeom prst="rect">
            <a:avLst/>
          </a:prstGeom>
          <a:noFill/>
        </p:spPr>
        <p:txBody>
          <a:bodyPr wrap="square" lIns="0" tIns="0" rIns="0" bIns="0" anchor="ctr"/>
          <a:lstStyle/>
          <a:p>
            <a:pPr algn="l">
              <a:spcAft>
                <a:spcPts val="100"/>
              </a:spcAft>
            </a:pPr>
            <a:r>
              <a:rPr lang="en-US" sz="900" b="0" i="0" u="sng" dirty="0">
                <a:solidFill>
                  <a:srgbClr val="1A73E8"/>
                </a:solidFill>
                <a:latin typeface="Arial"/>
                <a:hlinkClick r:id="rId4"/>
              </a:rPr>
              <a:t xml:space="preserve">QuickBite demo: Covert Call (Google Drive)</a:t>
            </a:r>
          </a:p>
          <a:p>
            <a:pPr algn="l">
              <a:spcAft>
                <a:spcPts val="0"/>
              </a:spcAft>
            </a:pPr>
            <a:r>
              <a:rPr lang="en-US" sz="750" b="1" i="0" dirty="0">
                <a:solidFill>
                  <a:srgbClr val="80868B"/>
                </a:solidFill>
                <a:latin typeface="Arial"/>
              </a:rPr>
              <a:t xml:space="preserve">Alternative: </a:t>
            </a:r>
            <a:r>
              <a:rPr lang="en-US" sz="750" b="0" i="0" u="sng" dirty="0">
                <a:solidFill>
                  <a:srgbClr val="80868B"/>
                </a:solidFill>
                <a:latin typeface="Arial"/>
                <a:hlinkClick r:id="rId14"/>
              </a:rPr>
              <a:t xml:space="preserve">stream in the browser on our landing page</a:t>
            </a:r>
          </a:p>
        </p:txBody>
      </p:sp>
      <p:sp>
        <p:nvSpPr>
          <p:cNvPr id="407" name="Links 407"/>
          <p:cNvSpPr txBox="1"/>
          <p:nvPr/>
        </p:nvSpPr>
        <p:spPr>
          <a:xfrm>
            <a:off x="365760" y="1910000"/>
            <a:ext cx="1463040" cy="25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Product link</a:t>
            </a:r>
          </a:p>
        </p:txBody>
      </p:sp>
      <p:sp>
        <p:nvSpPr>
          <p:cNvPr id="408" name="Links 408"/>
          <p:cNvSpPr txBox="1"/>
          <p:nvPr/>
        </p:nvSpPr>
        <p:spPr>
          <a:xfrm>
            <a:off x="1828800" y="1910000"/>
            <a:ext cx="3017520" cy="250000"/>
          </a:xfrm>
          <a:prstGeom prst="rect">
            <a:avLst/>
          </a:prstGeom>
          <a:noFill/>
        </p:spPr>
        <p:txBody>
          <a:bodyPr wrap="square" lIns="0" tIns="0" rIns="0" bIns="0" anchor="ctr"/>
          <a:lstStyle/>
          <a:p>
            <a:pPr algn="l">
              <a:spcAft>
                <a:spcPts val="100"/>
              </a:spcAft>
            </a:pPr>
            <a:r>
              <a:rPr lang="en-US" sz="900" b="0" i="0" u="sng" dirty="0">
                <a:solidFill>
                  <a:srgbClr val="1A73E8"/>
                </a:solidFill>
                <a:latin typeface="Arial"/>
                <a:hlinkClick r:id="rId5"/>
              </a:rPr>
              <a:t xml:space="preserve">quickbite-5cde0-landing.web.app</a:t>
            </a:r>
          </a:p>
        </p:txBody>
      </p:sp>
      <p:sp>
        <p:nvSpPr>
          <p:cNvPr id="409" name="Links 409"/>
          <p:cNvSpPr txBox="1"/>
          <p:nvPr/>
        </p:nvSpPr>
        <p:spPr>
          <a:xfrm>
            <a:off x="365760" y="2310000"/>
            <a:ext cx="4480560" cy="230000"/>
          </a:xfrm>
          <a:prstGeom prst="rect">
            <a:avLst/>
          </a:prstGeom>
          <a:noFill/>
        </p:spPr>
        <p:txBody>
          <a:bodyPr wrap="square" lIns="0" tIns="0" rIns="0" bIns="0" anchor="t"/>
          <a:lstStyle/>
          <a:p>
            <a:pPr algn="l">
              <a:spcAft>
                <a:spcPts val="0"/>
              </a:spcAft>
            </a:pPr>
            <a:r>
              <a:rPr lang="en-US" sz="1000" b="1" i="0" dirty="0">
                <a:solidFill>
                  <a:srgbClr val="E8590C"/>
                </a:solidFill>
                <a:latin typeface="Arial"/>
              </a:rPr>
              <a:t xml:space="preserve">Extras</a:t>
            </a:r>
          </a:p>
        </p:txBody>
      </p:sp>
      <p:cxnSp>
        <p:nvCxnSpPr>
          <p:cNvPr id="410" name="Rule 410"/>
          <p:cNvCxnSpPr/>
          <p:nvPr/>
        </p:nvCxnSpPr>
        <p:spPr>
          <a:xfrm>
            <a:off x="365760" y="2560000"/>
            <a:ext cx="4480560" cy="0"/>
          </a:xfrm>
          <a:prstGeom prst="line">
            <a:avLst/>
          </a:prstGeom>
          <a:ln w="6350">
            <a:solidFill>
              <a:srgbClr val="E5E7EB"/>
            </a:solidFill>
          </a:ln>
        </p:spPr>
      </p:cxnSp>
      <p:sp>
        <p:nvSpPr>
          <p:cNvPr id="411" name="Links 411"/>
          <p:cNvSpPr txBox="1"/>
          <p:nvPr/>
        </p:nvSpPr>
        <p:spPr>
          <a:xfrm>
            <a:off x="365760" y="2580000"/>
            <a:ext cx="1463040" cy="40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Chasing-scenario video</a:t>
            </a:r>
          </a:p>
        </p:txBody>
      </p:sp>
      <p:sp>
        <p:nvSpPr>
          <p:cNvPr id="412" name="Links 412"/>
          <p:cNvSpPr txBox="1"/>
          <p:nvPr/>
        </p:nvSpPr>
        <p:spPr>
          <a:xfrm>
            <a:off x="1828800" y="2580000"/>
            <a:ext cx="3017520" cy="400000"/>
          </a:xfrm>
          <a:prstGeom prst="rect">
            <a:avLst/>
          </a:prstGeom>
          <a:noFill/>
        </p:spPr>
        <p:txBody>
          <a:bodyPr wrap="square" lIns="0" tIns="0" rIns="0" bIns="0" anchor="ctr"/>
          <a:lstStyle/>
          <a:p>
            <a:pPr algn="l">
              <a:spcAft>
                <a:spcPts val="100"/>
              </a:spcAft>
            </a:pPr>
            <a:r>
              <a:rPr lang="en-US" sz="900" b="0" i="0" u="sng" dirty="0">
                <a:solidFill>
                  <a:srgbClr val="1A73E8"/>
                </a:solidFill>
                <a:latin typeface="Arial"/>
                <a:hlinkClick r:id="rId7"/>
              </a:rPr>
              <a:t xml:space="preserve">Someone chasing, guided to safety (Drive)</a:t>
            </a:r>
          </a:p>
          <a:p>
            <a:pPr algn="l">
              <a:spcAft>
                <a:spcPts val="0"/>
              </a:spcAft>
            </a:pPr>
            <a:r>
              <a:rPr lang="en-US" sz="750" b="1" i="0" dirty="0">
                <a:solidFill>
                  <a:srgbClr val="80868B"/>
                </a:solidFill>
                <a:latin typeface="Arial"/>
              </a:rPr>
              <a:t xml:space="preserve">Alternative: </a:t>
            </a:r>
            <a:r>
              <a:rPr lang="en-US" sz="750" b="0" i="0" u="sng" dirty="0">
                <a:solidFill>
                  <a:srgbClr val="80868B"/>
                </a:solidFill>
                <a:latin typeface="Arial"/>
                <a:hlinkClick r:id="rId14"/>
              </a:rPr>
              <a:t xml:space="preserve">stream in the browser on our landing page</a:t>
            </a:r>
          </a:p>
        </p:txBody>
      </p:sp>
      <p:sp>
        <p:nvSpPr>
          <p:cNvPr id="413" name="Links 413"/>
          <p:cNvSpPr txBox="1"/>
          <p:nvPr/>
        </p:nvSpPr>
        <p:spPr>
          <a:xfrm>
            <a:off x="365760" y="2980000"/>
            <a:ext cx="1463040" cy="25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Cost workbook</a:t>
            </a:r>
          </a:p>
        </p:txBody>
      </p:sp>
      <p:sp>
        <p:nvSpPr>
          <p:cNvPr id="414" name="Links 414"/>
          <p:cNvSpPr txBox="1"/>
          <p:nvPr/>
        </p:nvSpPr>
        <p:spPr>
          <a:xfrm>
            <a:off x="1828800" y="2980000"/>
            <a:ext cx="3017520" cy="250000"/>
          </a:xfrm>
          <a:prstGeom prst="rect">
            <a:avLst/>
          </a:prstGeom>
          <a:noFill/>
        </p:spPr>
        <p:txBody>
          <a:bodyPr wrap="square" lIns="0" tIns="0" rIns="0" bIns="0" anchor="ctr"/>
          <a:lstStyle/>
          <a:p>
            <a:pPr algn="l">
              <a:spcAft>
                <a:spcPts val="100"/>
              </a:spcAft>
            </a:pPr>
            <a:r>
              <a:rPr lang="en-US" sz="900" b="0" i="0" u="sng" dirty="0">
                <a:solidFill>
                  <a:srgbClr val="1A73E8"/>
                </a:solidFill>
                <a:latin typeface="Arial"/>
                <a:hlinkClick r:id="rId12"/>
              </a:rPr>
              <a:t xml:space="preserve">AI cost: 59 real calls + estimate (Sheets)</a:t>
            </a:r>
          </a:p>
        </p:txBody>
      </p:sp>
      <p:sp>
        <p:nvSpPr>
          <p:cNvPr id="415" name="Links 415"/>
          <p:cNvSpPr txBox="1"/>
          <p:nvPr/>
        </p:nvSpPr>
        <p:spPr>
          <a:xfrm>
            <a:off x="365760" y="3230000"/>
            <a:ext cx="1463040" cy="25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Performance test</a:t>
            </a:r>
          </a:p>
        </p:txBody>
      </p:sp>
      <p:sp>
        <p:nvSpPr>
          <p:cNvPr id="416" name="Links 416"/>
          <p:cNvSpPr txBox="1"/>
          <p:nvPr/>
        </p:nvSpPr>
        <p:spPr>
          <a:xfrm>
            <a:off x="1828800" y="3230000"/>
            <a:ext cx="3017520" cy="250000"/>
          </a:xfrm>
          <a:prstGeom prst="rect">
            <a:avLst/>
          </a:prstGeom>
          <a:noFill/>
        </p:spPr>
        <p:txBody>
          <a:bodyPr wrap="square" lIns="0" tIns="0" rIns="0" bIns="0" anchor="ctr"/>
          <a:lstStyle/>
          <a:p>
            <a:pPr algn="l">
              <a:spcAft>
                <a:spcPts val="100"/>
              </a:spcAft>
            </a:pPr>
            <a:r>
              <a:rPr lang="en-US" sz="900" b="0" i="0" u="sng" dirty="0">
                <a:solidFill>
                  <a:srgbClr val="1A73E8"/>
                </a:solidFill>
                <a:latin typeface="Arial"/>
                <a:hlinkClick r:id="rId17"/>
              </a:rPr>
              <a:t xml:space="preserve">8 real calls: timings, route, cost (Sheets)</a:t>
            </a:r>
          </a:p>
        </p:txBody>
      </p:sp>
      <p:sp>
        <p:nvSpPr>
          <p:cNvPr id="417" name="Links 417"/>
          <p:cNvSpPr txBox="1"/>
          <p:nvPr/>
        </p:nvSpPr>
        <p:spPr>
          <a:xfrm>
            <a:off x="365760" y="3480000"/>
            <a:ext cx="1463040" cy="25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User manual</a:t>
            </a:r>
          </a:p>
        </p:txBody>
      </p:sp>
      <p:sp>
        <p:nvSpPr>
          <p:cNvPr id="418" name="Links 418"/>
          <p:cNvSpPr txBox="1"/>
          <p:nvPr/>
        </p:nvSpPr>
        <p:spPr>
          <a:xfrm>
            <a:off x="1828800" y="3480000"/>
            <a:ext cx="3017520" cy="250000"/>
          </a:xfrm>
          <a:prstGeom prst="rect">
            <a:avLst/>
          </a:prstGeom>
          <a:noFill/>
        </p:spPr>
        <p:txBody>
          <a:bodyPr wrap="square" lIns="0" tIns="0" rIns="0" bIns="0" anchor="ctr"/>
          <a:lstStyle/>
          <a:p>
            <a:pPr algn="l">
              <a:spcAft>
                <a:spcPts val="100"/>
              </a:spcAft>
            </a:pPr>
            <a:r>
              <a:rPr lang="en-US" sz="900" b="0" i="0" u="sng" dirty="0">
                <a:solidFill>
                  <a:srgbClr val="1A73E8"/>
                </a:solidFill>
                <a:latin typeface="Arial"/>
                <a:hlinkClick r:id="rId8"/>
              </a:rPr>
              <a:t xml:space="preserve">quickbite-5cde0-landing.web.app/manual</a:t>
            </a:r>
          </a:p>
        </p:txBody>
      </p:sp>
      <p:sp>
        <p:nvSpPr>
          <p:cNvPr id="419" name="Links 419"/>
          <p:cNvSpPr txBox="1"/>
          <p:nvPr/>
        </p:nvSpPr>
        <p:spPr>
          <a:xfrm>
            <a:off x="365760" y="3880000"/>
            <a:ext cx="4480560" cy="230000"/>
          </a:xfrm>
          <a:prstGeom prst="rect">
            <a:avLst/>
          </a:prstGeom>
          <a:noFill/>
        </p:spPr>
        <p:txBody>
          <a:bodyPr wrap="square" lIns="0" tIns="0" rIns="0" bIns="0" anchor="t"/>
          <a:lstStyle/>
          <a:p>
            <a:pPr algn="l">
              <a:spcAft>
                <a:spcPts val="0"/>
              </a:spcAft>
            </a:pPr>
            <a:r>
              <a:rPr lang="en-US" sz="1000" b="1" i="0" dirty="0">
                <a:solidFill>
                  <a:srgbClr val="E8590C"/>
                </a:solidFill>
                <a:latin typeface="Arial"/>
              </a:rPr>
              <a:t xml:space="preserve">Recorded demo incidents</a:t>
            </a:r>
          </a:p>
        </p:txBody>
      </p:sp>
      <p:sp>
        <p:nvSpPr>
          <p:cNvPr id="420" name="Links 420"/>
          <p:cNvSpPr txBox="1"/>
          <p:nvPr/>
        </p:nvSpPr>
        <p:spPr>
          <a:xfrm>
            <a:off x="365760" y="4130000"/>
            <a:ext cx="4480560" cy="200000"/>
          </a:xfrm>
          <a:prstGeom prst="rect">
            <a:avLst/>
          </a:prstGeom>
          <a:noFill/>
        </p:spPr>
        <p:txBody>
          <a:bodyPr wrap="square" lIns="0" tIns="0" rIns="0" bIns="0" anchor="t"/>
          <a:lstStyle/>
          <a:p>
            <a:pPr algn="l">
              <a:spcAft>
                <a:spcPts val="0"/>
              </a:spcAft>
            </a:pPr>
            <a:r>
              <a:rPr lang="en-US" sz="750" b="0" i="0" dirty="0">
                <a:solidFill>
                  <a:srgbClr val="5F6368"/>
                </a:solidFill>
                <a:latin typeface="Arial"/>
              </a:rPr>
              <a:t xml:space="preserve">Real incidents the dashboard recorded in the demo videos, to verify (sign in first).</a:t>
            </a:r>
          </a:p>
        </p:txBody>
      </p:sp>
      <p:cxnSp>
        <p:nvCxnSpPr>
          <p:cNvPr id="421" name="Rule 421"/>
          <p:cNvCxnSpPr/>
          <p:nvPr/>
        </p:nvCxnSpPr>
        <p:spPr>
          <a:xfrm>
            <a:off x="365760" y="4340000"/>
            <a:ext cx="4480560" cy="0"/>
          </a:xfrm>
          <a:prstGeom prst="line">
            <a:avLst/>
          </a:prstGeom>
          <a:ln w="6350">
            <a:solidFill>
              <a:srgbClr val="E5E7EB"/>
            </a:solidFill>
          </a:ln>
        </p:spPr>
      </p:cxnSp>
      <p:sp>
        <p:nvSpPr>
          <p:cNvPr id="422" name="Links 422"/>
          <p:cNvSpPr txBox="1"/>
          <p:nvPr/>
        </p:nvSpPr>
        <p:spPr>
          <a:xfrm>
            <a:off x="365760" y="4360000"/>
            <a:ext cx="1463040" cy="25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Covert call</a:t>
            </a:r>
          </a:p>
        </p:txBody>
      </p:sp>
      <p:sp>
        <p:nvSpPr>
          <p:cNvPr id="423" name="Links 423"/>
          <p:cNvSpPr txBox="1"/>
          <p:nvPr/>
        </p:nvSpPr>
        <p:spPr>
          <a:xfrm>
            <a:off x="1828800" y="4360000"/>
            <a:ext cx="3017520" cy="250000"/>
          </a:xfrm>
          <a:prstGeom prst="rect">
            <a:avLst/>
          </a:prstGeom>
          <a:noFill/>
        </p:spPr>
        <p:txBody>
          <a:bodyPr wrap="square" lIns="0" tIns="0" rIns="0" bIns="0" anchor="ctr"/>
          <a:lstStyle/>
          <a:p>
            <a:pPr algn="l">
              <a:spcAft>
                <a:spcPts val="0"/>
              </a:spcAft>
            </a:pPr>
            <a:r>
              <a:rPr lang="en-US" sz="900" b="0" i="0" u="sng" dirty="0">
                <a:solidFill>
                  <a:srgbClr val="1A73E8"/>
                </a:solidFill>
                <a:latin typeface="Arial"/>
                <a:hlinkClick r:id="rId15"/>
              </a:rPr>
              <a:t xml:space="preserve">INC-MUZNKM7N (covert order call)</a:t>
            </a:r>
          </a:p>
        </p:txBody>
      </p:sp>
      <p:sp>
        <p:nvSpPr>
          <p:cNvPr id="424" name="Links 424"/>
          <p:cNvSpPr txBox="1"/>
          <p:nvPr/>
        </p:nvSpPr>
        <p:spPr>
          <a:xfrm>
            <a:off x="365760" y="4610000"/>
            <a:ext cx="1463040" cy="250000"/>
          </a:xfrm>
          <a:prstGeom prst="rect">
            <a:avLst/>
          </a:prstGeom>
          <a:noFill/>
        </p:spPr>
        <p:txBody>
          <a:bodyPr wrap="square" lIns="0" tIns="0" rIns="0" bIns="0" anchor="ctr"/>
          <a:lstStyle/>
          <a:p>
            <a:pPr algn="l">
              <a:spcAft>
                <a:spcPts val="0"/>
              </a:spcAft>
            </a:pPr>
            <a:r>
              <a:rPr lang="en-US" sz="900" b="1" i="0" dirty="0">
                <a:solidFill>
                  <a:srgbClr val="1A1A1A"/>
                </a:solidFill>
                <a:latin typeface="Arial"/>
              </a:rPr>
              <a:t xml:space="preserve">Chase</a:t>
            </a:r>
          </a:p>
        </p:txBody>
      </p:sp>
      <p:sp>
        <p:nvSpPr>
          <p:cNvPr id="425" name="Links 425"/>
          <p:cNvSpPr txBox="1"/>
          <p:nvPr/>
        </p:nvSpPr>
        <p:spPr>
          <a:xfrm>
            <a:off x="1828800" y="4610000"/>
            <a:ext cx="3017520" cy="250000"/>
          </a:xfrm>
          <a:prstGeom prst="rect">
            <a:avLst/>
          </a:prstGeom>
          <a:noFill/>
        </p:spPr>
        <p:txBody>
          <a:bodyPr wrap="square" lIns="0" tIns="0" rIns="0" bIns="0" anchor="ctr"/>
          <a:lstStyle/>
          <a:p>
            <a:pPr algn="l">
              <a:spcAft>
                <a:spcPts val="0"/>
              </a:spcAft>
            </a:pPr>
            <a:r>
              <a:rPr lang="en-US" sz="900" b="0" i="0" u="sng" dirty="0">
                <a:solidFill>
                  <a:srgbClr val="1A73E8"/>
                </a:solidFill>
                <a:latin typeface="Arial"/>
                <a:hlinkClick r:id="rId16"/>
              </a:rPr>
              <a:t xml:space="preserve">INC-MUZKKVL1 (chased, guided to safety)</a:t>
            </a:r>
          </a:p>
        </p:txBody>
      </p:sp>
      <p:sp>
        <p:nvSpPr>
          <p:cNvPr id="426" name="Judges box 426"/>
          <p:cNvSpPr/>
          <p:nvPr/>
        </p:nvSpPr>
        <p:spPr>
          <a:xfrm>
            <a:off x="5029200" y="990000"/>
            <a:ext cx="3749040" cy="3620000"/>
          </a:xfrm>
          <a:prstGeom prst="roundRect">
            <a:avLst>
              <a:gd name="adj" fmla="val 4000"/>
            </a:avLst>
          </a:prstGeom>
          <a:solidFill>
            <a:srgbClr val="FFF4E5"/>
          </a:solidFill>
          <a:ln w="19050">
            <a:solidFill>
              <a:srgbClr val="E8590C"/>
            </a:solidFill>
          </a:ln>
        </p:spPr>
        <p:txBody>
          <a:bodyPr anchor="ctr"/>
          <a:lstStyle/>
          <a:p>
            <a:endParaRPr lang="en-US"/>
          </a:p>
        </p:txBody>
      </p:sp>
      <p:sp>
        <p:nvSpPr>
          <p:cNvPr id="427" name="Links 427"/>
          <p:cNvSpPr txBox="1"/>
          <p:nvPr/>
        </p:nvSpPr>
        <p:spPr>
          <a:xfrm>
            <a:off x="5219200" y="1180000"/>
            <a:ext cx="3369040" cy="3240000"/>
          </a:xfrm>
          <a:prstGeom prst="rect">
            <a:avLst/>
          </a:prstGeom>
          <a:noFill/>
        </p:spPr>
        <p:txBody>
          <a:bodyPr wrap="square" lIns="0" tIns="0" rIns="0" bIns="0" anchor="t"/>
          <a:lstStyle/>
          <a:p>
            <a:pPr algn="l">
              <a:spcAft>
                <a:spcPts val="700"/>
              </a:spcAft>
            </a:pPr>
            <a:r>
              <a:rPr lang="en-US" sz="1000" b="1" i="0" dirty="0">
                <a:solidFill>
                  <a:srgbClr val="E8590C"/>
                </a:solidFill>
                <a:latin typeface="Arial"/>
              </a:rPr>
              <a:t xml:space="preserve">FOR JUDGES: TRY IT YOURSELF</a:t>
            </a:r>
          </a:p>
          <a:p>
            <a:pPr algn="l">
              <a:spcAft>
                <a:spcPts val="350"/>
              </a:spcAft>
            </a:pPr>
            <a:r>
              <a:rPr lang="en-US" sz="800" b="1" i="0" dirty="0">
                <a:solidFill>
                  <a:srgbClr val="1A1A1A"/>
                </a:solidFill>
                <a:latin typeface="Arial"/>
              </a:rPr>
              <a:t xml:space="preserve">Caller app: </a:t>
            </a:r>
            <a:r>
              <a:rPr lang="en-US" sz="800" b="0" i="0" u="sng" dirty="0">
                <a:solidFill>
                  <a:srgbClr val="1A73E8"/>
                </a:solidFill>
                <a:latin typeface="Arial"/>
                <a:hlinkClick r:id="rId13"/>
              </a:rPr>
              <a:t xml:space="preserve">quickbite-5cde0.web.app</a:t>
            </a:r>
          </a:p>
          <a:p>
            <a:pPr algn="l">
              <a:spcAft>
                <a:spcPts val="350"/>
              </a:spcAft>
            </a:pPr>
            <a:r>
              <a:rPr lang="en-US" sz="800" b="1" i="0" dirty="0">
                <a:solidFill>
                  <a:srgbClr val="1A1A1A"/>
                </a:solidFill>
                <a:latin typeface="Arial"/>
              </a:rPr>
              <a:t xml:space="preserve">Responder dashboard: </a:t>
            </a:r>
            <a:r>
              <a:rPr lang="en-US" sz="800" b="0" i="0" u="sng" dirty="0">
                <a:solidFill>
                  <a:srgbClr val="1A73E8"/>
                </a:solidFill>
                <a:latin typeface="Arial"/>
                <a:hlinkClick r:id="rId6"/>
              </a:rPr>
              <a:t xml:space="preserve">quickbite-5cde0-dashboard.web.app</a:t>
            </a:r>
          </a:p>
          <a:p>
            <a:pPr algn="l">
              <a:spcAft>
                <a:spcPts val="350"/>
              </a:spcAft>
            </a:pPr>
            <a:r>
              <a:rPr lang="en-US" sz="800" b="1" i="0" dirty="0">
                <a:solidFill>
                  <a:srgbClr val="1A1A1A"/>
                </a:solidFill>
                <a:latin typeface="Arial"/>
              </a:rPr>
              <a:t xml:space="preserve">Login: </a:t>
            </a:r>
            <a:r>
              <a:rPr lang="en-US" sz="800" b="0" i="0" dirty="0">
                <a:solidFill>
                  <a:srgbClr val="1A1A1A"/>
                </a:solidFill>
                <a:latin typeface="Arial"/>
              </a:rPr>
              <a:t xml:space="preserve">judge@quickbite.com  /  judge@Quickbite123</a:t>
            </a:r>
          </a:p>
          <a:p>
            <a:pPr algn="l">
              <a:spcAft>
                <a:spcPts val="700"/>
              </a:spcAft>
            </a:pPr>
            <a:r>
              <a:rPr lang="en-US" sz="800" b="1" i="0" dirty="0">
                <a:solidFill>
                  <a:srgbClr val="1A1A1A"/>
                </a:solidFill>
                <a:latin typeface="Arial"/>
              </a:rPr>
              <a:t xml:space="preserve">User manual: </a:t>
            </a:r>
            <a:r>
              <a:rPr lang="en-US" sz="800" b="0" i="0" u="sng" dirty="0">
                <a:solidFill>
                  <a:srgbClr val="1A73E8"/>
                </a:solidFill>
                <a:latin typeface="Arial"/>
                <a:hlinkClick r:id="rId8"/>
              </a:rPr>
              <a:t xml:space="preserve">step-by-step guide to every feature</a:t>
            </a:r>
          </a:p>
          <a:p>
            <a:pPr algn="l">
              <a:spcAft>
                <a:spcPts val="700"/>
              </a:spcAft>
            </a:pPr>
            <a:r>
              <a:rPr lang="en-US" sz="800" b="1" i="0" dirty="0">
                <a:solidFill>
                  <a:srgbClr val="C62828"/>
                </a:solidFill>
                <a:latin typeface="Arial"/>
              </a:rPr>
              <a:t xml:space="preserve">Mandatory: allow the microphone </a:t>
            </a:r>
            <a:r>
              <a:rPr lang="en-US" sz="800" b="0" i="0" dirty="0">
                <a:solidFill>
                  <a:srgbClr val="C62828"/>
                </a:solidFill>
                <a:latin typeface="Arial"/>
              </a:rPr>
              <a:t xml:space="preserve">at both levels: the browser’s site prompt for QuickBite, and the browser app’s mic permission in your phone/OS settings. Without it the call can’t start and the app returns to the menu.</a:t>
            </a:r>
          </a:p>
          <a:p>
            <a:pPr algn="l">
              <a:spcAft>
                <a:spcPts val="350"/>
              </a:spcAft>
            </a:pPr>
            <a:r>
              <a:rPr lang="en-US" sz="800" b="1" i="0" dirty="0">
                <a:solidFill>
                  <a:srgbClr val="E8590C"/>
                </a:solidFill>
                <a:latin typeface="Arial"/>
              </a:rPr>
              <a:t xml:space="preserve">Steps</a:t>
            </a:r>
          </a:p>
          <a:p>
            <a:pPr marL="171450" indent="-171450" algn="l">
              <a:spcAft>
                <a:spcPts val="450"/>
              </a:spcAft>
              <a:buClr>
                <a:srgbClr val="E8590C"/>
              </a:buClr>
              <a:buFont typeface="Arial"/>
              <a:buAutoNum type="arabicPeriod"/>
            </a:pPr>
            <a:r>
              <a:rPr lang="en-US" sz="800" b="0" i="0" dirty="0">
                <a:solidFill>
                  <a:srgbClr val="1A1A1A"/>
                </a:solidFill>
                <a:latin typeface="Arial"/>
              </a:rPr>
              <a:t xml:space="preserve">Open the dashboard on a laptop and sign in with the login above.</a:t>
            </a:r>
          </a:p>
          <a:p>
            <a:pPr marL="171450" indent="-171450" algn="l">
              <a:spcAft>
                <a:spcPts val="450"/>
              </a:spcAft>
              <a:buClr>
                <a:srgbClr val="E8590C"/>
              </a:buClr>
              <a:buFont typeface="Arial"/>
              <a:buAutoNum type="arabicPeriod"/>
            </a:pPr>
            <a:r>
              <a:rPr lang="en-US" sz="800" b="0" i="0" dirty="0">
                <a:solidFill>
                  <a:srgbClr val="1A1A1A"/>
                </a:solidFill>
                <a:latin typeface="Arial"/>
              </a:rPr>
              <a:t xml:space="preserve">Open the caller app on a phone or another tab; allow mic (required) and location.</a:t>
            </a:r>
          </a:p>
          <a:p>
            <a:pPr marL="171450" indent="-171450" algn="l">
              <a:spcAft>
                <a:spcPts val="450"/>
              </a:spcAft>
              <a:buClr>
                <a:srgbClr val="E8590C"/>
              </a:buClr>
              <a:buFont typeface="Arial"/>
              <a:buAutoNum type="arabicPeriod"/>
            </a:pPr>
            <a:r>
              <a:rPr lang="en-US" sz="800" b="0" i="0" dirty="0">
                <a:solidFill>
                  <a:srgbClr val="1A1A1A"/>
                </a:solidFill>
                <a:latin typeface="Arial"/>
              </a:rPr>
              <a:t xml:space="preserve">Tap “Call to order”. Mia asks if you can talk: say “order” (someone listening) or “talk”.</a:t>
            </a:r>
          </a:p>
          <a:p>
            <a:pPr marL="171450" indent="-171450" algn="l">
              <a:spcAft>
                <a:spcPts val="450"/>
              </a:spcAft>
              <a:buClr>
                <a:srgbClr val="E8590C"/>
              </a:buClr>
              <a:buFont typeface="Arial"/>
              <a:buAutoNum type="arabicPeriod"/>
            </a:pPr>
            <a:r>
              <a:rPr lang="en-US" sz="800" b="0" i="0" dirty="0">
                <a:solidFill>
                  <a:srgbClr val="1A1A1A"/>
                </a:solidFill>
                <a:latin typeface="Arial"/>
              </a:rPr>
              <a:t xml:space="preserve">Answer her food questions. Each code’s meaning is spoken with it, e.g. “garlic bread” = someone is following you.</a:t>
            </a:r>
          </a:p>
          <a:p>
            <a:pPr marL="171450" indent="-171450" algn="l">
              <a:spcAft>
                <a:spcPts val="450"/>
              </a:spcAft>
              <a:buClr>
                <a:srgbClr val="E8590C"/>
              </a:buClr>
              <a:buFont typeface="Arial"/>
              <a:buAutoNum type="arabicPeriod"/>
            </a:pPr>
            <a:r>
              <a:rPr lang="en-US" sz="800" b="0" i="0" dirty="0">
                <a:solidFill>
                  <a:srgbClr val="1A1A1A"/>
                </a:solidFill>
                <a:latin typeface="Arial"/>
              </a:rPr>
              <a:t xml:space="preserve">Watch the incident appear on the dashboard and fill in live: location, danger tags, transcript.</a:t>
            </a:r>
          </a:p>
          <a:p>
            <a:pPr marL="171450" indent="-171450" algn="l">
              <a:spcAft>
                <a:spcPts val="0"/>
              </a:spcAft>
              <a:buClr>
                <a:srgbClr val="E8590C"/>
              </a:buClr>
              <a:buFont typeface="Arial"/>
              <a:buAutoNum type="arabicPeriod"/>
            </a:pPr>
            <a:r>
              <a:rPr lang="en-US" sz="800" b="0" i="0" dirty="0">
                <a:solidFill>
                  <a:srgbClr val="1A1A1A"/>
                </a:solidFill>
                <a:latin typeface="Arial"/>
              </a:rPr>
              <a:t xml:space="preserve">Hang up and open the incident: case summary, map, route and evidence.</a:t>
            </a:r>
          </a:p>
        </p:txBody>
      </p:sp>
      <p:sp>
        <p:nvSpPr>
          <p:cNvPr id="428" name="Links 428"/>
          <p:cNvSpPr txBox="1"/>
          <p:nvPr/>
        </p:nvSpPr>
        <p:spPr>
          <a:xfrm>
            <a:off x="5029200" y="4720000"/>
            <a:ext cx="3749040" cy="230000"/>
          </a:xfrm>
          <a:prstGeom prst="rect">
            <a:avLst/>
          </a:prstGeom>
          <a:noFill/>
        </p:spPr>
        <p:txBody>
          <a:bodyPr wrap="square" lIns="0" tIns="0" rIns="0" bIns="0" anchor="ctr"/>
          <a:lstStyle/>
          <a:p>
            <a:pPr algn="l">
              <a:spcAft>
                <a:spcPts val="0"/>
              </a:spcAft>
            </a:pPr>
            <a:r>
              <a:rPr lang="en-US" sz="900" b="0" i="0" dirty="0">
                <a:solidFill>
                  <a:srgbClr val="5F6368"/>
                </a:solidFill>
                <a:latin typeface="Arial"/>
              </a:rPr>
              <a:t xml:space="preserve">Team: </a:t>
            </a:r>
            <a:r>
              <a:rPr lang="en-US" sz="1000" b="1" i="0" dirty="0">
                <a:solidFill>
                  <a:srgbClr val="E8590C"/>
                </a:solidFill>
                <a:latin typeface="Arial"/>
              </a:rPr>
              <a:t xml:space="preserve">NexMind</a:t>
            </a:r>
            <a:r>
              <a:rPr lang="en-US" sz="900" b="0" i="0" dirty="0">
                <a:solidFill>
                  <a:srgbClr val="5F6368"/>
                </a:solidFill>
                <a:latin typeface="Arial"/>
              </a:rPr>
              <a:t xml:space="preserve">      Members: </a:t>
            </a:r>
            <a:r>
              <a:rPr lang="en-US" sz="1000" b="1" i="0" dirty="0">
                <a:solidFill>
                  <a:srgbClr val="1A1A1A"/>
                </a:solidFill>
                <a:latin typeface="Arial"/>
              </a:rPr>
              <a:t xml:space="preserve">Al Ameen N, Jeevan V</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1"/>
          <a:srcRect b="98001"/>
          <a:stretch>
            <a:fillRect/>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2"/>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17520</Words>
  <Application>WPS Presentation</Application>
  <PresentationFormat>On-screen Show (16:9)</PresentationFormat>
  <Paragraphs>783</Paragraphs>
  <Slides>16</Slides>
  <Notes>16</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16</vt:i4>
      </vt:variant>
    </vt:vector>
  </HeadingPairs>
  <TitlesOfParts>
    <vt:vector size="28" baseType="lpstr">
      <vt:lpstr>Arial</vt:lpstr>
      <vt:lpstr>SimSun</vt:lpstr>
      <vt:lpstr>Wingdings</vt:lpstr>
      <vt:lpstr>Arial</vt:lpstr>
      <vt:lpstr>Google Sans Flex SemiBold</vt:lpstr>
      <vt:lpstr>Google Sans Flex</vt:lpstr>
      <vt:lpstr>Google Sans Flex Medium</vt:lpstr>
      <vt:lpstr>Courier New</vt:lpstr>
      <vt:lpstr>Microsoft YaHei</vt:lpstr>
      <vt:lpstr>Arial Unicode MS</vt:lpstr>
      <vt:lpstr>Calibri</vt:lpstr>
      <vt:lpstr>Simple Light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Jeevan Varghese</cp:lastModifiedBy>
  <cp:revision>20</cp:revision>
  <dcterms:created xsi:type="dcterms:W3CDTF">2026-10-09T06:23:00Z</dcterms:created>
  <dcterms:modified xsi:type="dcterms:W3CDTF">2026-10-09T10:05:29Z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78863239EA13448A96E5EAFE58BA6819_12</vt:lpwstr>
  </property>
</Properties>
</file>