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1.xml" ContentType="application/vnd.ms-powerpoint.comment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77" r:id="rId6"/>
    <p:sldId id="260" r:id="rId7"/>
    <p:sldId id="261" r:id="rId8"/>
    <p:sldId id="262" r:id="rId9"/>
    <p:sldId id="275" r:id="rId10"/>
    <p:sldId id="264" r:id="rId11"/>
    <p:sldId id="265" r:id="rId12"/>
    <p:sldId id="266" r:id="rId13"/>
    <p:sldId id="267" r:id="rId14"/>
    <p:sldId id="268" r:id="rId15"/>
    <p:sldId id="269" r:id="rId16"/>
    <p:sldId id="276" r:id="rId17"/>
    <p:sldId id="271" r:id="rId18"/>
  </p:sldIdLst>
  <p:sldSz cx="9144000" cy="5143500" type="screen16x9"/>
  <p:notesSz cx="6858000" cy="9144000"/>
  <p:embeddedFontLst>
    <p:embeddedFont>
      <p:font typeface="Google Sans Flex SemiBold" panose="020B0503030502040204"/>
      <p:bold r:id="rId23"/>
    </p:embeddedFont>
    <p:embeddedFont>
      <p:font typeface="Google Sans Flex" panose="020B0503030502040204"/>
      <p:bold r:id="rId24"/>
    </p:embeddedFont>
    <p:embeddedFont>
      <p:font typeface="Calibri" panose="020F0502020204030204"/>
      <p:regular r:id="rId25"/>
      <p:bold r:id="rId26"/>
      <p:italic r:id="rId27"/>
      <p:boldItalic r:id="rId28"/>
    </p:embeddedFont>
    <p:embeddedFont>
      <p:font typeface="Google Sans Flex Medium" panose="020B0503030502040204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53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CDC1B5-5C59-2905-9334-50F831262070}" name="Al Ameen N" initials="AN" userId="S::alameen.n@experionglobal.com::de74bfac-e65f-4672-9915-0546d8229e52" providerId="AD"/>
  <p188:author id="{AED078BD-FF22-03A6-6CBB-9FDE3E12E98E}" name="Jeevan V" initials="JV" userId="S::jeevan.v@experionglobal.com::40fa15b1-97ff-4188-b5c1-5e4d70f3027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" d="2"/>
          <a:sy n="1" d="2"/>
        </p:scale>
        <p:origin x="0" y="0"/>
      </p:cViewPr>
      <p:guideLst>
        <p:guide orient="horz" pos="1653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microsoft.com/office/2018/10/relationships/authors" Target="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modernComment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6E79F52-C49C-4640-87F6-B584F52AC661}" authorId="{AED078BD-FF22-03A6-6CBB-9FDE3E12E98E}" created="2026-10-08T06:01:10.542">
    <pc:sldMkLst xmlns:pc="http://schemas.microsoft.com/office/powerpoint/2013/main/command">
      <pc:docMk/>
      <pc:sldMk sldId="269"/>
    </pc:sldMkLst>
    <p188:txBody>
      <a:bodyPr/>
      <a:lstStyle/>
      <a:p>
        <a:r>
          <a:rPr lang="en-US"/>
          <a:t>namak ah ella permissions grant ayirikanam illenkil work avilla ennu parayanam.
permission engnokke grant cheyam ennu guide cheyende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7EFC73-5C40-4B7C-9655-97823A04F56E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7595D9-B628-4B8D-89F8-B768B78F80CD}" type="slidenum">
              <a:rPr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NexMind — team leader Jeevan V.</a:t>
            </a:r>
          </a:p>
          <a:p/>
          <a:p>
            <a:r>
              <a:t>One-line problem: when someone is being watched, coerced or held, the normal ways to get help (calling 112, shouting, opening a safety app) are exactly what they can't do.</a:t>
            </a:r>
          </a:p>
          <a:p/>
          <a:p>
            <a:r>
              <a:t>QuickBite: an ordinary-looking food-delivery app. Calling 'the restaurant' reaches Mia, a Gemini Live persona who takes the order, teaches each danger code in the same sentence, and streams a structured incident to a response team live. Theme fit: societal impact via the theme's own named approaches, resilience strengthening and community support.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Hook: 1 in 3 women experience partner or sexual violence (WHO). One woman or girl is killed by a partner or family member every 10 minutes (UNODC/UN Women, Nov 2025: ~50,000 of ~83,000 femicides in 2024). India recorded 4,41,534 crimes against women in 2024 (NCRB, released May 2026); 'cruelty by husband or relatives' is the largest category. Fewer than 40% of women who experience violence seek any help, under 10% from police (UN DESA, World's Women 2015).</a:t>
            </a:r>
          </a:p>
          <a:p/>
          <a:p>
            <a:r>
              <a:t>The insight: the danger is often in the same room. A visible SOS, a 112 call or a shout can provoke immediate violence. Help has to be invisible to the person watching.</a:t>
            </a:r>
          </a:p>
          <a:p/>
          <a:p>
            <a:r>
              <a:t>Story: Priya (illustrative) opens a normal food app and calls 'the restaurant'. Mia, a Gemini Live persona, asks menu questions and says each code's real meaning in the same sentence, so Priya never has to have memorised anything. Her partner hears an order; responders see a live incident and Mia routes her to safety.</a:t>
            </a:r>
          </a:p>
          <a:p/>
          <a:p>
            <a:r>
              <a:t>Sources: https://www.who.int/news-room/fact-sheets/detail/violence-against-women ; https://news.un.org/en/story/2025/11/1166452 ; NCRB Crime in India 2024 via https://theprint.in/india/ncrb-report-out-crimes-against-women-saw-minor-dip-in-2024-maximum-cases-were-cruelty-by-husband/2924248/ ; https://unstats.un.org/unsd/gender/chapter6/chapter6.html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How different: compare against what a person in danger can use today.</a:t>
            </a:r>
          </a:p>
          <a:p>
            <a:r>
              <a:t>- A 112 call or the phone's SOS works but is obvious to anyone in the room.</a:t>
            </a:r>
          </a:p>
          <a:p>
            <a:r>
              <a:t>- SOS apps (Delhi Police Himmat Plus, bSafe, Noonlight) send an alert but are visibly safety apps and mostly one-way.</a:t>
            </a:r>
          </a:p>
          <a:p>
            <a:r>
              <a:t>- Disguised apps exist (Aspire News since ~2013 hides a help button inside a news app) but need pre-set contacts and only send a one-way alert.</a:t>
            </a:r>
          </a:p>
          <a:p>
            <a:r>
              <a:t>- Code words (Ask for Angela, Signal for Help) must be known in advance and work in person.</a:t>
            </a:r>
          </a:p>
          <a:p>
            <a:r>
              <a:t>- The famous 2019 Oregon, Ohio 'pizza order' 911 call worked only because the dispatcher guessed. NENA says there is no universal code because abusers would learn it.</a:t>
            </a:r>
          </a:p>
          <a:p/>
          <a:p>
            <a:r>
              <a:t>QuickBite makes the pizza call systematic: the AI does the guessing every time and teaches its own code in the conversation, so nothing is published or memorised.</a:t>
            </a:r>
          </a:p>
          <a:p/>
          <a:p>
            <a:r>
              <a:t>How it solves it: the disguise holds; the incident exists from the first second with location; facts stream live; Mia brings help back (route to safety, first aid, responder messages).</a:t>
            </a:r>
          </a:p>
          <a:p/>
          <a:p>
            <a:r>
              <a:t>Honest framing: disguise alone is not new. The combination (live AI persona + codes taught in the call + live structured extraction + two-way guidance) is what we did not find anywhere.</a:t>
            </a:r>
          </a:p>
          <a:p/>
          <a:p>
            <a:r>
              <a:t>Sources: https://www.cnn.com/2019/11/26/us/what-to-do-if-you-cant-speak-to-911 ; https://abc7news.com/911-call-pizza-order-oregon-ohio/5715159/ ; https://www.domesticshelters.org/articles/technology/apps-designed-to-keep-you-safe ; https://apps.apple.com/us/app/himmat-plus/id1337677961 ; https://en.wikipedia.org/wiki/Ask_for_Angela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Six groups, everything verified against the code.</a:t>
            </a:r>
          </a:p>
          <a:p>
            <a:r>
              <a:t>1) Four hidden ways in, all separate forks from the home screen: Call to order (Gemini Live call with Mia); Click &amp; order (menu items are codes, quantity = people, delivery speed = urgency; the order-tracking screen mirrors the responder's real status: Rider assigned / On the way / Delivered); Delivery instructions (five ordinary options, long-press reveals the meaning, optional photo analysed by Gemini); Heart double-tap silent SOS (screen goes black like the phone is off, records mic + front and back cameras, a silent Gemini observer reports what it sees and hears; three taps to exit).</a:t>
            </a:r>
          </a:p>
          <a:p>
            <a:r>
              <a:t>2) Mia: covert mode (only food words) and open mode (plain dispatcher + first aid), switching instantly if someone comes near; 12 tools; multilingual; voice stress; coercion signals (second voice, scripted answers, forced cancel); camera + background sound (weapon, vehicle, plate, gunshot).</a:t>
            </a:r>
          </a:p>
          <a:p>
            <a:r>
              <a:t>3) Safety: live GPS trail, turn-by-turn routing (OSRM) to the nearest police/hospital/fire with landmarks (Photon/OSM), disguised as meeting the rider.</a:t>
            </a:r>
          </a:p>
          <a:p>
            <a:r>
              <a:t>4) After the call: Gemini case summary with per-field confidence, dispatch bulletin, redaction of third-party details, linked-case detection, case-report email with PDF and scene sketch, trusted-contact email alert, recordings to Google Drive.</a:t>
            </a:r>
          </a:p>
          <a:p>
            <a:r>
              <a:t>5) Console: see snapshots slide.</a:t>
            </a:r>
          </a:p>
          <a:p>
            <a:r>
              <a:t>6) Security: zero-trace exit replaces browser history; App Check with reCAPTCHA Enterprise; Firestore rules (no deletes, status only moves forward); gitleaks secret scanning on every push.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Read left to right; lanes show who does what.</a:t>
            </a:r>
          </a:p>
          <a:p>
            <a:r>
              <a:t>1. Priya opens QuickBite and picks a way in. 2. The incident is written to Firestore the instant the call starts, with GPS (or IP fallback) location, before any AI output; the responder console rings and pins it. 3. Mia asks a coded question and says its meaning in the same breath; Priya answers as if ordering. 4. Each answer becomes a function call; the app writes the fields and computes severity with deterministic rules (not AI). 5. A responder acknowledges (a Firestore transaction, so only one can claim it) and can message the caller; Mia relays it as delivery chat and gives turn-by-turn directions to the nearest police station or hospital. 6. On hang-up, a zero-trace exit removes the call from browser history; Gemini writes the case summary, redacts third-party details and links related cases. 7. Case record and report email; when the responder resolves it, the caller's order screen simply says Delivered.</a:t>
            </a:r>
          </a:p>
          <a:p/>
          <a:p>
            <a:r>
              <a:t>Use cases: a person in danger (domestic violence, being followed, abduction, hostage), a witness reporting for someone else (crime, group fight, child in danger, fire/accident), responders and admins.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Five screens of the caller journey. 1 and 2 are real screenshots of the deployed app: a complete food app (menu, categories, offers, cart, checkout). The heart icon hides the silent SOS (double-tap). Long-pressing a coded menu item reveals its meaning, so a caller can learn the code silently.</a:t>
            </a:r>
          </a:p>
          <a:p>
            <a:r>
              <a:t>3. The call screen: Mia always says the real meaning in the same sentence as the food question. Nothing to memorise, ever.</a:t>
            </a:r>
          </a:p>
          <a:p>
            <a:r>
              <a:t>4. Delivery instructions: for when no sound is safe. Five ordinary instructions; long-press shows the meaning (e.g. "Don't ring, leave silently" = a weapon is present). Optional photo is read by Gemini.</a:t>
            </a:r>
          </a:p>
          <a:p>
            <a:r>
              <a:t>5. Silent SOS: the screen goes black as if the phone were off while mic and cameras stream to responders and a silent Gemini observer reports what it sees and hears. Honest limitation: the OS camera-in-use indicator can't be hidden.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The backend is managed Firebase (Firestore, Auth, security rules). The QuickBite web app talks to Gemini Live directly over a WebSocket: the phone streams 16 kHz audio and a low-resolution camera frame every 2 seconds, and Mia answers by voice and with function calls.</a:t>
            </a:r>
            <a:endParaRPr lang="en-US"/>
          </a:p>
          <a:p>
            <a:r>
              <a:rPr lang="en-US"/>
              <a:t>The phone runs every tool call itself (severity rules, geocoding, routing) and writes the result to Cloud Firestore through one shared incident client, so the incident exists the moment a call starts and fills in field by field. The responder console is a separate React app that subscribes with Firestore realtime listeners; acknowledgements, notes and messages are written back the same way, and Mia relays messages as delivery chat.</a:t>
            </a:r>
            <a:endParaRPr lang="en-US"/>
          </a:p>
          <a:p>
            <a:r>
              <a:rPr lang="en-US"/>
              <a:t>After the call, the phone sends one request to gemini-3.5-flash-lite for the case summary, dispatch bulletin and third-party redactions, and gemini-3.1-flash-lite links the case to recent ones. The console uses gemini-3.1-flash-lite for Ask AI search, credibility checks and insights.</a:t>
            </a:r>
            <a:endParaRPr lang="en-US"/>
          </a:p>
          <a:p>
            <a:r>
              <a:rPr lang="en-US"/>
              <a:t>The full architecture documentation (overview, live-call sequence, Gemini agent loop, data and security, deployment) is linked at the bottom of the slide: https://github.com/Jeevanvsan/ai_builder_hack/tree/main/covert_call/docs/architecture#readme</a:t>
            </a:r>
            <a:endParaRPr lang="en-US"/>
          </a:p>
          <a:p>
            <a:r>
              <a:rPr lang="en-US"/>
              <a:t>Around that core: Apps Script stores recordings in Google Drive and sends the case-report email and trusted-contact alerts; GPS with an IP fallback, Nominatim and Photon geocoding and OSRM routing handle location; live video and listen-in are peer-to-peer WebRTC, with Firestore carrying only the handshake. Gemini keys use the free tier first and a paid key on quota errors, and token usage is recorded on every incident.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Google AI: Gemini Live API is the only option that does real-time two-way voice, vision and function calling in one session, which is exactly what a disguised call needs. Smaller Flash-Lite models handle the post-call and console tasks cheaply. Firebase AI Logic with App Check lets the web app call Gemini without shipping a key. Gemma 4 is used as a free judge in our evaluation harness.</a:t>
            </a:r>
          </a:p>
          <a:p/>
          <a:p>
            <a:r>
              <a:t>Firebase/Google Cloud: four Hosting sites (caller app, responder console, landing, staging); Cloud Firestore as database and realtime channel; Auth for responders (email/password), callers (an invisible device ID) and optional phone OTP; Apps Script + Drive for evidence storage and email without billing; BigQuery sandbox for anonymised analytics.</a:t>
            </a:r>
          </a:p>
          <a:p/>
          <a:p>
            <a:r>
              <a:t>Apps: React + Vite + TypeScript on the web, React Native/Expo on Android with a custom Kotlin module that taps camera frames out of WebRTC and routes audio to the earpiece. Open map data (OSM, Nominatim, Photon, OSRM) for geocoding and routing. Quality: GitHub Actions secret scanning, APK release workflow, an evaluation harness with real Live calls.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Cost is computed, not guessed: every incident records its Gemini token usage per task, and the evaluation run gives measured token counts per call. Multiplied by the Gemini paid-tier prices in shared/aiModels.ts (gemini-3.8-live: text in $0.75, audio in $3.00, text out $4.50, audio out $12.00 per 1M tokens; 3.5 Flash-Lite $0.30/$2.50; 3.1 Flash-Lite $0.25/$1.50).</a:t>
            </a:r>
          </a:p>
          <a:p/>
          <a:p>
            <a:r>
              <a:t>Fixed cost at prototype scale is zero: Firebase Hosting and Firestore free tier, Apps Script + Drive, OpenStreetMap services. A real deployment would move to the Blaze pay-as-you-go plan; cost stays proportional to calls.</a:t>
            </a:r>
          </a:p>
          <a:p/>
          <a:p>
            <a:r>
              <a:t>The live call is almost all of the cost, because the persona prompt is re-read on every reply. It was rewritten from ~52 KB to ~22 KB on 7 Oct 2026, before this evaluation run, so the measured cost already includes that saving. Also done: silent tool responses (inferences per 4-turn call from ~22 to 5), low-resolution 0.5 fps frames, context compression, smallest model per task, free-tier key first.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Real screenshots from the deployed console during test calls.</a:t>
            </a:r>
          </a:p>
          <a:p>
            <a:r>
              <a:t>Left: the case board. Evidence tiles spring in around the caller's live position as Gemini reports them: threat (weapon, injury), subjects, voice stress, linked cases (same person or vehicle in other incidents) and the route to safety Gemini chose (here the nearest hospital, 2 minutes away, next turn shown).</a:t>
            </a:r>
          </a:p>
          <a:p>
            <a:r>
              <a:t>Top right: the live queue: new incidents pinned and highlighted until someone opens them, then ranked by severity, unclaimed, live, waiting time; plain-language AI search.</a:t>
            </a:r>
          </a:p>
          <a:p>
            <a:r>
              <a:t>Bottom right: Seen &amp; heard: Gemini logged a Malayalam background conversation as sound evidence while the caller answered in code.</a:t>
            </a:r>
          </a:p>
          <a:p/>
          <a:p>
            <a:r>
              <a:t>Also in the console (not shown): live transcript with codes decoded, live video and listen-in, replay scrubber, scene sketch, analytics with AI insights, responder management and performance.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Method: 17 scenarios, each a real gemini-3.8-live voice session using Mia's production persona and 12 tools, against a simulated caller (gemini-3.1-flash-lite) playing the person in danger. Mocks: fake GPS feeding the real routing code, camera frames and recorded sound, and the silent SOS observer. Every call is written to Firestore as a DEMO incident through the same shared client the app uses, then scored two ways: strict keyword checks, and an AI judge (Gemma 4) reading exactly what the dashboard holds.</a:t>
            </a:r>
          </a:p>
          <a:p/>
          <a:p>
            <a:r>
              <a:t>Result: 70/88 strict (80%), 74/88 judged (84%). Perfect on chase, negation (no weapon / not hurt correctly NOT flagged) and calm welfare checks; strong on covert, open mode and languages (Malayalam/Manglish 5/5).</a:t>
            </a:r>
          </a:p>
          <a:p/>
          <a:p>
            <a:r>
              <a:t>Speed: the incident exists 0.11 s after the call starts; Mia greets in 1.3 s and replies in 1.2 s median; first danger tag 15 s median (it needs the caller's first answer); case summary 2.3 s after hang-up. Misses on target: reply p95 3.3 s (target 2.5) and route guidance 6.6 s (target 5; a 6 s holding line keeps Mia talking meanwhile).</a:t>
            </a:r>
          </a:p>
          <a:p/>
          <a:p>
            <a:r>
              <a:t>What we are fixing: Mia said 'police' aloud in two covert calls (cover break); background gunshots and the knife on camera were not reported in the harness runs; one false alarm on a genuine food order. We show these because the harness exists to find them before a real caller does.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Next 3 months, pilot-ready: close the gaps the evaluation found (Mia saying 'police' in covert mode, missed gunshot and knife detection, reply p95 above 2.5 s). A Cloud Run backend with Agent Development Kit agents (dispatch prioritisation, credibility verification, resource allocation) also moves the remaining keys server-side. Google Geocoding/Places instead of free OSM geocoders for precise Indian addresses. TURN relay so live video works on strict networks. Native parity (motion alerts, case report, AI Logic) then iOS.</a:t>
            </a:r>
          </a:p>
          <a:p/>
          <a:p>
            <a:r>
              <a:t>6-12 months, real dispatch: integrate with India's 112 Emergency Response Support System so decoded incidents reach the state response centre; pilot with an NGO and a police unit; more languages; a responder field app.</a:t>
            </a:r>
          </a:p>
          <a:p/>
          <a:p>
            <a:r>
              <a:t>Platform: Bluetooth mesh relay for no-signal areas, on-device Gemini Nano extraction, an anonymous whistleblowing channel on the same backbone, and the Android integration path on the next slide.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Links. GitHub: https://github.com/Jeevanvsan/ai_builder_hack (public). Demo video: [add link]. Caller app: https://quickbite-5cde0.web.app (best on a phone; allow microphone, camera and location). Responder console: https://quickbite-5cde0-dashboard.web.app (judge login on the slide). Landing page with the Android APK download and demo clips: https://quickbite-5cde0-landing.web.app</a:t>
            </a:r>
          </a:p>
          <a:p/>
          <a:p>
            <a:r>
              <a:t>Suggested two-screen demo: console on a laptop, caller app on a phone, tap Call to order, say 'order' to keep the food cover, answer Mia's menu questions and watch the incident populate live. The hidden practice call (long-press the logo for 2 seconds) runs the same flow without reaching responders.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Links. GitHub: https://github.com/Jeevanvsan/ai_builder_hack (public). Demo video: [add link]. Caller app: https://quickbite-5cde0.web.app (best on a phone; allow microphone, camera and location). Responder console: https://quickbite-5cde0-dashboard.web.app (judge login on the slide). Landing page with the Android APK download and demo clips: https://quickbite-5cde0-landing.web.app</a:t>
            </a:r>
          </a:p>
          <a:p/>
          <a:p>
            <a:r>
              <a:t>Suggested two-screen demo: console on a laptop, caller app on a phone, tap Call to order, say 'order' to keep the food cover, answer Mia's menu questions and watch the incident populate live. The hidden practice call (long-press the logo for 2 seconds) runs the same flow without reaching responders.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Close: QuickBite proves that an AI can hold a disguise and run an emergency at the same time. A person in danger orders dinner; a response team gets a located, structured, live incident; Mia guides them to safety. Built on Gemini Live and Firebase, and ready to become a Discreet mode in Android. Thank you.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github.com/Jeevanvsan/ai_builder_hack/tree/main/covert_call/docs/architecture#readme" TargetMode="Externa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docs.google.com/spreadsheets/d/19s3mMe2nNcZM_Z_tzK-qhx9iXAsQteTn/edit?usp=sharing" TargetMode="Externa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docs.google.com/spreadsheets/d/1fUVyPzAyDgvhrUJFWH-G35BiqVEt-5Tz/edit?usp=sharing" TargetMode="Externa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hyperlink" Target="https://docs.google.com/spreadsheets/d/1fUVyPzAyDgvhrUJFWH-G35BiqVEt-5Tz/edit?usp=sharing" TargetMode="External"/><Relationship Id="rId8" Type="http://schemas.openxmlformats.org/officeDocument/2006/relationships/hyperlink" Target="https://docs.google.com/spreadsheets/d/19s3mMe2nNcZM_Z_tzK-qhx9iXAsQteTn/edit?usp=sharing" TargetMode="External"/><Relationship Id="rId7" Type="http://schemas.openxmlformats.org/officeDocument/2006/relationships/hyperlink" Target="https://drive.google.com/file/d/1uBdzXwyzJghvpMSNXqDNOqFgilbk9s8X/view" TargetMode="External"/><Relationship Id="rId6" Type="http://schemas.openxmlformats.org/officeDocument/2006/relationships/hyperlink" Target="https://quickbite-5cde0-landing.web.app/" TargetMode="External"/><Relationship Id="rId5" Type="http://schemas.openxmlformats.org/officeDocument/2006/relationships/hyperlink" Target="https://quickbite-5cde0-landing.web.app/#demo" TargetMode="External"/><Relationship Id="rId4" Type="http://schemas.openxmlformats.org/officeDocument/2006/relationships/hyperlink" Target="https://drive.google.com/file/d/1C_uAcb8oxiq72EqzidJGWY9G5PN_tAKt/view" TargetMode="External"/><Relationship Id="rId3" Type="http://schemas.openxmlformats.org/officeDocument/2006/relationships/hyperlink" Target="https://github.com/Jeevanvsan/ai_builder_hack" TargetMode="External"/><Relationship Id="rId2" Type="http://schemas.openxmlformats.org/officeDocument/2006/relationships/image" Target="../media/image3.png"/><Relationship Id="rId16" Type="http://schemas.openxmlformats.org/officeDocument/2006/relationships/notesSlide" Target="../notesSlides/notesSlide13.xml"/><Relationship Id="rId15" Type="http://schemas.openxmlformats.org/officeDocument/2006/relationships/slideLayout" Target="../slideLayouts/slideLayout1.xml"/><Relationship Id="rId14" Type="http://schemas.openxmlformats.org/officeDocument/2006/relationships/hyperlink" Target="https://quickbite-5cde0-dashboard.web.app" TargetMode="External"/><Relationship Id="rId13" Type="http://schemas.openxmlformats.org/officeDocument/2006/relationships/hyperlink" Target="https://quickbite-5cde0.web.app/" TargetMode="External"/><Relationship Id="rId12" Type="http://schemas.openxmlformats.org/officeDocument/2006/relationships/hyperlink" Target="https://quickbite-5cde0-dashboard.web.app/incident/INC-MUZKKVL1" TargetMode="External"/><Relationship Id="rId11" Type="http://schemas.openxmlformats.org/officeDocument/2006/relationships/hyperlink" Target="https://quickbite-5cde0-dashboard.web.app/incident/INC-MUZNKM7N" TargetMode="External"/><Relationship Id="rId10" Type="http://schemas.openxmlformats.org/officeDocument/2006/relationships/hyperlink" Target="https://quickbite-5cde0-landing.web.app/manual" TargetMode="Externa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5" Type="http://schemas.microsoft.com/office/2018/10/relationships/comments" Target="../comments/modernComment1.xml"/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761488"/>
            <a:ext cx="8760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Team Details</a:t>
            </a:r>
            <a:endParaRPr lang="en-US" sz="2100">
              <a:latin typeface="Google Sans Flex SemiBold" panose="020B0503030502040204"/>
              <a:ea typeface="Google Sans Flex SemiBold" panose="020B0503030502040204"/>
              <a:cs typeface="Google Sans Flex SemiBold" panose="020B0503030502040204"/>
              <a:sym typeface="Google Sans Flex SemiBold" panose="020B0503030502040204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 panose="020B0503030502040204"/>
              <a:buAutoNum type="alphaLcPeriod"/>
            </a:pPr>
            <a:r>
              <a:rPr lang="en-GB" sz="1600" dirty="0"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Team name: </a:t>
            </a:r>
            <a:r>
              <a:rPr lang="en-US" sz="1600" b="1" dirty="0" err="1">
                <a:solidFill>
                  <a:srgbClr val="E8590C"/>
                </a:solidFill>
                <a:latin typeface="Google Sans Flex" panose="020B0503030502040204"/>
              </a:rPr>
              <a:t>NexMind</a:t>
            </a:r>
            <a:endParaRPr lang="en-US" sz="1800" dirty="0" err="1">
              <a:latin typeface="Google Sans Flex" panose="020B0503030502040204"/>
              <a:ea typeface="Google Sans Flex" panose="020B0503030502040204"/>
              <a:cs typeface="Google Sans Flex" panose="020B0503030502040204"/>
              <a:sym typeface="Google Sans Flex" panose="020B0503030502040204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 panose="020B0503030502040204"/>
              <a:buAutoNum type="alphaLcPeriod"/>
            </a:pPr>
            <a:r>
              <a:rPr lang="en-GB" sz="1600"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Team leader name: </a:t>
            </a:r>
            <a:r>
              <a:rPr lang="en-US" sz="1600" b="1">
                <a:solidFill>
                  <a:srgbClr val="E8590C"/>
                </a:solidFill>
                <a:latin typeface="Google Sans Flex" panose="020B0503030502040204"/>
              </a:rPr>
              <a:t>Jeevan V</a:t>
            </a:r>
            <a:endParaRPr lang="en-US" sz="1800">
              <a:latin typeface="Google Sans Flex" panose="020B0503030502040204"/>
              <a:ea typeface="Google Sans Flex" panose="020B0503030502040204"/>
              <a:cs typeface="Google Sans Flex" panose="020B0503030502040204"/>
              <a:sym typeface="Google Sans Flex" panose="020B0503030502040204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 panose="020B0503030502040204"/>
              <a:buAutoNum type="alphaLcPeriod"/>
            </a:pPr>
            <a:r>
              <a:rPr lang="en-GB" sz="1600"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Problem Statement: </a:t>
            </a:r>
            <a:endParaRPr lang="en-US" sz="1800">
              <a:latin typeface="Google Sans Flex" panose="020B0503030502040204"/>
              <a:ea typeface="Google Sans Flex" panose="020B0503030502040204"/>
              <a:cs typeface="Google Sans Flex" panose="020B0503030502040204"/>
              <a:sym typeface="Google Sans Flex" panose="020B0503030502040204"/>
            </a:endParaRPr>
          </a:p>
          <a:p>
            <a:pPr marL="91440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Sometimes danger isn't loud yet — someone nearby just feels wrong: a stranger watching you on a train, a presence at the office after hours, a visitor whose </a:t>
            </a:r>
            <a:r>
              <a:rPr lang="en-US" sz="1000" b="0" i="0" dirty="0" err="1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behaviour</a:t>
            </a:r>
            <a:r>
              <a:rPr lang="en-US" sz="1000" b="0" i="0" dirty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turns, a partner in the room. You sense it before anything happens, but </a:t>
            </a:r>
            <a:r>
              <a:rPr lang="en-US" sz="1000" b="0" i="0" dirty="0" err="1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dialling</a:t>
            </a:r>
            <a:r>
              <a:rPr lang="en-US" sz="1000" b="0" i="0" dirty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112 / 911, shouting or opening an SOS app would reveal you and provoke the very person you fear. </a:t>
            </a:r>
            <a:r>
              <a:rPr lang="en-US" sz="1000" b="0" i="0" dirty="0" err="1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QuickBite</a:t>
            </a:r>
            <a:r>
              <a:rPr lang="en-US" sz="1000" b="0" i="0" dirty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is a real food-delivery app that is secretly a two-way emergency line. A Gemini Live “restaurant employee” turns a whispered food order into a live, located incident for responders and guides you to safety, without ever breaking the disguise.</a:t>
            </a:r>
            <a:endParaRPr lang="en-US" sz="10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914400" indent="0">
              <a:lnSpc>
                <a:spcPct val="120000"/>
              </a:lnSpc>
              <a:spcBef>
                <a:spcPts val="500"/>
              </a:spcBef>
            </a:pPr>
            <a:r>
              <a:rPr lang="en-US" sz="1050" b="1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Theme: Sustainability &amp; Social Impact  ·  resilience strengthening  ·  community support</a:t>
            </a:r>
            <a:endParaRPr lang="en-US" sz="1050" b="1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2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3649"/>
            <a:ext cx="9144000" cy="50006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03504"/>
            <a:ext cx="89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Brief about the idea</a:t>
            </a:r>
            <a:endParaRPr lang="en-US"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sp>
        <p:nvSpPr>
          <p:cNvPr id="72" name="Takeaway"/>
          <p:cNvSpPr txBox="1"/>
          <p:nvPr/>
        </p:nvSpPr>
        <p:spPr>
          <a:xfrm>
            <a:off x="365760" y="969264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>
                <a:solidFill>
                  <a:srgbClr val="E8590C"/>
                </a:solidFill>
                <a:latin typeface="Arial" panose="020B0604020202020204"/>
              </a:rPr>
              <a:t>The people who most need help often can't be seen asking for it</a:t>
            </a:r>
            <a:endParaRPr lang="en-US" sz="1300" b="1" i="0">
              <a:solidFill>
                <a:srgbClr val="E8590C"/>
              </a:solidFill>
              <a:latin typeface="Arial" panose="020B0604020202020204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365760" y="1371600"/>
            <a:ext cx="2788920" cy="7315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475488" y="1426464"/>
            <a:ext cx="114300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700" b="1" i="0">
                <a:solidFill>
                  <a:srgbClr val="D6336C"/>
                </a:solidFill>
                <a:latin typeface="Arial" panose="020B0604020202020204"/>
              </a:rPr>
              <a:t>1 in 3</a:t>
            </a:r>
            <a:endParaRPr lang="en-US" sz="1700" b="1" i="0">
              <a:solidFill>
                <a:srgbClr val="D6336C"/>
              </a:solidFill>
              <a:latin typeface="Arial" panose="020B0604020202020204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645920" y="1435608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en-US" sz="9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women experience partner or sexual violence in their lifetime</a:t>
            </a:r>
            <a:endParaRPr lang="en-US" sz="9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645920" y="1949329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650" b="0" i="0">
                <a:solidFill>
                  <a:srgbClr val="5F6368"/>
                </a:solidFill>
                <a:latin typeface="Arial" panose="020B0604020202020204"/>
              </a:rPr>
              <a:t>WHO, 2026</a:t>
            </a:r>
            <a:endParaRPr lang="en-US" sz="65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365760" y="2176272"/>
            <a:ext cx="2788920" cy="7315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475488" y="2231136"/>
            <a:ext cx="114300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700" b="1" i="0">
                <a:solidFill>
                  <a:srgbClr val="D6336C"/>
                </a:solidFill>
                <a:latin typeface="Arial" panose="020B0604020202020204"/>
              </a:rPr>
              <a:t>10 min</a:t>
            </a:r>
            <a:endParaRPr lang="en-US" sz="1700" b="1" i="0">
              <a:solidFill>
                <a:srgbClr val="D6336C"/>
              </a:solidFill>
              <a:latin typeface="Arial" panose="020B0604020202020204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645920" y="2240279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en-US" sz="9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woman or girl is killed by a partner or family member, every 10 minutes</a:t>
            </a:r>
            <a:endParaRPr lang="en-US" sz="9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645920" y="2741441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650" b="0" i="0">
                <a:solidFill>
                  <a:srgbClr val="5F6368"/>
                </a:solidFill>
                <a:latin typeface="Arial" panose="020B0604020202020204"/>
              </a:rPr>
              <a:t>UNODC / UN Women, 2025</a:t>
            </a:r>
            <a:endParaRPr lang="en-US" sz="65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365760" y="2980944"/>
            <a:ext cx="2788920" cy="7315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475488" y="3035808"/>
            <a:ext cx="114300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700" b="1" i="0">
                <a:solidFill>
                  <a:srgbClr val="D6336C"/>
                </a:solidFill>
                <a:latin typeface="Arial" panose="020B0604020202020204"/>
              </a:rPr>
              <a:t>4.41 lakh</a:t>
            </a:r>
            <a:endParaRPr lang="en-US" sz="1700" b="1" i="0">
              <a:solidFill>
                <a:srgbClr val="D6336C"/>
              </a:solidFill>
              <a:latin typeface="Arial" panose="020B0604020202020204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645920" y="3044951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en-US" sz="9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crimes against women recorded in India in 2024</a:t>
            </a:r>
            <a:endParaRPr lang="en-US" sz="9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645920" y="3502151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650" b="0" i="0">
                <a:solidFill>
                  <a:srgbClr val="5F6368"/>
                </a:solidFill>
                <a:latin typeface="Arial" panose="020B0604020202020204"/>
              </a:rPr>
              <a:t>NCRB, 2026</a:t>
            </a:r>
            <a:endParaRPr lang="en-US" sz="65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365760" y="3785615"/>
            <a:ext cx="2788920" cy="7315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75488" y="3840479"/>
            <a:ext cx="114300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700" b="1" i="0">
                <a:solidFill>
                  <a:srgbClr val="D6336C"/>
                </a:solidFill>
                <a:latin typeface="Arial" panose="020B0604020202020204"/>
              </a:rPr>
              <a:t>&lt; 40%</a:t>
            </a:r>
            <a:endParaRPr lang="en-US" sz="1700" b="1" i="0">
              <a:solidFill>
                <a:srgbClr val="D6336C"/>
              </a:solidFill>
              <a:latin typeface="Arial" panose="020B0604020202020204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645920" y="3849624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en-US" sz="9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of women facing violence seek any help; under 10% go to police</a:t>
            </a:r>
            <a:endParaRPr lang="en-US" sz="9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645920" y="4375906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650" b="0" i="0">
                <a:solidFill>
                  <a:srgbClr val="5F6368"/>
                </a:solidFill>
                <a:latin typeface="Arial" panose="020B0604020202020204"/>
              </a:rPr>
              <a:t>UN DESA</a:t>
            </a:r>
            <a:endParaRPr lang="en-US" sz="65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429000" y="1353312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850" b="1" i="0">
                <a:solidFill>
                  <a:srgbClr val="5F6368"/>
                </a:solidFill>
                <a:latin typeface="Arial" panose="020B0604020202020204"/>
              </a:rPr>
              <a:t>ONE CALL, TWO CONVERSATIONS</a:t>
            </a:r>
            <a:endParaRPr lang="en-US" sz="850" b="1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90" name="Oval 89"/>
          <p:cNvSpPr/>
          <p:nvPr/>
        </p:nvSpPr>
        <p:spPr>
          <a:xfrm>
            <a:off x="3429000" y="1645920"/>
            <a:ext cx="274320" cy="27432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lang="en-US" sz="1000" b="1" i="0">
                <a:solidFill>
                  <a:srgbClr val="FFFFFF"/>
                </a:solidFill>
                <a:latin typeface="Arial" panose="020B0604020202020204"/>
              </a:rPr>
              <a:t>1</a:t>
            </a:r>
            <a:endParaRPr lang="en-US" sz="1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813048" y="1627632"/>
            <a:ext cx="4892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en-US" sz="10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of many: Priya's partner is in the room, watching her phone. (Same flow fits a train, a late office, an unsafe visit.)</a:t>
            </a:r>
            <a:endParaRPr lang="en-US" sz="10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2" name="Oval 91"/>
          <p:cNvSpPr/>
          <p:nvPr/>
        </p:nvSpPr>
        <p:spPr>
          <a:xfrm>
            <a:off x="3429000" y="2029968"/>
            <a:ext cx="274320" cy="27432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lang="en-US" sz="1000" b="1" i="0">
                <a:solidFill>
                  <a:srgbClr val="FFFFFF"/>
                </a:solidFill>
                <a:latin typeface="Arial" panose="020B0604020202020204"/>
              </a:rPr>
              <a:t>2</a:t>
            </a:r>
            <a:endParaRPr lang="en-US" sz="1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813048" y="2011680"/>
            <a:ext cx="4892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en-US" sz="1050" b="0" i="0" dirty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She opens </a:t>
            </a:r>
            <a:r>
              <a:rPr lang="en-US" sz="1050" b="0" i="0" dirty="0" err="1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QuickBite</a:t>
            </a:r>
            <a:r>
              <a:rPr lang="en-US" sz="1050" b="0" i="0" dirty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and taps “Call to order”.</a:t>
            </a:r>
            <a:endParaRPr lang="en-US" sz="1050" b="0" i="0" dirty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4" name="Oval 93"/>
          <p:cNvSpPr/>
          <p:nvPr/>
        </p:nvSpPr>
        <p:spPr>
          <a:xfrm>
            <a:off x="3429000" y="2414016"/>
            <a:ext cx="274320" cy="27432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lang="en-US" sz="1000" b="1" i="0">
                <a:solidFill>
                  <a:srgbClr val="FFFFFF"/>
                </a:solidFill>
                <a:latin typeface="Arial" panose="020B0604020202020204"/>
              </a:rPr>
              <a:t>3</a:t>
            </a:r>
            <a:endParaRPr lang="en-US" sz="1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813048" y="2395728"/>
            <a:ext cx="4892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en-US" sz="10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Mia, the Gemini Live “restaurant”, answers and takes the order:</a:t>
            </a:r>
            <a:endParaRPr lang="en-US" sz="10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3813048" y="2761488"/>
            <a:ext cx="4892040" cy="835152"/>
          </a:xfrm>
          <a:prstGeom prst="roundRect">
            <a:avLst>
              <a:gd name="adj" fmla="val 8000"/>
            </a:avLst>
          </a:prstGeom>
          <a:solidFill>
            <a:srgbClr val="FD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lnSpc>
                <a:spcPct val="112000"/>
              </a:lnSpc>
            </a:pPr>
            <a:r>
              <a:rPr lang="en-US" sz="1050" b="1" i="1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"Would you like extra spicy, extra pepperoni, or garlic bread on the side? Extra spicy means someone is hurting you right now, extra pepperoni means a weapon is near you, garlic bread means you are being followed."</a:t>
            </a:r>
            <a:endParaRPr lang="en-US" sz="1050" b="1" i="1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3813048" y="3650000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10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He hears dinner being ordered. </a:t>
            </a:r>
            <a:r>
              <a:rPr lang="en-US" sz="10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Responders see a located, high-severity incident fill in field by field, then Mia guides Priya to the nearest police station as “the rider’s pickup point”.</a:t>
            </a:r>
            <a:endParaRPr lang="en-US" sz="10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8" name="Pentagon 97"/>
          <p:cNvSpPr/>
          <p:nvPr/>
        </p:nvSpPr>
        <p:spPr>
          <a:xfrm>
            <a:off x="3429000" y="4114800"/>
            <a:ext cx="1737360" cy="566928"/>
          </a:xfrm>
          <a:prstGeom prst="homePlat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12000"/>
              </a:lnSpc>
            </a:pPr>
            <a:r>
              <a:rPr lang="en-US" sz="950" b="1" i="0">
                <a:solidFill>
                  <a:srgbClr val="FFFFFF"/>
                </a:solidFill>
                <a:latin typeface="Arial" panose="020B0604020202020204"/>
              </a:rPr>
              <a:t>Disguised request</a:t>
            </a:r>
            <a:endParaRPr lang="en-US" sz="950" b="1" i="0">
              <a:solidFill>
                <a:srgbClr val="FFFFFF"/>
              </a:solidFill>
              <a:latin typeface="Arial" panose="020B0604020202020204"/>
            </a:endParaRPr>
          </a:p>
          <a:p>
            <a:pPr algn="ctr">
              <a:lnSpc>
                <a:spcPct val="112000"/>
              </a:lnSpc>
            </a:pPr>
            <a:r>
              <a:rPr lang="en-US" sz="750" b="0" i="0">
                <a:solidFill>
                  <a:srgbClr val="FFFFFF"/>
                </a:solidFill>
                <a:latin typeface="Arial" panose="020B0604020202020204"/>
              </a:rPr>
              <a:t>any of 4 hidden ways in</a:t>
            </a:r>
            <a:endParaRPr lang="en-US" sz="750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9" name="Chevron 98"/>
          <p:cNvSpPr/>
          <p:nvPr/>
        </p:nvSpPr>
        <p:spPr>
          <a:xfrm>
            <a:off x="5212080" y="4114800"/>
            <a:ext cx="1737360" cy="566928"/>
          </a:xfrm>
          <a:prstGeom prst="chevron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12000"/>
              </a:lnSpc>
            </a:pPr>
            <a:r>
              <a:rPr lang="en-US" sz="950" b="1" i="0">
                <a:solidFill>
                  <a:srgbClr val="FFFFFF"/>
                </a:solidFill>
                <a:latin typeface="Arial" panose="020B0604020202020204"/>
              </a:rPr>
              <a:t>Gemini decodes live</a:t>
            </a:r>
            <a:endParaRPr lang="en-US" sz="950" b="1" i="0">
              <a:solidFill>
                <a:srgbClr val="FFFFFF"/>
              </a:solidFill>
              <a:latin typeface="Arial" panose="020B0604020202020204"/>
            </a:endParaRPr>
          </a:p>
          <a:p>
            <a:pPr algn="ctr">
              <a:lnSpc>
                <a:spcPct val="112000"/>
              </a:lnSpc>
            </a:pPr>
            <a:r>
              <a:rPr lang="en-US" sz="750" b="0" i="0">
                <a:solidFill>
                  <a:srgbClr val="FFFFFF"/>
                </a:solidFill>
                <a:latin typeface="Arial" panose="020B0604020202020204"/>
              </a:rPr>
              <a:t>codes → structured facts</a:t>
            </a:r>
            <a:endParaRPr lang="en-US" sz="750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0" name="Chevron 99"/>
          <p:cNvSpPr/>
          <p:nvPr/>
        </p:nvSpPr>
        <p:spPr>
          <a:xfrm>
            <a:off x="6995160" y="4114800"/>
            <a:ext cx="1737360" cy="566928"/>
          </a:xfrm>
          <a:prstGeom prst="chevron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12000"/>
              </a:lnSpc>
            </a:pPr>
            <a:r>
              <a:rPr lang="en-US" sz="950" b="1" i="0">
                <a:solidFill>
                  <a:srgbClr val="FFFFFF"/>
                </a:solidFill>
                <a:latin typeface="Arial" panose="020B0604020202020204"/>
              </a:rPr>
              <a:t>Responders act</a:t>
            </a:r>
            <a:endParaRPr lang="en-US" sz="950" b="1" i="0">
              <a:solidFill>
                <a:srgbClr val="FFFFFF"/>
              </a:solidFill>
              <a:latin typeface="Arial" panose="020B0604020202020204"/>
            </a:endParaRPr>
          </a:p>
          <a:p>
            <a:pPr algn="ctr">
              <a:lnSpc>
                <a:spcPct val="112000"/>
              </a:lnSpc>
            </a:pPr>
            <a:r>
              <a:rPr lang="en-US" sz="750" b="0" i="0">
                <a:solidFill>
                  <a:srgbClr val="FFFFFF"/>
                </a:solidFill>
                <a:latin typeface="Arial" panose="020B0604020202020204"/>
              </a:rPr>
              <a:t>map, route, video, evidence</a:t>
            </a:r>
            <a:endParaRPr lang="en-US" sz="750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1" name="Footnote"/>
          <p:cNvSpPr txBox="1"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650" b="0" i="0">
                <a:solidFill>
                  <a:srgbClr val="5F6368"/>
                </a:solidFill>
                <a:latin typeface="Arial" panose="020B0604020202020204"/>
              </a:rPr>
              <a:t>Sources: WHO violence against women fact sheet (Jun 2026); UNODC/UN Women “Femicides in 2024” (Nov 2025); NCRB Crime in India 2024 (May 2026); UN DESA The World’s Women 2015. Priya is an illustrative caller.</a:t>
            </a:r>
            <a:endParaRPr lang="en-US" sz="65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102" name="LeftSectionLabel"/>
          <p:cNvSpPr>
            <a:spLocks noGrp="1"/>
          </p:cNvSpPr>
          <p:nvPr/>
        </p:nvSpPr>
        <p:spPr>
          <a:xfrm>
            <a:off x="365760" y="1150000"/>
            <a:ext cx="2788920" cy="200000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algn="l"/>
            <a:r>
              <a:rPr lang="en-US" sz="700" b="1">
                <a:solidFill>
                  <a:srgbClr val="5F6368"/>
                </a:solidFill>
                <a:latin typeface="Arial" panose="020B0604020202020204"/>
              </a:rPr>
              <a:t>THE SCALE</a:t>
            </a:r>
            <a:endParaRPr lang="en-US" sz="700" b="1">
              <a:solidFill>
                <a:srgbClr val="5F6368"/>
              </a:solidFill>
              <a:latin typeface="Arial" panose="020B0604020202020204"/>
            </a:endParaRPr>
          </a:p>
        </p:txBody>
      </p:sp>
      <p:cxnSp>
        <p:nvCxnSpPr>
          <p:cNvPr id="103" name="ColumnDivider"/>
          <p:cNvCxnSpPr/>
          <p:nvPr/>
        </p:nvCxnSpPr>
        <p:spPr>
          <a:xfrm>
            <a:off x="3300000" y="1353312"/>
            <a:ext cx="0" cy="2546688"/>
          </a:xfrm>
          <a:prstGeom prst="line">
            <a:avLst/>
          </a:prstGeom>
          <a:ln w="6350">
            <a:solidFill>
              <a:srgbClr val="D9DCE1"/>
            </a:solidFill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3649"/>
            <a:ext cx="9144000" cy="50006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03504"/>
            <a:ext cx="89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Opportunities</a:t>
            </a:r>
            <a:endParaRPr lang="en-US" sz="1600">
              <a:latin typeface="Google Sans Flex SemiBold" panose="020B0503030502040204"/>
              <a:ea typeface="Google Sans Flex SemiBold" panose="020B0503030502040204"/>
              <a:cs typeface="Google Sans Flex SemiBold" panose="020B0503030502040204"/>
              <a:sym typeface="Google Sans Flex SemiBold" panose="020B0503030502040204"/>
            </a:endParaRPr>
          </a:p>
        </p:txBody>
      </p:sp>
      <p:sp>
        <p:nvSpPr>
          <p:cNvPr id="80" name="Takeaway"/>
          <p:cNvSpPr txBox="1"/>
          <p:nvPr/>
        </p:nvSpPr>
        <p:spPr>
          <a:xfrm>
            <a:off x="365760" y="969264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>
                <a:solidFill>
                  <a:srgbClr val="E8590C"/>
                </a:solidFill>
                <a:latin typeface="Arial" panose="020B0604020202020204"/>
              </a:rPr>
              <a:t>Every other option has a tell. QuickBite looks like dinner.</a:t>
            </a:r>
            <a:endParaRPr lang="en-US" sz="1300" b="1" i="0">
              <a:solidFill>
                <a:srgbClr val="E8590C"/>
              </a:solidFill>
              <a:latin typeface="Arial" panose="020B0604020202020204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365760" y="1262555"/>
            <a:ext cx="6620000" cy="234981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12000"/>
              </a:lnSpc>
            </a:pPr>
            <a:r>
              <a:rPr lang="en-US" sz="1000" b="1" i="0">
                <a:solidFill>
                  <a:srgbClr val="1A1A1A"/>
                </a:solidFill>
                <a:latin typeface="Arial" panose="020B0604020202020204"/>
              </a:rPr>
              <a:t>How QuickBite differs from every existing option</a:t>
            </a:r>
            <a:endParaRPr lang="en-US" sz="1000" b="1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088505" y="1325880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12000"/>
              </a:lnSpc>
            </a:pPr>
            <a:r>
              <a:rPr lang="en-US" sz="1000" b="1" i="0">
                <a:solidFill>
                  <a:srgbClr val="1A1A1A"/>
                </a:solidFill>
                <a:latin typeface="Arial" panose="020B0604020202020204"/>
              </a:rPr>
              <a:t>USP of the proposed solution</a:t>
            </a:r>
            <a:endParaRPr lang="en-US" sz="1000" b="1" i="0">
              <a:solidFill>
                <a:srgbClr val="1A1A1A"/>
              </a:solidFill>
              <a:latin typeface="Arial" panose="020B0604020202020204"/>
            </a:endParaRPr>
          </a:p>
        </p:txBody>
      </p:sp>
      <p:graphicFrame>
        <p:nvGraphicFramePr>
          <p:cNvPr id="84" name="Table 83"/>
          <p:cNvGraphicFramePr>
            <a:graphicFrameLocks noGrp="1"/>
          </p:cNvGraphicFramePr>
          <p:nvPr/>
        </p:nvGraphicFramePr>
        <p:xfrm>
          <a:off x="365760" y="1737360"/>
          <a:ext cx="6619998" cy="2459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853333"/>
                <a:gridCol w="853333"/>
                <a:gridCol w="853333"/>
                <a:gridCol w="853333"/>
                <a:gridCol w="853333"/>
                <a:gridCol w="853333"/>
              </a:tblGrid>
              <a:tr h="190000">
                <a:tc>
                  <a:txBody>
                    <a:bodyPr/>
                    <a:lstStyle/>
                    <a:p>
                      <a:pPr algn="ctr"/>
                      <a:endParaRPr sz="900" dirty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Stays hidden from the abuser</a:t>
                      </a:r>
                      <a:endParaRPr lang="en-US" sz="9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3C4043"/>
                    </a:solidFill>
                  </a:tcPr>
                </a:tc>
                <a:tc hMerge="1">
                  <a:tcPr marL="36576" marR="36576" marT="12000" marB="12000" anchor="ctr">
                    <a:solidFill>
                      <a:srgbClr val="3C4043"/>
                    </a:solidFill>
                  </a:tcPr>
                </a:tc>
                <a:tc hMerge="1">
                  <a:tcPr marL="36576" marR="36576" marT="12000" marB="12000" anchor="ctr">
                    <a:solidFill>
                      <a:srgbClr val="3C404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Still gets real help</a:t>
                      </a:r>
                      <a:endParaRPr lang="en-US" sz="9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3C4043"/>
                    </a:solidFill>
                  </a:tcPr>
                </a:tc>
                <a:tc hMerge="1">
                  <a:tcPr marL="36576" marR="36576" marT="12000" marB="12000" anchor="ctr">
                    <a:solidFill>
                      <a:srgbClr val="3C4043"/>
                    </a:solidFill>
                  </a:tcPr>
                </a:tc>
                <a:tc hMerge="1">
                  <a:tcPr marL="36576" marR="36576" marT="12000" marB="12000" anchor="ctr">
                    <a:solidFill>
                      <a:srgbClr val="3C4043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r>
                        <a:rPr lang="en-US" sz="900" b="0" i="0">
                          <a:solidFill>
                            <a:srgbClr val="5F636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 yes</a:t>
                      </a:r>
                      <a:endParaRPr lang="en-US" sz="900" b="0" i="0">
                        <a:solidFill>
                          <a:srgbClr val="5F636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  <a:p>
                      <a:pPr algn="l"/>
                      <a:r>
                        <a:rPr lang="en-US" sz="900" b="0" i="0">
                          <a:solidFill>
                            <a:srgbClr val="E39B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r>
                        <a:rPr lang="en-US" sz="900" b="0" i="0">
                          <a:solidFill>
                            <a:srgbClr val="5F636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 partly / needs setup or luck</a:t>
                      </a:r>
                      <a:endParaRPr lang="en-US" sz="900" b="0" i="0">
                        <a:solidFill>
                          <a:srgbClr val="5F636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  <a:p>
                      <a:pPr algn="l"/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r>
                        <a:rPr lang="en-US" sz="900" b="0" i="0">
                          <a:solidFill>
                            <a:srgbClr val="5F636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 no</a:t>
                      </a:r>
                      <a:endParaRPr lang="en-US" sz="900" b="0" i="0">
                        <a:solidFill>
                          <a:srgbClr val="5F636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1" i="0">
                          <a:solidFill>
                            <a:srgbClr val="5F636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Screen looks innocent</a:t>
                      </a:r>
                      <a:endParaRPr lang="en-US" sz="900" b="1" i="0">
                        <a:solidFill>
                          <a:srgbClr val="5F636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1" i="0">
                          <a:solidFill>
                            <a:srgbClr val="5F636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Usable with abuser in the room</a:t>
                      </a:r>
                      <a:endParaRPr lang="en-US" sz="900" b="1" i="0">
                        <a:solidFill>
                          <a:srgbClr val="5F636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1" i="0">
                          <a:solidFill>
                            <a:srgbClr val="5F636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No code word to learn first</a:t>
                      </a:r>
                      <a:endParaRPr lang="en-US" sz="900" b="1" i="0">
                        <a:solidFill>
                          <a:srgbClr val="5F636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1" i="0">
                          <a:solidFill>
                            <a:srgbClr val="5F636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Responder can guide the caller</a:t>
                      </a:r>
                      <a:endParaRPr lang="en-US" sz="900" b="1" i="0">
                        <a:solidFill>
                          <a:srgbClr val="5F636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1" i="0">
                          <a:solidFill>
                            <a:srgbClr val="5F636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Responder sees location &amp; details live</a:t>
                      </a:r>
                      <a:endParaRPr lang="en-US" sz="900" b="1" i="0">
                        <a:solidFill>
                          <a:srgbClr val="5F636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1" i="0">
                          <a:solidFill>
                            <a:srgbClr val="5F636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Live AI talks with the caller</a:t>
                      </a:r>
                      <a:endParaRPr lang="en-US" sz="900" b="1" i="0">
                        <a:solidFill>
                          <a:srgbClr val="5F636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900" b="1" i="0">
                          <a:solidFill>
                            <a:srgbClr val="1A1A1A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Emergency SOS / 112 / 911</a:t>
                      </a:r>
                      <a:endParaRPr lang="en-US" sz="900" b="1" i="0" dirty="0">
                        <a:solidFill>
                          <a:srgbClr val="1A1A1A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900" b="1" i="0">
                          <a:solidFill>
                            <a:srgbClr val="1A1A1A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Himmat Plus</a:t>
                      </a:r>
                      <a:endParaRPr lang="en-US" sz="900" b="1" i="0" dirty="0">
                        <a:solidFill>
                          <a:srgbClr val="1A1A1A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900" b="1" i="0" dirty="0" err="1">
                          <a:solidFill>
                            <a:srgbClr val="1A1A1A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bSafe</a:t>
                      </a:r>
                      <a:endParaRPr lang="en-US" sz="900" b="1" i="0" dirty="0" err="1">
                        <a:solidFill>
                          <a:srgbClr val="1A1A1A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E39B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E39B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900" b="1" i="0">
                          <a:solidFill>
                            <a:srgbClr val="1A1A1A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Aspire News</a:t>
                      </a:r>
                      <a:endParaRPr lang="en-US" sz="900" b="1" i="0" dirty="0">
                        <a:solidFill>
                          <a:srgbClr val="1A1A1A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E39B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E39B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900" b="1" i="0">
                          <a:solidFill>
                            <a:srgbClr val="1A1A1A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Ask for Angela</a:t>
                      </a:r>
                      <a:endParaRPr lang="en-US" sz="900" b="1" i="0" dirty="0">
                        <a:solidFill>
                          <a:srgbClr val="1A1A1A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E39B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E39B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E39B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E39B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900" b="1" i="0" dirty="0" err="1">
                          <a:solidFill>
                            <a:srgbClr val="1A1A1A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RapidSOS</a:t>
                      </a:r>
                      <a:r>
                        <a:rPr lang="en-US" sz="900" b="1" i="0" dirty="0">
                          <a:solidFill>
                            <a:srgbClr val="1A1A1A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 HARMONY</a:t>
                      </a:r>
                      <a:endParaRPr lang="en-US" sz="900" b="1" i="0" dirty="0">
                        <a:solidFill>
                          <a:srgbClr val="1A1A1A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900" b="1" i="0" dirty="0" err="1">
                          <a:solidFill>
                            <a:srgbClr val="1A1A1A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Noonlight</a:t>
                      </a:r>
                      <a:endParaRPr lang="en-US" sz="900" b="1" i="0" dirty="0" err="1">
                        <a:solidFill>
                          <a:srgbClr val="1A1A1A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900" b="1" i="0" dirty="0">
                          <a:solidFill>
                            <a:srgbClr val="1A1A1A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ADT </a:t>
                      </a:r>
                      <a:r>
                        <a:rPr lang="en-US" sz="900" b="1" i="0" dirty="0" err="1">
                          <a:solidFill>
                            <a:srgbClr val="1A1A1A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SoSecure</a:t>
                      </a:r>
                      <a:endParaRPr lang="en-US" sz="900" b="1" i="0" dirty="0" err="1">
                        <a:solidFill>
                          <a:srgbClr val="1A1A1A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B0B3B8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○</a:t>
                      </a:r>
                      <a:endParaRPr lang="en-US" sz="900" b="0" i="0">
                        <a:solidFill>
                          <a:srgbClr val="B0B3B8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4F5F7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900" b="1" i="0" dirty="0" err="1">
                          <a:solidFill>
                            <a:srgbClr val="D84315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QuickBite</a:t>
                      </a:r>
                      <a:endParaRPr lang="en-US" sz="900" b="1" i="0" dirty="0" err="1">
                        <a:solidFill>
                          <a:srgbClr val="D84315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D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D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D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D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D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D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900" b="0" i="0">
                          <a:solidFill>
                            <a:srgbClr val="2F9E44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●</a:t>
                      </a:r>
                      <a:endParaRPr lang="en-US" sz="900" b="0" i="0">
                        <a:solidFill>
                          <a:srgbClr val="2F9E44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36576" marR="36576" marT="12000" marB="12000" anchor="ctr">
                    <a:solidFill>
                      <a:srgbClr val="FDE8D4"/>
                    </a:solidFill>
                  </a:tcPr>
                </a:tc>
              </a:tr>
            </a:tbl>
          </a:graphicData>
        </a:graphic>
      </p:graphicFrame>
      <p:sp>
        <p:nvSpPr>
          <p:cNvPr id="86" name="Rounded Rectangle 85"/>
          <p:cNvSpPr/>
          <p:nvPr/>
        </p:nvSpPr>
        <p:spPr>
          <a:xfrm>
            <a:off x="365760" y="4297680"/>
            <a:ext cx="6332471" cy="46920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12000"/>
              </a:lnSpc>
            </a:pPr>
            <a:r>
              <a:rPr lang="en-US" sz="9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Why not just a code word? </a:t>
            </a:r>
            <a:r>
              <a:rPr lang="en-US" sz="9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911/112 bodies avoid published codes because abusers learn them too (NENA). Mia teaches the code inside the call, so it never has to be published.</a:t>
            </a:r>
            <a:endParaRPr lang="en-US" sz="9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7040880" y="1737360"/>
            <a:ext cx="1737360" cy="2194560"/>
          </a:xfrm>
          <a:prstGeom prst="roundRect">
            <a:avLst>
              <a:gd name="adj" fmla="val 6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t"/>
          <a:lstStyle/>
          <a:p>
            <a:pPr algn="l"/>
            <a:r>
              <a:rPr lang="en-US" sz="2600" b="1" i="0">
                <a:solidFill>
                  <a:srgbClr val="FFFFFF"/>
                </a:solidFill>
                <a:latin typeface="Arial" panose="020B0604020202020204"/>
              </a:rPr>
              <a:t>“</a:t>
            </a:r>
            <a:endParaRPr lang="en-US" sz="2600" b="1" i="0">
              <a:solidFill>
                <a:srgbClr val="FFFFFF"/>
              </a:solidFill>
              <a:latin typeface="Arial" panose="020B0604020202020204"/>
            </a:endParaRPr>
          </a:p>
          <a:p>
            <a:pPr algn="l"/>
            <a:r>
              <a:rPr lang="en-US" sz="1250" b="1" i="0">
                <a:solidFill>
                  <a:srgbClr val="FFFFFF"/>
                </a:solidFill>
                <a:latin typeface="Arial" panose="020B0604020202020204"/>
              </a:rPr>
              <a:t>The only emergency line that looks like ordering dinner, and teaches its own code while you talk.</a:t>
            </a:r>
            <a:endParaRPr lang="en-US" sz="125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7040880" y="4023360"/>
            <a:ext cx="1737360" cy="749808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12000"/>
              </a:lnSpc>
            </a:pPr>
            <a:r>
              <a:rPr lang="en-US" sz="8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 product we found combines </a:t>
            </a:r>
            <a:r>
              <a:rPr lang="en-US" sz="8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all six columns</a:t>
            </a:r>
            <a:r>
              <a:rPr lang="en-US" sz="8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(desk research, Oct 2026).</a:t>
            </a:r>
            <a:endParaRPr lang="en-US" sz="8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9" name="Footnote"/>
          <p:cNvSpPr txBox="1"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650" b="0" i="0">
                <a:solidFill>
                  <a:srgbClr val="5F6368"/>
                </a:solidFill>
                <a:latin typeface="Arial" panose="020B0604020202020204"/>
              </a:rPr>
              <a:t>Sources: NENA via CNN (Nov 2019); Aspire News, Himmat Plus, bSafe, Ask for Angela, RapidSOS HARMONY, Noonlight, ADT SoSecure public pages.</a:t>
            </a:r>
            <a:endParaRPr lang="en-US" sz="650" b="0" i="0">
              <a:solidFill>
                <a:srgbClr val="5F636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3649"/>
            <a:ext cx="9144000" cy="50006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03504"/>
            <a:ext cx="89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List of features offered by the solution</a:t>
            </a:r>
            <a:endParaRPr lang="en-US"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sp>
        <p:nvSpPr>
          <p:cNvPr id="88" name="Takeaway"/>
          <p:cNvSpPr txBox="1"/>
          <p:nvPr/>
        </p:nvSpPr>
        <p:spPr>
          <a:xfrm>
            <a:off x="365760" y="969264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>
                <a:solidFill>
                  <a:srgbClr val="E8590C"/>
                </a:solidFill>
                <a:latin typeface="Arial" panose="020B0604020202020204"/>
              </a:rPr>
              <a:t>A complete loop: real situations in, one AI that listens, one console that acts</a:t>
            </a:r>
            <a:endParaRPr lang="en-US" sz="1300" b="1" i="0">
              <a:solidFill>
                <a:srgbClr val="E8590C"/>
              </a:solidFill>
              <a:latin typeface="Arial" panose="020B0604020202020204"/>
            </a:endParaRPr>
          </a:p>
        </p:txBody>
      </p:sp>
      <p:sp>
        <p:nvSpPr>
          <p:cNvPr id="113" name="Footnote"/>
          <p:cNvSpPr txBox="1"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650" b="0" i="0">
                <a:solidFill>
                  <a:srgbClr val="5F6368"/>
                </a:solidFill>
                <a:latin typeface="Arial" panose="020B0604020202020204"/>
              </a:rPr>
              <a:t>All features above are built and running in the deployed web app.</a:t>
            </a:r>
            <a:endParaRPr lang="en-US" sz="65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114" name="fcard"/>
          <p:cNvSpPr/>
          <p:nvPr/>
        </p:nvSpPr>
        <p:spPr>
          <a:xfrm>
            <a:off x="365760" y="1353312"/>
            <a:ext cx="2025000" cy="15000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5" name="num"/>
          <p:cNvSpPr/>
          <p:nvPr/>
        </p:nvSpPr>
        <p:spPr>
          <a:xfrm>
            <a:off x="475488" y="1457312"/>
            <a:ext cx="237744" cy="237744"/>
          </a:xfrm>
          <a:prstGeom prst="ellipse">
            <a:avLst/>
          </a:prstGeom>
          <a:solidFill>
            <a:srgbClr val="E8590C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lang="en-US"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6" name="ctitle"/>
          <p:cNvSpPr txBox="1"/>
          <p:nvPr/>
        </p:nvSpPr>
        <p:spPr>
          <a:xfrm>
            <a:off x="785760" y="1457312"/>
            <a:ext cx="1565000" cy="30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US" sz="1000" b="1">
                <a:solidFill>
                  <a:srgbClr val="1A1A1A"/>
                </a:solidFill>
                <a:latin typeface="Arial" panose="020B0604020202020204"/>
              </a:rPr>
              <a:t>Four ways in</a:t>
            </a:r>
            <a:endParaRPr lang="en-US" sz="1000" b="1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17" name="cbody"/>
          <p:cNvSpPr txBox="1"/>
          <p:nvPr/>
        </p:nvSpPr>
        <p:spPr>
          <a:xfrm>
            <a:off x="485760" y="1783312"/>
            <a:ext cx="1805000" cy="10300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en-US" sz="85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Call to order: live call with Mia</a:t>
            </a:r>
            <a:endParaRPr lang="en-US" sz="85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en-US" sz="850" b="0" dirty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Click &amp; order: coded cart</a:t>
            </a:r>
            <a:endParaRPr lang="en-US" sz="850" b="0" dirty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en-US" sz="85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Delivery instructions: silent taps + photo</a:t>
            </a:r>
            <a:endParaRPr lang="en-US" sz="850" b="0" dirty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en-US" sz="85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Heart double-tap SOS: silent AI observer</a:t>
            </a:r>
            <a:endParaRPr lang="en-US" sz="850" b="0" dirty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8" name="fcard"/>
          <p:cNvSpPr/>
          <p:nvPr/>
        </p:nvSpPr>
        <p:spPr>
          <a:xfrm>
            <a:off x="2494920" y="1353312"/>
            <a:ext cx="2025000" cy="15000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9" name="num"/>
          <p:cNvSpPr/>
          <p:nvPr/>
        </p:nvSpPr>
        <p:spPr>
          <a:xfrm>
            <a:off x="2604648" y="1457312"/>
            <a:ext cx="237744" cy="23774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lang="en-US"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0" name="ctitle"/>
          <p:cNvSpPr txBox="1"/>
          <p:nvPr/>
        </p:nvSpPr>
        <p:spPr>
          <a:xfrm>
            <a:off x="2914920" y="1457312"/>
            <a:ext cx="1565000" cy="30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US" sz="1000" b="1">
                <a:solidFill>
                  <a:srgbClr val="1A1A1A"/>
                </a:solidFill>
                <a:latin typeface="Arial" panose="020B0604020202020204"/>
              </a:rPr>
              <a:t>Mia, on Gemini Live</a:t>
            </a:r>
            <a:endParaRPr lang="en-US" sz="1000" b="1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21" name="cbody"/>
          <p:cNvSpPr txBox="1"/>
          <p:nvPr/>
        </p:nvSpPr>
        <p:spPr>
          <a:xfrm>
            <a:off x="2614920" y="1783312"/>
            <a:ext cx="1805000" cy="10300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marL="171450" indent="-171450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en-US" sz="85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code's meaning spoken with it</a:t>
            </a:r>
            <a:endParaRPr lang="en-US" sz="85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en-US" sz="85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12 function-calling tools, live extraction</a:t>
            </a:r>
            <a:endParaRPr lang="en-US" sz="850" b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en-US" sz="85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 languages incl. Malayalam, Hindi, Tamil</a:t>
            </a:r>
            <a:endParaRPr lang="en-US" sz="850" b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en-US" sz="85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Voice stress, coercion, camera + sound</a:t>
            </a:r>
            <a:endParaRPr lang="en-US" sz="850" b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2" name="fcard"/>
          <p:cNvSpPr/>
          <p:nvPr/>
        </p:nvSpPr>
        <p:spPr>
          <a:xfrm>
            <a:off x="4624080" y="1353312"/>
            <a:ext cx="2025000" cy="15000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3" name="num"/>
          <p:cNvSpPr/>
          <p:nvPr/>
        </p:nvSpPr>
        <p:spPr>
          <a:xfrm>
            <a:off x="4733808" y="1457312"/>
            <a:ext cx="237744" cy="237744"/>
          </a:xfrm>
          <a:prstGeom prst="ellipse">
            <a:avLst/>
          </a:prstGeom>
          <a:solidFill>
            <a:srgbClr val="2F9E44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lang="en-US"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4" name="ctitle"/>
          <p:cNvSpPr txBox="1"/>
          <p:nvPr/>
        </p:nvSpPr>
        <p:spPr>
          <a:xfrm>
            <a:off x="5044080" y="1457312"/>
            <a:ext cx="1565000" cy="30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US" sz="1000" b="1">
                <a:solidFill>
                  <a:srgbClr val="1A1A1A"/>
                </a:solidFill>
                <a:latin typeface="Arial" panose="020B0604020202020204"/>
              </a:rPr>
              <a:t>Getting to safety</a:t>
            </a:r>
            <a:endParaRPr lang="en-US" sz="1000" b="1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25" name="cbody"/>
          <p:cNvSpPr txBox="1"/>
          <p:nvPr/>
        </p:nvSpPr>
        <p:spPr>
          <a:xfrm>
            <a:off x="4736358" y="1760144"/>
            <a:ext cx="1859059" cy="1091782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en-US" sz="85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GPS with IP fallback; address geocoded</a:t>
            </a:r>
            <a:endParaRPr lang="en-US" sz="85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en-US" sz="85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Turn-by-turn route to police / hospital</a:t>
            </a:r>
            <a:endParaRPr lang="en-US" sz="850" b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en-US" sz="85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Directions disguised as “meet the rider”</a:t>
            </a:r>
            <a:endParaRPr lang="en-US" sz="850" b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en-US" sz="85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Open-mode first aid; messages via Mia</a:t>
            </a:r>
            <a:endParaRPr lang="en-US" sz="850" b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6" name="fcard"/>
          <p:cNvSpPr/>
          <p:nvPr/>
        </p:nvSpPr>
        <p:spPr>
          <a:xfrm>
            <a:off x="6753240" y="1353312"/>
            <a:ext cx="2025000" cy="15000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7" name="num"/>
          <p:cNvSpPr/>
          <p:nvPr/>
        </p:nvSpPr>
        <p:spPr>
          <a:xfrm>
            <a:off x="6862968" y="1457312"/>
            <a:ext cx="237744" cy="23774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lang="en-US"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8" name="ctitle"/>
          <p:cNvSpPr txBox="1"/>
          <p:nvPr/>
        </p:nvSpPr>
        <p:spPr>
          <a:xfrm>
            <a:off x="7173240" y="1457312"/>
            <a:ext cx="1565000" cy="30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US" sz="1000" b="1">
                <a:solidFill>
                  <a:srgbClr val="1A1A1A"/>
                </a:solidFill>
                <a:latin typeface="Arial" panose="020B0604020202020204"/>
              </a:rPr>
              <a:t>Responder console</a:t>
            </a:r>
            <a:endParaRPr lang="en-US" sz="1000" b="1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29" name="cbody"/>
          <p:cNvSpPr txBox="1"/>
          <p:nvPr/>
        </p:nvSpPr>
        <p:spPr>
          <a:xfrm>
            <a:off x="6857796" y="1783312"/>
            <a:ext cx="1920841" cy="1068613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en-US" sz="800" b="1" dirty="0">
                <a:solidFill>
                  <a:srgbClr val="E8590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80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Ranked live queue, alerts, map case board</a:t>
            </a:r>
            <a:endParaRPr lang="en-US" sz="8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en-US" sz="80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Live transcript decoded, video, listen-in</a:t>
            </a:r>
            <a:endParaRPr lang="en-US" sz="800" b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en-US" sz="80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Case summary, linked cases, report email</a:t>
            </a:r>
            <a:endParaRPr lang="en-US" sz="800" b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Char char="•"/>
            </a:pPr>
            <a:r>
              <a:rPr lang="en-US" sz="80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Analytics + AI Insights: hotspots, patterns, Gemini-written next actions</a:t>
            </a:r>
            <a:endParaRPr lang="en-US" sz="800" b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0" name="band"/>
          <p:cNvSpPr/>
          <p:nvPr/>
        </p:nvSpPr>
        <p:spPr>
          <a:xfrm>
            <a:off x="365760" y="2963312"/>
            <a:ext cx="8412480" cy="1560000"/>
          </a:xfrm>
          <a:prstGeom prst="roundRect">
            <a:avLst>
              <a:gd name="adj" fmla="val 4000"/>
            </a:avLst>
          </a:prstGeom>
          <a:solidFill>
            <a:srgbClr val="FDF1E7"/>
          </a:solidFill>
          <a:ln w="9525">
            <a:solidFill>
              <a:srgbClr val="F0D9C6"/>
            </a:solidFill>
          </a:ln>
        </p:spPr>
        <p:txBody>
          <a:bodyPr rtlCol="0" anchor="ctr"/>
          <a:lstStyle/>
          <a:p/>
        </p:txBody>
      </p:sp>
      <p:sp>
        <p:nvSpPr>
          <p:cNvPr id="131" name="bandh"/>
          <p:cNvSpPr txBox="1"/>
          <p:nvPr/>
        </p:nvSpPr>
        <p:spPr>
          <a:xfrm>
            <a:off x="525760" y="3043312"/>
            <a:ext cx="8092480" cy="24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US" sz="1150" b="1">
                <a:solidFill>
                  <a:srgbClr val="E8590C"/>
                </a:solidFill>
                <a:latin typeface="Arial" panose="020B0604020202020204"/>
              </a:rPr>
              <a:t>One AI, four ways it adapts</a:t>
            </a:r>
            <a:r>
              <a:rPr lang="en-US" sz="800" b="0">
                <a:solidFill>
                  <a:srgbClr val="5F6368"/>
                </a:solidFill>
                <a:latin typeface="Arial" panose="020B0604020202020204"/>
              </a:rPr>
              <a:t>    Mia reads the situation and switches mode — every path is live in the app.</a:t>
            </a:r>
            <a:endParaRPr lang="en-US" sz="800" b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132" name="modecol"/>
          <p:cNvSpPr txBox="1"/>
          <p:nvPr/>
        </p:nvSpPr>
        <p:spPr>
          <a:xfrm>
            <a:off x="580760" y="3393312"/>
            <a:ext cx="1913120" cy="10600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l"/>
            <a:r>
              <a:rPr lang="en-US" sz="820" b="1">
                <a:solidFill>
                  <a:srgbClr val="E8590C"/>
                </a:solidFill>
                <a:latin typeface="Arial" panose="020B0604020202020204"/>
              </a:rPr>
              <a:t>● </a:t>
            </a:r>
            <a:r>
              <a:rPr lang="en-US" sz="820" b="1">
                <a:solidFill>
                  <a:srgbClr val="1A1A1A"/>
                </a:solidFill>
                <a:latin typeface="Arial" panose="020B0604020202020204"/>
              </a:rPr>
              <a:t>Covert call — you're watched</a:t>
            </a:r>
            <a:endParaRPr lang="en-US" sz="820" b="1">
              <a:solidFill>
                <a:srgbClr val="1A1A1A"/>
              </a:solidFill>
              <a:latin typeface="Arial" panose="020B0604020202020204"/>
            </a:endParaRPr>
          </a:p>
          <a:p>
            <a:pPr>
              <a:spcAft>
                <a:spcPts val="300"/>
              </a:spcAft>
            </a:pPr>
            <a:endParaRPr sz="300"/>
          </a:p>
          <a:p>
            <a:pPr algn="l">
              <a:lnSpc>
                <a:spcPct val="130000"/>
              </a:lnSpc>
            </a:pPr>
            <a:r>
              <a:rPr lang="en-US" sz="780" b="1">
                <a:solidFill>
                  <a:srgbClr val="E8590C"/>
                </a:solidFill>
                <a:latin typeface="Arial" panose="020B0604020202020204"/>
              </a:rPr>
              <a:t>Abuse at home  ·  Being hurt now  ·  Weapon nearby  ·  Taken / locked in  ·  Witnessing a crime  ·  Drug dealing  ·  Illegal mining</a:t>
            </a:r>
            <a:endParaRPr lang="en-US" sz="780" b="1">
              <a:solidFill>
                <a:srgbClr val="E8590C"/>
              </a:solidFill>
              <a:latin typeface="Arial" panose="020B0604020202020204"/>
            </a:endParaRPr>
          </a:p>
          <a:p>
            <a:endParaRPr sz="300"/>
          </a:p>
          <a:p>
            <a:pPr algn="l">
              <a:lnSpc>
                <a:spcPct val="110000"/>
              </a:lnSpc>
            </a:pPr>
            <a:r>
              <a:rPr lang="en-US" sz="680" b="0" i="1">
                <a:solidFill>
                  <a:srgbClr val="5F6368"/>
                </a:solidFill>
                <a:latin typeface="Arial" panose="020B0604020202020204"/>
              </a:rPr>
              <a:t>Codes hidden inside a normal food order.</a:t>
            </a:r>
            <a:endParaRPr lang="en-US" sz="680" b="0" i="1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133" name="modecol"/>
          <p:cNvSpPr txBox="1"/>
          <p:nvPr/>
        </p:nvSpPr>
        <p:spPr>
          <a:xfrm>
            <a:off x="2603880" y="3393312"/>
            <a:ext cx="1913120" cy="10600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l"/>
            <a:r>
              <a:rPr lang="en-US" sz="820" b="1">
                <a:solidFill>
                  <a:srgbClr val="1A73E8"/>
                </a:solidFill>
                <a:latin typeface="Arial" panose="020B0604020202020204"/>
              </a:rPr>
              <a:t>● </a:t>
            </a:r>
            <a:r>
              <a:rPr lang="en-US" sz="820" b="1">
                <a:solidFill>
                  <a:srgbClr val="1A1A1A"/>
                </a:solidFill>
                <a:latin typeface="Arial" panose="020B0604020202020204"/>
              </a:rPr>
              <a:t>Open mode — you can speak</a:t>
            </a:r>
            <a:endParaRPr lang="en-US" sz="820" b="1">
              <a:solidFill>
                <a:srgbClr val="1A1A1A"/>
              </a:solidFill>
              <a:latin typeface="Arial" panose="020B0604020202020204"/>
            </a:endParaRPr>
          </a:p>
          <a:p>
            <a:pPr>
              <a:spcAft>
                <a:spcPts val="300"/>
              </a:spcAft>
            </a:pPr>
            <a:endParaRPr sz="300"/>
          </a:p>
          <a:p>
            <a:pPr algn="l">
              <a:lnSpc>
                <a:spcPct val="130000"/>
              </a:lnSpc>
            </a:pPr>
            <a:r>
              <a:rPr lang="en-US" sz="780" b="1">
                <a:solidFill>
                  <a:srgbClr val="1A73E8"/>
                </a:solidFill>
                <a:latin typeface="Arial" panose="020B0604020202020204"/>
              </a:rPr>
              <a:t>Can talk freely  ·  Fire / accident  ·  Medical emergency</a:t>
            </a:r>
            <a:endParaRPr lang="en-US" sz="780" b="1">
              <a:solidFill>
                <a:srgbClr val="1A73E8"/>
              </a:solidFill>
              <a:latin typeface="Arial" panose="020B0604020202020204"/>
            </a:endParaRPr>
          </a:p>
          <a:p>
            <a:endParaRPr sz="300"/>
          </a:p>
          <a:p>
            <a:pPr algn="l">
              <a:lnSpc>
                <a:spcPct val="110000"/>
              </a:lnSpc>
            </a:pPr>
            <a:r>
              <a:rPr lang="en-US" sz="680" b="0" i="1">
                <a:solidFill>
                  <a:srgbClr val="5F6368"/>
                </a:solidFill>
                <a:latin typeface="Arial" panose="020B0604020202020204"/>
              </a:rPr>
              <a:t>Mia drops the cover: plain questions + first aid.</a:t>
            </a:r>
            <a:endParaRPr lang="en-US" sz="680" b="0" i="1">
              <a:solidFill>
                <a:srgbClr val="5F6368"/>
              </a:solidFill>
              <a:latin typeface="Arial" panose="020B0604020202020204"/>
            </a:endParaRPr>
          </a:p>
        </p:txBody>
      </p:sp>
      <p:cxnSp>
        <p:nvCxnSpPr>
          <p:cNvPr id="134" name="div"/>
          <p:cNvCxnSpPr/>
          <p:nvPr/>
        </p:nvCxnSpPr>
        <p:spPr>
          <a:xfrm>
            <a:off x="2548880" y="3393312"/>
            <a:ext cx="0" cy="1060000"/>
          </a:xfrm>
          <a:prstGeom prst="line">
            <a:avLst/>
          </a:prstGeom>
          <a:ln w="9525">
            <a:solidFill>
              <a:srgbClr val="F0D9C6"/>
            </a:solidFill>
          </a:ln>
        </p:spPr>
      </p:cxnSp>
      <p:sp>
        <p:nvSpPr>
          <p:cNvPr id="135" name="modecol"/>
          <p:cNvSpPr txBox="1"/>
          <p:nvPr/>
        </p:nvSpPr>
        <p:spPr>
          <a:xfrm>
            <a:off x="4627000" y="3393312"/>
            <a:ext cx="1913120" cy="10600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l"/>
            <a:r>
              <a:rPr lang="en-US" sz="820" b="1">
                <a:solidFill>
                  <a:srgbClr val="2F9E44"/>
                </a:solidFill>
                <a:latin typeface="Arial" panose="020B0604020202020204"/>
              </a:rPr>
              <a:t>● </a:t>
            </a:r>
            <a:r>
              <a:rPr lang="en-US" sz="820" b="1">
                <a:solidFill>
                  <a:srgbClr val="1A1A1A"/>
                </a:solidFill>
                <a:latin typeface="Arial" panose="020B0604020202020204"/>
              </a:rPr>
              <a:t>On the move — chased</a:t>
            </a:r>
            <a:endParaRPr lang="en-US" sz="820" b="1">
              <a:solidFill>
                <a:srgbClr val="1A1A1A"/>
              </a:solidFill>
              <a:latin typeface="Arial" panose="020B0604020202020204"/>
            </a:endParaRPr>
          </a:p>
          <a:p>
            <a:pPr>
              <a:spcAft>
                <a:spcPts val="300"/>
              </a:spcAft>
            </a:pPr>
            <a:endParaRPr sz="300"/>
          </a:p>
          <a:p>
            <a:pPr algn="l">
              <a:lnSpc>
                <a:spcPct val="130000"/>
              </a:lnSpc>
            </a:pPr>
            <a:r>
              <a:rPr lang="en-US" sz="780" b="1">
                <a:solidFill>
                  <a:srgbClr val="2F9E44"/>
                </a:solidFill>
                <a:latin typeface="Arial" panose="020B0604020202020204"/>
              </a:rPr>
              <a:t>Being followed  ·  Being chased</a:t>
            </a:r>
            <a:endParaRPr lang="en-US" sz="780" b="1">
              <a:solidFill>
                <a:srgbClr val="2F9E44"/>
              </a:solidFill>
              <a:latin typeface="Arial" panose="020B0604020202020204"/>
            </a:endParaRPr>
          </a:p>
          <a:p>
            <a:endParaRPr sz="300"/>
          </a:p>
          <a:p>
            <a:pPr algn="l">
              <a:lnSpc>
                <a:spcPct val="110000"/>
              </a:lnSpc>
            </a:pPr>
            <a:r>
              <a:rPr lang="en-US" sz="680" b="0" i="1">
                <a:solidFill>
                  <a:srgbClr val="5F6368"/>
                </a:solidFill>
                <a:latin typeface="Arial" panose="020B0604020202020204"/>
              </a:rPr>
              <a:t>Live turn-by-turn route to the nearest police station.</a:t>
            </a:r>
            <a:endParaRPr lang="en-US" sz="680" b="0" i="1">
              <a:solidFill>
                <a:srgbClr val="5F6368"/>
              </a:solidFill>
              <a:latin typeface="Arial" panose="020B0604020202020204"/>
            </a:endParaRPr>
          </a:p>
        </p:txBody>
      </p:sp>
      <p:cxnSp>
        <p:nvCxnSpPr>
          <p:cNvPr id="136" name="div"/>
          <p:cNvCxnSpPr/>
          <p:nvPr/>
        </p:nvCxnSpPr>
        <p:spPr>
          <a:xfrm>
            <a:off x="4572000" y="3393312"/>
            <a:ext cx="0" cy="1060000"/>
          </a:xfrm>
          <a:prstGeom prst="line">
            <a:avLst/>
          </a:prstGeom>
          <a:ln w="9525">
            <a:solidFill>
              <a:srgbClr val="F0D9C6"/>
            </a:solidFill>
          </a:ln>
        </p:spPr>
      </p:cxnSp>
      <p:sp>
        <p:nvSpPr>
          <p:cNvPr id="137" name="modecol"/>
          <p:cNvSpPr txBox="1"/>
          <p:nvPr/>
        </p:nvSpPr>
        <p:spPr>
          <a:xfrm>
            <a:off x="6650120" y="3393312"/>
            <a:ext cx="1913120" cy="10600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l"/>
            <a:r>
              <a:rPr lang="en-US" sz="820" b="1">
                <a:solidFill>
                  <a:srgbClr val="D6336C"/>
                </a:solidFill>
                <a:latin typeface="Arial" panose="020B0604020202020204"/>
              </a:rPr>
              <a:t>● </a:t>
            </a:r>
            <a:r>
              <a:rPr lang="en-US" sz="820" b="1">
                <a:solidFill>
                  <a:srgbClr val="1A1A1A"/>
                </a:solidFill>
                <a:latin typeface="Arial" panose="020B0604020202020204"/>
              </a:rPr>
              <a:t>Silent SOS — can't speak</a:t>
            </a:r>
            <a:endParaRPr lang="en-US" sz="820" b="1">
              <a:solidFill>
                <a:srgbClr val="1A1A1A"/>
              </a:solidFill>
              <a:latin typeface="Arial" panose="020B0604020202020204"/>
            </a:endParaRPr>
          </a:p>
          <a:p>
            <a:pPr>
              <a:spcAft>
                <a:spcPts val="300"/>
              </a:spcAft>
            </a:pPr>
            <a:endParaRPr sz="300"/>
          </a:p>
          <a:p>
            <a:pPr algn="l">
              <a:lnSpc>
                <a:spcPct val="130000"/>
              </a:lnSpc>
            </a:pPr>
            <a:r>
              <a:rPr lang="en-US" sz="780" b="1">
                <a:solidFill>
                  <a:srgbClr val="D6336C"/>
                </a:solidFill>
                <a:latin typeface="Arial" panose="020B0604020202020204"/>
              </a:rPr>
              <a:t>Hostage  ·  Abduction</a:t>
            </a:r>
            <a:endParaRPr lang="en-US" sz="780" b="1">
              <a:solidFill>
                <a:srgbClr val="D6336C"/>
              </a:solidFill>
              <a:latin typeface="Arial" panose="020B0604020202020204"/>
            </a:endParaRPr>
          </a:p>
          <a:p>
            <a:endParaRPr sz="300"/>
          </a:p>
          <a:p>
            <a:pPr algn="l">
              <a:lnSpc>
                <a:spcPct val="110000"/>
              </a:lnSpc>
            </a:pPr>
            <a:r>
              <a:rPr lang="en-US" sz="680" b="0" i="1">
                <a:solidFill>
                  <a:srgbClr val="5F6368"/>
                </a:solidFill>
                <a:latin typeface="Arial" panose="020B0604020202020204"/>
              </a:rPr>
              <a:t>Heart double-tap: dark screen, silent AI observer.</a:t>
            </a:r>
            <a:endParaRPr lang="en-US" sz="680" b="0" i="1">
              <a:solidFill>
                <a:srgbClr val="5F6368"/>
              </a:solidFill>
              <a:latin typeface="Arial" panose="020B0604020202020204"/>
            </a:endParaRPr>
          </a:p>
        </p:txBody>
      </p:sp>
      <p:cxnSp>
        <p:nvCxnSpPr>
          <p:cNvPr id="138" name="div"/>
          <p:cNvCxnSpPr/>
          <p:nvPr/>
        </p:nvCxnSpPr>
        <p:spPr>
          <a:xfrm>
            <a:off x="6595120" y="3393312"/>
            <a:ext cx="0" cy="1060000"/>
          </a:xfrm>
          <a:prstGeom prst="line">
            <a:avLst/>
          </a:prstGeom>
          <a:ln w="9525">
            <a:solidFill>
              <a:srgbClr val="F0D9C6"/>
            </a:solidFill>
          </a:ln>
        </p:spPr>
      </p:cxnSp>
      <p:sp>
        <p:nvSpPr>
          <p:cNvPr id="139" name="secstrip"/>
          <p:cNvSpPr txBox="1"/>
          <p:nvPr/>
        </p:nvSpPr>
        <p:spPr>
          <a:xfrm>
            <a:off x="365760" y="4583312"/>
            <a:ext cx="8412480" cy="18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US" sz="750" b="1">
                <a:solidFill>
                  <a:srgbClr val="5F6368"/>
                </a:solidFill>
                <a:latin typeface="Arial" panose="020B0604020202020204"/>
              </a:rPr>
              <a:t>Disguise &amp; security: </a:t>
            </a:r>
            <a:r>
              <a:rPr lang="en-US" sz="750" b="0">
                <a:solidFill>
                  <a:srgbClr val="5F6368"/>
                </a:solidFill>
                <a:latin typeface="Arial" panose="020B0604020202020204"/>
              </a:rPr>
              <a:t>zero-trace exit · food-app wording on every prompt · strict Firestore rules, role-based access · practice call never reaches responders</a:t>
            </a:r>
            <a:endParaRPr lang="en-US" sz="750" b="0">
              <a:solidFill>
                <a:srgbClr val="5F636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3649"/>
            <a:ext cx="9144000" cy="50006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03504"/>
            <a:ext cx="89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Process flow diagram or Use-case diagram</a:t>
            </a:r>
            <a:endParaRPr lang="en-US"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sp>
        <p:nvSpPr>
          <p:cNvPr id="96" name="Takeaway"/>
          <p:cNvSpPr txBox="1"/>
          <p:nvPr/>
        </p:nvSpPr>
        <p:spPr>
          <a:xfrm>
            <a:off x="365760" y="969264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>
                <a:solidFill>
                  <a:srgbClr val="E8590C"/>
                </a:solidFill>
                <a:latin typeface="Arial" panose="020B0604020202020204"/>
              </a:rPr>
              <a:t>The incident exists before Priya finishes her first sentence</a:t>
            </a:r>
            <a:endParaRPr lang="en-US" sz="1300" b="1" i="0">
              <a:solidFill>
                <a:srgbClr val="E8590C"/>
              </a:solidFill>
              <a:latin typeface="Arial" panose="020B0604020202020204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365760" y="1335024"/>
            <a:ext cx="8412480" cy="795528"/>
          </a:xfrm>
          <a:prstGeom prst="roundRect">
            <a:avLst>
              <a:gd name="adj" fmla="val 4000"/>
            </a:avLst>
          </a:prstGeom>
          <a:solidFill>
            <a:srgbClr val="FD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438912" y="1335024"/>
            <a:ext cx="868680" cy="7955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en-US" sz="850" b="1" i="0">
                <a:solidFill>
                  <a:srgbClr val="E8590C"/>
                </a:solidFill>
                <a:latin typeface="Arial" panose="020B0604020202020204"/>
              </a:rPr>
              <a:t>Caller
(QuickBite)</a:t>
            </a:r>
            <a:endParaRPr lang="en-US" sz="850" b="1" i="0">
              <a:solidFill>
                <a:srgbClr val="E8590C"/>
              </a:solidFill>
              <a:latin typeface="Arial" panose="020B0604020202020204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365760" y="2167128"/>
            <a:ext cx="8412480" cy="795528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438912" y="2167128"/>
            <a:ext cx="868680" cy="7955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en-US" sz="850" b="1" i="0">
                <a:solidFill>
                  <a:srgbClr val="1A73E8"/>
                </a:solidFill>
                <a:latin typeface="Arial" panose="020B0604020202020204"/>
              </a:rPr>
              <a:t>Gemini</a:t>
            </a:r>
            <a:endParaRPr lang="en-US" sz="850" b="1" i="0">
              <a:solidFill>
                <a:srgbClr val="1A73E8"/>
              </a:solidFill>
              <a:latin typeface="Arial" panose="020B0604020202020204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365760" y="2999232"/>
            <a:ext cx="8412480" cy="795528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438912" y="2999232"/>
            <a:ext cx="868680" cy="7955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en-US" sz="850" b="1" i="0">
                <a:solidFill>
                  <a:srgbClr val="5F6368"/>
                </a:solidFill>
                <a:latin typeface="Arial" panose="020B0604020202020204"/>
              </a:rPr>
              <a:t>Firestore
(realtime)</a:t>
            </a:r>
            <a:endParaRPr lang="en-US" sz="850" b="1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365760" y="3831335"/>
            <a:ext cx="8412480" cy="795528"/>
          </a:xfrm>
          <a:prstGeom prst="roundRect">
            <a:avLst>
              <a:gd name="adj" fmla="val 4000"/>
            </a:avLst>
          </a:prstGeom>
          <a:solidFill>
            <a:srgbClr val="E3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438912" y="3831335"/>
            <a:ext cx="868680" cy="7955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en-US" sz="850" b="1" i="0">
                <a:solidFill>
                  <a:srgbClr val="2F9E44"/>
                </a:solidFill>
                <a:latin typeface="Arial" panose="020B0604020202020204"/>
              </a:rPr>
              <a:t>Responder
console</a:t>
            </a:r>
            <a:endParaRPr lang="en-US" sz="850" b="1" i="0">
              <a:solidFill>
                <a:srgbClr val="2F9E44"/>
              </a:solidFill>
              <a:latin typeface="Arial" panose="020B0604020202020204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2391156" y="3113532"/>
            <a:ext cx="969264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12000"/>
              </a:lnSpc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Incident created at the tap + GPS / IP location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2391156" y="3945635"/>
            <a:ext cx="969264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12000"/>
              </a:lnSpc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Alert rings; pin appears on the map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8" name="Rounded Rectangle 107"/>
          <p:cNvSpPr/>
          <p:nvPr/>
        </p:nvSpPr>
        <p:spPr>
          <a:xfrm>
            <a:off x="3456432" y="2281428"/>
            <a:ext cx="969264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12000"/>
              </a:lnSpc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Coded question, meaning in the same breath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3456432" y="1449324"/>
            <a:ext cx="969264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12000"/>
              </a:lnSpc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Answers as if ordering food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0" name="Rounded Rectangle 109"/>
          <p:cNvSpPr/>
          <p:nvPr/>
        </p:nvSpPr>
        <p:spPr>
          <a:xfrm>
            <a:off x="4521708" y="2281428"/>
            <a:ext cx="969264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12000"/>
              </a:lnSpc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Tool call → facts: danger, people, urgency, address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1" name="Rounded Rectangle 110"/>
          <p:cNvSpPr/>
          <p:nvPr/>
        </p:nvSpPr>
        <p:spPr>
          <a:xfrm>
            <a:off x="4521708" y="3113532"/>
            <a:ext cx="969264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12000"/>
              </a:lnSpc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Live fields; severity by rules in code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5586984" y="3945635"/>
            <a:ext cx="969264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12000"/>
              </a:lnSpc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Acknowledge, respond, message caller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3" name="Rounded Rectangle 112"/>
          <p:cNvSpPr/>
          <p:nvPr/>
        </p:nvSpPr>
        <p:spPr>
          <a:xfrm>
            <a:off x="5586984" y="2281428"/>
            <a:ext cx="969264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12000"/>
              </a:lnSpc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Relays message as delivery chat; route to safety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6652260" y="1449324"/>
            <a:ext cx="969264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12000"/>
              </a:lnSpc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Walks to police / hospital; zero-trace exit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6652260" y="2281428"/>
            <a:ext cx="969264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12000"/>
              </a:lnSpc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Post-call: summary, redaction, case linking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7717536" y="3113532"/>
            <a:ext cx="969264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12000"/>
              </a:lnSpc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Case record + report email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7" name="Rounded Rectangle 116"/>
          <p:cNvSpPr/>
          <p:nvPr/>
        </p:nvSpPr>
        <p:spPr>
          <a:xfrm>
            <a:off x="7717536" y="3945635"/>
            <a:ext cx="969264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12000"/>
              </a:lnSpc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Resolve → caller’s app shows “Delivered”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119" name="Connector 118"/>
          <p:cNvCxnSpPr/>
          <p:nvPr/>
        </p:nvCxnSpPr>
        <p:spPr>
          <a:xfrm>
            <a:off x="2875788" y="3680460"/>
            <a:ext cx="0" cy="265175"/>
          </a:xfrm>
          <a:prstGeom prst="line">
            <a:avLst/>
          </a:prstGeom>
          <a:ln w="127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>
            <a:endCxn id="108" idx="1"/>
          </p:cNvCxnSpPr>
          <p:nvPr/>
        </p:nvCxnSpPr>
        <p:spPr>
          <a:xfrm rot="16200000">
            <a:off x="2945130" y="2633345"/>
            <a:ext cx="579120" cy="442595"/>
          </a:xfrm>
          <a:prstGeom prst="bentConnector2">
            <a:avLst/>
          </a:prstGeom>
          <a:ln w="127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3941064" y="2016252"/>
            <a:ext cx="0" cy="265176"/>
          </a:xfrm>
          <a:prstGeom prst="line">
            <a:avLst/>
          </a:prstGeom>
          <a:ln w="127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>
            <a:endCxn id="110" idx="0"/>
          </p:cNvCxnSpPr>
          <p:nvPr/>
        </p:nvCxnSpPr>
        <p:spPr>
          <a:xfrm>
            <a:off x="4425950" y="1732915"/>
            <a:ext cx="580390" cy="548640"/>
          </a:xfrm>
          <a:prstGeom prst="bentConnector2">
            <a:avLst/>
          </a:prstGeom>
          <a:ln w="127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5006340" y="2848356"/>
            <a:ext cx="0" cy="265176"/>
          </a:xfrm>
          <a:prstGeom prst="line">
            <a:avLst/>
          </a:prstGeom>
          <a:ln w="127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>
            <a:stCxn id="111" idx="2"/>
            <a:endCxn id="112" idx="1"/>
          </p:cNvCxnSpPr>
          <p:nvPr/>
        </p:nvCxnSpPr>
        <p:spPr>
          <a:xfrm rot="5400000" flipV="1">
            <a:off x="5022215" y="3664585"/>
            <a:ext cx="548640" cy="580390"/>
          </a:xfrm>
          <a:prstGeom prst="bentConnector2">
            <a:avLst/>
          </a:prstGeom>
          <a:ln w="127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071616" y="2848356"/>
            <a:ext cx="0" cy="1097279"/>
          </a:xfrm>
          <a:prstGeom prst="line">
            <a:avLst/>
          </a:prstGeom>
          <a:ln w="127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>
            <a:stCxn id="113" idx="0"/>
          </p:cNvCxnSpPr>
          <p:nvPr/>
        </p:nvCxnSpPr>
        <p:spPr>
          <a:xfrm rot="16200000">
            <a:off x="6087110" y="1717040"/>
            <a:ext cx="548640" cy="581025"/>
          </a:xfrm>
          <a:prstGeom prst="bentConnector2">
            <a:avLst/>
          </a:prstGeom>
          <a:ln w="127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7136892" y="2016252"/>
            <a:ext cx="0" cy="265176"/>
          </a:xfrm>
          <a:prstGeom prst="line">
            <a:avLst/>
          </a:prstGeom>
          <a:ln w="127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>
            <a:stCxn id="115" idx="2"/>
          </p:cNvCxnSpPr>
          <p:nvPr/>
        </p:nvCxnSpPr>
        <p:spPr>
          <a:xfrm rot="5400000" flipV="1">
            <a:off x="7153275" y="2832100"/>
            <a:ext cx="548005" cy="580390"/>
          </a:xfrm>
          <a:prstGeom prst="bentConnector2">
            <a:avLst/>
          </a:prstGeom>
          <a:ln w="127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202167" y="3680460"/>
            <a:ext cx="0" cy="265175"/>
          </a:xfrm>
          <a:prstGeom prst="line">
            <a:avLst/>
          </a:prstGeom>
          <a:ln w="127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365760" y="4681728"/>
            <a:ext cx="8412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75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Use cases: </a:t>
            </a:r>
            <a:r>
              <a:rPr lang="en-US" sz="75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caller in danger · witness (“for someone else” codes: crime seen, drug dealing, illegal mining, child in danger, fire) · responder · admin.  </a:t>
            </a:r>
            <a:r>
              <a:rPr lang="en-US" sz="75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Measured: </a:t>
            </a:r>
            <a:r>
              <a:rPr lang="en-US" sz="75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danger tag on the dashboard before the caller’s line is transcribed</a:t>
            </a:r>
            <a:endParaRPr lang="en-US" sz="75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1" name="waylbl"/>
          <p:cNvSpPr txBox="1"/>
          <p:nvPr/>
        </p:nvSpPr>
        <p:spPr>
          <a:xfrm>
            <a:off x="1188090" y="1145610"/>
            <a:ext cx="2120000" cy="150000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algn="l"/>
            <a:r>
              <a:rPr lang="en-US" sz="700" b="1">
                <a:solidFill>
                  <a:srgbClr val="C2410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Four ways in — any one starts an incident</a:t>
            </a:r>
            <a:endParaRPr lang="en-US" sz="700" b="1">
              <a:solidFill>
                <a:srgbClr val="C2410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2" name="waybox"/>
          <p:cNvSpPr/>
          <p:nvPr/>
        </p:nvSpPr>
        <p:spPr>
          <a:xfrm>
            <a:off x="1230000" y="1388000"/>
            <a:ext cx="1040000" cy="34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590C"/>
            </a:solidFill>
          </a:ln>
        </p:spPr>
        <p:txBody>
          <a:bodyPr wrap="square" lIns="45000" tIns="18000" rIns="45000" bIns="18000" anchor="ctr"/>
          <a:lstStyle/>
          <a:p>
            <a:pPr algn="l"/>
            <a:r>
              <a:rPr lang="en-US" sz="650" b="1">
                <a:solidFill>
                  <a:srgbClr val="E8590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Covert  </a:t>
            </a:r>
            <a:r>
              <a:rPr lang="en-US" sz="65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“Call to order” — watched</a:t>
            </a:r>
            <a:endParaRPr lang="en-US" sz="650" b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3" name="waybox"/>
          <p:cNvSpPr/>
          <p:nvPr/>
        </p:nvSpPr>
        <p:spPr>
          <a:xfrm>
            <a:off x="2310000" y="1388000"/>
            <a:ext cx="1040000" cy="34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txBody>
          <a:bodyPr wrap="square" lIns="45000" tIns="18000" rIns="45000" bIns="18000" anchor="ctr"/>
          <a:lstStyle/>
          <a:p>
            <a:pPr algn="l"/>
            <a:r>
              <a:rPr lang="en-US" sz="650" b="1">
                <a:solidFill>
                  <a:srgbClr val="1A73E8"/>
                </a:solidFill>
                <a:latin typeface="Arial" panose="020B0604020202020204"/>
              </a:rPr>
              <a:t>Open  </a:t>
            </a:r>
            <a:r>
              <a:rPr lang="en-US" sz="650" b="0">
                <a:solidFill>
                  <a:srgbClr val="1A1A1A"/>
                </a:solidFill>
                <a:latin typeface="Arial" panose="020B0604020202020204"/>
              </a:rPr>
              <a:t>“Menu” — can speak freely</a:t>
            </a:r>
            <a:endParaRPr lang="en-US" sz="650" b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4" name="waybox"/>
          <p:cNvSpPr/>
          <p:nvPr/>
        </p:nvSpPr>
        <p:spPr>
          <a:xfrm>
            <a:off x="1230000" y="1773000"/>
            <a:ext cx="1040000" cy="34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F9E44"/>
            </a:solidFill>
          </a:ln>
        </p:spPr>
        <p:txBody>
          <a:bodyPr wrap="square" lIns="45000" tIns="18000" rIns="45000" bIns="18000" anchor="ctr"/>
          <a:lstStyle/>
          <a:p>
            <a:pPr algn="l"/>
            <a:r>
              <a:rPr lang="en-US" sz="650" b="1">
                <a:solidFill>
                  <a:srgbClr val="2F9E44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Chased  </a:t>
            </a:r>
            <a:r>
              <a:rPr lang="en-US" sz="65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Followed / chased → route</a:t>
            </a:r>
            <a:endParaRPr lang="en-US" sz="650" b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5" name="waybox"/>
          <p:cNvSpPr/>
          <p:nvPr/>
        </p:nvSpPr>
        <p:spPr>
          <a:xfrm>
            <a:off x="2310000" y="1773000"/>
            <a:ext cx="1040000" cy="34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336C"/>
            </a:solidFill>
          </a:ln>
        </p:spPr>
        <p:txBody>
          <a:bodyPr wrap="square" lIns="45000" tIns="18000" rIns="45000" bIns="18000" anchor="ctr"/>
          <a:lstStyle/>
          <a:p>
            <a:pPr algn="l"/>
            <a:r>
              <a:rPr lang="en-US" sz="650" b="1">
                <a:solidFill>
                  <a:srgbClr val="D6336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Silent SOS  </a:t>
            </a:r>
            <a:r>
              <a:rPr lang="en-US" sz="65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Heart double-tap — phone off</a:t>
            </a:r>
            <a:endParaRPr lang="en-US" sz="650" b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136" name="clusterArrow"/>
          <p:cNvCxnSpPr>
            <a:stCxn id="2" idx="2"/>
            <a:endCxn id="106" idx="1"/>
          </p:cNvCxnSpPr>
          <p:nvPr/>
        </p:nvCxnSpPr>
        <p:spPr>
          <a:xfrm rot="5400000" flipV="1">
            <a:off x="1724660" y="2730500"/>
            <a:ext cx="1233170" cy="99695"/>
          </a:xfrm>
          <a:prstGeom prst="bentConnector2">
            <a:avLst/>
          </a:prstGeom>
          <a:ln w="12700">
            <a:solidFill>
              <a:srgbClr val="5F6368"/>
            </a:solidFill>
            <a:tailEnd type="triangle" w="med" len="med"/>
          </a:ln>
        </p:spPr>
      </p:cxnSp>
      <p:sp>
        <p:nvSpPr>
          <p:cNvPr id="2" name="Rectangle 1"/>
          <p:cNvSpPr/>
          <p:nvPr/>
        </p:nvSpPr>
        <p:spPr>
          <a:xfrm>
            <a:off x="1186180" y="1331595"/>
            <a:ext cx="2210435" cy="832485"/>
          </a:xfrm>
          <a:prstGeom prst="rect">
            <a:avLst/>
          </a:prstGeom>
          <a:ln w="12700">
            <a:prstDash val="sysDot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3649"/>
            <a:ext cx="9144000" cy="50006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03504"/>
            <a:ext cx="89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Wireframes/Mock diagrams of the proposed solution (optional)</a:t>
            </a:r>
            <a:endParaRPr lang="en-US"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sp>
        <p:nvSpPr>
          <p:cNvPr id="104" name="Takeaway"/>
          <p:cNvSpPr txBox="1"/>
          <p:nvPr/>
        </p:nvSpPr>
        <p:spPr>
          <a:xfrm>
            <a:off x="365760" y="969264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>
                <a:solidFill>
                  <a:srgbClr val="E8590C"/>
                </a:solidFill>
                <a:latin typeface="Arial" panose="020B0604020202020204"/>
              </a:rPr>
              <a:t>Every screen passes as a food app; every way to ask for help is an ordinary feature</a:t>
            </a:r>
            <a:endParaRPr lang="en-US" sz="1300" b="1" i="0">
              <a:solidFill>
                <a:srgbClr val="E8590C"/>
              </a:solidFill>
              <a:latin typeface="Arial" panose="020B0604020202020204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384048" y="1325880"/>
            <a:ext cx="1463040" cy="3035808"/>
          </a:xfrm>
          <a:prstGeom prst="roundRect">
            <a:avLst>
              <a:gd name="adj" fmla="val 12000"/>
            </a:avLst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ounded Rectangle 105"/>
          <p:cNvSpPr/>
          <p:nvPr/>
        </p:nvSpPr>
        <p:spPr>
          <a:xfrm>
            <a:off x="434340" y="1376172"/>
            <a:ext cx="1362456" cy="2935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7" name="Picture 106" descr="qb-home.png"/>
          <p:cNvPicPr>
            <a:picLocks noChangeAspect="1"/>
          </p:cNvPicPr>
          <p:nvPr/>
        </p:nvPicPr>
        <p:blipFill>
          <a:blip r:embed="rId3"/>
          <a:srcRect b="303"/>
          <a:stretch>
            <a:fillRect/>
          </a:stretch>
        </p:blipFill>
        <p:spPr>
          <a:xfrm>
            <a:off x="434340" y="1376172"/>
            <a:ext cx="1362456" cy="2935224"/>
          </a:xfrm>
          <a:prstGeom prst="rect">
            <a:avLst/>
          </a:prstGeom>
        </p:spPr>
      </p:pic>
      <p:sp>
        <p:nvSpPr>
          <p:cNvPr id="108" name="Rounded Rectangle 107"/>
          <p:cNvSpPr/>
          <p:nvPr/>
        </p:nvSpPr>
        <p:spPr>
          <a:xfrm>
            <a:off x="2103120" y="1325880"/>
            <a:ext cx="1463040" cy="3035808"/>
          </a:xfrm>
          <a:prstGeom prst="roundRect">
            <a:avLst>
              <a:gd name="adj" fmla="val 12000"/>
            </a:avLst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ounded Rectangle 108"/>
          <p:cNvSpPr/>
          <p:nvPr/>
        </p:nvSpPr>
        <p:spPr>
          <a:xfrm>
            <a:off x="2153412" y="1376172"/>
            <a:ext cx="1362456" cy="2935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0" name="Picture 109" descr="qb-item.png"/>
          <p:cNvPicPr>
            <a:picLocks noChangeAspect="1"/>
          </p:cNvPicPr>
          <p:nvPr/>
        </p:nvPicPr>
        <p:blipFill>
          <a:blip r:embed="rId4"/>
          <a:srcRect b="1554"/>
          <a:stretch>
            <a:fillRect/>
          </a:stretch>
        </p:blipFill>
        <p:spPr>
          <a:xfrm>
            <a:off x="2153412" y="1376172"/>
            <a:ext cx="1362456" cy="2935224"/>
          </a:xfrm>
          <a:prstGeom prst="rect">
            <a:avLst/>
          </a:prstGeom>
        </p:spPr>
      </p:pic>
      <p:sp>
        <p:nvSpPr>
          <p:cNvPr id="111" name="Rounded Rectangle 110"/>
          <p:cNvSpPr/>
          <p:nvPr/>
        </p:nvSpPr>
        <p:spPr>
          <a:xfrm>
            <a:off x="3822191" y="1325880"/>
            <a:ext cx="1463040" cy="3035808"/>
          </a:xfrm>
          <a:prstGeom prst="roundRect">
            <a:avLst>
              <a:gd name="adj" fmla="val 12000"/>
            </a:avLst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ounded Rectangle 111"/>
          <p:cNvSpPr/>
          <p:nvPr/>
        </p:nvSpPr>
        <p:spPr>
          <a:xfrm>
            <a:off x="3872483" y="1376172"/>
            <a:ext cx="1362456" cy="2935224"/>
          </a:xfrm>
          <a:prstGeom prst="roundRect">
            <a:avLst>
              <a:gd name="adj" fmla="val 9000"/>
            </a:avLst>
          </a:prstGeom>
          <a:solidFill>
            <a:srgbClr val="FF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3872483" y="1485900"/>
            <a:ext cx="1362456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lang="en-US" sz="800" b="1" i="0">
                <a:solidFill>
                  <a:srgbClr val="1A1A1A"/>
                </a:solidFill>
                <a:latin typeface="Arial" panose="020B0604020202020204"/>
              </a:rPr>
              <a:t>QuickBite Kitchen</a:t>
            </a:r>
            <a:endParaRPr lang="en-US" sz="800" b="1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3872483" y="1650492"/>
            <a:ext cx="136245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lang="en-US" sz="650" b="0" i="0">
                <a:solidFill>
                  <a:srgbClr val="5F6368"/>
                </a:solidFill>
                <a:latin typeface="Arial" panose="020B0604020202020204"/>
              </a:rPr>
              <a:t>Order line · 01:24</a:t>
            </a:r>
            <a:endParaRPr lang="en-US" sz="65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4352544" y="1851660"/>
            <a:ext cx="402336" cy="4023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lang="en-US" sz="850" b="1" i="0">
                <a:solidFill>
                  <a:srgbClr val="FFFFFF"/>
                </a:solidFill>
                <a:latin typeface="Arial" panose="020B0604020202020204"/>
              </a:rPr>
              <a:t>Mia</a:t>
            </a:r>
            <a:endParaRPr lang="en-US" sz="85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3936491" y="2345436"/>
            <a:ext cx="1024128" cy="457200"/>
          </a:xfrm>
          <a:prstGeom prst="roundRect">
            <a:avLst>
              <a:gd name="adj" fmla="val 15000"/>
            </a:avLst>
          </a:prstGeom>
          <a:solidFill>
            <a:srgbClr val="FD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lnSpc>
                <a:spcPct val="112000"/>
              </a:lnSpc>
            </a:pPr>
            <a:r>
              <a:rPr lang="en-US" sz="650" b="0" i="0">
                <a:solidFill>
                  <a:srgbClr val="1A1A1A"/>
                </a:solidFill>
                <a:latin typeface="Arial" panose="020B0604020202020204"/>
              </a:rPr>
              <a:t>Garlic bread on the side? Garlic bread tells me someone is following you.</a:t>
            </a:r>
            <a:endParaRPr lang="en-US" sz="6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17" name="Rounded Rectangle 116"/>
          <p:cNvSpPr/>
          <p:nvPr/>
        </p:nvSpPr>
        <p:spPr>
          <a:xfrm>
            <a:off x="4146803" y="2866644"/>
            <a:ext cx="1024128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lnSpc>
                <a:spcPct val="112000"/>
              </a:lnSpc>
            </a:pPr>
            <a:r>
              <a:rPr lang="en-US" sz="650" b="0" i="0">
                <a:solidFill>
                  <a:srgbClr val="1A1A1A"/>
                </a:solidFill>
                <a:latin typeface="Arial" panose="020B0604020202020204"/>
              </a:rPr>
              <a:t>Yes, garlic bread please.</a:t>
            </a:r>
            <a:endParaRPr lang="en-US" sz="6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18" name="Rounded Rectangle 117"/>
          <p:cNvSpPr/>
          <p:nvPr/>
        </p:nvSpPr>
        <p:spPr>
          <a:xfrm>
            <a:off x="3936491" y="3204972"/>
            <a:ext cx="1024128" cy="457200"/>
          </a:xfrm>
          <a:prstGeom prst="roundRect">
            <a:avLst>
              <a:gd name="adj" fmla="val 15000"/>
            </a:avLst>
          </a:prstGeom>
          <a:solidFill>
            <a:srgbClr val="FD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lnSpc>
                <a:spcPct val="112000"/>
              </a:lnSpc>
            </a:pPr>
            <a:r>
              <a:rPr lang="en-US" sz="650" b="0" i="0">
                <a:solidFill>
                  <a:srgbClr val="1A1A1A"/>
                </a:solidFill>
                <a:latin typeface="Arial" panose="020B0604020202020204"/>
              </a:rPr>
              <a:t>One pizza or two? Two means two people near you.</a:t>
            </a:r>
            <a:endParaRPr lang="en-US" sz="6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4325112" y="3854196"/>
            <a:ext cx="457200" cy="329184"/>
          </a:xfrm>
          <a:prstGeom prst="ellipse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lang="en-US" sz="700" b="1" i="0">
                <a:solidFill>
                  <a:srgbClr val="FFFFFF"/>
                </a:solidFill>
                <a:latin typeface="Arial" panose="020B0604020202020204"/>
              </a:rPr>
              <a:t>End</a:t>
            </a:r>
            <a:endParaRPr lang="en-US" sz="7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5541264" y="1325880"/>
            <a:ext cx="1463040" cy="3035808"/>
          </a:xfrm>
          <a:prstGeom prst="roundRect">
            <a:avLst>
              <a:gd name="adj" fmla="val 12000"/>
            </a:avLst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ounded Rectangle 120"/>
          <p:cNvSpPr/>
          <p:nvPr/>
        </p:nvSpPr>
        <p:spPr>
          <a:xfrm>
            <a:off x="5591555" y="1376172"/>
            <a:ext cx="1362456" cy="2935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5664707" y="1485900"/>
            <a:ext cx="121615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800" b="1" i="0">
                <a:solidFill>
                  <a:srgbClr val="1A1A1A"/>
                </a:solidFill>
                <a:latin typeface="Arial" panose="020B0604020202020204"/>
              </a:rPr>
              <a:t>Delivery instructions</a:t>
            </a:r>
            <a:endParaRPr lang="en-US" sz="800" b="1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5655564" y="1760219"/>
            <a:ext cx="1234440" cy="246888"/>
          </a:xfrm>
          <a:prstGeom prst="roundRect">
            <a:avLst>
              <a:gd name="adj" fmla="val 2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lnSpc>
                <a:spcPct val="112000"/>
              </a:lnSpc>
            </a:pPr>
            <a:r>
              <a:rPr lang="en-US" sz="650" b="0" i="0">
                <a:solidFill>
                  <a:srgbClr val="1A1A1A"/>
                </a:solidFill>
                <a:latin typeface="Arial" panose="020B0604020202020204"/>
              </a:rPr>
              <a:t>Ring the bell</a:t>
            </a:r>
            <a:endParaRPr lang="en-US" sz="6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24" name="Rounded Rectangle 123"/>
          <p:cNvSpPr/>
          <p:nvPr/>
        </p:nvSpPr>
        <p:spPr>
          <a:xfrm>
            <a:off x="5655564" y="2043684"/>
            <a:ext cx="1234440" cy="246888"/>
          </a:xfrm>
          <a:prstGeom prst="roundRect">
            <a:avLst>
              <a:gd name="adj" fmla="val 2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lnSpc>
                <a:spcPct val="112000"/>
              </a:lnSpc>
            </a:pPr>
            <a:r>
              <a:rPr lang="en-US" sz="650" b="0" i="0">
                <a:solidFill>
                  <a:srgbClr val="1A1A1A"/>
                </a:solidFill>
                <a:latin typeface="Arial" panose="020B0604020202020204"/>
              </a:rPr>
              <a:t>Leave at the door</a:t>
            </a:r>
            <a:endParaRPr lang="en-US" sz="6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5655564" y="2327148"/>
            <a:ext cx="1234440" cy="246888"/>
          </a:xfrm>
          <a:prstGeom prst="roundRect">
            <a:avLst>
              <a:gd name="adj" fmla="val 2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lnSpc>
                <a:spcPct val="112000"/>
              </a:lnSpc>
            </a:pPr>
            <a:r>
              <a:rPr lang="en-US" sz="650" b="0" i="0">
                <a:solidFill>
                  <a:srgbClr val="1A1A1A"/>
                </a:solidFill>
                <a:latin typeface="Arial" panose="020B0604020202020204"/>
              </a:rPr>
              <a:t>Call on arrival</a:t>
            </a:r>
            <a:endParaRPr lang="en-US" sz="6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26" name="Rounded Rectangle 125"/>
          <p:cNvSpPr/>
          <p:nvPr/>
        </p:nvSpPr>
        <p:spPr>
          <a:xfrm>
            <a:off x="5655564" y="2610612"/>
            <a:ext cx="1234440" cy="246888"/>
          </a:xfrm>
          <a:prstGeom prst="roundRect">
            <a:avLst>
              <a:gd name="adj" fmla="val 2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lnSpc>
                <a:spcPct val="112000"/>
              </a:lnSpc>
            </a:pPr>
            <a:r>
              <a:rPr lang="en-US" sz="650" b="0" i="0">
                <a:solidFill>
                  <a:srgbClr val="1A1A1A"/>
                </a:solidFill>
                <a:latin typeface="Arial" panose="020B0604020202020204"/>
              </a:rPr>
              <a:t>Handle with care — fragile</a:t>
            </a:r>
            <a:endParaRPr lang="en-US" sz="6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27" name="Rounded Rectangle 126"/>
          <p:cNvSpPr/>
          <p:nvPr/>
        </p:nvSpPr>
        <p:spPr>
          <a:xfrm>
            <a:off x="5655564" y="2894076"/>
            <a:ext cx="1234440" cy="512064"/>
          </a:xfrm>
          <a:prstGeom prst="roundRect">
            <a:avLst>
              <a:gd name="adj" fmla="val 12000"/>
            </a:avLst>
          </a:prstGeom>
          <a:solidFill>
            <a:srgbClr val="FDEBDF"/>
          </a:solidFill>
          <a:ln w="9525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l">
              <a:lnSpc>
                <a:spcPct val="112000"/>
              </a:lnSpc>
            </a:pPr>
            <a:r>
              <a:rPr lang="en-US" sz="650" b="1" i="0">
                <a:solidFill>
                  <a:srgbClr val="1A1A1A"/>
                </a:solidFill>
                <a:latin typeface="Arial" panose="020B0604020202020204"/>
              </a:rPr>
              <a:t>Don't ring, leave silently</a:t>
            </a:r>
            <a:endParaRPr lang="en-US" sz="650" b="1" i="0">
              <a:solidFill>
                <a:srgbClr val="1A1A1A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</a:pPr>
            <a:r>
              <a:rPr lang="en-US" sz="650" b="1" i="0">
                <a:solidFill>
                  <a:srgbClr val="E8590C"/>
                </a:solidFill>
                <a:latin typeface="Arial" panose="020B0604020202020204"/>
              </a:rPr>
              <a:t>A weapon is present: send help urgently</a:t>
            </a:r>
            <a:endParaRPr lang="en-US" sz="650" b="1" i="0">
              <a:solidFill>
                <a:srgbClr val="E8590C"/>
              </a:solidFill>
              <a:latin typeface="Arial" panose="020B0604020202020204"/>
            </a:endParaRPr>
          </a:p>
        </p:txBody>
      </p:sp>
      <p:sp>
        <p:nvSpPr>
          <p:cNvPr id="129" name="Rounded Rectangle 128"/>
          <p:cNvSpPr/>
          <p:nvPr/>
        </p:nvSpPr>
        <p:spPr>
          <a:xfrm>
            <a:off x="5655564" y="3963924"/>
            <a:ext cx="1234440" cy="256032"/>
          </a:xfrm>
          <a:prstGeom prst="roundRect">
            <a:avLst>
              <a:gd name="adj" fmla="val 2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lnSpc>
                <a:spcPct val="112000"/>
              </a:lnSpc>
            </a:pPr>
            <a:r>
              <a:rPr lang="en-US" sz="700" b="1" i="0">
                <a:solidFill>
                  <a:srgbClr val="FFFFFF"/>
                </a:solidFill>
                <a:latin typeface="Arial" panose="020B0604020202020204"/>
              </a:rPr>
              <a:t>Save instructions</a:t>
            </a:r>
            <a:endParaRPr lang="en-US" sz="7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30" name="Rounded Rectangle 129"/>
          <p:cNvSpPr/>
          <p:nvPr/>
        </p:nvSpPr>
        <p:spPr>
          <a:xfrm>
            <a:off x="7260336" y="1325880"/>
            <a:ext cx="1463040" cy="3035808"/>
          </a:xfrm>
          <a:prstGeom prst="roundRect">
            <a:avLst>
              <a:gd name="adj" fmla="val 12000"/>
            </a:avLst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ounded Rectangle 130"/>
          <p:cNvSpPr/>
          <p:nvPr/>
        </p:nvSpPr>
        <p:spPr>
          <a:xfrm>
            <a:off x="7310628" y="1376172"/>
            <a:ext cx="1362456" cy="2935224"/>
          </a:xfrm>
          <a:prstGeom prst="roundRect">
            <a:avLst>
              <a:gd name="adj" fmla="val 9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7310628" y="3927348"/>
            <a:ext cx="13624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lang="en-US" sz="600" b="0" i="0">
                <a:solidFill>
                  <a:srgbClr val="3A3A3A"/>
                </a:solidFill>
                <a:latin typeface="Arial" panose="020B0604020202020204"/>
              </a:rPr>
              <a:t>(three quick taps anywhere to exit)</a:t>
            </a:r>
            <a:endParaRPr lang="en-US" sz="600" b="0" i="0">
              <a:solidFill>
                <a:srgbClr val="3A3A3A"/>
              </a:solidFill>
              <a:latin typeface="Arial" panose="020B0604020202020204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338328" y="4416551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lang="en-US" sz="85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Home</a:t>
            </a:r>
            <a:endParaRPr lang="en-US" sz="850" b="1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lnSpc>
                <a:spcPct val="112000"/>
              </a:lnSpc>
            </a:pPr>
            <a:r>
              <a:rPr lang="en-US" sz="75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Looks like any delivery app. The heart hides the SOS.</a:t>
            </a:r>
            <a:endParaRPr lang="en-US" sz="75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2057400" y="4416551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lang="en-US" sz="85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Item sheet</a:t>
            </a:r>
            <a:endParaRPr lang="en-US" sz="850" b="1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lnSpc>
                <a:spcPct val="112000"/>
              </a:lnSpc>
            </a:pPr>
            <a:r>
              <a:rPr lang="en-US" sz="75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Long-press a coded item to see what it really means.</a:t>
            </a:r>
            <a:endParaRPr lang="en-US" sz="75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3776472" y="4416551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lang="en-US" sz="85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Call to order (mock)</a:t>
            </a:r>
            <a:endParaRPr lang="en-US" sz="850" b="1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lnSpc>
                <a:spcPct val="112000"/>
              </a:lnSpc>
            </a:pPr>
            <a:r>
              <a:rPr lang="en-US" sz="75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Mia speaks every code’s meaning with it.</a:t>
            </a:r>
            <a:endParaRPr lang="en-US" sz="75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5495544" y="4416551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lang="en-US" sz="85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Delivery instructions (mock)</a:t>
            </a:r>
            <a:endParaRPr lang="en-US" sz="850" b="1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lnSpc>
                <a:spcPct val="112000"/>
              </a:lnSpc>
            </a:pPr>
            <a:r>
              <a:rPr lang="en-US" sz="75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 sound needed: long-press reveals meaning.</a:t>
            </a:r>
            <a:endParaRPr lang="en-US" sz="75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7214616" y="4416551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lang="en-US" sz="85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Silent SOS (mock)</a:t>
            </a:r>
            <a:endParaRPr lang="en-US" sz="850" b="1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lnSpc>
                <a:spcPct val="112000"/>
              </a:lnSpc>
            </a:pPr>
            <a:r>
              <a:rPr lang="en-US" sz="75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Screen looks off; cameras + AI observer run.</a:t>
            </a:r>
            <a:endParaRPr lang="en-US" sz="75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3649"/>
            <a:ext cx="9144000" cy="50006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03504"/>
            <a:ext cx="89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Architecture diagram of the proposed solution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sp>
        <p:nvSpPr>
          <p:cNvPr id="112" name="Takeaway"/>
          <p:cNvSpPr txBox="1"/>
          <p:nvPr/>
        </p:nvSpPr>
        <p:spPr>
          <a:xfrm>
            <a:off x="365760" y="969264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E8590C"/>
                </a:solidFill>
                <a:latin typeface="Arial" panose="020B0604020202020204"/>
              </a:rPr>
              <a:t>Firebase backend: the phone, Gemini and Firestore do all the work</a:t>
            </a:r>
            <a:endParaRPr sz="1300" b="1" i="0">
              <a:solidFill>
                <a:srgbClr val="E8590C"/>
              </a:solidFill>
              <a:latin typeface="Arial" panose="020B0604020202020204"/>
            </a:endParaRPr>
          </a:p>
        </p:txBody>
      </p:sp>
      <p:sp>
        <p:nvSpPr>
          <p:cNvPr id="300" name="Header: caller"/>
          <p:cNvSpPr txBox="1"/>
          <p:nvPr/>
        </p:nvSpPr>
        <p:spPr>
          <a:xfrm>
            <a:off x="365760" y="1325880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spc="60">
                <a:solidFill>
                  <a:srgbClr val="E8590C"/>
                </a:solidFill>
                <a:latin typeface="Arial" panose="020B0604020202020204"/>
                <a:cs typeface="Arial" panose="020B0604020202020204"/>
              </a:rPr>
              <a:t>CALLER'S PHONE</a:t>
            </a:r>
            <a:endParaRPr lang="en-US" sz="800" b="1" i="0" spc="60">
              <a:solidFill>
                <a:srgbClr val="E8590C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01" name="Header: Gemini"/>
          <p:cNvSpPr txBox="1"/>
          <p:nvPr/>
        </p:nvSpPr>
        <p:spPr>
          <a:xfrm>
            <a:off x="2926080" y="1325880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spc="60">
                <a:solidFill>
                  <a:srgbClr val="1A73E8"/>
                </a:solidFill>
                <a:latin typeface="Arial" panose="020B0604020202020204"/>
                <a:cs typeface="Arial" panose="020B0604020202020204"/>
              </a:rPr>
              <a:t>GEMINI API</a:t>
            </a:r>
            <a:endParaRPr lang="en-US" sz="800" b="1" i="0" spc="60">
              <a:solidFill>
                <a:srgbClr val="1A73E8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02" name="Header: Firebase"/>
          <p:cNvSpPr txBox="1"/>
          <p:nvPr/>
        </p:nvSpPr>
        <p:spPr>
          <a:xfrm>
            <a:off x="4846320" y="1325880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spc="60">
                <a:solidFill>
                  <a:srgbClr val="5F6368"/>
                </a:solidFill>
                <a:latin typeface="Arial" panose="020B0604020202020204"/>
                <a:cs typeface="Arial" panose="020B0604020202020204"/>
              </a:rPr>
              <a:t>REALTIME DATA</a:t>
            </a:r>
            <a:endParaRPr lang="en-US" sz="800" b="1" i="0" spc="60">
              <a:solidFill>
                <a:srgbClr val="5F6368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03" name="Header: responders"/>
          <p:cNvSpPr txBox="1"/>
          <p:nvPr/>
        </p:nvSpPr>
        <p:spPr>
          <a:xfrm>
            <a:off x="7132320" y="1325880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spc="60">
                <a:solidFill>
                  <a:srgbClr val="2F9E44"/>
                </a:solidFill>
                <a:latin typeface="Arial" panose="020B0604020202020204"/>
                <a:cs typeface="Arial" panose="020B0604020202020204"/>
              </a:rPr>
              <a:t>RESPONDERS</a:t>
            </a:r>
            <a:endParaRPr lang="en-US" sz="800" b="1" i="0" spc="60">
              <a:solidFill>
                <a:srgbClr val="2F9E44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04" name="QuickBite web app"/>
          <p:cNvSpPr/>
          <p:nvPr/>
        </p:nvSpPr>
        <p:spPr>
          <a:xfrm>
            <a:off x="365760" y="1536192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DEBDF"/>
          </a:solidFill>
          <a:ln>
            <a:noFill/>
          </a:ln>
        </p:spPr>
        <p:txBody>
          <a:bodyPr wrap="square" lIns="73152" tIns="54864" rIns="73152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QuickBite web app</a:t>
            </a:r>
            <a:endParaRPr lang="en-US" sz="950" b="1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React + Vite · Firebase Hosting</a:t>
            </a:r>
            <a:endParaRPr lang="en-US" sz="75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Opens in the phone browser,</a:t>
            </a:r>
            <a:endParaRPr lang="en-US" sz="75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nothing to install</a:t>
            </a:r>
            <a:endParaRPr lang="en-US" sz="75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05" name="Four hidden ways in"/>
          <p:cNvSpPr/>
          <p:nvPr/>
        </p:nvSpPr>
        <p:spPr>
          <a:xfrm>
            <a:off x="365760" y="2231136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DEBDF"/>
          </a:solidFill>
          <a:ln>
            <a:noFill/>
          </a:ln>
        </p:spPr>
        <p:txBody>
          <a:bodyPr wrap="square" lIns="73152" tIns="54864" rIns="73152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Four hidden ways in</a:t>
            </a:r>
            <a:endParaRPr lang="en-US" sz="850" b="1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Call to order · Click &amp; order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Delivery instructions · Heart SOS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06" name="Phone runs every tool call"/>
          <p:cNvSpPr/>
          <p:nvPr/>
        </p:nvSpPr>
        <p:spPr>
          <a:xfrm>
            <a:off x="365760" y="2798064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DEBDF"/>
          </a:solidFill>
          <a:ln>
            <a:noFill/>
          </a:ln>
        </p:spPr>
        <p:txBody>
          <a:bodyPr wrap="square" lIns="73152" tIns="54864" rIns="73152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tool call runs here</a:t>
            </a:r>
            <a:endParaRPr lang="en-US" sz="850" b="1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severity rules · geocode · route</a:t>
            </a:r>
            <a:endParaRPr lang="en-US" sz="75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WebRTC · recorders · key pool</a:t>
            </a:r>
            <a:endParaRPr lang="en-US" sz="75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07" name="Gemini API container"/>
          <p:cNvSpPr/>
          <p:nvPr/>
        </p:nvSpPr>
        <p:spPr>
          <a:xfrm>
            <a:off x="2926080" y="1536192"/>
            <a:ext cx="1645920" cy="1773936"/>
          </a:xfrm>
          <a:prstGeom prst="roundRect">
            <a:avLst>
              <a:gd name="adj" fmla="val 4444"/>
            </a:avLst>
          </a:prstGeom>
          <a:solidFill>
            <a:srgbClr val="E8F0FE"/>
          </a:solidFill>
          <a:ln>
            <a:noFill/>
          </a:ln>
        </p:spPr>
        <p:txBody>
          <a:bodyPr wrap="square" lIns="73152" tIns="54864" rIns="73152" bIns="36576" rtlCol="0" anchor="t">
            <a:noAutofit/>
          </a:bodyPr>
          <a:lstStyle/>
          <a:p>
            <a:endParaRPr lang="en-US" sz="700"/>
          </a:p>
        </p:txBody>
      </p:sp>
      <p:sp>
        <p:nvSpPr>
          <p:cNvPr id="308" name="gemini-3.8-live"/>
          <p:cNvSpPr/>
          <p:nvPr/>
        </p:nvSpPr>
        <p:spPr>
          <a:xfrm>
            <a:off x="2990088" y="1600200"/>
            <a:ext cx="1517904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</p:spPr>
        <p:txBody>
          <a:bodyPr wrap="square" lIns="73152" tIns="54864" rIns="73152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>
                <a:solidFill>
                  <a:srgbClr val="1A73E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gemini-3.8-live</a:t>
            </a:r>
            <a:endParaRPr lang="en-US" sz="900" b="1" i="0">
              <a:solidFill>
                <a:srgbClr val="1A73E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Mia, the live voice agent: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hears, sees, calls 12 tools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+ the silent SOS observer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09" name="gemini-3.5-flash-lite"/>
          <p:cNvSpPr/>
          <p:nvPr/>
        </p:nvSpPr>
        <p:spPr>
          <a:xfrm>
            <a:off x="2990088" y="2377440"/>
            <a:ext cx="1517904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</p:spPr>
        <p:txBody>
          <a:bodyPr wrap="square" lIns="73152" tIns="54864" rIns="73152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>
                <a:solidFill>
                  <a:srgbClr val="1A73E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gemini-3.5-flash-lite</a:t>
            </a:r>
            <a:endParaRPr lang="en-US" sz="850" b="1" i="0">
              <a:solidFill>
                <a:srgbClr val="1A73E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summary, bulletin, redaction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0" name="gemini-3.1-flash-lite"/>
          <p:cNvSpPr/>
          <p:nvPr/>
        </p:nvSpPr>
        <p:spPr>
          <a:xfrm>
            <a:off x="2990088" y="2843784"/>
            <a:ext cx="1517904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</p:spPr>
        <p:txBody>
          <a:bodyPr wrap="square" lIns="73152" tIns="54864" rIns="73152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>
                <a:solidFill>
                  <a:srgbClr val="1A73E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gemini-3.1-flash-lite</a:t>
            </a:r>
            <a:endParaRPr lang="en-US" sz="850" b="1" i="0">
              <a:solidFill>
                <a:srgbClr val="1A73E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vision, case linking, console AI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1" name="Cloud Firestore"/>
          <p:cNvSpPr/>
          <p:nvPr/>
        </p:nvSpPr>
        <p:spPr>
          <a:xfrm>
            <a:off x="4846320" y="1536192"/>
            <a:ext cx="1645920" cy="1773936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 w="9525">
            <a:solidFill>
              <a:srgbClr val="DADCE0"/>
            </a:solidFill>
            <a:round/>
          </a:ln>
        </p:spPr>
        <p:txBody>
          <a:bodyPr wrap="square" lIns="73152" tIns="54864" rIns="73152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Cloud Firestore</a:t>
            </a:r>
            <a:endParaRPr lang="en-US" sz="950" b="1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asia-south1 · one doc per incident</a:t>
            </a:r>
            <a:endParaRPr lang="en-US" sz="75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live fields · GPS trail · transcript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responder messages · snaps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WebRTC handshake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2F9E44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Listeners sync data live</a:t>
            </a:r>
            <a:endParaRPr lang="en-US" sz="750" b="1" i="0">
              <a:solidFill>
                <a:srgbClr val="2F9E44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2" name="Auth and security rules"/>
          <p:cNvSpPr/>
          <p:nvPr/>
        </p:nvSpPr>
        <p:spPr>
          <a:xfrm>
            <a:off x="4910328" y="2615184"/>
            <a:ext cx="1517904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ADCE0"/>
            </a:solidFill>
            <a:round/>
          </a:ln>
        </p:spPr>
        <p:txBody>
          <a:bodyPr wrap="square" lIns="73152" tIns="54864" rIns="73152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Auth · security rules</a:t>
            </a:r>
            <a:endParaRPr lang="en-US" sz="850" b="1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callers: anonymous sign-in</a:t>
            </a:r>
            <a:endParaRPr lang="en-US" sz="75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responders: email + roles</a:t>
            </a:r>
            <a:endParaRPr lang="en-US" sz="75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write schema-checked</a:t>
            </a:r>
            <a:endParaRPr lang="en-US" sz="75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3" name="Responder console"/>
          <p:cNvSpPr/>
          <p:nvPr/>
        </p:nvSpPr>
        <p:spPr>
          <a:xfrm>
            <a:off x="7132320" y="1536192"/>
            <a:ext cx="1645920" cy="1773936"/>
          </a:xfrm>
          <a:prstGeom prst="roundRect">
            <a:avLst>
              <a:gd name="adj" fmla="val 4444"/>
            </a:avLst>
          </a:prstGeom>
          <a:solidFill>
            <a:srgbClr val="E3F4E6"/>
          </a:solidFill>
          <a:ln>
            <a:noFill/>
          </a:ln>
        </p:spPr>
        <p:txBody>
          <a:bodyPr wrap="square" lIns="73152" tIns="54864" rIns="73152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Responder console</a:t>
            </a:r>
            <a:endParaRPr lang="en-US" sz="950" b="1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React + Vite · sign-in only</a:t>
            </a:r>
            <a:endParaRPr lang="en-US" sz="75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Live queue + siren alerts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Case board: map, evidence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Live video + listen-in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Acknowledge · message caller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History · analytics · admin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4" name="Console AI"/>
          <p:cNvSpPr/>
          <p:nvPr/>
        </p:nvSpPr>
        <p:spPr>
          <a:xfrm>
            <a:off x="7196328" y="2770632"/>
            <a:ext cx="151790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1A73E8"/>
            </a:solidFill>
            <a:round/>
          </a:ln>
        </p:spPr>
        <p:txBody>
          <a:bodyPr wrap="square" lIns="73152" tIns="54864" rIns="73152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1A73E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Ask AI · credibility · insights</a:t>
            </a:r>
            <a:endParaRPr lang="en-US" sz="750" b="1" i="0">
              <a:solidFill>
                <a:srgbClr val="1A73E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via gemini-3.1-flash-lite</a:t>
            </a:r>
            <a:endParaRPr lang="en-US" sz="75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5" name="Location and routing"/>
          <p:cNvSpPr/>
          <p:nvPr/>
        </p:nvSpPr>
        <p:spPr>
          <a:xfrm>
            <a:off x="365760" y="3822192"/>
            <a:ext cx="200025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ADCE0"/>
            </a:solidFill>
            <a:round/>
          </a:ln>
        </p:spPr>
        <p:txBody>
          <a:bodyPr wrap="square" lIns="73152" tIns="54864" rIns="73152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Location &amp; routing</a:t>
            </a:r>
            <a:endParaRPr lang="en-US" sz="850" b="1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GPS, else IP lookup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Nominatim + Photon: address, help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OSRM: route to police / hospital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6" name="Evidence recordings"/>
          <p:cNvSpPr/>
          <p:nvPr/>
        </p:nvSpPr>
        <p:spPr>
          <a:xfrm>
            <a:off x="2503170" y="3822192"/>
            <a:ext cx="200025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ADCE0"/>
            </a:solidFill>
            <a:round/>
          </a:ln>
        </p:spPr>
        <p:txBody>
          <a:bodyPr wrap="square" lIns="73152" tIns="54864" rIns="73152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Evidence recordings</a:t>
            </a:r>
            <a:endParaRPr lang="en-US" sz="850" b="1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Apps Script → Google Drive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camera video every 20 s + at end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call audio once, at the end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7" name="Case report and alerts"/>
          <p:cNvSpPr/>
          <p:nvPr/>
        </p:nvSpPr>
        <p:spPr>
          <a:xfrm>
            <a:off x="4640580" y="3822192"/>
            <a:ext cx="200025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ADCE0"/>
            </a:solidFill>
            <a:round/>
          </a:ln>
        </p:spPr>
        <p:txBody>
          <a:bodyPr wrap="square" lIns="73152" tIns="54864" rIns="73152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Case report + alerts</a:t>
            </a:r>
            <a:endParaRPr lang="en-US" sz="850" b="1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Apps Script mail: report + PDF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trusted contacts at high severity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reads the incident via Firestore REST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8" name="Live video and listen-in"/>
          <p:cNvSpPr/>
          <p:nvPr/>
        </p:nvSpPr>
        <p:spPr>
          <a:xfrm>
            <a:off x="6777990" y="3822192"/>
            <a:ext cx="200025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ADCE0"/>
            </a:solidFill>
            <a:round/>
          </a:ln>
        </p:spPr>
        <p:txBody>
          <a:bodyPr wrap="square" lIns="73152" tIns="54864" rIns="73152" bIns="36576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Live video + listen-in</a:t>
            </a:r>
            <a:endParaRPr lang="en-US" sz="850" b="1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P2P WebRTC · Google STUN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media one way: phone → console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Firestore carries only the handshake</a:t>
            </a:r>
            <a:endParaRPr lang="en-US" sz="75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319" name="Phone to Gemini Live"/>
          <p:cNvCxnSpPr/>
          <p:nvPr/>
        </p:nvCxnSpPr>
        <p:spPr>
          <a:xfrm>
            <a:off x="2148840" y="1773936"/>
            <a:ext cx="841248" cy="0"/>
          </a:xfrm>
          <a:prstGeom prst="straightConnector1">
            <a:avLst/>
          </a:prstGeom>
          <a:ln w="22225">
            <a:solidFill>
              <a:srgbClr val="1A73E8"/>
            </a:solidFill>
            <a:round/>
            <a:tailEnd type="triangle" w="med" len="med"/>
          </a:ln>
        </p:spPr>
      </p:cxnSp>
      <p:sp>
        <p:nvSpPr>
          <p:cNvPr id="320" name="Label: audio + frames"/>
          <p:cNvSpPr txBox="1"/>
          <p:nvPr/>
        </p:nvSpPr>
        <p:spPr>
          <a:xfrm>
            <a:off x="2148840" y="1627632"/>
            <a:ext cx="84124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1A73E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audio + frames</a:t>
            </a:r>
            <a:endParaRPr lang="en-US" sz="700" b="0" i="0">
              <a:solidFill>
                <a:srgbClr val="1A73E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321" name="Gemini Live to phone"/>
          <p:cNvCxnSpPr/>
          <p:nvPr/>
        </p:nvCxnSpPr>
        <p:spPr>
          <a:xfrm flipH="1">
            <a:off x="2148840" y="2011680"/>
            <a:ext cx="841248" cy="0"/>
          </a:xfrm>
          <a:prstGeom prst="straightConnector1">
            <a:avLst/>
          </a:prstGeom>
          <a:ln w="22225">
            <a:solidFill>
              <a:srgbClr val="1A73E8"/>
            </a:solidFill>
            <a:round/>
            <a:tailEnd type="triangle" w="med" len="med"/>
          </a:ln>
        </p:spPr>
      </p:cxnSp>
      <p:sp>
        <p:nvSpPr>
          <p:cNvPr id="322" name="Label: voice, tool calls"/>
          <p:cNvSpPr txBox="1"/>
          <p:nvPr/>
        </p:nvSpPr>
        <p:spPr>
          <a:xfrm>
            <a:off x="2148840" y="2048256"/>
            <a:ext cx="84124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1A73E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voice, tool calls</a:t>
            </a:r>
            <a:endParaRPr lang="en-US" sz="700" b="0" i="0">
              <a:solidFill>
                <a:srgbClr val="1A73E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323" name="Phone to Flash-Lite after the call"/>
          <p:cNvCxnSpPr/>
          <p:nvPr/>
        </p:nvCxnSpPr>
        <p:spPr>
          <a:xfrm>
            <a:off x="2148840" y="2578608"/>
            <a:ext cx="841248" cy="0"/>
          </a:xfrm>
          <a:prstGeom prst="straightConnector1">
            <a:avLst/>
          </a:prstGeom>
          <a:ln w="19050">
            <a:solidFill>
              <a:srgbClr val="1A73E8"/>
            </a:solidFill>
            <a:prstDash val="dash"/>
            <a:round/>
            <a:tailEnd type="triangle" w="med" len="med"/>
          </a:ln>
        </p:spPr>
      </p:cxnSp>
      <p:sp>
        <p:nvSpPr>
          <p:cNvPr id="324" name="Label: after the call"/>
          <p:cNvSpPr txBox="1"/>
          <p:nvPr/>
        </p:nvSpPr>
        <p:spPr>
          <a:xfrm>
            <a:off x="2148840" y="2423160"/>
            <a:ext cx="84124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1A73E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after the call</a:t>
            </a:r>
            <a:endParaRPr lang="en-US" sz="700" b="0" i="0">
              <a:solidFill>
                <a:srgbClr val="1A73E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325" name="Firestore to console"/>
          <p:cNvCxnSpPr/>
          <p:nvPr/>
        </p:nvCxnSpPr>
        <p:spPr>
          <a:xfrm>
            <a:off x="6492240" y="1883664"/>
            <a:ext cx="640080" cy="0"/>
          </a:xfrm>
          <a:prstGeom prst="straightConnector1">
            <a:avLst/>
          </a:prstGeom>
          <a:ln w="22225">
            <a:solidFill>
              <a:srgbClr val="2F9E44"/>
            </a:solidFill>
            <a:round/>
            <a:tailEnd type="triangle" w="med" len="med"/>
          </a:ln>
        </p:spPr>
      </p:cxnSp>
      <p:sp>
        <p:nvSpPr>
          <p:cNvPr id="326" name="Label: live sync"/>
          <p:cNvSpPr txBox="1"/>
          <p:nvPr/>
        </p:nvSpPr>
        <p:spPr>
          <a:xfrm>
            <a:off x="6492240" y="1737360"/>
            <a:ext cx="6400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2F9E44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live sync</a:t>
            </a:r>
            <a:endParaRPr lang="en-US" sz="700" b="0" i="0">
              <a:solidFill>
                <a:srgbClr val="2F9E44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327" name="Console to Firestore"/>
          <p:cNvCxnSpPr/>
          <p:nvPr/>
        </p:nvCxnSpPr>
        <p:spPr>
          <a:xfrm flipH="1">
            <a:off x="6492240" y="2249424"/>
            <a:ext cx="640080" cy="0"/>
          </a:xfrm>
          <a:prstGeom prst="straightConnector1">
            <a:avLst/>
          </a:prstGeom>
          <a:ln w="22225">
            <a:solidFill>
              <a:srgbClr val="2F9E44"/>
            </a:solidFill>
            <a:round/>
            <a:tailEnd type="triangle" w="med" len="med"/>
          </a:ln>
        </p:spPr>
      </p:cxnSp>
      <p:sp>
        <p:nvSpPr>
          <p:cNvPr id="328" name="Label: actions"/>
          <p:cNvSpPr txBox="1"/>
          <p:nvPr/>
        </p:nvSpPr>
        <p:spPr>
          <a:xfrm>
            <a:off x="6492240" y="2286000"/>
            <a:ext cx="6400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2F9E44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actions</a:t>
            </a:r>
            <a:endParaRPr lang="en-US" sz="700" b="0" i="0">
              <a:solidFill>
                <a:srgbClr val="2F9E44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9" name="Phone to Firestore: live fields"/>
          <p:cNvSpPr/>
          <p:nvPr/>
        </p:nvSpPr>
        <p:spPr>
          <a:xfrm>
            <a:off x="1965960" y="3310128"/>
            <a:ext cx="3154680" cy="164592"/>
          </a:xfrm>
          <a:custGeom>
            <a:avLst/>
            <a:gdLst/>
            <a:ahLst/>
            <a:cxnLst/>
            <a:rect l="l" t="t" r="r" b="b"/>
            <a:pathLst>
              <a:path w="3154680" h="164592" fill="none">
                <a:moveTo>
                  <a:pt x="0" y="0"/>
                </a:moveTo>
                <a:lnTo>
                  <a:pt x="0" y="164592"/>
                </a:lnTo>
                <a:lnTo>
                  <a:pt x="3154680" y="164592"/>
                </a:lnTo>
                <a:lnTo>
                  <a:pt x="3154680" y="0"/>
                </a:lnTo>
              </a:path>
            </a:pathLst>
          </a:custGeom>
          <a:noFill/>
          <a:ln w="22225">
            <a:solidFill>
              <a:srgbClr val="5F6368"/>
            </a:solidFill>
            <a:round/>
            <a:headEnd type="triangle" w="med" len="med"/>
            <a:tailEnd type="triangle" w="med" len="med"/>
          </a:ln>
        </p:spPr>
      </p:sp>
      <p:sp>
        <p:nvSpPr>
          <p:cNvPr id="330" name="Label: live fields"/>
          <p:cNvSpPr txBox="1"/>
          <p:nvPr/>
        </p:nvSpPr>
        <p:spPr>
          <a:xfrm>
            <a:off x="1965960" y="3502152"/>
            <a:ext cx="315468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5F6368"/>
                </a:solidFill>
                <a:latin typeface="Arial" panose="020B0604020202020204"/>
                <a:cs typeface="Arial" panose="020B0604020202020204"/>
              </a:rPr>
              <a:t>tool results → live fields · messages + route back</a:t>
            </a:r>
            <a:endParaRPr lang="en-US" sz="700" b="0" i="0">
              <a:solidFill>
                <a:srgbClr val="5F6368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31" name="Phone to services bus"/>
          <p:cNvSpPr/>
          <p:nvPr/>
        </p:nvSpPr>
        <p:spPr>
          <a:xfrm>
            <a:off x="502920" y="3310128"/>
            <a:ext cx="6549390" cy="402336"/>
          </a:xfrm>
          <a:custGeom>
            <a:avLst/>
            <a:gdLst/>
            <a:ahLst/>
            <a:cxnLst/>
            <a:rect l="l" t="t" r="r" b="b"/>
            <a:pathLst>
              <a:path w="6549390" h="402336" fill="none">
                <a:moveTo>
                  <a:pt x="0" y="0"/>
                </a:moveTo>
                <a:lnTo>
                  <a:pt x="0" y="402336"/>
                </a:lnTo>
                <a:lnTo>
                  <a:pt x="6549390" y="402336"/>
                </a:lnTo>
              </a:path>
            </a:pathLst>
          </a:custGeom>
          <a:noFill/>
          <a:ln w="19050">
            <a:solidFill>
              <a:srgbClr val="5F6368"/>
            </a:solidFill>
            <a:round/>
          </a:ln>
        </p:spPr>
      </p:sp>
      <p:cxnSp>
        <p:nvCxnSpPr>
          <p:cNvPr id="332" name="Bus stub 1"/>
          <p:cNvCxnSpPr/>
          <p:nvPr/>
        </p:nvCxnSpPr>
        <p:spPr>
          <a:xfrm>
            <a:off x="640080" y="3712464"/>
            <a:ext cx="0" cy="109728"/>
          </a:xfrm>
          <a:prstGeom prst="straightConnector1">
            <a:avLst/>
          </a:prstGeom>
          <a:ln w="19050">
            <a:solidFill>
              <a:srgbClr val="5F6368"/>
            </a:solidFill>
            <a:round/>
            <a:tailEnd type="triangle" w="med" len="med"/>
          </a:ln>
        </p:spPr>
      </p:cxnSp>
      <p:cxnSp>
        <p:nvCxnSpPr>
          <p:cNvPr id="333" name="Bus stub 2"/>
          <p:cNvCxnSpPr/>
          <p:nvPr/>
        </p:nvCxnSpPr>
        <p:spPr>
          <a:xfrm>
            <a:off x="2777490" y="3712464"/>
            <a:ext cx="0" cy="109728"/>
          </a:xfrm>
          <a:prstGeom prst="straightConnector1">
            <a:avLst/>
          </a:prstGeom>
          <a:ln w="19050">
            <a:solidFill>
              <a:srgbClr val="5F6368"/>
            </a:solidFill>
            <a:round/>
            <a:tailEnd type="triangle" w="med" len="med"/>
          </a:ln>
        </p:spPr>
      </p:cxnSp>
      <p:cxnSp>
        <p:nvCxnSpPr>
          <p:cNvPr id="334" name="Bus stub 3"/>
          <p:cNvCxnSpPr/>
          <p:nvPr/>
        </p:nvCxnSpPr>
        <p:spPr>
          <a:xfrm>
            <a:off x="4914900" y="3712464"/>
            <a:ext cx="0" cy="109728"/>
          </a:xfrm>
          <a:prstGeom prst="straightConnector1">
            <a:avLst/>
          </a:prstGeom>
          <a:ln w="19050">
            <a:solidFill>
              <a:srgbClr val="5F6368"/>
            </a:solidFill>
            <a:round/>
            <a:tailEnd type="triangle" w="med" len="med"/>
          </a:ln>
        </p:spPr>
      </p:cxnSp>
      <p:cxnSp>
        <p:nvCxnSpPr>
          <p:cNvPr id="335" name="Bus stub 4"/>
          <p:cNvCxnSpPr/>
          <p:nvPr/>
        </p:nvCxnSpPr>
        <p:spPr>
          <a:xfrm>
            <a:off x="7052310" y="3712464"/>
            <a:ext cx="0" cy="109728"/>
          </a:xfrm>
          <a:prstGeom prst="straightConnector1">
            <a:avLst/>
          </a:prstGeom>
          <a:ln w="19050">
            <a:solidFill>
              <a:srgbClr val="5F6368"/>
            </a:solidFill>
            <a:round/>
            <a:tailEnd type="triangle" w="med" len="med"/>
          </a:ln>
        </p:spPr>
      </p:cxnSp>
      <p:cxnSp>
        <p:nvCxnSpPr>
          <p:cNvPr id="336" name="Live media to console"/>
          <p:cNvCxnSpPr/>
          <p:nvPr/>
        </p:nvCxnSpPr>
        <p:spPr>
          <a:xfrm flipV="1">
            <a:off x="8458200" y="3310128"/>
            <a:ext cx="0" cy="512064"/>
          </a:xfrm>
          <a:prstGeom prst="straightConnector1">
            <a:avLst/>
          </a:prstGeom>
          <a:ln w="22225">
            <a:solidFill>
              <a:srgbClr val="2F9E44"/>
            </a:solidFill>
            <a:prstDash val="dash"/>
            <a:round/>
            <a:tailEnd type="triangle" w="med" len="med"/>
          </a:ln>
        </p:spPr>
      </p:cxnSp>
      <p:sp>
        <p:nvSpPr>
          <p:cNvPr id="337" name="Label: video, audio"/>
          <p:cNvSpPr txBox="1"/>
          <p:nvPr/>
        </p:nvSpPr>
        <p:spPr>
          <a:xfrm>
            <a:off x="7589520" y="3493008"/>
            <a:ext cx="80467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2F9E44"/>
                </a:solidFill>
                <a:latin typeface="Arial" panose="020B0604020202020204"/>
                <a:cs typeface="Arial" panose="020B0604020202020204"/>
              </a:rPr>
              <a:t>video, audio</a:t>
            </a:r>
            <a:endParaRPr lang="en-US" sz="700" b="0" i="0">
              <a:solidFill>
                <a:srgbClr val="2F9E44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38" name="Footer"/>
          <p:cNvSpPr txBox="1"/>
          <p:nvPr/>
        </p:nvSpPr>
        <p:spPr>
          <a:xfrm>
            <a:off x="365760" y="4645152"/>
            <a:ext cx="8412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Managed Firebase backend · Gemini API keys: free tier first, paid fallback · AI usage metered per call · gitleaks secret scan · 4 Firebase Hosting sites</a:t>
            </a:r>
            <a:endParaRPr lang="en-US" sz="70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39" name="Link: full architecture docs"/>
          <p:cNvSpPr txBox="1"/>
          <p:nvPr/>
        </p:nvSpPr>
        <p:spPr>
          <a:xfrm>
            <a:off x="365760" y="4818888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sng">
                <a:solidFill>
                  <a:srgbClr val="1A73E8"/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/>
              </a:rPr>
              <a:t>Full architecture docs on GitHub →</a:t>
            </a:r>
            <a:endParaRPr lang="en-US" sz="800" b="1" i="0" u="sng">
              <a:solidFill>
                <a:srgbClr val="1A73E8"/>
              </a:solidFill>
              <a:latin typeface="Calibri" panose="020F0502020204030204"/>
              <a:ea typeface="Calibri" panose="020F0502020204030204"/>
              <a:cs typeface="Calibri" panose="020F0502020204030204"/>
              <a:hlinkClick r:id="rId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3649"/>
            <a:ext cx="9144000" cy="50006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03504"/>
            <a:ext cx="89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Technologies used in the solution</a:t>
            </a:r>
            <a:endParaRPr lang="en-US"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sp>
        <p:nvSpPr>
          <p:cNvPr id="120" name="Takeaway"/>
          <p:cNvSpPr txBox="1"/>
          <p:nvPr/>
        </p:nvSpPr>
        <p:spPr>
          <a:xfrm>
            <a:off x="365760" y="969264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>
                <a:solidFill>
                  <a:srgbClr val="E8590C"/>
                </a:solidFill>
                <a:latin typeface="Arial" panose="020B0604020202020204"/>
              </a:rPr>
              <a:t>Built on Google: Gemini for intelligence, Firebase for realtime, the web for reach</a:t>
            </a:r>
            <a:endParaRPr lang="en-US" sz="1300" b="1" i="0">
              <a:solidFill>
                <a:srgbClr val="E8590C"/>
              </a:solidFill>
              <a:latin typeface="Arial" panose="020B0604020202020204"/>
            </a:endParaRPr>
          </a:p>
        </p:txBody>
      </p:sp>
      <p:sp>
        <p:nvSpPr>
          <p:cNvPr id="121" name="Rounded Rectangle 120"/>
          <p:cNvSpPr/>
          <p:nvPr/>
        </p:nvSpPr>
        <p:spPr>
          <a:xfrm>
            <a:off x="365760" y="1353312"/>
            <a:ext cx="1600200" cy="676656"/>
          </a:xfrm>
          <a:prstGeom prst="roundRect">
            <a:avLst>
              <a:gd name="adj" fmla="val 1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lnSpc>
                <a:spcPct val="112000"/>
              </a:lnSpc>
            </a:pPr>
            <a:r>
              <a:rPr lang="en-US" sz="11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Google AI</a:t>
            </a:r>
            <a:endParaRPr lang="en-US" sz="11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2" name="Rounded Rectangle 121"/>
          <p:cNvSpPr/>
          <p:nvPr/>
        </p:nvSpPr>
        <p:spPr>
          <a:xfrm>
            <a:off x="2057400" y="1353312"/>
            <a:ext cx="6720840" cy="676656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2176272" y="141732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9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Gemini Live API (gemini-3.8-live)</a:t>
            </a:r>
            <a:r>
              <a:rPr lang="en-US" sz="8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the only model doing realtime voice + vision + tools</a:t>
            </a:r>
            <a:endParaRPr lang="en-US" sz="80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2176272" y="1784767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9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Gemini 3.5 / 3.1 Flash-Lite</a:t>
            </a:r>
            <a:r>
              <a:rPr lang="en-US" sz="8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summaries, vision, linking, search, insights</a:t>
            </a:r>
            <a:endParaRPr lang="en-US" sz="80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5513831" y="141732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9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Gemini key pool</a:t>
            </a:r>
            <a:r>
              <a:rPr lang="en-US" sz="8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free key first, paid fallback, per model</a:t>
            </a:r>
            <a:endParaRPr lang="en-US" sz="80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5513831" y="170992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9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Gemma 4 31B</a:t>
            </a:r>
            <a:r>
              <a:rPr lang="en-US" sz="8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free judge in the eval harness</a:t>
            </a:r>
            <a:endParaRPr lang="en-US" sz="80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7" name="Rounded Rectangle 126"/>
          <p:cNvSpPr/>
          <p:nvPr/>
        </p:nvSpPr>
        <p:spPr>
          <a:xfrm>
            <a:off x="365760" y="2103120"/>
            <a:ext cx="1600200" cy="676656"/>
          </a:xfrm>
          <a:prstGeom prst="roundRect">
            <a:avLst>
              <a:gd name="adj" fmla="val 10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lnSpc>
                <a:spcPct val="112000"/>
              </a:lnSpc>
            </a:pPr>
            <a:r>
              <a:rPr lang="en-US" sz="11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Firebase &amp; Google Cloud</a:t>
            </a:r>
            <a:endParaRPr lang="en-US" sz="11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2057400" y="2103120"/>
            <a:ext cx="6720840" cy="676656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2176272" y="2167127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9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Hosting (4 sites), Cloud Firestore, Auth</a:t>
            </a:r>
            <a:r>
              <a:rPr lang="en-US" sz="8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email, device ID, phone OTP</a:t>
            </a:r>
            <a:endParaRPr lang="en-US" sz="80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176272" y="2459735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9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Firestore security rules</a:t>
            </a:r>
            <a:r>
              <a:rPr lang="en-US" sz="8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role-based responder access</a:t>
            </a:r>
            <a:endParaRPr lang="en-US" sz="80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5513831" y="2167127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9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Apps Script + Drive</a:t>
            </a:r>
            <a:r>
              <a:rPr lang="en-US" sz="8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evidence and mail, no billing</a:t>
            </a:r>
            <a:endParaRPr lang="en-US" sz="80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5513831" y="2459735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9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Maps JS, STUN</a:t>
            </a:r>
            <a:r>
              <a:rPr lang="en-US" sz="8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maps, WebRTC</a:t>
            </a:r>
            <a:endParaRPr lang="en-US" sz="80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3" name="Rounded Rectangle 132"/>
          <p:cNvSpPr/>
          <p:nvPr/>
        </p:nvSpPr>
        <p:spPr>
          <a:xfrm>
            <a:off x="365760" y="2852927"/>
            <a:ext cx="1600200" cy="676656"/>
          </a:xfrm>
          <a:prstGeom prst="roundRect">
            <a:avLst>
              <a:gd name="adj" fmla="val 10000"/>
            </a:avLst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lnSpc>
                <a:spcPct val="112000"/>
              </a:lnSpc>
            </a:pPr>
            <a:r>
              <a:rPr lang="en-US" sz="11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Apps</a:t>
            </a:r>
            <a:endParaRPr lang="en-US" sz="11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4" name="Rounded Rectangle 133"/>
          <p:cNvSpPr/>
          <p:nvPr/>
        </p:nvSpPr>
        <p:spPr>
          <a:xfrm>
            <a:off x="2057400" y="2852927"/>
            <a:ext cx="6720840" cy="676656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2176272" y="2916935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9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React + Vite + TypeScript</a:t>
            </a:r>
            <a:r>
              <a:rPr lang="en-US" sz="8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caller app, console, landing</a:t>
            </a:r>
            <a:endParaRPr lang="en-US" sz="80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2176272" y="3209543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9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WebRTC (browser)</a:t>
            </a:r>
            <a:r>
              <a:rPr lang="en-US" sz="8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live video + listen-in, P2P</a:t>
            </a:r>
            <a:endParaRPr lang="en-US" sz="80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5513831" y="2916935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9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Web Audio + getUserMedia</a:t>
            </a:r>
            <a:r>
              <a:rPr lang="en-US" sz="8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mic, camera frames, audio mixing</a:t>
            </a:r>
            <a:endParaRPr lang="en-US" sz="80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5513831" y="3209543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9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ECharts, Leaflet</a:t>
            </a:r>
            <a:r>
              <a:rPr lang="en-US" sz="8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analytics</a:t>
            </a:r>
            <a:endParaRPr lang="en-US" sz="80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9" name="Rounded Rectangle 138"/>
          <p:cNvSpPr/>
          <p:nvPr/>
        </p:nvSpPr>
        <p:spPr>
          <a:xfrm>
            <a:off x="365760" y="3602735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lnSpc>
                <a:spcPct val="112000"/>
              </a:lnSpc>
            </a:pPr>
            <a:r>
              <a:rPr lang="en-US" sz="11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map data</a:t>
            </a:r>
            <a:endParaRPr lang="en-US" sz="11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0" name="Rounded Rectangle 139"/>
          <p:cNvSpPr/>
          <p:nvPr/>
        </p:nvSpPr>
        <p:spPr>
          <a:xfrm>
            <a:off x="2057400" y="3602735"/>
            <a:ext cx="6720840" cy="457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2176272" y="3712463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9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OpenStreetMap, Nominatim, Photon</a:t>
            </a:r>
            <a:r>
              <a:rPr lang="en-US" sz="8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geocoding, landmarks, nearby help</a:t>
            </a:r>
            <a:endParaRPr lang="en-US" sz="80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5513831" y="3712463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9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OSRM</a:t>
            </a:r>
            <a:r>
              <a:rPr lang="en-US" sz="8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turn-by-turn routing</a:t>
            </a:r>
            <a:endParaRPr lang="en-US" sz="80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3" name="Rounded Rectangle 142"/>
          <p:cNvSpPr/>
          <p:nvPr/>
        </p:nvSpPr>
        <p:spPr>
          <a:xfrm>
            <a:off x="365760" y="4133087"/>
            <a:ext cx="1600200" cy="676656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lnSpc>
                <a:spcPct val="112000"/>
              </a:lnSpc>
            </a:pPr>
            <a:r>
              <a:rPr lang="en-US" sz="11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Quality &amp; DevOps</a:t>
            </a:r>
            <a:endParaRPr lang="en-US" sz="11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2057400" y="4133087"/>
            <a:ext cx="6720840" cy="676656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2176272" y="4197096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9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GitHub Actions</a:t>
            </a:r>
            <a:r>
              <a:rPr lang="en-US" sz="8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gitleaks secret scan</a:t>
            </a:r>
            <a:endParaRPr lang="en-US" sz="80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176272" y="4489704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9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Performance test (Node + Python)</a:t>
            </a:r>
            <a:r>
              <a:rPr lang="en-US" sz="8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8 real calls measured from incident records, Excel report</a:t>
            </a:r>
            <a:endParaRPr lang="en-US" sz="80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5513831" y="4197096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9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Staging site + preview channels</a:t>
            </a:r>
            <a:r>
              <a:rPr lang="en-US" sz="8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safe testing before production</a:t>
            </a:r>
            <a:endParaRPr lang="en-US" sz="80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3649"/>
            <a:ext cx="9144000" cy="50006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03504"/>
            <a:ext cx="89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Estimated implementation cost (optional)</a:t>
            </a:r>
            <a:endParaRPr lang="en-US"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sp>
        <p:nvSpPr>
          <p:cNvPr id="301" name="Cost 301"/>
          <p:cNvSpPr txBox="1"/>
          <p:nvPr/>
        </p:nvSpPr>
        <p:spPr>
          <a:xfrm>
            <a:off x="365760" y="969264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lang="en-US" sz="1300" b="1" i="0">
                <a:solidFill>
                  <a:srgbClr val="E8590C"/>
                </a:solidFill>
                <a:latin typeface="Arial" panose="020B0604020202020204"/>
              </a:rPr>
              <a:t>Built on free tiers for $0, about $120–180 a month to run a district pilot</a:t>
            </a:r>
            <a:endParaRPr lang="en-US" sz="1300" b="1" i="0">
              <a:solidFill>
                <a:srgbClr val="E8590C"/>
              </a:solidFill>
              <a:latin typeface="Arial" panose="020B0604020202020204"/>
            </a:endParaRPr>
          </a:p>
        </p:txBody>
      </p:sp>
      <p:sp>
        <p:nvSpPr>
          <p:cNvPr id="302" name="Card 302"/>
          <p:cNvSpPr/>
          <p:nvPr/>
        </p:nvSpPr>
        <p:spPr>
          <a:xfrm>
            <a:off x="365760" y="1353312"/>
            <a:ext cx="2706624" cy="21488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303" name="Cost 303"/>
          <p:cNvSpPr txBox="1"/>
          <p:nvPr/>
        </p:nvSpPr>
        <p:spPr>
          <a:xfrm>
            <a:off x="502920" y="1472184"/>
            <a:ext cx="2432304" cy="1948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en-US" sz="1000" b="1" i="0">
                <a:solidFill>
                  <a:srgbClr val="E8590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PROTOTYPE (DONE)</a:t>
            </a:r>
            <a:endParaRPr lang="en-US" sz="1000" b="1" i="0">
              <a:solidFill>
                <a:srgbClr val="E8590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spcAft>
                <a:spcPts val="0"/>
              </a:spcAft>
            </a:pPr>
            <a:r>
              <a:rPr lang="en-US" sz="18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$0</a:t>
            </a:r>
            <a:endParaRPr lang="en-US" sz="1800" b="1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0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infrastructure spend to build</a:t>
            </a:r>
            <a:endParaRPr lang="en-US" sz="100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14300" indent="-114300" algn="l">
              <a:lnSpc>
                <a:spcPct val="112000"/>
              </a:lnSpc>
              <a:spcAft>
                <a:spcPts val="300"/>
              </a:spcAft>
              <a:buClr>
                <a:srgbClr val="E8590C"/>
              </a:buClr>
              <a:buFont typeface="Arial" panose="020B0604020202020204"/>
              <a:buChar char="•"/>
            </a:pPr>
            <a:r>
              <a:rPr lang="en-US" sz="10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Team: </a:t>
            </a:r>
            <a:r>
              <a:rPr lang="en-US" sz="10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developers, ~4 weeks</a:t>
            </a:r>
            <a:endParaRPr lang="en-US" sz="10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14300" indent="-114300" algn="l">
              <a:lnSpc>
                <a:spcPct val="112000"/>
              </a:lnSpc>
              <a:spcAft>
                <a:spcPts val="300"/>
              </a:spcAft>
              <a:buClr>
                <a:srgbClr val="E8590C"/>
              </a:buClr>
              <a:buFont typeface="Arial" panose="020B0604020202020204"/>
              <a:buChar char="•"/>
            </a:pPr>
            <a:r>
              <a:rPr lang="en-US" sz="1000" b="1" i="0" dirty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Hosting, </a:t>
            </a:r>
            <a:r>
              <a:rPr lang="en-US" sz="1000" b="1" i="0" dirty="0" err="1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Firestore</a:t>
            </a:r>
            <a:r>
              <a:rPr lang="en-US" sz="1000" b="1" i="0" dirty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, Auth: </a:t>
            </a:r>
            <a:r>
              <a:rPr lang="en-US" sz="1000" b="0" i="0" dirty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Firebase free tier</a:t>
            </a:r>
            <a:endParaRPr lang="en-US" sz="1000" b="0" i="0" dirty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14300" indent="-114300" algn="l">
              <a:lnSpc>
                <a:spcPct val="112000"/>
              </a:lnSpc>
              <a:spcAft>
                <a:spcPts val="300"/>
              </a:spcAft>
              <a:buClr>
                <a:srgbClr val="E8590C"/>
              </a:buClr>
              <a:buFont typeface="Arial" panose="020B0604020202020204"/>
              <a:buChar char="•"/>
            </a:pPr>
            <a:r>
              <a:rPr lang="en-US" sz="10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AI: </a:t>
            </a:r>
            <a:r>
              <a:rPr lang="en-US" sz="10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Gemini free key; $0 billed across 59 real test calls</a:t>
            </a:r>
            <a:endParaRPr lang="en-US" sz="10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14300" indent="-114300" algn="l">
              <a:lnSpc>
                <a:spcPct val="112000"/>
              </a:lnSpc>
              <a:spcAft>
                <a:spcPts val="300"/>
              </a:spcAft>
              <a:buClr>
                <a:srgbClr val="E8590C"/>
              </a:buClr>
              <a:buFont typeface="Arial" panose="020B0604020202020204"/>
              <a:buChar char="•"/>
            </a:pPr>
            <a:r>
              <a:rPr lang="en-US" sz="10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Maps, routing, mail: </a:t>
            </a:r>
            <a:r>
              <a:rPr lang="en-US" sz="10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OpenStreetMap, OSRM, Apps Script, all free</a:t>
            </a:r>
            <a:endParaRPr lang="en-US" sz="10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04" name="Card 304"/>
          <p:cNvSpPr/>
          <p:nvPr/>
        </p:nvSpPr>
        <p:spPr>
          <a:xfrm>
            <a:off x="3218688" y="1353312"/>
            <a:ext cx="2706624" cy="21488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305" name="Cost 305"/>
          <p:cNvSpPr txBox="1"/>
          <p:nvPr/>
        </p:nvSpPr>
        <p:spPr>
          <a:xfrm>
            <a:off x="3355848" y="1472184"/>
            <a:ext cx="2432304" cy="1948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en-US" sz="1000" b="1" i="0">
                <a:solidFill>
                  <a:srgbClr val="E8590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PRODUCTION SCALE-UP (EST.)</a:t>
            </a:r>
            <a:endParaRPr lang="en-US" sz="1000" b="1" i="0">
              <a:solidFill>
                <a:srgbClr val="E8590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spcAft>
                <a:spcPts val="0"/>
              </a:spcAft>
            </a:pPr>
            <a:r>
              <a:rPr lang="en-US" sz="18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≈ $60–120</a:t>
            </a:r>
            <a:endParaRPr lang="en-US" sz="1800" b="1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0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per month, fixed</a:t>
            </a:r>
            <a:endParaRPr lang="en-US" sz="100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14300" indent="-114300" algn="l">
              <a:lnSpc>
                <a:spcPct val="112000"/>
              </a:lnSpc>
              <a:spcAft>
                <a:spcPts val="300"/>
              </a:spcAft>
              <a:buClr>
                <a:srgbClr val="E8590C"/>
              </a:buClr>
              <a:buFont typeface="Arial" panose="020B0604020202020204"/>
              <a:buChar char="•"/>
            </a:pPr>
            <a:r>
              <a:rPr lang="en-US" sz="1000" b="1" i="0" dirty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Firebase Blaze: </a:t>
            </a:r>
            <a:r>
              <a:rPr lang="en-US" sz="1000" b="0" i="0" dirty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paid </a:t>
            </a:r>
            <a:r>
              <a:rPr lang="en-US" sz="1000" b="0" i="0" dirty="0" err="1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Firestore</a:t>
            </a:r>
            <a:r>
              <a:rPr lang="en-US" sz="1000" b="0" i="0" dirty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+ Hosting</a:t>
            </a:r>
            <a:endParaRPr lang="en-US" sz="1000" b="0" i="0" dirty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14300" indent="-114300" algn="l">
              <a:lnSpc>
                <a:spcPct val="112000"/>
              </a:lnSpc>
              <a:spcAft>
                <a:spcPts val="300"/>
              </a:spcAft>
              <a:buClr>
                <a:srgbClr val="E8590C"/>
              </a:buClr>
              <a:buFont typeface="Arial" panose="020B0604020202020204"/>
              <a:buChar char="•"/>
            </a:pPr>
            <a:r>
              <a:rPr lang="en-US" sz="10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Cloud Run + ADK: </a:t>
            </a:r>
            <a:r>
              <a:rPr lang="en-US" sz="10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keys server-side, dispatch agents</a:t>
            </a:r>
            <a:endParaRPr lang="en-US" sz="10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14300" indent="-114300" algn="l">
              <a:lnSpc>
                <a:spcPct val="112000"/>
              </a:lnSpc>
              <a:spcAft>
                <a:spcPts val="300"/>
              </a:spcAft>
              <a:buClr>
                <a:srgbClr val="E8590C"/>
              </a:buClr>
              <a:buFont typeface="Arial" panose="020B0604020202020204"/>
              <a:buChar char="•"/>
            </a:pPr>
            <a:r>
              <a:rPr lang="en-US" sz="10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Google Maps Platform: </a:t>
            </a:r>
            <a:r>
              <a:rPr lang="en-US" sz="10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geocoding, places, routes</a:t>
            </a:r>
            <a:endParaRPr lang="en-US" sz="10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14300" indent="-114300" algn="l">
              <a:lnSpc>
                <a:spcPct val="112000"/>
              </a:lnSpc>
              <a:spcAft>
                <a:spcPts val="300"/>
              </a:spcAft>
              <a:buClr>
                <a:srgbClr val="E8590C"/>
              </a:buClr>
              <a:buFont typeface="Arial" panose="020B0604020202020204"/>
              <a:buChar char="•"/>
            </a:pPr>
            <a:r>
              <a:rPr lang="en-US" sz="10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TURN relay: </a:t>
            </a:r>
            <a:r>
              <a:rPr lang="en-US" sz="10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video on strict networks</a:t>
            </a:r>
            <a:endParaRPr lang="en-US" sz="10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06" name="Card 306"/>
          <p:cNvSpPr/>
          <p:nvPr/>
        </p:nvSpPr>
        <p:spPr>
          <a:xfrm>
            <a:off x="6071616" y="1353312"/>
            <a:ext cx="2706624" cy="21488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307" name="Cost 307"/>
          <p:cNvSpPr txBox="1"/>
          <p:nvPr/>
        </p:nvSpPr>
        <p:spPr>
          <a:xfrm>
            <a:off x="6208776" y="1472184"/>
            <a:ext cx="2432304" cy="1948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en-US" sz="1000" b="1" i="0">
                <a:solidFill>
                  <a:srgbClr val="E8590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· RUNNING COST (EST.)</a:t>
            </a:r>
            <a:endParaRPr lang="en-US" sz="1000" b="1" i="0">
              <a:solidFill>
                <a:srgbClr val="E8590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spcAft>
                <a:spcPts val="0"/>
              </a:spcAft>
            </a:pPr>
            <a:r>
              <a:rPr lang="en-US" sz="18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≈ $0.20</a:t>
            </a:r>
            <a:endParaRPr lang="en-US" sz="1800" b="1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lang="en-US" sz="10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of AI per call, paid prices</a:t>
            </a:r>
            <a:endParaRPr lang="en-US" sz="1000" b="0" i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14300" indent="-114300" algn="l">
              <a:lnSpc>
                <a:spcPct val="112000"/>
              </a:lnSpc>
              <a:spcAft>
                <a:spcPts val="300"/>
              </a:spcAft>
              <a:buClr>
                <a:srgbClr val="E8590C"/>
              </a:buClr>
              <a:buFont typeface="Arial" panose="020B0604020202020204"/>
              <a:buChar char="•"/>
            </a:pPr>
            <a:r>
              <a:rPr lang="en-US" sz="10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Measured: </a:t>
            </a:r>
            <a:r>
              <a:rPr lang="en-US" sz="10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 usage meter, 59 real calls; 98% is the live call</a:t>
            </a:r>
            <a:endParaRPr lang="en-US" sz="10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14300" indent="-114300" algn="l">
              <a:lnSpc>
                <a:spcPct val="112000"/>
              </a:lnSpc>
              <a:spcAft>
                <a:spcPts val="300"/>
              </a:spcAft>
              <a:buClr>
                <a:srgbClr val="E8590C"/>
              </a:buClr>
              <a:buFont typeface="Arial" panose="020B0604020202020204"/>
              <a:buChar char="•"/>
            </a:pPr>
            <a:r>
              <a:rPr lang="en-US" sz="10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District pilot (rough estimate): </a:t>
            </a:r>
            <a:r>
              <a:rPr lang="en-US" sz="10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assuming ~300 calls a month (10/day) × $0.20 ≈ $60 a month</a:t>
            </a:r>
            <a:endParaRPr lang="en-US" sz="10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14300" indent="-114300" algn="l">
              <a:lnSpc>
                <a:spcPct val="112000"/>
              </a:lnSpc>
              <a:spcAft>
                <a:spcPts val="300"/>
              </a:spcAft>
              <a:buClr>
                <a:srgbClr val="E8590C"/>
              </a:buClr>
              <a:buFont typeface="Arial" panose="020B0604020202020204"/>
              <a:buChar char="•"/>
            </a:pPr>
            <a:r>
              <a:rPr lang="en-US" sz="1000" b="1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 new staff: </a:t>
            </a:r>
            <a:r>
              <a:rPr lang="en-US" sz="10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incidents go to existing 112 / helpline responders</a:t>
            </a:r>
            <a:endParaRPr lang="en-US" sz="10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365760" y="3657600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800" b="1" i="0">
                <a:solidFill>
                  <a:srgbClr val="5F6368"/>
                </a:solidFill>
                <a:latin typeface="Arial" panose="020B0604020202020204"/>
              </a:rPr>
              <a:t>COST LEVERS ALREADY BUILT</a:t>
            </a:r>
            <a:endParaRPr lang="en-US" sz="800" b="1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365760" y="3886200"/>
            <a:ext cx="2029968" cy="7772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91440" rtlCol="0" anchor="ctr"/>
          <a:lstStyle/>
          <a:p>
            <a:pPr algn="l"/>
            <a:r>
              <a:rPr lang="en-US" sz="1400" b="1" i="0">
                <a:solidFill>
                  <a:srgbClr val="1A73E8"/>
                </a:solidFill>
                <a:latin typeface="Arial" panose="020B0604020202020204"/>
              </a:rPr>
              <a:t>~22 → 5</a:t>
            </a:r>
            <a:endParaRPr lang="en-US" sz="1400" b="1" i="0">
              <a:solidFill>
                <a:srgbClr val="1A73E8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</a:pPr>
            <a:r>
              <a:rPr lang="en-US" sz="8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model inferences per call, now 5–6 for 4 turns (silent tool replies)</a:t>
            </a:r>
            <a:endParaRPr lang="en-US" sz="8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3" name="Rounded Rectangle 152"/>
          <p:cNvSpPr/>
          <p:nvPr/>
        </p:nvSpPr>
        <p:spPr>
          <a:xfrm>
            <a:off x="2496312" y="3886200"/>
            <a:ext cx="2029968" cy="7772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91440" rtlCol="0" anchor="ctr"/>
          <a:lstStyle/>
          <a:p>
            <a:pPr algn="l"/>
            <a:r>
              <a:rPr lang="en-US" sz="1400" b="1" i="0">
                <a:solidFill>
                  <a:srgbClr val="1A73E8"/>
                </a:solidFill>
                <a:latin typeface="Arial" panose="020B0604020202020204"/>
              </a:rPr>
              <a:t>0.5 fps</a:t>
            </a:r>
            <a:endParaRPr lang="en-US" sz="1400" b="1" i="0">
              <a:solidFill>
                <a:srgbClr val="1A73E8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</a:pPr>
            <a:r>
              <a:rPr lang="en-US" sz="8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low-res camera frames (~70 tokens each)</a:t>
            </a:r>
            <a:endParaRPr lang="en-US" sz="8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4" name="Rounded Rectangle 153"/>
          <p:cNvSpPr/>
          <p:nvPr/>
        </p:nvSpPr>
        <p:spPr>
          <a:xfrm>
            <a:off x="4626864" y="3886200"/>
            <a:ext cx="2029968" cy="7772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91440" rtlCol="0" anchor="ctr"/>
          <a:lstStyle/>
          <a:p>
            <a:pPr algn="l"/>
            <a:r>
              <a:rPr lang="en-US" sz="1400" b="1" i="0">
                <a:solidFill>
                  <a:srgbClr val="1A73E8"/>
                </a:solidFill>
                <a:latin typeface="Arial" panose="020B0604020202020204"/>
              </a:rPr>
              <a:t>Per task</a:t>
            </a:r>
            <a:endParaRPr lang="en-US" sz="1400" b="1" i="0">
              <a:solidFill>
                <a:srgbClr val="1A73E8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</a:pPr>
            <a:r>
              <a:rPr lang="en-US" sz="8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smallest model; free tier first</a:t>
            </a:r>
            <a:endParaRPr lang="en-US" sz="8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5" name="Rounded Rectangle 154"/>
          <p:cNvSpPr/>
          <p:nvPr/>
        </p:nvSpPr>
        <p:spPr>
          <a:xfrm>
            <a:off x="6757416" y="3886200"/>
            <a:ext cx="2029968" cy="7772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91440" rtlCol="0" anchor="ctr"/>
          <a:lstStyle/>
          <a:p>
            <a:pPr algn="l"/>
            <a:r>
              <a:rPr lang="en-US" sz="1400" b="1" i="0">
                <a:solidFill>
                  <a:srgbClr val="1A73E8"/>
                </a:solidFill>
                <a:latin typeface="Arial" panose="020B0604020202020204"/>
              </a:rPr>
              <a:t>52 → 25 KB</a:t>
            </a:r>
            <a:endParaRPr lang="en-US" sz="1400" b="1" i="0">
              <a:solidFill>
                <a:srgbClr val="1A73E8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</a:pPr>
            <a:r>
              <a:rPr lang="en-US" sz="8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Mia’s prompt rewritten: about half the tokens per reply</a:t>
            </a:r>
            <a:endParaRPr lang="en-US" sz="8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6" name="Footnote"/>
          <p:cNvSpPr txBox="1"/>
          <p:nvPr/>
        </p:nvSpPr>
        <p:spPr>
          <a:xfrm>
            <a:off x="379368" y="4825909"/>
            <a:ext cx="7779747" cy="26452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1000" b="0" i="0" dirty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 cost: </a:t>
            </a:r>
            <a:r>
              <a:rPr lang="en-US" sz="10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Data + calculations: </a:t>
            </a:r>
            <a:r>
              <a:rPr lang="en-US" sz="1000" b="1" i="0" u="sng" dirty="0">
                <a:solidFill>
                  <a:srgbClr val="1A73E8"/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/>
              </a:rPr>
              <a:t>QuickBite AI cost workbook (Google Sheets)</a:t>
            </a:r>
            <a:endParaRPr lang="en-US" sz="1000" b="0" i="0" dirty="0">
              <a:solidFill>
                <a:srgbClr val="5F636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3649"/>
            <a:ext cx="9144000" cy="50006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03504"/>
            <a:ext cx="89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Snapshots of the prototype</a:t>
            </a:r>
            <a:endParaRPr lang="en-US"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sp>
        <p:nvSpPr>
          <p:cNvPr id="136" name="Takeaway"/>
          <p:cNvSpPr txBox="1"/>
          <p:nvPr/>
        </p:nvSpPr>
        <p:spPr>
          <a:xfrm>
            <a:off x="365760" y="969264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>
                <a:solidFill>
                  <a:srgbClr val="E8590C"/>
                </a:solidFill>
                <a:latin typeface="Arial" panose="020B0604020202020204"/>
              </a:rPr>
              <a:t>Live and deployed: what a responder sees while Priya is still on the call</a:t>
            </a:r>
            <a:endParaRPr lang="en-US" sz="1300" b="1" i="0">
              <a:solidFill>
                <a:srgbClr val="E8590C"/>
              </a:solidFill>
              <a:latin typeface="Arial" panose="020B0604020202020204"/>
            </a:endParaRPr>
          </a:p>
        </p:txBody>
      </p:sp>
      <p:pic>
        <p:nvPicPr>
          <p:cNvPr id="147" name="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0000"/>
            <a:ext cx="4100000" cy="1560000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148" name="cap"/>
          <p:cNvSpPr txBox="1"/>
          <p:nvPr/>
        </p:nvSpPr>
        <p:spPr>
          <a:xfrm>
            <a:off x="365760" y="2895000"/>
            <a:ext cx="4100000" cy="1600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l"/>
            <a:r>
              <a:rPr lang="en-US" sz="800" b="1">
                <a:solidFill>
                  <a:srgbClr val="1A1A1A"/>
                </a:solidFill>
                <a:latin typeface="Arial" panose="020B0604020202020204"/>
              </a:rPr>
              <a:t>Case board: </a:t>
            </a:r>
            <a:r>
              <a:rPr lang="en-US" sz="800" b="0">
                <a:solidFill>
                  <a:srgbClr val="5F6368"/>
                </a:solidFill>
                <a:latin typeface="Arial" panose="020B0604020202020204"/>
              </a:rPr>
              <a:t>threat, voice stress, linked cases, live route — all filled by Gemini</a:t>
            </a:r>
            <a:endParaRPr lang="en-US" sz="800" b="0">
              <a:solidFill>
                <a:srgbClr val="5F6368"/>
              </a:solidFill>
              <a:latin typeface="Arial" panose="020B0604020202020204"/>
            </a:endParaRPr>
          </a:p>
        </p:txBody>
      </p:sp>
      <p:pic>
        <p:nvPicPr>
          <p:cNvPr id="149" name="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240" y="1320000"/>
            <a:ext cx="4100000" cy="1560000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150" name="cap"/>
          <p:cNvSpPr txBox="1"/>
          <p:nvPr/>
        </p:nvSpPr>
        <p:spPr>
          <a:xfrm>
            <a:off x="4678240" y="2895000"/>
            <a:ext cx="4100000" cy="1600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l"/>
            <a:r>
              <a:rPr lang="en-US" sz="800" b="1">
                <a:solidFill>
                  <a:srgbClr val="1A1A1A"/>
                </a:solidFill>
                <a:latin typeface="Arial" panose="020B0604020202020204"/>
              </a:rPr>
              <a:t>Live queue: </a:t>
            </a:r>
            <a:r>
              <a:rPr lang="en-US" sz="800" b="0">
                <a:solidFill>
                  <a:srgbClr val="5F6368"/>
                </a:solidFill>
                <a:latin typeface="Arial" panose="020B0604020202020204"/>
              </a:rPr>
              <a:t>severity-ranked incidents, alerts, AI search</a:t>
            </a:r>
            <a:endParaRPr lang="en-US" sz="800" b="0">
              <a:solidFill>
                <a:srgbClr val="5F6368"/>
              </a:solidFill>
              <a:latin typeface="Arial" panose="020B0604020202020204"/>
            </a:endParaRPr>
          </a:p>
        </p:txBody>
      </p:sp>
      <p:pic>
        <p:nvPicPr>
          <p:cNvPr id="151" name="im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170000"/>
            <a:ext cx="4100000" cy="1560000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152" name="cap"/>
          <p:cNvSpPr txBox="1"/>
          <p:nvPr/>
        </p:nvSpPr>
        <p:spPr>
          <a:xfrm>
            <a:off x="365760" y="4745000"/>
            <a:ext cx="4100000" cy="1600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l"/>
            <a:r>
              <a:rPr lang="en-US" sz="800" b="1">
                <a:solidFill>
                  <a:srgbClr val="1A1A1A"/>
                </a:solidFill>
                <a:latin typeface="Arial" panose="020B0604020202020204"/>
              </a:rPr>
              <a:t>Seen &amp; heard: </a:t>
            </a:r>
            <a:r>
              <a:rPr lang="en-US" sz="800" b="0">
                <a:solidFill>
                  <a:srgbClr val="5F6368"/>
                </a:solidFill>
                <a:latin typeface="Arial" panose="020B0604020202020204"/>
              </a:rPr>
              <a:t>background voices logged as evidence</a:t>
            </a:r>
            <a:endParaRPr lang="en-US" sz="800" b="0">
              <a:solidFill>
                <a:srgbClr val="5F6368"/>
              </a:solidFill>
              <a:latin typeface="Arial" panose="020B0604020202020204"/>
            </a:endParaRPr>
          </a:p>
        </p:txBody>
      </p:sp>
      <p:pic>
        <p:nvPicPr>
          <p:cNvPr id="153" name="im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8240" y="3170000"/>
            <a:ext cx="4100000" cy="1560000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154" name="cap"/>
          <p:cNvSpPr txBox="1"/>
          <p:nvPr/>
        </p:nvSpPr>
        <p:spPr>
          <a:xfrm>
            <a:off x="4678240" y="4745000"/>
            <a:ext cx="4100000" cy="1600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l"/>
            <a:r>
              <a:rPr lang="en-US" sz="800" b="1">
                <a:solidFill>
                  <a:srgbClr val="1A1A1A"/>
                </a:solidFill>
                <a:latin typeface="Arial" panose="020B0604020202020204"/>
              </a:rPr>
              <a:t>Analytics + AI Insights: </a:t>
            </a:r>
            <a:r>
              <a:rPr lang="en-US" sz="800" b="0">
                <a:solidFill>
                  <a:srgbClr val="5F6368"/>
                </a:solidFill>
                <a:latin typeface="Arial" panose="020B0604020202020204"/>
              </a:rPr>
              <a:t>hotspots, patterns &amp; Gemini-written next actions across all incidents</a:t>
            </a:r>
            <a:endParaRPr lang="en-US" sz="800" b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65760" y="4110355"/>
            <a:ext cx="1720215" cy="619760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3649"/>
            <a:ext cx="9144000" cy="50006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03504"/>
            <a:ext cx="89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Prototype Performance report/Benchmarking</a:t>
            </a:r>
            <a:endParaRPr lang="en-US"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sp>
        <p:nvSpPr>
          <p:cNvPr id="701" name="Perf 701"/>
          <p:cNvSpPr txBox="1"/>
          <p:nvPr/>
        </p:nvSpPr>
        <p:spPr>
          <a:xfrm>
            <a:off x="365760" y="969264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300" b="1" i="0">
                <a:solidFill>
                  <a:srgbClr val="E8590C"/>
                </a:solidFill>
                <a:latin typeface="Arial" panose="020B0604020202020204"/>
              </a:rPr>
              <a:t>8 real voice calls on the deployed app: danger is flagged while the caller is still speaking</a:t>
            </a:r>
            <a:endParaRPr lang="en-US" sz="1300" b="1" i="0">
              <a:solidFill>
                <a:srgbClr val="E8590C"/>
              </a:solidFill>
              <a:latin typeface="Arial" panose="020B0604020202020204"/>
            </a:endParaRPr>
          </a:p>
        </p:txBody>
      </p:sp>
      <p:sp>
        <p:nvSpPr>
          <p:cNvPr id="702" name="Viz 702"/>
          <p:cNvSpPr/>
          <p:nvPr/>
        </p:nvSpPr>
        <p:spPr>
          <a:xfrm>
            <a:off x="365760" y="1335000"/>
            <a:ext cx="2000250" cy="860000"/>
          </a:xfrm>
          <a:prstGeom prst="roundRect">
            <a:avLst>
              <a:gd name="adj" fmla="val 7000"/>
            </a:avLst>
          </a:prstGeom>
          <a:solidFill>
            <a:srgbClr val="F3F4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" name="Perf 703"/>
          <p:cNvSpPr txBox="1"/>
          <p:nvPr/>
        </p:nvSpPr>
        <p:spPr>
          <a:xfrm>
            <a:off x="485760" y="1425000"/>
            <a:ext cx="1760250" cy="7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lang="en-US" sz="1800" b="1" i="0">
                <a:solidFill>
                  <a:srgbClr val="1E8E3E"/>
                </a:solidFill>
              </a:rPr>
              <a:t>2–3.5 s early</a:t>
            </a:r>
            <a:endParaRPr lang="en-US" sz="1800" b="1" i="0">
              <a:solidFill>
                <a:srgbClr val="1E8E3E"/>
              </a:solidFill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720" b="0" i="0">
                <a:solidFill>
                  <a:srgbClr val="5F6368"/>
                </a:solidFill>
              </a:rPr>
              <a:t>danger and coercion tags reach the dashboard before the caller’s line is transcribed</a:t>
            </a:r>
            <a:endParaRPr lang="en-US" sz="720" b="0" i="0">
              <a:solidFill>
                <a:srgbClr val="5F6368"/>
              </a:solidFill>
            </a:endParaRPr>
          </a:p>
        </p:txBody>
      </p:sp>
      <p:sp>
        <p:nvSpPr>
          <p:cNvPr id="704" name="Viz 704"/>
          <p:cNvSpPr/>
          <p:nvPr/>
        </p:nvSpPr>
        <p:spPr>
          <a:xfrm>
            <a:off x="2503170" y="1335000"/>
            <a:ext cx="2000250" cy="860000"/>
          </a:xfrm>
          <a:prstGeom prst="roundRect">
            <a:avLst>
              <a:gd name="adj" fmla="val 7000"/>
            </a:avLst>
          </a:prstGeom>
          <a:solidFill>
            <a:srgbClr val="F3F4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5" name="Perf 705"/>
          <p:cNvSpPr txBox="1"/>
          <p:nvPr/>
        </p:nvSpPr>
        <p:spPr>
          <a:xfrm>
            <a:off x="2623170" y="1425000"/>
            <a:ext cx="1760250" cy="7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lang="en-US" sz="1800" b="1" i="0">
                <a:solidFill>
                  <a:srgbClr val="1E8E3E"/>
                </a:solidFill>
                <a:latin typeface="Arial" panose="020B0604020202020204"/>
              </a:rPr>
              <a:t>~535 m</a:t>
            </a:r>
            <a:endParaRPr lang="en-US" sz="1800" b="1" i="0">
              <a:solidFill>
                <a:srgbClr val="1E8E3E"/>
              </a:solidFill>
              <a:latin typeface="Arial" panose="020B0604020202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720" b="0" i="0">
                <a:solidFill>
                  <a:srgbClr val="5F6368"/>
                </a:solidFill>
                <a:latin typeface="Arial" panose="020B0604020202020204"/>
              </a:rPr>
              <a:t>route to the police station tracked live in every chase run</a:t>
            </a:r>
            <a:endParaRPr lang="en-US" sz="72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706" name="Viz 706"/>
          <p:cNvSpPr/>
          <p:nvPr/>
        </p:nvSpPr>
        <p:spPr>
          <a:xfrm>
            <a:off x="4640580" y="1335000"/>
            <a:ext cx="2000250" cy="860000"/>
          </a:xfrm>
          <a:prstGeom prst="roundRect">
            <a:avLst>
              <a:gd name="adj" fmla="val 7000"/>
            </a:avLst>
          </a:prstGeom>
          <a:solidFill>
            <a:srgbClr val="F3F4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7" name="Perf 707"/>
          <p:cNvSpPr txBox="1"/>
          <p:nvPr/>
        </p:nvSpPr>
        <p:spPr>
          <a:xfrm>
            <a:off x="4760580" y="1425000"/>
            <a:ext cx="1760250" cy="7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lang="en-US" sz="1800" b="1" i="0">
                <a:solidFill>
                  <a:srgbClr val="1E8E3E"/>
                </a:solidFill>
                <a:latin typeface="Arial" panose="020B0604020202020204"/>
              </a:rPr>
              <a:t>$0.</a:t>
            </a:r>
            <a:r>
              <a:rPr lang="en-IN" altLang="en-US" sz="1800" b="1" i="0">
                <a:solidFill>
                  <a:srgbClr val="1E8E3E"/>
                </a:solidFill>
                <a:latin typeface="Arial" panose="020B0604020202020204"/>
              </a:rPr>
              <a:t>20</a:t>
            </a:r>
            <a:endParaRPr lang="en-US" sz="1800" b="1" i="0">
              <a:solidFill>
                <a:srgbClr val="1E8E3E"/>
              </a:solidFill>
              <a:latin typeface="Arial" panose="020B0604020202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720" b="0" i="0">
                <a:solidFill>
                  <a:srgbClr val="5F6368"/>
                </a:solidFill>
                <a:latin typeface="Arial" panose="020B0604020202020204"/>
              </a:rPr>
              <a:t>AI cost per call (median, paid-tier prices)</a:t>
            </a:r>
            <a:endParaRPr lang="en-US" sz="72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708" name="Viz 708"/>
          <p:cNvSpPr/>
          <p:nvPr/>
        </p:nvSpPr>
        <p:spPr>
          <a:xfrm>
            <a:off x="6777990" y="1335000"/>
            <a:ext cx="2000250" cy="860000"/>
          </a:xfrm>
          <a:prstGeom prst="roundRect">
            <a:avLst>
              <a:gd name="adj" fmla="val 7000"/>
            </a:avLst>
          </a:prstGeom>
          <a:solidFill>
            <a:srgbClr val="F3F4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9" name="Perf 709"/>
          <p:cNvSpPr txBox="1"/>
          <p:nvPr/>
        </p:nvSpPr>
        <p:spPr>
          <a:xfrm>
            <a:off x="6897990" y="1425000"/>
            <a:ext cx="1760250" cy="7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lang="en-US" sz="1800" b="1" i="0">
                <a:solidFill>
                  <a:srgbClr val="1A73E8"/>
                </a:solidFill>
                <a:latin typeface="Arial" panose="020B0604020202020204"/>
              </a:rPr>
              <a:t>16.8 s</a:t>
            </a:r>
            <a:endParaRPr lang="en-US" sz="1800" b="1" i="0">
              <a:solidFill>
                <a:srgbClr val="1A73E8"/>
              </a:solidFill>
              <a:latin typeface="Arial" panose="020B0604020202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720" b="0" i="0">
                <a:solidFill>
                  <a:srgbClr val="5F6368"/>
                </a:solidFill>
                <a:latin typeface="Arial" panose="020B0604020202020204"/>
              </a:rPr>
              <a:t>from “being followed” to Mia’s first turn-by-turn direction (median)</a:t>
            </a:r>
            <a:endParaRPr lang="en-US" sz="72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710" name="Viz 710"/>
          <p:cNvSpPr/>
          <p:nvPr/>
        </p:nvSpPr>
        <p:spPr>
          <a:xfrm>
            <a:off x="365760" y="2330000"/>
            <a:ext cx="2712720" cy="236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1" name="Viz 711"/>
          <p:cNvSpPr/>
          <p:nvPr/>
        </p:nvSpPr>
        <p:spPr>
          <a:xfrm>
            <a:off x="3215640" y="2330000"/>
            <a:ext cx="2712720" cy="236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2" name="Viz 712"/>
          <p:cNvSpPr/>
          <p:nvPr/>
        </p:nvSpPr>
        <p:spPr>
          <a:xfrm>
            <a:off x="6065520" y="2330000"/>
            <a:ext cx="2712720" cy="236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3" name="Perf 713"/>
          <p:cNvSpPr txBox="1"/>
          <p:nvPr/>
        </p:nvSpPr>
        <p:spPr>
          <a:xfrm>
            <a:off x="495760" y="2440000"/>
            <a:ext cx="245272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900" b="1" i="0">
                <a:solidFill>
                  <a:srgbClr val="1A1A1A"/>
                </a:solidFill>
                <a:latin typeface="Arial" panose="020B0604020202020204"/>
              </a:rPr>
              <a:t>Danger flagged before the words appear</a:t>
            </a:r>
            <a:endParaRPr lang="en-US" sz="900" b="1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714" name="Perf 714"/>
          <p:cNvSpPr txBox="1"/>
          <p:nvPr/>
        </p:nvSpPr>
        <p:spPr>
          <a:xfrm>
            <a:off x="495760" y="2660000"/>
            <a:ext cx="245272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700" b="0" i="0">
                <a:solidFill>
                  <a:srgbClr val="5F6368"/>
                </a:solidFill>
                <a:latin typeface="Arial" panose="020B0604020202020204"/>
              </a:rPr>
              <a:t>Seconds the danger tag beat the transcript, covert calls</a:t>
            </a:r>
            <a:endParaRPr lang="en-US" sz="70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715" name="Perf 715"/>
          <p:cNvSpPr txBox="1"/>
          <p:nvPr/>
        </p:nvSpPr>
        <p:spPr>
          <a:xfrm>
            <a:off x="495760" y="2970000"/>
            <a:ext cx="5200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750" b="0" i="0">
                <a:solidFill>
                  <a:srgbClr val="5F6368"/>
                </a:solidFill>
                <a:latin typeface="Arial" panose="020B0604020202020204"/>
              </a:rPr>
              <a:t>Call 1</a:t>
            </a:r>
            <a:endParaRPr lang="en-US" sz="75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716" name="Viz 716"/>
          <p:cNvSpPr/>
          <p:nvPr/>
        </p:nvSpPr>
        <p:spPr>
          <a:xfrm>
            <a:off x="1015760" y="2970000"/>
            <a:ext cx="1552720" cy="200000"/>
          </a:xfrm>
          <a:prstGeom prst="roundRect">
            <a:avLst>
              <a:gd name="adj" fmla="val 30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7" name="Viz 717"/>
          <p:cNvSpPr/>
          <p:nvPr/>
        </p:nvSpPr>
        <p:spPr>
          <a:xfrm>
            <a:off x="1015760" y="2970000"/>
            <a:ext cx="1358630" cy="200000"/>
          </a:xfrm>
          <a:prstGeom prst="roundRect">
            <a:avLst>
              <a:gd name="adj" fmla="val 30000"/>
            </a:avLst>
          </a:prstGeom>
          <a:solidFill>
            <a:srgbClr val="1E8E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8" name="Perf 718"/>
          <p:cNvSpPr txBox="1"/>
          <p:nvPr/>
        </p:nvSpPr>
        <p:spPr>
          <a:xfrm>
            <a:off x="2434390" y="2970000"/>
            <a:ext cx="3600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800" b="1" i="0">
                <a:solidFill>
                  <a:srgbClr val="1E8E3E"/>
                </a:solidFill>
                <a:latin typeface="Arial" panose="020B0604020202020204"/>
              </a:rPr>
              <a:t>3.5 s</a:t>
            </a:r>
            <a:endParaRPr lang="en-US" sz="800" b="1" i="0">
              <a:solidFill>
                <a:srgbClr val="1E8E3E"/>
              </a:solidFill>
              <a:latin typeface="Arial" panose="020B0604020202020204"/>
            </a:endParaRPr>
          </a:p>
        </p:txBody>
      </p:sp>
      <p:sp>
        <p:nvSpPr>
          <p:cNvPr id="719" name="Perf 719"/>
          <p:cNvSpPr txBox="1"/>
          <p:nvPr/>
        </p:nvSpPr>
        <p:spPr>
          <a:xfrm>
            <a:off x="495760" y="3300000"/>
            <a:ext cx="5200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750" b="0" i="0">
                <a:solidFill>
                  <a:srgbClr val="5F6368"/>
                </a:solidFill>
                <a:latin typeface="Arial" panose="020B0604020202020204"/>
              </a:rPr>
              <a:t>Call 2</a:t>
            </a:r>
            <a:endParaRPr lang="en-US" sz="75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720" name="Viz 720"/>
          <p:cNvSpPr/>
          <p:nvPr/>
        </p:nvSpPr>
        <p:spPr>
          <a:xfrm>
            <a:off x="1015760" y="3300000"/>
            <a:ext cx="1552720" cy="200000"/>
          </a:xfrm>
          <a:prstGeom prst="roundRect">
            <a:avLst>
              <a:gd name="adj" fmla="val 30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1" name="Viz 721"/>
          <p:cNvSpPr/>
          <p:nvPr/>
        </p:nvSpPr>
        <p:spPr>
          <a:xfrm>
            <a:off x="1015760" y="3300000"/>
            <a:ext cx="1125722" cy="200000"/>
          </a:xfrm>
          <a:prstGeom prst="roundRect">
            <a:avLst>
              <a:gd name="adj" fmla="val 30000"/>
            </a:avLst>
          </a:prstGeom>
          <a:solidFill>
            <a:srgbClr val="1E8E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2" name="Perf 722"/>
          <p:cNvSpPr txBox="1"/>
          <p:nvPr/>
        </p:nvSpPr>
        <p:spPr>
          <a:xfrm>
            <a:off x="2201482" y="3300000"/>
            <a:ext cx="3600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800" b="1" i="0">
                <a:solidFill>
                  <a:srgbClr val="1E8E3E"/>
                </a:solidFill>
                <a:latin typeface="Arial" panose="020B0604020202020204"/>
              </a:rPr>
              <a:t>2.9 s</a:t>
            </a:r>
            <a:endParaRPr lang="en-US" sz="800" b="1" i="0">
              <a:solidFill>
                <a:srgbClr val="1E8E3E"/>
              </a:solidFill>
              <a:latin typeface="Arial" panose="020B0604020202020204"/>
            </a:endParaRPr>
          </a:p>
        </p:txBody>
      </p:sp>
      <p:sp>
        <p:nvSpPr>
          <p:cNvPr id="723" name="Perf 723"/>
          <p:cNvSpPr txBox="1"/>
          <p:nvPr/>
        </p:nvSpPr>
        <p:spPr>
          <a:xfrm>
            <a:off x="495760" y="3630000"/>
            <a:ext cx="5200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750" b="0" i="0">
                <a:solidFill>
                  <a:srgbClr val="5F6368"/>
                </a:solidFill>
                <a:latin typeface="Arial" panose="020B0604020202020204"/>
              </a:rPr>
              <a:t>Call 3</a:t>
            </a:r>
            <a:endParaRPr lang="en-US" sz="75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724" name="Viz 724"/>
          <p:cNvSpPr/>
          <p:nvPr/>
        </p:nvSpPr>
        <p:spPr>
          <a:xfrm>
            <a:off x="1015760" y="3630000"/>
            <a:ext cx="1552720" cy="200000"/>
          </a:xfrm>
          <a:prstGeom prst="roundRect">
            <a:avLst>
              <a:gd name="adj" fmla="val 30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5" name="Viz 725"/>
          <p:cNvSpPr/>
          <p:nvPr/>
        </p:nvSpPr>
        <p:spPr>
          <a:xfrm>
            <a:off x="1015760" y="3630000"/>
            <a:ext cx="931632" cy="200000"/>
          </a:xfrm>
          <a:prstGeom prst="roundRect">
            <a:avLst>
              <a:gd name="adj" fmla="val 30000"/>
            </a:avLst>
          </a:prstGeom>
          <a:solidFill>
            <a:srgbClr val="1E8E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6" name="Perf 726"/>
          <p:cNvSpPr txBox="1"/>
          <p:nvPr/>
        </p:nvSpPr>
        <p:spPr>
          <a:xfrm>
            <a:off x="2007392" y="3630000"/>
            <a:ext cx="3600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800" b="1" i="0">
                <a:solidFill>
                  <a:srgbClr val="1E8E3E"/>
                </a:solidFill>
                <a:latin typeface="Arial" panose="020B0604020202020204"/>
              </a:rPr>
              <a:t>2.4 s</a:t>
            </a:r>
            <a:endParaRPr lang="en-US" sz="800" b="1" i="0">
              <a:solidFill>
                <a:srgbClr val="1E8E3E"/>
              </a:solidFill>
              <a:latin typeface="Arial" panose="020B0604020202020204"/>
            </a:endParaRPr>
          </a:p>
        </p:txBody>
      </p:sp>
      <p:sp>
        <p:nvSpPr>
          <p:cNvPr id="727" name="Perf 727"/>
          <p:cNvSpPr txBox="1"/>
          <p:nvPr/>
        </p:nvSpPr>
        <p:spPr>
          <a:xfrm>
            <a:off x="495760" y="3960000"/>
            <a:ext cx="5200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750" b="0" i="0">
                <a:solidFill>
                  <a:srgbClr val="5F6368"/>
                </a:solidFill>
                <a:latin typeface="Arial" panose="020B0604020202020204"/>
              </a:rPr>
              <a:t>Call 4</a:t>
            </a:r>
            <a:endParaRPr lang="en-US" sz="75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728" name="Viz 728"/>
          <p:cNvSpPr/>
          <p:nvPr/>
        </p:nvSpPr>
        <p:spPr>
          <a:xfrm>
            <a:off x="1015760" y="3960000"/>
            <a:ext cx="1552720" cy="200000"/>
          </a:xfrm>
          <a:prstGeom prst="roundRect">
            <a:avLst>
              <a:gd name="adj" fmla="val 30000"/>
            </a:avLst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9" name="Viz 729"/>
          <p:cNvSpPr/>
          <p:nvPr/>
        </p:nvSpPr>
        <p:spPr>
          <a:xfrm>
            <a:off x="1015760" y="3960000"/>
            <a:ext cx="1125722" cy="200000"/>
          </a:xfrm>
          <a:prstGeom prst="roundRect">
            <a:avLst>
              <a:gd name="adj" fmla="val 30000"/>
            </a:avLst>
          </a:prstGeom>
          <a:solidFill>
            <a:srgbClr val="1E8E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0" name="Perf 730"/>
          <p:cNvSpPr txBox="1"/>
          <p:nvPr/>
        </p:nvSpPr>
        <p:spPr>
          <a:xfrm>
            <a:off x="2201482" y="3960000"/>
            <a:ext cx="360000" cy="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800" b="1" i="0">
                <a:solidFill>
                  <a:srgbClr val="1E8E3E"/>
                </a:solidFill>
                <a:latin typeface="Arial" panose="020B0604020202020204"/>
              </a:rPr>
              <a:t>2.9 s</a:t>
            </a:r>
            <a:endParaRPr lang="en-US" sz="800" b="1" i="0">
              <a:solidFill>
                <a:srgbClr val="1E8E3E"/>
              </a:solidFill>
              <a:latin typeface="Arial" panose="020B0604020202020204"/>
            </a:endParaRPr>
          </a:p>
        </p:txBody>
      </p:sp>
      <p:sp>
        <p:nvSpPr>
          <p:cNvPr id="731" name="Perf 731"/>
          <p:cNvSpPr txBox="1"/>
          <p:nvPr/>
        </p:nvSpPr>
        <p:spPr>
          <a:xfrm>
            <a:off x="495760" y="4360000"/>
            <a:ext cx="245272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700" b="0" i="0">
                <a:solidFill>
                  <a:srgbClr val="5F6368"/>
                </a:solidFill>
                <a:latin typeface="Arial" panose="020B0604020202020204"/>
              </a:rPr>
              <a:t>Coercion (husband’s voice) flagged the same way in all 4 calls.</a:t>
            </a:r>
            <a:endParaRPr lang="en-US" sz="70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732" name="Perf 732"/>
          <p:cNvSpPr txBox="1"/>
          <p:nvPr/>
        </p:nvSpPr>
        <p:spPr>
          <a:xfrm>
            <a:off x="3345640" y="2440000"/>
            <a:ext cx="245272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900" b="1" i="0">
                <a:solidFill>
                  <a:srgbClr val="1A1A1A"/>
                </a:solidFill>
                <a:latin typeface="Arial" panose="020B0604020202020204"/>
              </a:rPr>
              <a:t>Chase: followed → guided to safety</a:t>
            </a:r>
            <a:endParaRPr lang="en-US" sz="900" b="1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733" name="Perf 733"/>
          <p:cNvSpPr txBox="1"/>
          <p:nvPr/>
        </p:nvSpPr>
        <p:spPr>
          <a:xfrm>
            <a:off x="3345640" y="2660000"/>
            <a:ext cx="245272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700" b="0" i="0">
                <a:solidFill>
                  <a:srgbClr val="5F6368"/>
                </a:solidFill>
                <a:latin typeface="Arial" panose="020B0604020202020204"/>
              </a:rPr>
              <a:t>Median of 4 chase calls, from the incident timeline</a:t>
            </a:r>
            <a:endParaRPr lang="en-US" sz="700" b="0" i="0">
              <a:solidFill>
                <a:srgbClr val="5F6368"/>
              </a:solidFill>
              <a:latin typeface="Arial" panose="020B0604020202020204"/>
            </a:endParaRPr>
          </a:p>
        </p:txBody>
      </p:sp>
      <p:cxnSp>
        <p:nvCxnSpPr>
          <p:cNvPr id="734" name="Line 734"/>
          <p:cNvCxnSpPr/>
          <p:nvPr/>
        </p:nvCxnSpPr>
        <p:spPr>
          <a:xfrm>
            <a:off x="3725640" y="3330000"/>
            <a:ext cx="1692720" cy="0"/>
          </a:xfrm>
          <a:prstGeom prst="line">
            <a:avLst/>
          </a:prstGeom>
          <a:ln w="38100">
            <a:solidFill>
              <a:srgbClr val="D1D5DB"/>
            </a:solidFill>
          </a:ln>
        </p:spPr>
      </p:cxnSp>
      <p:cxnSp>
        <p:nvCxnSpPr>
          <p:cNvPr id="735" name="Line 735"/>
          <p:cNvCxnSpPr/>
          <p:nvPr/>
        </p:nvCxnSpPr>
        <p:spPr>
          <a:xfrm>
            <a:off x="3725640" y="3330000"/>
            <a:ext cx="1129044" cy="0"/>
          </a:xfrm>
          <a:prstGeom prst="line">
            <a:avLst/>
          </a:prstGeom>
          <a:ln w="38100">
            <a:solidFill>
              <a:srgbClr val="1A73E8"/>
            </a:solidFill>
          </a:ln>
        </p:spPr>
      </p:cxnSp>
      <p:sp>
        <p:nvSpPr>
          <p:cNvPr id="736" name="Viz 736"/>
          <p:cNvSpPr/>
          <p:nvPr/>
        </p:nvSpPr>
        <p:spPr>
          <a:xfrm>
            <a:off x="3625640" y="3230000"/>
            <a:ext cx="200000" cy="2000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7" name="Perf 737"/>
          <p:cNvSpPr txBox="1"/>
          <p:nvPr/>
        </p:nvSpPr>
        <p:spPr>
          <a:xfrm>
            <a:off x="3305640" y="3500000"/>
            <a:ext cx="8400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900" b="1" i="0">
                <a:solidFill>
                  <a:srgbClr val="5F6368"/>
                </a:solidFill>
                <a:latin typeface="Arial" panose="020B0604020202020204"/>
              </a:rPr>
              <a:t>0 s</a:t>
            </a:r>
            <a:endParaRPr lang="en-US" sz="900" b="1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738" name="Perf 738"/>
          <p:cNvSpPr txBox="1"/>
          <p:nvPr/>
        </p:nvSpPr>
        <p:spPr>
          <a:xfrm>
            <a:off x="3345640" y="3720000"/>
            <a:ext cx="76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680" b="0" i="0">
                <a:solidFill>
                  <a:srgbClr val="5F6368"/>
                </a:solidFill>
                <a:latin typeface="Arial" panose="020B0604020202020204"/>
              </a:rPr>
              <a:t>Call</a:t>
            </a:r>
            <a:endParaRPr lang="en-US" sz="680" b="0" i="0">
              <a:solidFill>
                <a:srgbClr val="5F6368"/>
              </a:solidFill>
              <a:latin typeface="Arial" panose="020B0604020202020204"/>
            </a:endParaRP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680" b="0" i="0">
                <a:solidFill>
                  <a:srgbClr val="5F6368"/>
                </a:solidFill>
                <a:latin typeface="Arial" panose="020B0604020202020204"/>
              </a:rPr>
              <a:t>starts</a:t>
            </a:r>
            <a:endParaRPr lang="en-US" sz="68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739" name="Viz 739"/>
          <p:cNvSpPr/>
          <p:nvPr/>
        </p:nvSpPr>
        <p:spPr>
          <a:xfrm>
            <a:off x="4189315" y="3230000"/>
            <a:ext cx="200000" cy="200000"/>
          </a:xfrm>
          <a:prstGeom prst="ellipse">
            <a:avLst/>
          </a:prstGeom>
          <a:solidFill>
            <a:srgbClr val="E859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0" name="Perf 740"/>
          <p:cNvSpPr txBox="1"/>
          <p:nvPr/>
        </p:nvSpPr>
        <p:spPr>
          <a:xfrm>
            <a:off x="3869315" y="3500000"/>
            <a:ext cx="8400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900" b="1" i="0">
                <a:solidFill>
                  <a:srgbClr val="E8590C"/>
                </a:solidFill>
                <a:latin typeface="Arial" panose="020B0604020202020204"/>
              </a:rPr>
              <a:t>22.8 s</a:t>
            </a:r>
            <a:endParaRPr lang="en-US" sz="900" b="1" i="0">
              <a:solidFill>
                <a:srgbClr val="E8590C"/>
              </a:solidFill>
              <a:latin typeface="Arial" panose="020B0604020202020204"/>
            </a:endParaRPr>
          </a:p>
        </p:txBody>
      </p:sp>
      <p:sp>
        <p:nvSpPr>
          <p:cNvPr id="741" name="Perf 741"/>
          <p:cNvSpPr txBox="1"/>
          <p:nvPr/>
        </p:nvSpPr>
        <p:spPr>
          <a:xfrm>
            <a:off x="3909315" y="3720000"/>
            <a:ext cx="76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680" b="0" i="0">
                <a:solidFill>
                  <a:srgbClr val="5F6368"/>
                </a:solidFill>
                <a:latin typeface="Arial" panose="020B0604020202020204"/>
              </a:rPr>
              <a:t>“Followed”</a:t>
            </a:r>
            <a:endParaRPr lang="en-US" sz="680" b="0" i="0">
              <a:solidFill>
                <a:srgbClr val="5F6368"/>
              </a:solidFill>
              <a:latin typeface="Arial" panose="020B0604020202020204"/>
            </a:endParaRP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680" b="0" i="0">
                <a:solidFill>
                  <a:srgbClr val="5F6368"/>
                </a:solidFill>
                <a:latin typeface="Arial" panose="020B0604020202020204"/>
              </a:rPr>
              <a:t>flagged</a:t>
            </a:r>
            <a:endParaRPr lang="en-US" sz="68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742" name="Viz 742"/>
          <p:cNvSpPr/>
          <p:nvPr/>
        </p:nvSpPr>
        <p:spPr>
          <a:xfrm>
            <a:off x="4754684" y="3230000"/>
            <a:ext cx="200000" cy="2000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3" name="Perf 743"/>
          <p:cNvSpPr txBox="1"/>
          <p:nvPr/>
        </p:nvSpPr>
        <p:spPr>
          <a:xfrm>
            <a:off x="4434684" y="3500000"/>
            <a:ext cx="8400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900" b="1" i="0">
                <a:solidFill>
                  <a:srgbClr val="1A73E8"/>
                </a:solidFill>
                <a:latin typeface="Arial" panose="020B0604020202020204"/>
              </a:rPr>
              <a:t>+16.8 s</a:t>
            </a:r>
            <a:endParaRPr lang="en-US" sz="900" b="1" i="0">
              <a:solidFill>
                <a:srgbClr val="1A73E8"/>
              </a:solidFill>
              <a:latin typeface="Arial" panose="020B0604020202020204"/>
            </a:endParaRPr>
          </a:p>
        </p:txBody>
      </p:sp>
      <p:sp>
        <p:nvSpPr>
          <p:cNvPr id="744" name="Perf 744"/>
          <p:cNvSpPr txBox="1"/>
          <p:nvPr/>
        </p:nvSpPr>
        <p:spPr>
          <a:xfrm>
            <a:off x="4474684" y="3720000"/>
            <a:ext cx="76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680" b="0" i="0">
                <a:solidFill>
                  <a:srgbClr val="5F6368"/>
                </a:solidFill>
                <a:latin typeface="Arial" panose="020B0604020202020204"/>
              </a:rPr>
              <a:t>First</a:t>
            </a:r>
            <a:endParaRPr lang="en-US" sz="680" b="0" i="0">
              <a:solidFill>
                <a:srgbClr val="5F6368"/>
              </a:solidFill>
              <a:latin typeface="Arial" panose="020B0604020202020204"/>
            </a:endParaRP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680" b="0" i="0">
                <a:solidFill>
                  <a:srgbClr val="5F6368"/>
                </a:solidFill>
                <a:latin typeface="Arial" panose="020B0604020202020204"/>
              </a:rPr>
              <a:t>direction</a:t>
            </a:r>
            <a:endParaRPr lang="en-US" sz="68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745" name="Viz 745"/>
          <p:cNvSpPr/>
          <p:nvPr/>
        </p:nvSpPr>
        <p:spPr>
          <a:xfrm>
            <a:off x="5318360" y="3230000"/>
            <a:ext cx="200000" cy="200000"/>
          </a:xfrm>
          <a:prstGeom prst="ellipse">
            <a:avLst/>
          </a:prstGeom>
          <a:solidFill>
            <a:srgbClr val="1E8E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6" name="Perf 746"/>
          <p:cNvSpPr txBox="1"/>
          <p:nvPr/>
        </p:nvSpPr>
        <p:spPr>
          <a:xfrm>
            <a:off x="4998360" y="3500000"/>
            <a:ext cx="8400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900" b="1" i="0">
                <a:solidFill>
                  <a:srgbClr val="1E8E3E"/>
                </a:solidFill>
                <a:latin typeface="Arial" panose="020B0604020202020204"/>
              </a:rPr>
              <a:t>~535 m</a:t>
            </a:r>
            <a:endParaRPr lang="en-US" sz="900" b="1" i="0">
              <a:solidFill>
                <a:srgbClr val="1E8E3E"/>
              </a:solidFill>
              <a:latin typeface="Arial" panose="020B0604020202020204"/>
            </a:endParaRPr>
          </a:p>
        </p:txBody>
      </p:sp>
      <p:sp>
        <p:nvSpPr>
          <p:cNvPr id="747" name="Perf 747"/>
          <p:cNvSpPr txBox="1"/>
          <p:nvPr/>
        </p:nvSpPr>
        <p:spPr>
          <a:xfrm>
            <a:off x="5038360" y="3720000"/>
            <a:ext cx="76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680" b="0" i="0">
                <a:solidFill>
                  <a:srgbClr val="5F6368"/>
                </a:solidFill>
                <a:latin typeface="Arial" panose="020B0604020202020204"/>
              </a:rPr>
              <a:t>Police</a:t>
            </a:r>
            <a:endParaRPr lang="en-US" sz="680" b="0" i="0">
              <a:solidFill>
                <a:srgbClr val="5F6368"/>
              </a:solidFill>
              <a:latin typeface="Arial" panose="020B0604020202020204"/>
            </a:endParaRP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680" b="0" i="0">
                <a:solidFill>
                  <a:srgbClr val="5F6368"/>
                </a:solidFill>
                <a:latin typeface="Arial" panose="020B0604020202020204"/>
              </a:rPr>
              <a:t>station</a:t>
            </a:r>
            <a:endParaRPr lang="en-US" sz="68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748" name="Perf 748"/>
          <p:cNvSpPr txBox="1"/>
          <p:nvPr/>
        </p:nvSpPr>
        <p:spPr>
          <a:xfrm>
            <a:off x="3345640" y="4170000"/>
            <a:ext cx="2452720" cy="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700" b="0" i="0">
                <a:solidFill>
                  <a:srgbClr val="5F6368"/>
                </a:solidFill>
                <a:latin typeface="Arial" panose="020B0604020202020204"/>
              </a:rPr>
              <a:t>Every run: route drawn live, turn-by-turn directions, arrival on the map.</a:t>
            </a:r>
            <a:endParaRPr lang="en-US" sz="70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749" name="Perf 749"/>
          <p:cNvSpPr txBox="1"/>
          <p:nvPr/>
        </p:nvSpPr>
        <p:spPr>
          <a:xfrm>
            <a:off x="6195520" y="2440000"/>
            <a:ext cx="245272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900" b="1" i="0">
                <a:solidFill>
                  <a:srgbClr val="1A1A1A"/>
                </a:solidFill>
                <a:latin typeface="Arial" panose="020B0604020202020204"/>
              </a:rPr>
              <a:t>AI cost per call</a:t>
            </a:r>
            <a:endParaRPr lang="en-US" sz="900" b="1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750" name="Perf 750"/>
          <p:cNvSpPr txBox="1"/>
          <p:nvPr/>
        </p:nvSpPr>
        <p:spPr>
          <a:xfrm>
            <a:off x="6195520" y="2660000"/>
            <a:ext cx="245272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700" b="0" i="0">
                <a:solidFill>
                  <a:srgbClr val="5F6368"/>
                </a:solidFill>
                <a:latin typeface="Arial" panose="020B0604020202020204"/>
              </a:rPr>
              <a:t>Paid-tier prices; median $0.35</a:t>
            </a:r>
            <a:endParaRPr lang="en-US" sz="700" b="0" i="0">
              <a:solidFill>
                <a:srgbClr val="5F6368"/>
              </a:solidFill>
              <a:latin typeface="Arial" panose="020B0604020202020204"/>
            </a:endParaRPr>
          </a:p>
        </p:txBody>
      </p:sp>
      <p:cxnSp>
        <p:nvCxnSpPr>
          <p:cNvPr id="751" name="Line 751"/>
          <p:cNvCxnSpPr/>
          <p:nvPr/>
        </p:nvCxnSpPr>
        <p:spPr>
          <a:xfrm>
            <a:off x="6195520" y="3365160"/>
            <a:ext cx="2452720" cy="0"/>
          </a:xfrm>
          <a:prstGeom prst="line">
            <a:avLst/>
          </a:prstGeom>
          <a:ln w="9525">
            <a:solidFill>
              <a:srgbClr val="1A1A1A"/>
            </a:solidFill>
            <a:prstDash val="dash"/>
          </a:ln>
        </p:spPr>
      </p:cxnSp>
      <p:sp>
        <p:nvSpPr>
          <p:cNvPr id="752" name="Viz 752"/>
          <p:cNvSpPr/>
          <p:nvPr/>
        </p:nvSpPr>
        <p:spPr>
          <a:xfrm>
            <a:off x="6301397" y="3344640"/>
            <a:ext cx="182335" cy="82536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3" name="Perf 753"/>
          <p:cNvSpPr txBox="1"/>
          <p:nvPr/>
        </p:nvSpPr>
        <p:spPr>
          <a:xfrm>
            <a:off x="6241397" y="3384640"/>
            <a:ext cx="302335" cy="1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560" b="1" i="0">
                <a:solidFill>
                  <a:srgbClr val="FFFFFF"/>
                </a:solidFill>
                <a:latin typeface="Arial" panose="020B0604020202020204"/>
              </a:rPr>
              <a:t>0.36</a:t>
            </a:r>
            <a:endParaRPr lang="en-US" sz="56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54" name="Viz 754"/>
          <p:cNvSpPr/>
          <p:nvPr/>
        </p:nvSpPr>
        <p:spPr>
          <a:xfrm>
            <a:off x="6595487" y="3283080"/>
            <a:ext cx="182335" cy="88692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5" name="Perf 755"/>
          <p:cNvSpPr txBox="1"/>
          <p:nvPr/>
        </p:nvSpPr>
        <p:spPr>
          <a:xfrm>
            <a:off x="6535487" y="3323080"/>
            <a:ext cx="302335" cy="1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560" b="1" i="0">
                <a:solidFill>
                  <a:srgbClr val="FFFFFF"/>
                </a:solidFill>
                <a:latin typeface="Arial" panose="020B0604020202020204"/>
              </a:rPr>
              <a:t>0.39</a:t>
            </a:r>
            <a:endParaRPr lang="en-US" sz="56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56" name="Viz 756"/>
          <p:cNvSpPr/>
          <p:nvPr/>
        </p:nvSpPr>
        <p:spPr>
          <a:xfrm>
            <a:off x="6889577" y="3125760"/>
            <a:ext cx="182335" cy="10442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7" name="Perf 757"/>
          <p:cNvSpPr txBox="1"/>
          <p:nvPr/>
        </p:nvSpPr>
        <p:spPr>
          <a:xfrm>
            <a:off x="6829577" y="3165760"/>
            <a:ext cx="302335" cy="1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560" b="1" i="0">
                <a:solidFill>
                  <a:srgbClr val="FFFFFF"/>
                </a:solidFill>
                <a:latin typeface="Arial" panose="020B0604020202020204"/>
              </a:rPr>
              <a:t>0.46</a:t>
            </a:r>
            <a:endParaRPr lang="en-US" sz="56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58" name="Viz 758"/>
          <p:cNvSpPr/>
          <p:nvPr/>
        </p:nvSpPr>
        <p:spPr>
          <a:xfrm>
            <a:off x="7183667" y="3479160"/>
            <a:ext cx="182335" cy="6908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9" name="Perf 759"/>
          <p:cNvSpPr txBox="1"/>
          <p:nvPr/>
        </p:nvSpPr>
        <p:spPr>
          <a:xfrm>
            <a:off x="7123667" y="3519160"/>
            <a:ext cx="302335" cy="1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560" b="1" i="0">
                <a:solidFill>
                  <a:srgbClr val="FFFFFF"/>
                </a:solidFill>
                <a:latin typeface="Arial" panose="020B0604020202020204"/>
              </a:rPr>
              <a:t>0.30</a:t>
            </a:r>
            <a:endParaRPr lang="en-US" sz="56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60" name="Viz 760"/>
          <p:cNvSpPr/>
          <p:nvPr/>
        </p:nvSpPr>
        <p:spPr>
          <a:xfrm>
            <a:off x="7477757" y="3408480"/>
            <a:ext cx="182335" cy="76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1" name="Perf 761"/>
          <p:cNvSpPr txBox="1"/>
          <p:nvPr/>
        </p:nvSpPr>
        <p:spPr>
          <a:xfrm>
            <a:off x="7417757" y="3448480"/>
            <a:ext cx="302335" cy="1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560" b="1" i="0">
                <a:solidFill>
                  <a:srgbClr val="FFFFFF"/>
                </a:solidFill>
                <a:latin typeface="Arial" panose="020B0604020202020204"/>
              </a:rPr>
              <a:t>0.33</a:t>
            </a:r>
            <a:endParaRPr lang="en-US" sz="56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62" name="Viz 762"/>
          <p:cNvSpPr/>
          <p:nvPr/>
        </p:nvSpPr>
        <p:spPr>
          <a:xfrm>
            <a:off x="7771847" y="3369720"/>
            <a:ext cx="182335" cy="800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3" name="Perf 763"/>
          <p:cNvSpPr txBox="1"/>
          <p:nvPr/>
        </p:nvSpPr>
        <p:spPr>
          <a:xfrm>
            <a:off x="7711847" y="3409720"/>
            <a:ext cx="302335" cy="1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560" b="1" i="0">
                <a:solidFill>
                  <a:srgbClr val="FFFFFF"/>
                </a:solidFill>
                <a:latin typeface="Arial" panose="020B0604020202020204"/>
              </a:rPr>
              <a:t>0.35</a:t>
            </a:r>
            <a:endParaRPr lang="en-US" sz="56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64" name="Viz 764"/>
          <p:cNvSpPr/>
          <p:nvPr/>
        </p:nvSpPr>
        <p:spPr>
          <a:xfrm>
            <a:off x="8065937" y="3579480"/>
            <a:ext cx="182335" cy="590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5" name="Perf 765"/>
          <p:cNvSpPr txBox="1"/>
          <p:nvPr/>
        </p:nvSpPr>
        <p:spPr>
          <a:xfrm>
            <a:off x="8005937" y="3619480"/>
            <a:ext cx="302335" cy="1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560" b="1" i="0">
                <a:solidFill>
                  <a:srgbClr val="FFFFFF"/>
                </a:solidFill>
                <a:latin typeface="Arial" panose="020B0604020202020204"/>
              </a:rPr>
              <a:t>0.26</a:t>
            </a:r>
            <a:endParaRPr lang="en-US" sz="56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66" name="Viz 766"/>
          <p:cNvSpPr/>
          <p:nvPr/>
        </p:nvSpPr>
        <p:spPr>
          <a:xfrm>
            <a:off x="8360027" y="3358320"/>
            <a:ext cx="182335" cy="8116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7" name="Perf 767"/>
          <p:cNvSpPr txBox="1"/>
          <p:nvPr/>
        </p:nvSpPr>
        <p:spPr>
          <a:xfrm>
            <a:off x="8300027" y="3398320"/>
            <a:ext cx="302335" cy="1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560" b="1" i="0">
                <a:solidFill>
                  <a:srgbClr val="FFFFFF"/>
                </a:solidFill>
                <a:latin typeface="Arial" panose="020B0604020202020204"/>
              </a:rPr>
              <a:t>0.36</a:t>
            </a:r>
            <a:endParaRPr lang="en-US" sz="560" b="1" i="0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768" name="Line 768"/>
          <p:cNvCxnSpPr/>
          <p:nvPr/>
        </p:nvCxnSpPr>
        <p:spPr>
          <a:xfrm>
            <a:off x="6195520" y="4170000"/>
            <a:ext cx="2452720" cy="0"/>
          </a:xfrm>
          <a:prstGeom prst="line">
            <a:avLst/>
          </a:prstGeom>
          <a:ln w="12700">
            <a:solidFill>
              <a:srgbClr val="D1D5DB"/>
            </a:solidFill>
          </a:ln>
        </p:spPr>
      </p:cxnSp>
      <p:sp>
        <p:nvSpPr>
          <p:cNvPr id="769" name="Viz 769"/>
          <p:cNvSpPr/>
          <p:nvPr/>
        </p:nvSpPr>
        <p:spPr>
          <a:xfrm>
            <a:off x="6195520" y="4300000"/>
            <a:ext cx="110000" cy="1100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0" name="Perf 770"/>
          <p:cNvSpPr txBox="1"/>
          <p:nvPr/>
        </p:nvSpPr>
        <p:spPr>
          <a:xfrm>
            <a:off x="6345520" y="4260000"/>
            <a:ext cx="800000" cy="19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700" b="0" i="0">
                <a:solidFill>
                  <a:srgbClr val="5F6368"/>
                </a:solidFill>
                <a:latin typeface="Arial" panose="020B0604020202020204"/>
              </a:rPr>
              <a:t>Covert</a:t>
            </a:r>
            <a:endParaRPr lang="en-US" sz="70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771" name="Viz 771"/>
          <p:cNvSpPr/>
          <p:nvPr/>
        </p:nvSpPr>
        <p:spPr>
          <a:xfrm>
            <a:off x="7145520" y="4300000"/>
            <a:ext cx="110000" cy="11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2" name="Perf 772"/>
          <p:cNvSpPr txBox="1"/>
          <p:nvPr/>
        </p:nvSpPr>
        <p:spPr>
          <a:xfrm>
            <a:off x="7295520" y="4260000"/>
            <a:ext cx="800000" cy="19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700" b="0" i="0">
                <a:solidFill>
                  <a:srgbClr val="5F6368"/>
                </a:solidFill>
                <a:latin typeface="Arial" panose="020B0604020202020204"/>
              </a:rPr>
              <a:t>Chase</a:t>
            </a:r>
            <a:endParaRPr lang="en-US" sz="700" b="0" i="0">
              <a:solidFill>
                <a:srgbClr val="5F6368"/>
              </a:solidFill>
              <a:latin typeface="Arial" panose="020B0604020202020204"/>
            </a:endParaRPr>
          </a:p>
        </p:txBody>
      </p:sp>
      <p:sp>
        <p:nvSpPr>
          <p:cNvPr id="773" name="Perf 773"/>
          <p:cNvSpPr txBox="1"/>
          <p:nvPr/>
        </p:nvSpPr>
        <p:spPr>
          <a:xfrm>
            <a:off x="365760" y="4790000"/>
            <a:ext cx="8412480" cy="2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900" b="0" i="0">
                <a:solidFill>
                  <a:srgbClr val="5F636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Data + calculations: </a:t>
            </a:r>
            <a:r>
              <a:rPr lang="en-US" sz="900" b="1" i="0" u="sng" dirty="0">
                <a:solidFill>
                  <a:srgbClr val="1A73E8"/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/>
              </a:rPr>
              <a:t>QuickBite performance test (Google Sheets)</a:t>
            </a:r>
            <a:endParaRPr lang="en-US" sz="900" b="1" i="0" u="sng">
              <a:solidFill>
                <a:srgbClr val="1A73E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3649"/>
            <a:ext cx="9144000" cy="50006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03504"/>
            <a:ext cx="89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Additional Details/Future Development (if any)</a:t>
            </a:r>
            <a:endParaRPr lang="en-US"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</a:endParaRPr>
          </a:p>
        </p:txBody>
      </p:sp>
      <p:sp>
        <p:nvSpPr>
          <p:cNvPr id="152" name="Takeaway"/>
          <p:cNvSpPr txBox="1"/>
          <p:nvPr/>
        </p:nvSpPr>
        <p:spPr>
          <a:xfrm>
            <a:off x="365760" y="969264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>
                <a:solidFill>
                  <a:srgbClr val="E8590C"/>
                </a:solidFill>
                <a:ea typeface="Calibri" panose="020F0502020204030204"/>
              </a:rPr>
              <a:t>From prototype to pilot to platform</a:t>
            </a:r>
            <a:endParaRPr lang="en-US" sz="1300" b="1" i="0">
              <a:solidFill>
                <a:srgbClr val="E8590C"/>
              </a:solidFill>
              <a:ea typeface="Calibri" panose="020F0502020204030204"/>
            </a:endParaRPr>
          </a:p>
        </p:txBody>
      </p:sp>
      <p:sp>
        <p:nvSpPr>
          <p:cNvPr id="153" name="Pentagon 152"/>
          <p:cNvSpPr/>
          <p:nvPr/>
        </p:nvSpPr>
        <p:spPr>
          <a:xfrm>
            <a:off x="365760" y="1353312"/>
            <a:ext cx="2697480" cy="566928"/>
          </a:xfrm>
          <a:prstGeom prst="homePlat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lnSpc>
                <a:spcPct val="112000"/>
              </a:lnSpc>
            </a:pPr>
            <a:r>
              <a:rPr lang="en-US" sz="1100" b="1" i="0">
                <a:solidFill>
                  <a:srgbClr val="FFFFFF"/>
                </a:solidFill>
                <a:latin typeface="Arial" panose="020B0604020202020204"/>
              </a:rPr>
              <a:t>Next 3 months</a:t>
            </a:r>
            <a:endParaRPr lang="en-US" sz="1100" b="1" i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</a:pPr>
            <a:r>
              <a:rPr lang="en-US" sz="850" b="0" i="0">
                <a:solidFill>
                  <a:srgbClr val="FFFFFF"/>
                </a:solidFill>
                <a:latin typeface="Arial" panose="020B0604020202020204"/>
              </a:rPr>
              <a:t>Pilot-ready</a:t>
            </a:r>
            <a:endParaRPr lang="en-US" sz="850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4" name="Rounded Rectangle 153"/>
          <p:cNvSpPr/>
          <p:nvPr/>
        </p:nvSpPr>
        <p:spPr>
          <a:xfrm>
            <a:off x="365760" y="2011680"/>
            <a:ext cx="2697480" cy="18288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493776" y="2103120"/>
            <a:ext cx="2468880" cy="1691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 algn="l">
              <a:lnSpc>
                <a:spcPct val="112000"/>
              </a:lnSpc>
              <a:spcAft>
                <a:spcPts val="500"/>
              </a:spcAft>
              <a:buChar char="•"/>
            </a:pPr>
            <a:r>
              <a:rPr lang="en-US" sz="10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Even faster voice: pre-connect Gemini, per-turn latency metering</a:t>
            </a:r>
            <a:endParaRPr lang="en-US" sz="10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12000"/>
              </a:lnSpc>
              <a:spcAft>
                <a:spcPts val="500"/>
              </a:spcAft>
              <a:buChar char="•"/>
            </a:pPr>
            <a:r>
              <a:rPr lang="en-US" sz="10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Cloud Run + ADK agents: dispatch, verification; keys server-side</a:t>
            </a:r>
            <a:endParaRPr lang="en-US" sz="10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12000"/>
              </a:lnSpc>
              <a:spcAft>
                <a:spcPts val="500"/>
              </a:spcAft>
              <a:buChar char="•"/>
            </a:pPr>
            <a:r>
              <a:rPr lang="en-US" sz="10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Google Maps Platform for geocoding, places and routing, worldwide</a:t>
            </a:r>
            <a:endParaRPr lang="en-US" sz="10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12000"/>
              </a:lnSpc>
              <a:spcAft>
                <a:spcPts val="500"/>
              </a:spcAft>
              <a:buChar char="•"/>
            </a:pPr>
            <a:r>
              <a:rPr lang="en-US" sz="10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TURN relay for video on strict networks</a:t>
            </a:r>
            <a:endParaRPr lang="en-US" sz="10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12000"/>
              </a:lnSpc>
              <a:spcAft>
                <a:spcPts val="500"/>
              </a:spcAft>
              <a:buChar char="•"/>
            </a:pPr>
            <a:r>
              <a:rPr lang="en-US" sz="10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Full Android parity, then iOS</a:t>
            </a:r>
            <a:endParaRPr lang="en-US" sz="10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6" name="Chevron 155"/>
          <p:cNvSpPr/>
          <p:nvPr/>
        </p:nvSpPr>
        <p:spPr>
          <a:xfrm>
            <a:off x="3200400" y="1353312"/>
            <a:ext cx="2697480" cy="566928"/>
          </a:xfrm>
          <a:prstGeom prst="chevron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l">
              <a:lnSpc>
                <a:spcPct val="112000"/>
              </a:lnSpc>
            </a:pPr>
            <a:r>
              <a:rPr lang="en-US" sz="1100" b="1" i="0">
                <a:solidFill>
                  <a:srgbClr val="FFFFFF"/>
                </a:solidFill>
                <a:latin typeface="Arial" panose="020B0604020202020204"/>
              </a:rPr>
              <a:t>6–12 months</a:t>
            </a:r>
            <a:endParaRPr lang="en-US" sz="1100" b="1" i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</a:pPr>
            <a:r>
              <a:rPr lang="en-US" sz="850" b="0" i="0">
                <a:solidFill>
                  <a:srgbClr val="FFFFFF"/>
                </a:solidFill>
                <a:latin typeface="Arial" panose="020B0604020202020204"/>
              </a:rPr>
              <a:t>Real dispatch</a:t>
            </a:r>
            <a:endParaRPr lang="en-US" sz="850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7" name="Rounded Rectangle 156"/>
          <p:cNvSpPr/>
          <p:nvPr/>
        </p:nvSpPr>
        <p:spPr>
          <a:xfrm>
            <a:off x="3200400" y="2011680"/>
            <a:ext cx="2697480" cy="18288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3328416" y="2103120"/>
            <a:ext cx="2468880" cy="1691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ct val="112000"/>
              </a:lnSpc>
              <a:spcAft>
                <a:spcPts val="500"/>
              </a:spcAft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Alerting nearby app user for quick respon</a:t>
            </a:r>
            <a:r>
              <a:rPr lang="en-US" sz="100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se.</a:t>
            </a:r>
            <a:endParaRPr lang="en-US" sz="1000" dirty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12000"/>
              </a:lnSpc>
              <a:spcAft>
                <a:spcPts val="500"/>
              </a:spcAft>
              <a:buChar char="•"/>
            </a:pPr>
            <a:r>
              <a:rPr lang="en-US" sz="1000" b="0" i="0" dirty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112 / ERSS integration: hand decoded incidents to the state response </a:t>
            </a:r>
            <a:r>
              <a:rPr lang="en-US" sz="1000" b="0" i="0" dirty="0" err="1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centre</a:t>
            </a:r>
            <a:endParaRPr lang="en-US" sz="10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12000"/>
              </a:lnSpc>
              <a:spcAft>
                <a:spcPts val="500"/>
              </a:spcAft>
              <a:buChar char="•"/>
            </a:pPr>
            <a:r>
              <a:rPr lang="en-US" sz="1000" b="0" i="0" dirty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Pilot with an NGO and police (e.g. Kerala Police Pol-App context)</a:t>
            </a:r>
            <a:endParaRPr lang="en-US" sz="1000" b="0" i="0" dirty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12000"/>
              </a:lnSpc>
              <a:spcAft>
                <a:spcPts val="500"/>
              </a:spcAft>
              <a:buChar char="•"/>
            </a:pPr>
            <a:r>
              <a:rPr lang="en-US" sz="10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More languages for new regions</a:t>
            </a:r>
            <a:endParaRPr lang="en-US" sz="1000" b="0" i="0" dirty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12000"/>
              </a:lnSpc>
              <a:spcAft>
                <a:spcPts val="500"/>
              </a:spcAft>
              <a:buChar char="•"/>
            </a:pPr>
            <a:r>
              <a:rPr lang="en-US" sz="10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Responder mobile app for field units</a:t>
            </a:r>
            <a:endParaRPr lang="en-US" sz="1000" b="0" i="0" dirty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9" name="Chevron 158"/>
          <p:cNvSpPr/>
          <p:nvPr/>
        </p:nvSpPr>
        <p:spPr>
          <a:xfrm>
            <a:off x="6035040" y="1353312"/>
            <a:ext cx="2697480" cy="566928"/>
          </a:xfrm>
          <a:prstGeom prst="chevron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l">
              <a:lnSpc>
                <a:spcPct val="112000"/>
              </a:lnSpc>
            </a:pPr>
            <a:r>
              <a:rPr lang="en-US" sz="1100" b="1" i="0">
                <a:solidFill>
                  <a:srgbClr val="FFFFFF"/>
                </a:solidFill>
                <a:latin typeface="Arial" panose="020B0604020202020204"/>
              </a:rPr>
              <a:t>Platform</a:t>
            </a:r>
            <a:endParaRPr lang="en-US" sz="1100" b="1" i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</a:pPr>
            <a:r>
              <a:rPr lang="en-US" sz="850" b="0" i="0">
                <a:solidFill>
                  <a:srgbClr val="FFFFFF"/>
                </a:solidFill>
                <a:latin typeface="Arial" panose="020B0604020202020204"/>
              </a:rPr>
              <a:t>Beyond calls</a:t>
            </a:r>
            <a:endParaRPr lang="en-US" sz="850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6035040" y="2011680"/>
            <a:ext cx="2697480" cy="18288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6163056" y="2103120"/>
            <a:ext cx="2468880" cy="1691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 algn="l">
              <a:lnSpc>
                <a:spcPct val="112000"/>
              </a:lnSpc>
              <a:spcAft>
                <a:spcPts val="500"/>
              </a:spcAft>
              <a:buChar char="•"/>
            </a:pPr>
            <a:r>
              <a:rPr lang="en-US" sz="10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Bluetooth mesh relay for no-signal areas</a:t>
            </a:r>
            <a:endParaRPr lang="en-US" sz="10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12000"/>
              </a:lnSpc>
              <a:spcAft>
                <a:spcPts val="500"/>
              </a:spcAft>
              <a:buChar char="•"/>
            </a:pPr>
            <a:r>
              <a:rPr lang="en-US" sz="10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On-device Gemini Nano extraction for privacy and offline</a:t>
            </a:r>
            <a:endParaRPr lang="en-US" sz="10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12000"/>
              </a:lnSpc>
              <a:spcAft>
                <a:spcPts val="500"/>
              </a:spcAft>
              <a:buChar char="•"/>
            </a:pPr>
            <a:r>
              <a:rPr lang="en-US" sz="10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Anonymous whistleblowing channel on the same AI backbone</a:t>
            </a:r>
            <a:endParaRPr lang="en-US" sz="10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>
              <a:lnSpc>
                <a:spcPct val="112000"/>
              </a:lnSpc>
              <a:spcAft>
                <a:spcPts val="500"/>
              </a:spcAft>
              <a:buChar char="•"/>
            </a:pPr>
            <a:r>
              <a:rPr lang="en-US" sz="10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Integration path into Android (next slide)</a:t>
            </a:r>
            <a:endParaRPr lang="en-US" sz="10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365760" y="3950208"/>
            <a:ext cx="8412480" cy="777240"/>
          </a:xfrm>
          <a:prstGeom prst="roundRect">
            <a:avLst>
              <a:gd name="adj" fmla="val 8000"/>
            </a:avLst>
          </a:prstGeom>
          <a:solidFill>
            <a:srgbClr val="FD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l">
              <a:lnSpc>
                <a:spcPct val="112000"/>
              </a:lnSpc>
            </a:pPr>
            <a:r>
              <a:rPr lang="en-US" sz="1050" b="1" i="0">
                <a:solidFill>
                  <a:srgbClr val="E8590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we need next</a:t>
            </a:r>
            <a:endParaRPr lang="en-US" sz="1050" b="1" i="0">
              <a:solidFill>
                <a:srgbClr val="E8590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lnSpc>
                <a:spcPct val="112000"/>
              </a:lnSpc>
            </a:pPr>
            <a:r>
              <a:rPr lang="en-US" sz="900" b="0" i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public-safety pilot partner (NGO or police unit)  ·  Gemini API credits for a district pilot  ·  Android Personal Safety team feedback on a Discreet mode  ·  mentorship to take it to 112 integration</a:t>
            </a:r>
            <a:endParaRPr lang="en-US" sz="900" b="0" i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3" name="Footnote"/>
          <p:cNvSpPr txBox="1"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n-US" sz="650" b="0" i="0">
                <a:solidFill>
                  <a:srgbClr val="5F6368"/>
                </a:solidFill>
                <a:latin typeface="Arial" panose="020B0604020202020204"/>
              </a:rPr>
              <a:t>Kerala Police Pol-App and Nirbhaya Nisha are existing state programmes we would pilot alongside; no partnership exists yet.</a:t>
            </a:r>
            <a:endParaRPr lang="en-US" sz="650" b="0" i="0">
              <a:solidFill>
                <a:srgbClr val="5F636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3649"/>
            <a:ext cx="9144000" cy="50006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03504"/>
            <a:ext cx="8112420" cy="34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Provide links to your: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sp>
        <p:nvSpPr>
          <p:cNvPr id="401" name="Links 401"/>
          <p:cNvSpPr txBox="1"/>
          <p:nvPr/>
        </p:nvSpPr>
        <p:spPr>
          <a:xfrm>
            <a:off x="365760" y="990000"/>
            <a:ext cx="4480560" cy="2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lang="en-US" sz="1000" b="1" i="0">
                <a:solidFill>
                  <a:srgbClr val="E8590C"/>
                </a:solidFill>
                <a:latin typeface="Arial" panose="020B0604020202020204"/>
              </a:rPr>
              <a:t>Submission links</a:t>
            </a:r>
            <a:endParaRPr lang="en-US" sz="1000" b="1" i="0">
              <a:solidFill>
                <a:srgbClr val="E8590C"/>
              </a:solidFill>
              <a:latin typeface="Arial" panose="020B0604020202020204"/>
            </a:endParaRPr>
          </a:p>
        </p:txBody>
      </p:sp>
      <p:cxnSp>
        <p:nvCxnSpPr>
          <p:cNvPr id="402" name="Rule 402"/>
          <p:cNvCxnSpPr/>
          <p:nvPr/>
        </p:nvCxnSpPr>
        <p:spPr>
          <a:xfrm>
            <a:off x="365760" y="1240000"/>
            <a:ext cx="4480560" cy="0"/>
          </a:xfrm>
          <a:prstGeom prst="line">
            <a:avLst/>
          </a:prstGeom>
          <a:ln w="6350">
            <a:solidFill>
              <a:srgbClr val="E5E7EB"/>
            </a:solidFill>
          </a:ln>
        </p:spPr>
      </p:cxnSp>
      <p:sp>
        <p:nvSpPr>
          <p:cNvPr id="403" name="Links 403"/>
          <p:cNvSpPr txBox="1"/>
          <p:nvPr/>
        </p:nvSpPr>
        <p:spPr>
          <a:xfrm>
            <a:off x="365760" y="1260000"/>
            <a:ext cx="146304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lang="en-US" sz="900" b="1" i="0">
                <a:solidFill>
                  <a:srgbClr val="1A1A1A"/>
                </a:solidFill>
                <a:latin typeface="Arial" panose="020B0604020202020204"/>
              </a:rPr>
              <a:t>GitHub repository</a:t>
            </a:r>
            <a:endParaRPr lang="en-US" sz="900" b="1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404" name="Links 404"/>
          <p:cNvSpPr txBox="1"/>
          <p:nvPr/>
        </p:nvSpPr>
        <p:spPr>
          <a:xfrm>
            <a:off x="1828800" y="1260000"/>
            <a:ext cx="301752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US" sz="900" b="0" i="0" u="sng">
                <a:solidFill>
                  <a:srgbClr val="1A73E8"/>
                </a:solidFill>
                <a:latin typeface="Arial" panose="020B0604020202020204"/>
                <a:hlinkClick r:id="rId3"/>
              </a:rPr>
              <a:t>github.com/Jeevanvsan/ai_builder_hack</a:t>
            </a:r>
            <a:endParaRPr lang="en-US" sz="900" b="0" i="0" u="sng">
              <a:solidFill>
                <a:srgbClr val="1A73E8"/>
              </a:solidFill>
              <a:latin typeface="Arial" panose="020B0604020202020204"/>
              <a:hlinkClick r:id="rId3"/>
            </a:endParaRPr>
          </a:p>
        </p:txBody>
      </p:sp>
      <p:sp>
        <p:nvSpPr>
          <p:cNvPr id="405" name="Links 405"/>
          <p:cNvSpPr txBox="1"/>
          <p:nvPr/>
        </p:nvSpPr>
        <p:spPr>
          <a:xfrm>
            <a:off x="365760" y="1510000"/>
            <a:ext cx="146304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lang="en-US" sz="900" b="1" i="0">
                <a:solidFill>
                  <a:srgbClr val="1A1A1A"/>
                </a:solidFill>
                <a:latin typeface="Arial" panose="020B0604020202020204"/>
              </a:rPr>
              <a:t>Demo video</a:t>
            </a:r>
            <a:endParaRPr lang="en-US" sz="900" b="1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406" name="Links 406"/>
          <p:cNvSpPr txBox="1"/>
          <p:nvPr/>
        </p:nvSpPr>
        <p:spPr>
          <a:xfrm>
            <a:off x="1828800" y="1510000"/>
            <a:ext cx="301752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US" sz="900" b="0" i="0" u="sng" dirty="0">
                <a:solidFill>
                  <a:srgbClr val="1A73E8"/>
                </a:solidFill>
                <a:latin typeface="Arial" panose="020B0604020202020204"/>
                <a:hlinkClick r:id="rId4"/>
              </a:rPr>
              <a:t>QuickBite demo: Covert Call (Google Drive)</a:t>
            </a:r>
            <a:endParaRPr lang="en-US" sz="900" b="0" i="0" u="sng" dirty="0">
              <a:solidFill>
                <a:srgbClr val="1A73E8"/>
              </a:solidFill>
              <a:latin typeface="Arial" panose="020B0604020202020204"/>
            </a:endParaRPr>
          </a:p>
          <a:p>
            <a:pPr algn="l">
              <a:spcAft>
                <a:spcPts val="0"/>
              </a:spcAft>
            </a:pPr>
            <a:r>
              <a:rPr lang="en-US" sz="750" b="1" i="0">
                <a:solidFill>
                  <a:srgbClr val="80868B"/>
                </a:solidFill>
                <a:latin typeface="Arial" panose="020B0604020202020204"/>
              </a:rPr>
              <a:t>Alternative: </a:t>
            </a:r>
            <a:r>
              <a:rPr lang="en-US" sz="750" b="0" i="0" u="sng" dirty="0">
                <a:solidFill>
                  <a:srgbClr val="80868B"/>
                </a:solidFill>
                <a:latin typeface="Arial" panose="020B0604020202020204"/>
                <a:hlinkClick r:id="rId5"/>
              </a:rPr>
              <a:t>stream in the browser on our landing page</a:t>
            </a:r>
            <a:endParaRPr lang="en-US" sz="750" b="0" i="0" u="sng" dirty="0">
              <a:solidFill>
                <a:srgbClr val="80868B"/>
              </a:solidFill>
              <a:latin typeface="Arial" panose="020B0604020202020204"/>
              <a:hlinkClick r:id="rId5"/>
            </a:endParaRPr>
          </a:p>
        </p:txBody>
      </p:sp>
      <p:sp>
        <p:nvSpPr>
          <p:cNvPr id="407" name="Links 407"/>
          <p:cNvSpPr txBox="1"/>
          <p:nvPr/>
        </p:nvSpPr>
        <p:spPr>
          <a:xfrm>
            <a:off x="365760" y="1910000"/>
            <a:ext cx="146304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lang="en-US" sz="900" b="1" i="0">
                <a:solidFill>
                  <a:srgbClr val="1A1A1A"/>
                </a:solidFill>
                <a:latin typeface="Arial" panose="020B0604020202020204"/>
              </a:rPr>
              <a:t>Product link</a:t>
            </a:r>
            <a:endParaRPr lang="en-US" sz="900" b="1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408" name="Links 408"/>
          <p:cNvSpPr txBox="1"/>
          <p:nvPr/>
        </p:nvSpPr>
        <p:spPr>
          <a:xfrm>
            <a:off x="1828800" y="1910000"/>
            <a:ext cx="301752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US" sz="900" b="0" i="0" u="sng">
                <a:solidFill>
                  <a:srgbClr val="1A73E8"/>
                </a:solidFill>
                <a:latin typeface="Arial" panose="020B0604020202020204"/>
                <a:hlinkClick r:id="rId6"/>
              </a:rPr>
              <a:t>quickbite-5cde0-landing.web.app</a:t>
            </a:r>
            <a:endParaRPr lang="en-US" sz="900" b="0" i="0" u="sng">
              <a:solidFill>
                <a:srgbClr val="1A73E8"/>
              </a:solidFill>
              <a:latin typeface="Arial" panose="020B0604020202020204"/>
              <a:hlinkClick r:id="rId6"/>
            </a:endParaRPr>
          </a:p>
        </p:txBody>
      </p:sp>
      <p:sp>
        <p:nvSpPr>
          <p:cNvPr id="409" name="Links 409"/>
          <p:cNvSpPr txBox="1"/>
          <p:nvPr/>
        </p:nvSpPr>
        <p:spPr>
          <a:xfrm>
            <a:off x="365760" y="2310000"/>
            <a:ext cx="4480560" cy="2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lang="en-US" sz="1000" b="1" i="0">
                <a:solidFill>
                  <a:srgbClr val="E8590C"/>
                </a:solidFill>
                <a:latin typeface="Arial" panose="020B0604020202020204"/>
              </a:rPr>
              <a:t>Extras</a:t>
            </a:r>
            <a:endParaRPr lang="en-US" sz="1000" b="1" i="0">
              <a:solidFill>
                <a:srgbClr val="E8590C"/>
              </a:solidFill>
              <a:latin typeface="Arial" panose="020B0604020202020204"/>
            </a:endParaRPr>
          </a:p>
        </p:txBody>
      </p:sp>
      <p:cxnSp>
        <p:nvCxnSpPr>
          <p:cNvPr id="410" name="Rule 410"/>
          <p:cNvCxnSpPr/>
          <p:nvPr/>
        </p:nvCxnSpPr>
        <p:spPr>
          <a:xfrm>
            <a:off x="365760" y="2560000"/>
            <a:ext cx="4480560" cy="0"/>
          </a:xfrm>
          <a:prstGeom prst="line">
            <a:avLst/>
          </a:prstGeom>
          <a:ln w="6350">
            <a:solidFill>
              <a:srgbClr val="E5E7EB"/>
            </a:solidFill>
          </a:ln>
        </p:spPr>
      </p:cxnSp>
      <p:sp>
        <p:nvSpPr>
          <p:cNvPr id="411" name="Links 411"/>
          <p:cNvSpPr txBox="1"/>
          <p:nvPr/>
        </p:nvSpPr>
        <p:spPr>
          <a:xfrm>
            <a:off x="365760" y="2580000"/>
            <a:ext cx="146304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lang="en-US" sz="900" b="1" i="0">
                <a:solidFill>
                  <a:srgbClr val="1A1A1A"/>
                </a:solidFill>
                <a:latin typeface="Arial" panose="020B0604020202020204"/>
              </a:rPr>
              <a:t>Chasing-scenario video</a:t>
            </a:r>
            <a:endParaRPr lang="en-US" sz="900" b="1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412" name="Links 412"/>
          <p:cNvSpPr txBox="1"/>
          <p:nvPr/>
        </p:nvSpPr>
        <p:spPr>
          <a:xfrm>
            <a:off x="1828800" y="2580000"/>
            <a:ext cx="301752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US" sz="900" b="0" i="0" u="sng">
                <a:solidFill>
                  <a:srgbClr val="1A73E8"/>
                </a:solidFill>
                <a:latin typeface="Arial" panose="020B0604020202020204"/>
                <a:hlinkClick r:id="rId7"/>
              </a:rPr>
              <a:t>Someone chasing, guided to safety (Drive)</a:t>
            </a:r>
            <a:endParaRPr lang="en-US" sz="900" b="0" i="0" u="sng">
              <a:solidFill>
                <a:srgbClr val="1A73E8"/>
              </a:solidFill>
              <a:latin typeface="Arial" panose="020B0604020202020204"/>
            </a:endParaRPr>
          </a:p>
          <a:p>
            <a:pPr algn="l">
              <a:spcAft>
                <a:spcPts val="0"/>
              </a:spcAft>
            </a:pPr>
            <a:r>
              <a:rPr lang="en-US" sz="750" b="1" i="0">
                <a:solidFill>
                  <a:srgbClr val="80868B"/>
                </a:solidFill>
                <a:latin typeface="Arial" panose="020B0604020202020204"/>
              </a:rPr>
              <a:t>Alternative: </a:t>
            </a:r>
            <a:r>
              <a:rPr lang="en-US" sz="750" b="0" i="0" u="sng">
                <a:solidFill>
                  <a:srgbClr val="80868B"/>
                </a:solidFill>
                <a:latin typeface="Arial" panose="020B0604020202020204"/>
                <a:hlinkClick r:id="rId5"/>
              </a:rPr>
              <a:t>stream in the browser on our landing page</a:t>
            </a:r>
            <a:endParaRPr lang="en-US" sz="750" b="0" i="0" u="sng">
              <a:solidFill>
                <a:srgbClr val="80868B"/>
              </a:solidFill>
              <a:latin typeface="Arial" panose="020B0604020202020204"/>
              <a:hlinkClick r:id="rId5"/>
            </a:endParaRPr>
          </a:p>
        </p:txBody>
      </p:sp>
      <p:sp>
        <p:nvSpPr>
          <p:cNvPr id="413" name="Links 413"/>
          <p:cNvSpPr txBox="1"/>
          <p:nvPr/>
        </p:nvSpPr>
        <p:spPr>
          <a:xfrm>
            <a:off x="365760" y="2980000"/>
            <a:ext cx="146304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lang="en-US" sz="900" b="1" i="0">
                <a:solidFill>
                  <a:srgbClr val="1A1A1A"/>
                </a:solidFill>
                <a:latin typeface="Arial" panose="020B0604020202020204"/>
              </a:rPr>
              <a:t>Cost workbook</a:t>
            </a:r>
            <a:endParaRPr lang="en-US" sz="900" b="1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414" name="Links 414"/>
          <p:cNvSpPr txBox="1"/>
          <p:nvPr/>
        </p:nvSpPr>
        <p:spPr>
          <a:xfrm>
            <a:off x="1828800" y="2980000"/>
            <a:ext cx="301752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US" sz="900" b="0" i="0" u="sng">
                <a:solidFill>
                  <a:srgbClr val="1A73E8"/>
                </a:solidFill>
                <a:latin typeface="Arial" panose="020B0604020202020204"/>
                <a:hlinkClick r:id="rId8"/>
              </a:rPr>
              <a:t>AI cost: 59 real calls + estimate (Sheets)</a:t>
            </a:r>
            <a:endParaRPr lang="en-US" sz="900" b="0" i="0" u="sng">
              <a:solidFill>
                <a:srgbClr val="1A73E8"/>
              </a:solidFill>
              <a:latin typeface="Arial" panose="020B0604020202020204"/>
              <a:hlinkClick r:id="rId8"/>
            </a:endParaRPr>
          </a:p>
        </p:txBody>
      </p:sp>
      <p:sp>
        <p:nvSpPr>
          <p:cNvPr id="415" name="Links 415"/>
          <p:cNvSpPr txBox="1"/>
          <p:nvPr/>
        </p:nvSpPr>
        <p:spPr>
          <a:xfrm>
            <a:off x="365760" y="3230000"/>
            <a:ext cx="146304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lang="en-US" sz="900" b="1" i="0">
                <a:solidFill>
                  <a:srgbClr val="1A1A1A"/>
                </a:solidFill>
                <a:latin typeface="Arial" panose="020B0604020202020204"/>
              </a:rPr>
              <a:t>Performance test</a:t>
            </a:r>
            <a:endParaRPr lang="en-US" sz="900" b="1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416" name="Links 416"/>
          <p:cNvSpPr txBox="1"/>
          <p:nvPr/>
        </p:nvSpPr>
        <p:spPr>
          <a:xfrm>
            <a:off x="1828800" y="3230000"/>
            <a:ext cx="301752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US" sz="900" b="0" i="0" u="sng">
                <a:solidFill>
                  <a:srgbClr val="1A73E8"/>
                </a:solidFill>
                <a:latin typeface="Arial" panose="020B0604020202020204"/>
                <a:hlinkClick r:id="rId9"/>
              </a:rPr>
              <a:t>8 real calls: timings, route, cost (Sheets)</a:t>
            </a:r>
            <a:endParaRPr lang="en-US" sz="900" b="0" i="0" u="sng">
              <a:solidFill>
                <a:srgbClr val="1A73E8"/>
              </a:solidFill>
              <a:latin typeface="Arial" panose="020B0604020202020204"/>
              <a:hlinkClick r:id="rId9"/>
            </a:endParaRPr>
          </a:p>
        </p:txBody>
      </p:sp>
      <p:sp>
        <p:nvSpPr>
          <p:cNvPr id="417" name="Links 417"/>
          <p:cNvSpPr txBox="1"/>
          <p:nvPr/>
        </p:nvSpPr>
        <p:spPr>
          <a:xfrm>
            <a:off x="365760" y="3480000"/>
            <a:ext cx="146304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lang="en-US" sz="900" b="1" i="0">
                <a:solidFill>
                  <a:srgbClr val="1A1A1A"/>
                </a:solidFill>
                <a:latin typeface="Arial" panose="020B0604020202020204"/>
              </a:rPr>
              <a:t>User manual</a:t>
            </a:r>
            <a:endParaRPr lang="en-US" sz="900" b="1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418" name="Links 418"/>
          <p:cNvSpPr txBox="1"/>
          <p:nvPr/>
        </p:nvSpPr>
        <p:spPr>
          <a:xfrm>
            <a:off x="1828800" y="3480000"/>
            <a:ext cx="301752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US" sz="900" b="0" i="0" u="sng">
                <a:solidFill>
                  <a:srgbClr val="1A73E8"/>
                </a:solidFill>
                <a:latin typeface="Arial" panose="020B0604020202020204"/>
                <a:hlinkClick r:id="rId10"/>
              </a:rPr>
              <a:t>quickbite-5cde0-landing.web.app/manual</a:t>
            </a:r>
            <a:endParaRPr lang="en-US" sz="900" b="0" i="0" u="sng">
              <a:solidFill>
                <a:srgbClr val="1A73E8"/>
              </a:solidFill>
              <a:latin typeface="Arial" panose="020B0604020202020204"/>
              <a:hlinkClick r:id="rId10"/>
            </a:endParaRPr>
          </a:p>
        </p:txBody>
      </p:sp>
      <p:sp>
        <p:nvSpPr>
          <p:cNvPr id="419" name="Links 419"/>
          <p:cNvSpPr txBox="1"/>
          <p:nvPr/>
        </p:nvSpPr>
        <p:spPr>
          <a:xfrm>
            <a:off x="365760" y="3880000"/>
            <a:ext cx="4480560" cy="2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000" b="1" i="0">
                <a:solidFill>
                  <a:srgbClr val="E8590C"/>
                </a:solidFill>
                <a:latin typeface="Arial" panose="020B0604020202020204"/>
              </a:rPr>
              <a:t>Recorded demo incidents</a:t>
            </a:r>
            <a:r>
              <a:rPr lang="en-US" sz="1000" b="1">
                <a:solidFill>
                  <a:srgbClr val="E8590C"/>
                </a:solidFill>
              </a:rPr>
              <a:t> </a:t>
            </a:r>
            <a:endParaRPr lang="en-US" sz="1000" b="1" i="0">
              <a:solidFill>
                <a:srgbClr val="E8590C"/>
              </a:solidFill>
              <a:latin typeface="Arial" panose="020B0604020202020204"/>
            </a:endParaRPr>
          </a:p>
        </p:txBody>
      </p:sp>
      <p:sp>
        <p:nvSpPr>
          <p:cNvPr id="420" name="Links 420"/>
          <p:cNvSpPr txBox="1"/>
          <p:nvPr/>
        </p:nvSpPr>
        <p:spPr>
          <a:xfrm>
            <a:off x="365760" y="4130000"/>
            <a:ext cx="448056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lang="en-US" sz="750" b="0" i="0">
                <a:solidFill>
                  <a:srgbClr val="5F6368"/>
                </a:solidFill>
                <a:latin typeface="Arial" panose="020B0604020202020204"/>
              </a:rPr>
              <a:t>Real incidents the dashboard recorded in the demo videos, to verify (sign in first).</a:t>
            </a:r>
            <a:endParaRPr lang="en-US" sz="750" b="0" i="0">
              <a:solidFill>
                <a:srgbClr val="5F6368"/>
              </a:solidFill>
              <a:latin typeface="Arial" panose="020B0604020202020204"/>
            </a:endParaRPr>
          </a:p>
        </p:txBody>
      </p:sp>
      <p:cxnSp>
        <p:nvCxnSpPr>
          <p:cNvPr id="421" name="Rule 421"/>
          <p:cNvCxnSpPr/>
          <p:nvPr/>
        </p:nvCxnSpPr>
        <p:spPr>
          <a:xfrm>
            <a:off x="365760" y="4340000"/>
            <a:ext cx="4480560" cy="0"/>
          </a:xfrm>
          <a:prstGeom prst="line">
            <a:avLst/>
          </a:prstGeom>
          <a:ln w="6350">
            <a:solidFill>
              <a:srgbClr val="E5E7EB"/>
            </a:solidFill>
          </a:ln>
        </p:spPr>
      </p:cxnSp>
      <p:sp>
        <p:nvSpPr>
          <p:cNvPr id="422" name="Links 422"/>
          <p:cNvSpPr txBox="1"/>
          <p:nvPr/>
        </p:nvSpPr>
        <p:spPr>
          <a:xfrm>
            <a:off x="365760" y="4360000"/>
            <a:ext cx="146304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lang="en-US" sz="900" b="1" i="0">
                <a:solidFill>
                  <a:srgbClr val="1A1A1A"/>
                </a:solidFill>
                <a:latin typeface="Arial" panose="020B0604020202020204"/>
              </a:rPr>
              <a:t>Covert call</a:t>
            </a:r>
            <a:endParaRPr lang="en-US" sz="900" b="1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423" name="Links 423"/>
          <p:cNvSpPr txBox="1"/>
          <p:nvPr/>
        </p:nvSpPr>
        <p:spPr>
          <a:xfrm>
            <a:off x="1828800" y="4360000"/>
            <a:ext cx="301752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lang="en-US" sz="900" b="0" i="0" u="sng">
                <a:solidFill>
                  <a:srgbClr val="1A73E8"/>
                </a:solidFill>
                <a:latin typeface="Arial" panose="020B0604020202020204"/>
                <a:hlinkClick r:id="rId11"/>
              </a:rPr>
              <a:t>INC-MUZNKM7N (covert order call)</a:t>
            </a:r>
            <a:endParaRPr lang="en-US" sz="900" b="0" i="0" u="sng">
              <a:solidFill>
                <a:srgbClr val="1A73E8"/>
              </a:solidFill>
              <a:latin typeface="Arial" panose="020B0604020202020204"/>
              <a:hlinkClick r:id="rId11"/>
            </a:endParaRPr>
          </a:p>
        </p:txBody>
      </p:sp>
      <p:sp>
        <p:nvSpPr>
          <p:cNvPr id="424" name="Links 424"/>
          <p:cNvSpPr txBox="1"/>
          <p:nvPr/>
        </p:nvSpPr>
        <p:spPr>
          <a:xfrm>
            <a:off x="365760" y="4610000"/>
            <a:ext cx="146304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lang="en-US" sz="900" b="1" i="0">
                <a:solidFill>
                  <a:srgbClr val="1A1A1A"/>
                </a:solidFill>
                <a:latin typeface="Arial" panose="020B0604020202020204"/>
              </a:rPr>
              <a:t>Chase</a:t>
            </a:r>
            <a:endParaRPr lang="en-US" sz="900" b="1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425" name="Links 425"/>
          <p:cNvSpPr txBox="1"/>
          <p:nvPr/>
        </p:nvSpPr>
        <p:spPr>
          <a:xfrm>
            <a:off x="1828800" y="4610000"/>
            <a:ext cx="301752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lang="en-US" sz="900" b="0" i="0" u="sng">
                <a:solidFill>
                  <a:srgbClr val="1A73E8"/>
                </a:solidFill>
                <a:latin typeface="Arial" panose="020B0604020202020204"/>
                <a:hlinkClick r:id="rId12"/>
              </a:rPr>
              <a:t>INC-MUZKKVL1 (chased, guided to safety)</a:t>
            </a:r>
            <a:endParaRPr lang="en-US" sz="900" b="0" i="0" u="sng">
              <a:solidFill>
                <a:srgbClr val="1A73E8"/>
              </a:solidFill>
              <a:latin typeface="Arial" panose="020B0604020202020204"/>
              <a:hlinkClick r:id="rId12"/>
            </a:endParaRPr>
          </a:p>
        </p:txBody>
      </p:sp>
      <p:sp>
        <p:nvSpPr>
          <p:cNvPr id="426" name="Judges box 426"/>
          <p:cNvSpPr/>
          <p:nvPr/>
        </p:nvSpPr>
        <p:spPr>
          <a:xfrm>
            <a:off x="5029200" y="990000"/>
            <a:ext cx="3749040" cy="362000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 w="19050">
            <a:solidFill>
              <a:srgbClr val="E8590C"/>
            </a:solidFill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27" name="Links 427"/>
          <p:cNvSpPr txBox="1"/>
          <p:nvPr/>
        </p:nvSpPr>
        <p:spPr>
          <a:xfrm>
            <a:off x="5219200" y="1180000"/>
            <a:ext cx="3369040" cy="3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700"/>
              </a:spcAft>
            </a:pPr>
            <a:r>
              <a:rPr lang="en-US" sz="1000" b="1" i="0">
                <a:solidFill>
                  <a:srgbClr val="E8590C"/>
                </a:solidFill>
                <a:latin typeface="Arial" panose="020B0604020202020204"/>
              </a:rPr>
              <a:t>FOR JUDGES: TRY IT YOURSELF</a:t>
            </a:r>
            <a:endParaRPr lang="en-US" sz="1000" b="1" i="0">
              <a:solidFill>
                <a:srgbClr val="E8590C"/>
              </a:solidFill>
              <a:latin typeface="Arial" panose="020B0604020202020204"/>
            </a:endParaRPr>
          </a:p>
          <a:p>
            <a:pPr algn="l">
              <a:spcAft>
                <a:spcPts val="350"/>
              </a:spcAft>
            </a:pPr>
            <a:r>
              <a:rPr lang="en-US" sz="800" b="1" i="0">
                <a:solidFill>
                  <a:srgbClr val="1A1A1A"/>
                </a:solidFill>
                <a:latin typeface="Arial" panose="020B0604020202020204"/>
              </a:rPr>
              <a:t>Caller app: </a:t>
            </a:r>
            <a:r>
              <a:rPr lang="en-US" sz="800" b="0" i="0" u="sng" dirty="0">
                <a:solidFill>
                  <a:srgbClr val="1A73E8"/>
                </a:solidFill>
                <a:latin typeface="Arial" panose="020B0604020202020204"/>
                <a:hlinkClick r:id="rId13"/>
              </a:rPr>
              <a:t>quickbite-5cde0.web.app</a:t>
            </a:r>
            <a:endParaRPr lang="en-US" sz="800" b="0" i="0" u="sng" dirty="0">
              <a:solidFill>
                <a:srgbClr val="1A73E8"/>
              </a:solidFill>
              <a:latin typeface="Arial" panose="020B0604020202020204"/>
            </a:endParaRPr>
          </a:p>
          <a:p>
            <a:pPr algn="l">
              <a:spcAft>
                <a:spcPts val="350"/>
              </a:spcAft>
            </a:pPr>
            <a:r>
              <a:rPr lang="en-US" sz="800" b="1" i="0">
                <a:solidFill>
                  <a:srgbClr val="1A1A1A"/>
                </a:solidFill>
                <a:latin typeface="Arial" panose="020B0604020202020204"/>
              </a:rPr>
              <a:t>Responder dashboard: </a:t>
            </a:r>
            <a:r>
              <a:rPr lang="en-US" sz="800" b="0" i="0" u="sng" dirty="0">
                <a:solidFill>
                  <a:srgbClr val="1A73E8"/>
                </a:solidFill>
                <a:latin typeface="Arial" panose="020B0604020202020204"/>
                <a:hlinkClick r:id="rId14"/>
              </a:rPr>
              <a:t>quickbite-5cde0-dashboard.web.app</a:t>
            </a:r>
            <a:endParaRPr lang="en-US" sz="800" b="0" i="0" u="sng" dirty="0">
              <a:solidFill>
                <a:srgbClr val="1A73E8"/>
              </a:solidFill>
              <a:latin typeface="Arial" panose="020B0604020202020204"/>
            </a:endParaRPr>
          </a:p>
          <a:p>
            <a:pPr algn="l">
              <a:spcAft>
                <a:spcPts val="350"/>
              </a:spcAft>
            </a:pPr>
            <a:r>
              <a:rPr lang="en-US" sz="800" b="1" i="0">
                <a:solidFill>
                  <a:srgbClr val="1A1A1A"/>
                </a:solidFill>
                <a:latin typeface="Arial" panose="020B0604020202020204"/>
              </a:rPr>
              <a:t>Login: </a:t>
            </a:r>
            <a:r>
              <a:rPr lang="en-US" sz="800" b="0" i="0">
                <a:solidFill>
                  <a:srgbClr val="1A1A1A"/>
                </a:solidFill>
                <a:latin typeface="Arial" panose="020B0604020202020204"/>
              </a:rPr>
              <a:t>judge@quickbite.com  /  judge@Quickbite123</a:t>
            </a:r>
            <a:endParaRPr lang="en-US" sz="800" b="0" i="0">
              <a:solidFill>
                <a:srgbClr val="1A1A1A"/>
              </a:solidFill>
              <a:latin typeface="Arial" panose="020B0604020202020204"/>
            </a:endParaRPr>
          </a:p>
          <a:p>
            <a:pPr algn="l">
              <a:spcAft>
                <a:spcPts val="700"/>
              </a:spcAft>
            </a:pPr>
            <a:r>
              <a:rPr lang="en-US" sz="800" b="1" i="0">
                <a:solidFill>
                  <a:srgbClr val="1A1A1A"/>
                </a:solidFill>
                <a:latin typeface="Arial" panose="020B0604020202020204"/>
              </a:rPr>
              <a:t>User manual: </a:t>
            </a:r>
            <a:r>
              <a:rPr lang="en-US" sz="800" b="0" i="0" u="sng" dirty="0">
                <a:solidFill>
                  <a:srgbClr val="1A73E8"/>
                </a:solidFill>
                <a:latin typeface="Arial" panose="020B0604020202020204"/>
                <a:hlinkClick r:id="rId10"/>
              </a:rPr>
              <a:t>step-by-step guide to every feature</a:t>
            </a:r>
            <a:endParaRPr lang="en-US" sz="800" b="0" i="0" u="sng">
              <a:solidFill>
                <a:srgbClr val="1A73E8"/>
              </a:solidFill>
              <a:latin typeface="Arial" panose="020B0604020202020204"/>
            </a:endParaRPr>
          </a:p>
          <a:p>
            <a:pPr algn="l">
              <a:spcAft>
                <a:spcPts val="700"/>
              </a:spcAft>
            </a:pPr>
            <a:r>
              <a:rPr lang="en-US" sz="800" b="1" i="0" dirty="0">
                <a:solidFill>
                  <a:srgbClr val="C62828"/>
                </a:solidFill>
                <a:latin typeface="Arial" panose="020B0604020202020204"/>
              </a:rPr>
              <a:t>Mandatory: allow the microphone </a:t>
            </a:r>
            <a:r>
              <a:rPr lang="en-US" sz="800" b="0" i="0" dirty="0">
                <a:solidFill>
                  <a:srgbClr val="C62828"/>
                </a:solidFill>
                <a:latin typeface="Arial" panose="020B0604020202020204"/>
              </a:rPr>
              <a:t>at both levels: the browser’s site prompt for </a:t>
            </a:r>
            <a:r>
              <a:rPr lang="en-US" sz="800" b="0" i="0" dirty="0" err="1">
                <a:solidFill>
                  <a:srgbClr val="C62828"/>
                </a:solidFill>
                <a:latin typeface="Arial" panose="020B0604020202020204"/>
              </a:rPr>
              <a:t>QuickBite</a:t>
            </a:r>
            <a:r>
              <a:rPr lang="en-US" sz="800" b="0" i="0" dirty="0">
                <a:solidFill>
                  <a:srgbClr val="C62828"/>
                </a:solidFill>
                <a:latin typeface="Arial" panose="020B0604020202020204"/>
              </a:rPr>
              <a:t>, and the browser app’s mic permission in your phone/OS settings. Without it the call can’t start and the app returns to the menu.</a:t>
            </a:r>
            <a:endParaRPr lang="en-US" sz="800" b="0" i="0" dirty="0">
              <a:solidFill>
                <a:srgbClr val="C62828"/>
              </a:solidFill>
              <a:latin typeface="Arial" panose="020B0604020202020204"/>
            </a:endParaRPr>
          </a:p>
          <a:p>
            <a:pPr algn="l">
              <a:spcAft>
                <a:spcPts val="350"/>
              </a:spcAft>
            </a:pPr>
            <a:r>
              <a:rPr lang="en-US" sz="800" b="1" i="0">
                <a:solidFill>
                  <a:srgbClr val="E8590C"/>
                </a:solidFill>
                <a:latin typeface="Arial" panose="020B0604020202020204"/>
              </a:rPr>
              <a:t>Steps</a:t>
            </a:r>
            <a:endParaRPr lang="en-US" sz="800" b="1" i="0">
              <a:solidFill>
                <a:srgbClr val="E8590C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450"/>
              </a:spcAft>
              <a:buClr>
                <a:srgbClr val="E8590C"/>
              </a:buClr>
              <a:buFont typeface="Arial" panose="020B0604020202020204"/>
              <a:buAutoNum type="arabicPeriod"/>
            </a:pPr>
            <a:r>
              <a:rPr lang="en-US" sz="800" b="0" i="0">
                <a:solidFill>
                  <a:srgbClr val="1A1A1A"/>
                </a:solidFill>
                <a:latin typeface="Arial" panose="020B0604020202020204"/>
              </a:rPr>
              <a:t>Open the dashboard on a laptop and sign in with the login above.</a:t>
            </a:r>
            <a:endParaRPr lang="en-US" sz="80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450"/>
              </a:spcAft>
              <a:buClr>
                <a:srgbClr val="E8590C"/>
              </a:buClr>
              <a:buFont typeface="Arial" panose="020B0604020202020204"/>
              <a:buAutoNum type="arabicPeriod"/>
            </a:pPr>
            <a:r>
              <a:rPr lang="en-US" sz="800" b="0" i="0">
                <a:solidFill>
                  <a:srgbClr val="1A1A1A"/>
                </a:solidFill>
                <a:latin typeface="Arial" panose="020B0604020202020204"/>
              </a:rPr>
              <a:t>Open the caller app on a phone or another tab; allow mic (required) and location.</a:t>
            </a:r>
            <a:endParaRPr lang="en-US" sz="80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450"/>
              </a:spcAft>
              <a:buClr>
                <a:srgbClr val="E8590C"/>
              </a:buClr>
              <a:buFont typeface="Arial" panose="020B0604020202020204"/>
              <a:buAutoNum type="arabicPeriod"/>
            </a:pPr>
            <a:r>
              <a:rPr lang="en-US" sz="800" b="0" i="0" dirty="0">
                <a:solidFill>
                  <a:srgbClr val="1A1A1A"/>
                </a:solidFill>
                <a:latin typeface="Arial" panose="020B0604020202020204"/>
              </a:rPr>
              <a:t>Tap “Call to order”. Mia asks if you can talk: say “order” (someone listening) or “talk”.</a:t>
            </a:r>
            <a:endParaRPr lang="en-US" sz="800" b="0" i="0" dirty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450"/>
              </a:spcAft>
              <a:buClr>
                <a:srgbClr val="E8590C"/>
              </a:buClr>
              <a:buFont typeface="Arial" panose="020B0604020202020204"/>
              <a:buAutoNum type="arabicPeriod"/>
            </a:pPr>
            <a:r>
              <a:rPr lang="en-US" sz="800" b="0" i="0" dirty="0">
                <a:solidFill>
                  <a:srgbClr val="1A1A1A"/>
                </a:solidFill>
                <a:latin typeface="Arial" panose="020B0604020202020204"/>
              </a:rPr>
              <a:t>Answer her food questions. Each code’s meaning is spoken with it, e.g. “garlic bread” = someone is following you.</a:t>
            </a:r>
            <a:endParaRPr lang="en-US" sz="800" b="0" i="0" dirty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450"/>
              </a:spcAft>
              <a:buClr>
                <a:srgbClr val="E8590C"/>
              </a:buClr>
              <a:buFont typeface="Arial" panose="020B0604020202020204"/>
              <a:buAutoNum type="arabicPeriod"/>
            </a:pPr>
            <a:r>
              <a:rPr lang="en-US" sz="800" b="0" i="0">
                <a:solidFill>
                  <a:srgbClr val="1A1A1A"/>
                </a:solidFill>
                <a:latin typeface="Arial" panose="020B0604020202020204"/>
              </a:rPr>
              <a:t>Watch the incident appear on the dashboard and fill in live: location, danger tags, transcript.</a:t>
            </a:r>
            <a:endParaRPr lang="en-US" sz="80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0"/>
              </a:spcAft>
              <a:buClr>
                <a:srgbClr val="E8590C"/>
              </a:buClr>
              <a:buFont typeface="Arial" panose="020B0604020202020204"/>
              <a:buAutoNum type="arabicPeriod"/>
            </a:pPr>
            <a:r>
              <a:rPr lang="en-US" sz="800" b="0" i="0">
                <a:solidFill>
                  <a:srgbClr val="1A1A1A"/>
                </a:solidFill>
                <a:latin typeface="Arial" panose="020B0604020202020204"/>
              </a:rPr>
              <a:t>Hang up and open the incident: case summary, map, route and evidence.</a:t>
            </a:r>
            <a:endParaRPr lang="en-US" sz="80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428" name="Links 428"/>
          <p:cNvSpPr txBox="1"/>
          <p:nvPr/>
        </p:nvSpPr>
        <p:spPr>
          <a:xfrm>
            <a:off x="5029200" y="4720000"/>
            <a:ext cx="3749040" cy="2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900" b="0" i="0" dirty="0">
                <a:solidFill>
                  <a:srgbClr val="5F6368"/>
                </a:solidFill>
                <a:latin typeface="Arial" panose="020B0604020202020204"/>
              </a:rPr>
              <a:t>Team: </a:t>
            </a:r>
            <a:r>
              <a:rPr lang="en-US" sz="1000" b="1" i="0" dirty="0" err="1">
                <a:solidFill>
                  <a:srgbClr val="E8590C"/>
                </a:solidFill>
                <a:latin typeface="Arial" panose="020B0604020202020204"/>
              </a:rPr>
              <a:t>NexMind</a:t>
            </a:r>
            <a:r>
              <a:rPr lang="en-US" sz="1000" b="1" dirty="0">
                <a:solidFill>
                  <a:srgbClr val="E8590C"/>
                </a:solidFill>
              </a:rPr>
              <a:t>             </a:t>
            </a:r>
            <a:r>
              <a:rPr lang="en-US" sz="1000" b="1" i="0" dirty="0">
                <a:solidFill>
                  <a:srgbClr val="E8590C"/>
                </a:solidFill>
                <a:latin typeface="Arial" panose="020B0604020202020204"/>
              </a:rPr>
              <a:t> </a:t>
            </a:r>
            <a:r>
              <a:rPr lang="en-US" sz="1000" b="1" dirty="0">
                <a:solidFill>
                  <a:srgbClr val="E8590C"/>
                </a:solidFill>
              </a:rPr>
              <a:t>         </a:t>
            </a:r>
            <a:r>
              <a:rPr lang="en-US" sz="900" dirty="0">
                <a:solidFill>
                  <a:srgbClr val="5F6368"/>
                </a:solidFill>
              </a:rPr>
              <a:t> </a:t>
            </a:r>
            <a:r>
              <a:rPr lang="en-US" sz="900" b="0" i="0" dirty="0">
                <a:solidFill>
                  <a:srgbClr val="5F6368"/>
                </a:solidFill>
                <a:latin typeface="Arial" panose="020B0604020202020204"/>
              </a:rPr>
              <a:t>    Members: </a:t>
            </a:r>
            <a:r>
              <a:rPr lang="en-US" sz="1000" b="1" i="0" dirty="0">
                <a:solidFill>
                  <a:srgbClr val="1A1A1A"/>
                </a:solidFill>
                <a:latin typeface="Arial" panose="020B0604020202020204"/>
              </a:rPr>
              <a:t>Al Ameen N, Jeevan V</a:t>
            </a:r>
            <a:endParaRPr lang="en-US" sz="1000" b="1" i="0" dirty="0">
              <a:solidFill>
                <a:srgbClr val="1A1A1A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3649"/>
            <a:ext cx="9144000" cy="50006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6"/>
          <p:cNvSpPr txBox="1"/>
          <p:nvPr/>
        </p:nvSpPr>
        <p:spPr>
          <a:xfrm>
            <a:off x="265350" y="603504"/>
            <a:ext cx="8112420" cy="34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How Gemini powers QuickBite — and the path to a Google product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sp>
        <p:nvSpPr>
          <p:cNvPr id="160" name="tb"/>
          <p:cNvSpPr txBox="1"/>
          <p:nvPr/>
        </p:nvSpPr>
        <p:spPr>
          <a:xfrm>
            <a:off x="365760" y="969264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>
                <a:solidFill>
                  <a:srgbClr val="E8590C"/>
                </a:solidFill>
                <a:latin typeface="Arial" panose="020B0604020202020204"/>
              </a:rPr>
              <a:t>A real-time multimodal agent today; a Discreet mode inside Android tomorrow</a:t>
            </a:r>
            <a:endParaRPr lang="en-US" sz="1300" b="1">
              <a:solidFill>
                <a:srgbClr val="E8590C"/>
              </a:solidFill>
              <a:latin typeface="Arial" panose="020B0604020202020204"/>
            </a:endParaRPr>
          </a:p>
        </p:txBody>
      </p:sp>
      <p:sp>
        <p:nvSpPr>
          <p:cNvPr id="161" name="card"/>
          <p:cNvSpPr/>
          <p:nvPr/>
        </p:nvSpPr>
        <p:spPr>
          <a:xfrm>
            <a:off x="365760" y="1400000"/>
            <a:ext cx="4100000" cy="3350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 anchor="ctr"/>
          <a:lstStyle/>
          <a:p/>
        </p:txBody>
      </p:sp>
      <p:sp>
        <p:nvSpPr>
          <p:cNvPr id="162" name="tb"/>
          <p:cNvSpPr txBox="1"/>
          <p:nvPr/>
        </p:nvSpPr>
        <p:spPr>
          <a:xfrm>
            <a:off x="434470" y="1580000"/>
            <a:ext cx="3978026" cy="30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>
                <a:solidFill>
                  <a:srgbClr val="E8590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NOT A CHATBOT — A VERIFIED MULTIMODAL AGENT</a:t>
            </a:r>
            <a:endParaRPr lang="en-US" sz="1200" b="1">
              <a:solidFill>
                <a:srgbClr val="E8590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32000"/>
              </a:lnSpc>
              <a:spcAft>
                <a:spcPts val="400"/>
              </a:spcAft>
              <a:buChar char="•"/>
            </a:pPr>
            <a:r>
              <a:rPr lang="en-US" sz="1050" b="1" dirty="0">
                <a:solidFill>
                  <a:srgbClr val="E8590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sz="1050" b="1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Real-time voice + vision:</a:t>
            </a:r>
            <a:r>
              <a:rPr lang="en-US" sz="105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Gemini Live listens and watches, and decides on its own which of 12 function-call tools to fire mid-sentence — an agent that acts, not a chatbot that replies</a:t>
            </a:r>
            <a:endParaRPr lang="en-US" sz="1050" b="0" dirty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32000"/>
              </a:lnSpc>
              <a:spcAft>
                <a:spcPts val="400"/>
              </a:spcAft>
              <a:buChar char="•"/>
            </a:pPr>
            <a:r>
              <a:rPr lang="en-US" sz="1050" b="1" dirty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Live structured incident data:</a:t>
            </a:r>
            <a:r>
              <a:rPr lang="en-US" sz="1050" b="0" dirty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a disguised conversation becomes danger, people and location, streamed to responders field by field</a:t>
            </a:r>
            <a:endParaRPr lang="en-US" sz="1050" b="0" dirty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32000"/>
              </a:lnSpc>
              <a:spcAft>
                <a:spcPts val="400"/>
              </a:spcAft>
              <a:buChar char="•"/>
            </a:pPr>
            <a:r>
              <a:rPr lang="en-US" sz="1050" b="1" dirty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 proposes, code decides:</a:t>
            </a:r>
            <a:r>
              <a:rPr lang="en-US" sz="1050" b="0" dirty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deterministic rules set severity and launch the route to safety — no hallucinated life-or-death calls</a:t>
            </a:r>
            <a:endParaRPr lang="en-US" sz="1050" b="0" dirty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32000"/>
              </a:lnSpc>
              <a:spcAft>
                <a:spcPts val="400"/>
              </a:spcAft>
              <a:buChar char="•"/>
            </a:pPr>
            <a:r>
              <a:rPr lang="en-US" sz="1050" b="1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Grounded &amp; self-checking:</a:t>
            </a:r>
            <a:r>
              <a:rPr lang="en-US" sz="105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post-call summary, third-party redaction, case-linking, and a Gemma judge that validates every run</a:t>
            </a:r>
            <a:endParaRPr lang="en-US" sz="1050" b="0" dirty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lnSpc>
                <a:spcPct val="112000"/>
              </a:lnSpc>
            </a:pPr>
            <a:r>
              <a:rPr lang="en-US" sz="1200" b="1" i="1">
                <a:solidFill>
                  <a:srgbClr val="2F9E44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Danger reaches the responder’s screen before the caller finishes speaking.</a:t>
            </a:r>
            <a:endParaRPr lang="en-US" sz="1200" b="1" i="1">
              <a:solidFill>
                <a:srgbClr val="2F9E44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3" name="card"/>
          <p:cNvSpPr/>
          <p:nvPr/>
        </p:nvSpPr>
        <p:spPr>
          <a:xfrm>
            <a:off x="4678240" y="1400000"/>
            <a:ext cx="4100000" cy="335000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</p:spPr>
        <p:txBody>
          <a:bodyPr anchor="ctr"/>
          <a:lstStyle/>
          <a:p/>
        </p:txBody>
      </p:sp>
      <p:sp>
        <p:nvSpPr>
          <p:cNvPr id="164" name="tb"/>
          <p:cNvSpPr txBox="1"/>
          <p:nvPr/>
        </p:nvSpPr>
        <p:spPr>
          <a:xfrm>
            <a:off x="4785565" y="1580000"/>
            <a:ext cx="3923965" cy="30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>
                <a:solidFill>
                  <a:srgbClr val="E8590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PATH TO A GOOGLE PRODUCT</a:t>
            </a:r>
            <a:endParaRPr lang="en-US" sz="1200" b="1">
              <a:solidFill>
                <a:srgbClr val="E8590C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32000"/>
              </a:lnSpc>
              <a:spcAft>
                <a:spcPts val="400"/>
              </a:spcAft>
              <a:buChar char="•"/>
            </a:pPr>
            <a:r>
              <a:rPr lang="en-US" sz="1050" b="1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Closes a real Android gap:</a:t>
            </a:r>
            <a:r>
              <a:rPr lang="en-US" sz="105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it can call for help silently, but not covertly with an attacker in the room</a:t>
            </a:r>
            <a:endParaRPr lang="en-US" sz="1050" b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32000"/>
              </a:lnSpc>
              <a:spcAft>
                <a:spcPts val="400"/>
              </a:spcAft>
              <a:buChar char="•"/>
            </a:pPr>
            <a:r>
              <a:rPr lang="en-US" sz="1050" b="1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Ships as Discreet mode</a:t>
            </a:r>
            <a:r>
              <a:rPr lang="en-US" sz="105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in Android’s Personal Safety — a Gemini Live covert persona inside Emergency SOS</a:t>
            </a:r>
            <a:endParaRPr lang="en-US" sz="1050" b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32000"/>
              </a:lnSpc>
              <a:spcAft>
                <a:spcPts val="400"/>
              </a:spcAft>
              <a:buChar char="•"/>
            </a:pPr>
            <a:r>
              <a:rPr lang="en-US" sz="1050" b="1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Plugs into 112:</a:t>
            </a:r>
            <a:r>
              <a:rPr lang="en-US" sz="105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decoded incidents via ELS + Emergency Live Video; on-device Gemini Nano keeps extraction private</a:t>
            </a:r>
            <a:endParaRPr lang="en-US" sz="1050" b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 algn="l">
              <a:lnSpc>
                <a:spcPct val="132000"/>
              </a:lnSpc>
              <a:spcAft>
                <a:spcPts val="400"/>
              </a:spcAft>
              <a:buChar char="•"/>
            </a:pPr>
            <a:r>
              <a:rPr lang="en-US" sz="1050" b="1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Firebase + Google Cloud</a:t>
            </a:r>
            <a:r>
              <a:rPr lang="en-US" sz="1050" b="0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becomes the public-safety backend for agencies</a:t>
            </a:r>
            <a:endParaRPr lang="en-US" sz="1050" b="0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lnSpc>
                <a:spcPct val="112000"/>
              </a:lnSpc>
            </a:pPr>
            <a:r>
              <a:rPr lang="en-US" sz="1200" b="1" i="1" dirty="0">
                <a:solidFill>
                  <a:srgbClr val="1A73E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Already proven on Google’s stack: </a:t>
            </a:r>
            <a:r>
              <a:rPr lang="en-US" sz="1200" b="1" i="1" dirty="0" err="1">
                <a:solidFill>
                  <a:srgbClr val="1A73E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RapidSOS</a:t>
            </a:r>
            <a:r>
              <a:rPr lang="en-US" sz="1200" b="1" i="1" dirty="0">
                <a:solidFill>
                  <a:srgbClr val="1A73E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HARMONY runs Gemini Live + ADK in 911 </a:t>
            </a:r>
            <a:r>
              <a:rPr lang="en-US" sz="1200" b="1" i="1" dirty="0" err="1">
                <a:solidFill>
                  <a:srgbClr val="1A73E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centres</a:t>
            </a:r>
            <a:r>
              <a:rPr lang="en-US" sz="1200" b="1" i="1" dirty="0">
                <a:solidFill>
                  <a:srgbClr val="1A73E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endParaRPr lang="en-US" sz="1200" b="1" i="1" dirty="0">
              <a:solidFill>
                <a:srgbClr val="1A73E8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5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16668</Words>
  <Application>WPS Presentation</Application>
  <PresentationFormat>On-screen Show (16:9)</PresentationFormat>
  <Paragraphs>816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Arial</vt:lpstr>
      <vt:lpstr>Google Sans Flex SemiBold</vt:lpstr>
      <vt:lpstr>Google Sans Flex</vt:lpstr>
      <vt:lpstr>Calibri</vt:lpstr>
      <vt:lpstr>Google Sans Flex Medium</vt:lpstr>
      <vt:lpstr>Microsoft YaHei</vt:lpstr>
      <vt:lpstr>Arial Unicode MS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Jeevan Varghese</cp:lastModifiedBy>
  <cp:revision>198</cp:revision>
  <dcterms:created xsi:type="dcterms:W3CDTF">2026-10-09T06:23:00Z</dcterms:created>
  <dcterms:modified xsi:type="dcterms:W3CDTF">2026-10-17T07:07:30Z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78863239EA13448A96E5EAFE58BA6819_12</vt:lpwstr>
  </property>
</Properties>
</file>